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b1d4deb4-fce1-958f-6f4e-a27e9ff29053}">
          <p14:sldIdLst>
            <p14:sldId id="256"/>
          </p14:sldIdLst>
        </p14:section>
        <p14:section name="サマリー" id="{b5402976-6642-8c33-4a2e-3b17358df2bb}">
          <p14:sldIdLst>
            <p14:sldId id="257"/>
          </p14:sldIdLst>
        </p14:section>
        <p14:section name="現状と課題" id="{660fcedd-6f81-bc60-3620-d585c391a99f}">
          <p14:sldIdLst>
            <p14:sldId id="258"/>
            <p14:sldId id="259"/>
            <p14:sldId id="260"/>
          </p14:sldIdLst>
        </p14:section>
        <p14:section name="値上げの根拠" id="{4ca1e238-1b6b-c12e-a383-039048948aca}">
          <p14:sldIdLst>
            <p14:sldId id="261"/>
            <p14:sldId id="262"/>
            <p14:sldId id="263"/>
          </p14:sldIdLst>
        </p14:section>
        <p14:section name="改定案と効果" id="{d92c8575-8e64-3648-f67a-5e8ff1674d0b}">
          <p14:sldIdLst>
            <p14:sldId id="264"/>
            <p14:sldId id="265"/>
            <p14:sldId id="266"/>
          </p14:sldIdLst>
        </p14:section>
        <p14:section name="原価率改善プラン" id="{24136687-cf0c-d0a4-1c0b-480313ff9d1a}">
          <p14:sldIdLst>
            <p14:sldId id="267"/>
            <p14:sldId id="268"/>
            <p14:sldId id="269"/>
          </p14:sldIdLst>
        </p14:section>
        <p14:section name="リスクと実行計画" id="{19826c71-162a-eee0-249e-2ed21cdbd493}">
          <p14:sldIdLst>
            <p14:sldId id="270"/>
            <p14:sldId id="271"/>
          </p14:sldIdLst>
        </p14:section>
        <p14:section name="参考資料" id="{563c870c-11a8-29d9-45f2-fefc1215fdb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6B7478"/>
                </a:solidFill>
                <a:latin typeface="+mn-lt"/>
              </a:defRPr>
            </a:pPr>
            <a:r>
              <a:rPr sz="1050" b="0" i="0" u="none" strike="noStrike">
                <a:solidFill>
                  <a:srgbClr val="6B7478"/>
                </a:solidFill>
                <a:latin typeface="+mn-lt"/>
              </a:rPr>
              <a:t>予算比（上期累計）</a:t>
            </a:r>
          </a:p>
        </c:rich>
      </c:tx>
      <c:layout/>
      <c:overlay val="0"/>
    </c:title>
    <c:autoTitleDeleted val="0"/>
    <c:plotArea>
      <c:layout/>
      <c:barChart>
        <c:barDir val="bar"/>
        <c:grouping val="clustered"/>
        <c:varyColors val="0"/>
        <c:ser>
          <c:idx val="0"/>
          <c:order val="0"/>
          <c:tx>
            <c:strRef>
              <c:f>Sheet1!$B$1</c:f>
              <c:strCache>
                <c:ptCount val="1"/>
                <c:pt idx="0">
                  <c:v>予算比</c:v>
                </c:pt>
              </c:strCache>
            </c:strRef>
          </c:tx>
          <c:spPr>
            <a:solidFill>
              <a:srgbClr val="C8773B"/>
            </a:solidFill>
            <a:effectLst/>
          </c:spPr>
          <c:invertIfNegative val="0"/>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dPt>
            <c:idx val="0"/>
            <c:invertIfNegative val="0"/>
            <c:bubble3D val="0"/>
            <c:spPr>
              <a:solidFill>
                <a:srgbClr val="C8773B"/>
              </a:solidFill>
              <a:effectLst/>
            </c:spPr>
          </c:dPt>
          <c:dPt>
            <c:idx val="1"/>
            <c:invertIfNegative val="0"/>
            <c:bubble3D val="0"/>
            <c:spPr>
              <a:solidFill>
                <a:srgbClr val="0F3D3E"/>
              </a:solidFill>
              <a:effectLst/>
            </c:spPr>
          </c:dPt>
          <c:dPt>
            <c:idx val="2"/>
            <c:invertIfNegative val="0"/>
            <c:bubble3D val="0"/>
            <c:spPr>
              <a:solidFill>
                <a:srgbClr val="6B7478"/>
              </a:solidFill>
              <a:effectLst/>
            </c:spPr>
          </c:dPt>
          <c:cat>
            <c:multiLvlStrRef>
              <c:f>Sheet1!$A$2:$A$4</c:f>
              <c:multiLvlStrCache>
                <c:ptCount val="3"/>
                <c:lvl>
                  <c:pt idx="0">
                    <c:v>コラボ売上</c:v>
                  </c:pt>
                  <c:pt idx="1">
                    <c:v>食事（GM）売上</c:v>
                  </c:pt>
                  <c:pt idx="2">
                    <c:v>飲食原価</c:v>
                  </c:pt>
                </c:lvl>
              </c:multiLvlStrCache>
            </c:multiLvlStrRef>
          </c:cat>
          <c:val>
            <c:numRef>
              <c:f>Sheet1!$B$2:$B$4</c:f>
              <c:numCache>
                <c:formatCode>General</c:formatCode>
                <c:ptCount val="3"/>
                <c:pt idx="0">
                  <c:v>0.78</c:v>
                </c:pt>
                <c:pt idx="1">
                  <c:v>1.013</c:v>
                </c:pt>
                <c:pt idx="2">
                  <c:v>0.969</c:v>
                </c:pt>
              </c:numCache>
            </c:numRef>
          </c:val>
        </c:ser>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B2324"/>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b"/>
        <c:majorGridlines>
          <c:spPr>
            <a:ln w="6350" cap="flat">
              <a:solidFill>
                <a:srgbClr val="E3E8E7"/>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6B7478"/>
                </a:solidFill>
                <a:latin typeface="+mn-lt"/>
              </a:defRPr>
            </a:pPr>
            <a:r>
              <a:rPr sz="1050" b="0" i="0" u="none" strike="noStrike">
                <a:solidFill>
                  <a:srgbClr val="6B7478"/>
                </a:solidFill>
                <a:latin typeface="+mn-lt"/>
              </a:rPr>
              <a:t>上期累計売上（万円）</a:t>
            </a:r>
          </a:p>
        </c:rich>
      </c:tx>
      <c:layout/>
      <c:overlay val="0"/>
    </c:title>
    <c:autoTitleDeleted val="0"/>
    <c:plotArea>
      <c:layout/>
      <c:barChart>
        <c:barDir val="col"/>
        <c:grouping val="clustered"/>
        <c:varyColors val="0"/>
        <c:ser>
          <c:idx val="0"/>
          <c:order val="0"/>
          <c:tx>
            <c:strRef>
              <c:f>Sheet1!$B$1</c:f>
              <c:strCache>
                <c:ptCount val="1"/>
                <c:pt idx="0">
                  <c:v>前期実績</c:v>
                </c:pt>
              </c:strCache>
            </c:strRef>
          </c:tx>
          <c:spPr>
            <a:solidFill>
              <a:srgbClr val="C9DCD8"/>
            </a:solidFill>
            <a:effectLst/>
          </c:spPr>
          <c:invertIfNegative val="0"/>
          <c:dLbls>
            <c:numFmt formatCode="#,##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cat>
            <c:multiLvlStrRef>
              <c:f>Sheet1!$A$2:$A$3</c:f>
              <c:multiLvlStrCache>
                <c:ptCount val="2"/>
                <c:lvl>
                  <c:pt idx="0">
                    <c:v>コラボ</c:v>
                  </c:pt>
                  <c:pt idx="1">
                    <c:v>GM（食事）</c:v>
                  </c:pt>
                </c:lvl>
              </c:multiLvlStrCache>
            </c:multiLvlStrRef>
          </c:cat>
          <c:val>
            <c:numRef>
              <c:f>Sheet1!$B$2:$B$3</c:f>
              <c:numCache>
                <c:formatCode>General</c:formatCode>
                <c:ptCount val="2"/>
                <c:pt idx="0">
                  <c:v>3865</c:v>
                </c:pt>
                <c:pt idx="1">
                  <c:v>2961</c:v>
                </c:pt>
              </c:numCache>
            </c:numRef>
          </c:val>
        </c:ser>
        <c:ser>
          <c:idx val="1"/>
          <c:order val="1"/>
          <c:tx>
            <c:strRef>
              <c:f>Sheet1!$C$1</c:f>
              <c:strCache>
                <c:ptCount val="1"/>
                <c:pt idx="0">
                  <c:v>予算</c:v>
                </c:pt>
              </c:strCache>
            </c:strRef>
          </c:tx>
          <c:spPr>
            <a:solidFill>
              <a:srgbClr val="6B7478"/>
            </a:solidFill>
            <a:effectLst/>
          </c:spPr>
          <c:invertIfNegative val="0"/>
          <c:dLbls>
            <c:numFmt formatCode="#,##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cat>
            <c:multiLvlStrRef>
              <c:f>Sheet1!$A$2:$A$3</c:f>
              <c:multiLvlStrCache>
                <c:ptCount val="2"/>
                <c:lvl>
                  <c:pt idx="0">
                    <c:v>コラボ</c:v>
                  </c:pt>
                  <c:pt idx="1">
                    <c:v>GM（食事）</c:v>
                  </c:pt>
                </c:lvl>
              </c:multiLvlStrCache>
            </c:multiLvlStrRef>
          </c:cat>
          <c:val>
            <c:numRef>
              <c:f>Sheet1!$C$2:$C$3</c:f>
              <c:numCache>
                <c:formatCode>General</c:formatCode>
                <c:ptCount val="2"/>
                <c:pt idx="0">
                  <c:v>3301</c:v>
                </c:pt>
                <c:pt idx="1">
                  <c:v>2882</c:v>
                </c:pt>
              </c:numCache>
            </c:numRef>
          </c:val>
        </c:ser>
        <c:ser>
          <c:idx val="2"/>
          <c:order val="2"/>
          <c:tx>
            <c:strRef>
              <c:f>Sheet1!$D$1</c:f>
              <c:strCache>
                <c:ptCount val="1"/>
                <c:pt idx="0">
                  <c:v>実績</c:v>
                </c:pt>
              </c:strCache>
            </c:strRef>
          </c:tx>
          <c:spPr>
            <a:solidFill>
              <a:srgbClr val="0F3D3E"/>
            </a:solidFill>
            <a:effectLst/>
          </c:spPr>
          <c:invertIfNegative val="0"/>
          <c:dLbls>
            <c:numFmt formatCode="#,##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cat>
            <c:multiLvlStrRef>
              <c:f>Sheet1!$A$2:$A$3</c:f>
              <c:multiLvlStrCache>
                <c:ptCount val="2"/>
                <c:lvl>
                  <c:pt idx="0">
                    <c:v>コラボ</c:v>
                  </c:pt>
                  <c:pt idx="1">
                    <c:v>GM（食事）</c:v>
                  </c:pt>
                </c:lvl>
              </c:multiLvlStrCache>
            </c:multiLvlStrRef>
          </c:cat>
          <c:val>
            <c:numRef>
              <c:f>Sheet1!$D$2:$D$3</c:f>
              <c:numCache>
                <c:formatCode>General</c:formatCode>
                <c:ptCount val="2"/>
                <c:pt idx="0">
                  <c:v>2574</c:v>
                </c:pt>
                <c:pt idx="1">
                  <c:v>2921</c:v>
                </c:pt>
              </c:numCache>
            </c:numRef>
          </c:val>
        </c:ser>
        <c:dLbls>
          <c:numFmt formatCode="#,##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2324"/>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8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6B74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6B7478"/>
                </a:solidFill>
                <a:latin typeface="+mn-lt"/>
              </a:defRPr>
            </a:pPr>
            <a:r>
              <a:rPr sz="1050" b="0" i="0" u="none" strike="noStrike">
                <a:solidFill>
                  <a:srgbClr val="6B7478"/>
                </a:solidFill>
                <a:latin typeface="+mn-lt"/>
              </a:rPr>
              <a:t>GM分類別 売上前年比（4〜6月）</a:t>
            </a:r>
          </a:p>
        </c:rich>
      </c:tx>
      <c:layout/>
      <c:overlay val="0"/>
    </c:title>
    <c:autoTitleDeleted val="0"/>
    <c:plotArea>
      <c:layout/>
      <c:barChart>
        <c:barDir val="bar"/>
        <c:grouping val="clustered"/>
        <c:varyColors val="0"/>
        <c:ser>
          <c:idx val="0"/>
          <c:order val="0"/>
          <c:tx>
            <c:strRef>
              <c:f>Sheet1!$B$1</c:f>
              <c:strCache>
                <c:ptCount val="1"/>
                <c:pt idx="0">
                  <c:v>前年比</c:v>
                </c:pt>
              </c:strCache>
            </c:strRef>
          </c:tx>
          <c:spPr>
            <a:solidFill>
              <a:srgbClr val="0F3D3E"/>
            </a:solidFill>
            <a:effectLst/>
          </c:spPr>
          <c:invertIfNegative val="0"/>
          <c:dLbls>
            <c:numFmt formatCode="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dPt>
            <c:idx val="0"/>
            <c:invertIfNegative val="0"/>
            <c:bubble3D val="0"/>
            <c:spPr>
              <a:solidFill>
                <a:srgbClr val="0F3D3E"/>
              </a:solidFill>
              <a:effectLst/>
            </c:spPr>
          </c:dPt>
          <c:dPt>
            <c:idx val="1"/>
            <c:invertIfNegative val="0"/>
            <c:bubble3D val="0"/>
            <c:spPr>
              <a:solidFill>
                <a:srgbClr val="0F3D3E"/>
              </a:solidFill>
              <a:effectLst/>
            </c:spPr>
          </c:dPt>
          <c:dPt>
            <c:idx val="2"/>
            <c:invertIfNegative val="0"/>
            <c:bubble3D val="0"/>
            <c:spPr>
              <a:solidFill>
                <a:srgbClr val="0F3D3E"/>
              </a:solidFill>
              <a:effectLst/>
            </c:spPr>
          </c:dPt>
          <c:dPt>
            <c:idx val="3"/>
            <c:invertIfNegative val="0"/>
            <c:bubble3D val="0"/>
            <c:spPr>
              <a:solidFill>
                <a:srgbClr val="6B7478"/>
              </a:solidFill>
              <a:effectLst/>
            </c:spPr>
          </c:dPt>
          <c:dPt>
            <c:idx val="4"/>
            <c:invertIfNegative val="0"/>
            <c:bubble3D val="0"/>
            <c:spPr>
              <a:solidFill>
                <a:srgbClr val="6B7478"/>
              </a:solidFill>
              <a:effectLst/>
            </c:spPr>
          </c:dPt>
          <c:dPt>
            <c:idx val="5"/>
            <c:invertIfNegative val="0"/>
            <c:bubble3D val="0"/>
            <c:spPr>
              <a:solidFill>
                <a:srgbClr val="C8773B"/>
              </a:solidFill>
              <a:effectLst/>
            </c:spPr>
          </c:dPt>
          <c:cat>
            <c:multiLvlStrRef>
              <c:f>Sheet1!$A$2:$A$7</c:f>
              <c:multiLvlStrCache>
                <c:ptCount val="6"/>
                <c:lvl>
                  <c:pt idx="0">
                    <c:v>ご飯類</c:v>
                  </c:pt>
                  <c:pt idx="1">
                    <c:v>麺類</c:v>
                  </c:pt>
                  <c:pt idx="2">
                    <c:v>ソフトドリンク</c:v>
                  </c:pt>
                  <c:pt idx="3">
                    <c:v>デザート</c:v>
                  </c:pt>
                  <c:pt idx="4">
                    <c:v>一品料理</c:v>
                  </c:pt>
                  <c:pt idx="5">
                    <c:v>アルコール</c:v>
                  </c:pt>
                </c:lvl>
              </c:multiLvlStrCache>
            </c:multiLvlStrRef>
          </c:cat>
          <c:val>
            <c:numRef>
              <c:f>Sheet1!$B$2:$B$7</c:f>
              <c:numCache>
                <c:formatCode>General</c:formatCode>
                <c:ptCount val="6"/>
                <c:pt idx="0">
                  <c:v>1.287</c:v>
                </c:pt>
                <c:pt idx="1">
                  <c:v>1.075</c:v>
                </c:pt>
                <c:pt idx="2">
                  <c:v>1.054</c:v>
                </c:pt>
                <c:pt idx="3">
                  <c:v>0.943</c:v>
                </c:pt>
                <c:pt idx="4">
                  <c:v>0.84</c:v>
                </c:pt>
                <c:pt idx="5">
                  <c:v>0.753</c:v>
                </c:pt>
              </c:numCache>
            </c:numRef>
          </c:val>
        </c:ser>
        <c:dLbls>
          <c:numFmt formatCode="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B2324"/>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b"/>
        <c:majorGridlines>
          <c:spPr>
            <a:ln w="6350" cap="flat">
              <a:solidFill>
                <a:srgbClr val="E3E8E7"/>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6B7478"/>
                </a:solidFill>
                <a:latin typeface="+mn-lt"/>
              </a:defRPr>
            </a:pPr>
            <a:r>
              <a:rPr sz="1050" b="0" i="0" u="none" strike="noStrike">
                <a:solidFill>
                  <a:srgbClr val="6B7478"/>
                </a:solidFill>
                <a:latin typeface="+mn-lt"/>
              </a:rPr>
              <a:t>年間の増減（万円・コラボ抜き）</a:t>
            </a:r>
          </a:p>
        </c:rich>
      </c:tx>
      <c:layout/>
      <c:overlay val="0"/>
    </c:title>
    <c:autoTitleDeleted val="0"/>
    <c:plotArea>
      <c:layout/>
      <c:barChart>
        <c:barDir val="col"/>
        <c:grouping val="clustered"/>
        <c:varyColors val="0"/>
        <c:ser>
          <c:idx val="0"/>
          <c:order val="0"/>
          <c:tx>
            <c:strRef>
              <c:f>Sheet1!$B$1</c:f>
              <c:strCache>
                <c:ptCount val="1"/>
                <c:pt idx="0">
                  <c:v>年間売上増減</c:v>
                </c:pt>
              </c:strCache>
            </c:strRef>
          </c:tx>
          <c:spPr>
            <a:solidFill>
              <a:srgbClr val="C9DCD8"/>
            </a:solidFill>
            <a:effectLst/>
          </c:spPr>
          <c:invertIfNegative val="0"/>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cat>
            <c:multiLvlStrRef>
              <c:f>Sheet1!$A$2:$A$5</c:f>
              <c:multiLvlStrCache>
                <c:ptCount val="4"/>
                <c:lvl>
                  <c:pt idx="0">
                    <c:v>出数変化なし</c:v>
                  </c:pt>
                  <c:pt idx="1">
                    <c:v>標準（-1.6%）</c:v>
                  </c:pt>
                  <c:pt idx="2">
                    <c:v>慎重（-3.3%）</c:v>
                  </c:pt>
                  <c:pt idx="3">
                    <c:v>悲観（-5.4%）</c:v>
                  </c:pt>
                </c:lvl>
              </c:multiLvlStrCache>
            </c:multiLvlStrRef>
          </c:cat>
          <c:val>
            <c:numRef>
              <c:f>Sheet1!$B$2:$B$5</c:f>
              <c:numCache>
                <c:formatCode>General</c:formatCode>
                <c:ptCount val="4"/>
                <c:pt idx="0">
                  <c:v>215</c:v>
                </c:pt>
                <c:pt idx="1">
                  <c:v>146</c:v>
                </c:pt>
                <c:pt idx="2">
                  <c:v>77</c:v>
                </c:pt>
                <c:pt idx="3">
                  <c:v>-15</c:v>
                </c:pt>
              </c:numCache>
            </c:numRef>
          </c:val>
        </c:ser>
        <c:ser>
          <c:idx val="1"/>
          <c:order val="1"/>
          <c:tx>
            <c:strRef>
              <c:f>Sheet1!$C$1</c:f>
              <c:strCache>
                <c:ptCount val="1"/>
                <c:pt idx="0">
                  <c:v>年間粗利増減</c:v>
                </c:pt>
              </c:strCache>
            </c:strRef>
          </c:tx>
          <c:spPr>
            <a:solidFill>
              <a:srgbClr val="C8773B"/>
            </a:solidFill>
            <a:effectLst/>
          </c:spPr>
          <c:invertIfNegative val="0"/>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cat>
            <c:multiLvlStrRef>
              <c:f>Sheet1!$A$2:$A$5</c:f>
              <c:multiLvlStrCache>
                <c:ptCount val="4"/>
                <c:lvl>
                  <c:pt idx="0">
                    <c:v>出数変化なし</c:v>
                  </c:pt>
                  <c:pt idx="1">
                    <c:v>標準（-1.6%）</c:v>
                  </c:pt>
                  <c:pt idx="2">
                    <c:v>慎重（-3.3%）</c:v>
                  </c:pt>
                  <c:pt idx="3">
                    <c:v>悲観（-5.4%）</c:v>
                  </c:pt>
                </c:lvl>
              </c:multiLvlStrCache>
            </c:multiLvlStrRef>
          </c:cat>
          <c:val>
            <c:numRef>
              <c:f>Sheet1!$C$2:$C$5</c:f>
              <c:numCache>
                <c:formatCode>General</c:formatCode>
                <c:ptCount val="4"/>
                <c:pt idx="0">
                  <c:v>215</c:v>
                </c:pt>
                <c:pt idx="1">
                  <c:v>167</c:v>
                </c:pt>
                <c:pt idx="2">
                  <c:v>118</c:v>
                </c:pt>
                <c:pt idx="3">
                  <c:v>54</c:v>
                </c:pt>
              </c:numCache>
            </c:numRef>
          </c:val>
        </c:ser>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B2324"/>
                </a:solidFill>
                <a:latin typeface="+mn-lt"/>
              </a:defRPr>
            </a:pPr>
            <a:endParaRPr lang="en-US"/>
          </a:p>
        </c:txPr>
        <c:crossAx val="2094734552"/>
        <c:crosses val="autoZero"/>
        <c:auto val="1"/>
        <c:lblAlgn val="ctr"/>
        <c:noMultiLvlLbl val="1"/>
      </c:catAx>
      <c:valAx>
        <c:axId val="2094734552"/>
        <c:scaling>
          <c:orientation val="minMax"/>
          <c:max val="260"/>
          <c:min val="-50"/>
        </c:scaling>
        <c:delete val="1"/>
        <c:axPos val="l"/>
        <c:majorGridlines>
          <c:spPr>
            <a:ln w="6350" cap="flat">
              <a:solidFill>
                <a:srgbClr val="E3E8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6B74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6B7478"/>
                </a:solidFill>
                <a:latin typeface="+mn-lt"/>
              </a:defRPr>
            </a:pPr>
            <a:r>
              <a:rPr sz="1050" b="0" i="0" u="none" strike="noStrike">
                <a:solidFill>
                  <a:srgbClr val="6B7478"/>
                </a:solidFill>
                <a:latin typeface="+mn-lt"/>
              </a:rPr>
              <a:t>飲食原価率（予算 33.4%）</a:t>
            </a:r>
          </a:p>
        </c:rich>
      </c:tx>
      <c:layout/>
      <c:overlay val="0"/>
    </c:title>
    <c:autoTitleDeleted val="0"/>
    <c:plotArea>
      <c:layout/>
      <c:barChart>
        <c:barDir val="col"/>
        <c:grouping val="clustered"/>
        <c:varyColors val="0"/>
        <c:ser>
          <c:idx val="0"/>
          <c:order val="0"/>
          <c:tx>
            <c:strRef>
              <c:f>Sheet1!$B$1</c:f>
              <c:strCache>
                <c:ptCount val="1"/>
                <c:pt idx="0">
                  <c:v>原価率</c:v>
                </c:pt>
              </c:strCache>
            </c:strRef>
          </c:tx>
          <c:spPr>
            <a:solidFill>
              <a:srgbClr val="6B7478"/>
            </a:solidFill>
            <a:effectLst/>
          </c:spPr>
          <c:invertIfNegative val="0"/>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dPt>
            <c:idx val="0"/>
            <c:invertIfNegative val="0"/>
            <c:bubble3D val="0"/>
            <c:spPr>
              <a:solidFill>
                <a:srgbClr val="6B7478"/>
              </a:solidFill>
              <a:effectLst/>
            </c:spPr>
          </c:dPt>
          <c:dPt>
            <c:idx val="1"/>
            <c:invertIfNegative val="0"/>
            <c:bubble3D val="0"/>
            <c:spPr>
              <a:solidFill>
                <a:srgbClr val="0F3D3E"/>
              </a:solidFill>
              <a:effectLst/>
            </c:spPr>
          </c:dPt>
          <c:dPt>
            <c:idx val="2"/>
            <c:invertIfNegative val="0"/>
            <c:bubble3D val="0"/>
            <c:spPr>
              <a:solidFill>
                <a:srgbClr val="C8773B"/>
              </a:solidFill>
              <a:effectLst/>
            </c:spPr>
          </c:dPt>
          <c:dPt>
            <c:idx val="3"/>
            <c:invertIfNegative val="0"/>
            <c:bubble3D val="0"/>
            <c:spPr>
              <a:solidFill>
                <a:srgbClr val="C9DCD8"/>
              </a:solidFill>
              <a:effectLst/>
            </c:spPr>
          </c:dPt>
          <c:cat>
            <c:multiLvlStrRef>
              <c:f>Sheet1!$A$2:$A$5</c:f>
              <c:multiLvlStrCache>
                <c:ptCount val="4"/>
                <c:lvl>
                  <c:pt idx="0">
                    <c:v>上期実績</c:v>
                  </c:pt>
                  <c:pt idx="1">
                    <c:v>下期計画</c:v>
                  </c:pt>
                  <c:pt idx="2">
                    <c:v>通期見通し</c:v>
                  </c:pt>
                  <c:pt idx="3">
                    <c:v>通期予算内に必要な下期</c:v>
                  </c:pt>
                </c:lvl>
              </c:multiLvlStrCache>
            </c:multiLvlStrRef>
          </c:cat>
          <c:val>
            <c:numRef>
              <c:f>Sheet1!$B$2:$B$5</c:f>
              <c:numCache>
                <c:formatCode>General</c:formatCode>
                <c:ptCount val="4"/>
                <c:pt idx="0">
                  <c:v>0.3642</c:v>
                </c:pt>
                <c:pt idx="1">
                  <c:v>0.334</c:v>
                </c:pt>
                <c:pt idx="2">
                  <c:v>0.349</c:v>
                </c:pt>
                <c:pt idx="3">
                  <c:v>0.304</c:v>
                </c:pt>
              </c:numCache>
            </c:numRef>
          </c:val>
        </c:ser>
        <c:dLbls>
          <c:numFmt formatCode="0.0%" sourceLinked="0"/>
          <c:txPr>
            <a:bodyPr/>
            <a:lstStyle/>
            <a:p>
              <a:pPr>
                <a:defRPr b="0" i="0" strike="noStrike" sz="1000" u="none">
                  <a:solidFill>
                    <a:srgbClr val="1B23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1B2324"/>
                </a:solidFill>
                <a:latin typeface="+mn-lt"/>
              </a:defRPr>
            </a:pPr>
            <a:endParaRPr lang="en-US"/>
          </a:p>
        </c:txPr>
        <c:crossAx val="2094734552"/>
        <c:crosses val="autoZero"/>
        <c:auto val="1"/>
        <c:lblAlgn val="ctr"/>
        <c:noMultiLvlLbl val="1"/>
      </c:catAx>
      <c:valAx>
        <c:axId val="2094734552"/>
        <c:scaling>
          <c:orientation val="minMax"/>
          <c:max val="0.39"/>
          <c:min val="0.25"/>
        </c:scaling>
        <c:delete val="1"/>
        <c:axPos val="l"/>
        <c:majorGridlines>
          <c:spPr>
            <a:ln w="6350" cap="flat">
              <a:solidFill>
                <a:srgbClr val="E3E8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役員の皆さまに、飲食メニューの価格改定と原価率改善プランをご提案します。数値は予実管理表（2026年4〜9月）とPOS期間報（4〜6月、税抜）の実績に基づいています。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です。上期の飲食原価率は36.4%で予算を3.0pt超過しました。主因はコラボ売上の不振と原価圧迫です。GMの値上げで出数を踏まえた年間粗利を約167万円改善し、あわせて原価コントロールで下期85万円を削減することで、下期の原価率を予算水準の33.4%に戻します。通期の予算内着地には、上期超過分166万円の回収が別途必要で、その手当てを判断事項としてお諮り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原価額は予算比96.9%と予算内に収まっています。一方で売上が予算比88.9%にとどまったため、原価率は36.4%に上昇しました。売上不足の大半はコラボです。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算の区分別原価率（コラボ32%、食事35%）を実績の売上構成に当てはめて分解しました。構成変化が0.2pt、在庫取崩しが0.85pt、残りの約2.0ptが原価圧迫とロスです。コラボの特典や最低ロットなど売上に連動しない原価がある場合は、コラボ要因の比重が大き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コラボは前期から1,291万円減少し、予算比でも78%です。GMは予算比101%、前期比99%と安定しています。4〜6月はご飯類が前年比129%、麺類が107%と伸びています。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月の出数に原価単価を掛けて、原価への寄与が大きい品目を並べました。上位10品でGM原価の48%を占めます。主力のカツカレーや釜玉チーズカレーうどんなど、出数の多い食事メニューの改定が原価率改善に最も効きます。ビール3種は原価率40%前後と高いものの、減税とアルコール低迷を踏まえて据え置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食の物価は2025年度に前年比+4.2%、食品の値上げは2026年も2万品目を超えています。周辺のチェーンも2026年に相次いで値上げしました。一方で、10月のビール減税と米価の下落があるため、ビールは据え置き、ご飯類は小幅改定にとど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神田周辺の飲食店と都内温浴施設の価格を比べました。カレー、うどん、揚げ物は温浴施設の相場の範囲内です。ロースカツカレーは改定後も神田の専門店の上位帯（1,650〜1,940円）より下にあります。ビールはすでに温浴施設の上限帯のため据え置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案は現行の改定案で、税込10〜50円を中心とした改定です。B案として、競合比で余地がある、または原価率が高い4品を上乗せします。ビール4種と1010セットは据え置きます。出数で加重したコラボ抜き売上全体に対する実効値上げ率は3.7%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競合比で割安な品目、出数の多い品目、原価率が高い品目に絞って上乗せします。ロースカツカレーは神田のカツカレー専門店の上位帯より下、サウナカリーは価格表外のため改定対象に加えます。ごはん大盛りは原価率50%のため改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げ率1%あたりの出数の減り方（価格弾力性）を4段階で試算しました。標準ケースは-0.3で、出数は1.6%減ります。この場合、年間の売上は146万円、粗利は167万円増えます。出数が5.4%減る悲観ケースでも、粗利は54万円のプラスを確保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期の36.4%から、一時要因の在庫取崩しを除くと下期のベースは35.6%です。値上げで0.65pt下がり34.9%になります。予算水準の33.4%まで下げるには、原価コントロールで半期85万円、原価の4.4%の削減が必要です。値上げだけで達成するには、GM全体で平均+12%の値上げが必要となり、競合比で現実的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期を33.4%で着地させた場合、通期は34.9%で予算を1.5pt上回ります。通期累計を予算内に収めるには、下期の原価率を30.4%まで下げる必要があり、上期の超過額166万円と同額の追加改善が必要です。ここは追加施策の判断事項としてお諮り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GMの理論原価率30.9%に対して、飲食全体の実績は36.4%です。この差を縮める3つの施策で、下期85万円の削減を目指します。金額配分は目標値で、毎月の理論原価との差で進捗を管理します。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なリスクは3つです。客離れについては、出数が5%減っても粗利はプラスの試算です。アルコールはビールを据え置き、注文を増やす施策を併用します。価格の受け止め方については、相場内の水準であることを確認済みです。毎月のKPIで検知し、基準を超えたら見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ご承認いただければ、11月にメニュー表、POS、店内告知の準備を進め、12月1日から新価格で運用します。1月に初回の効果検証を行い、3月に通期の着地を確認します。本日ご判断いただきたいのは3点です。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試算の前提をまとめています。数値はすべて「役員提案_根拠データ.xlsx」で再計算でき、前提を変えれば結果も連動します。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325880"/>
            <a:ext cx="59436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1691640"/>
            <a:ext cx="6035040" cy="14630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640080" y="3429000"/>
            <a:ext cx="5943600" cy="914400"/>
          </a:xfrm>
          <a:prstGeom prst="rect">
            <a:avLst/>
          </a:prstGeom>
          <a:noFill/>
          <a:ln/>
        </p:spPr>
        <p:txBody>
          <a:bodyPr wrap="square" rtlCol="0"/>
          <a:lstStyle>
            <a:lvl1pPr algn="l" indent="0" marL="0">
              <a:buNone/>
              <a:defRPr lang="en-US" sz="1200" dirty="0">
                <a:solidFill>
                  <a:schemeClr val="accent5"/>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rtlCol="0"/>
          <a:lstStyle>
            <a:lvl1pPr indent="0" marL="0">
              <a:buNone/>
              <a:defRPr lang="en-US" sz="1000" b="1" spc="150" kern="0"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rtlCol="0"/>
          <a:lstStyle>
            <a:lvl1pPr algn="l" indent="0" marL="0">
              <a:buNone/>
              <a:defRPr lang="en-US" sz="2100" b="1" dirty="0">
                <a:solidFill>
                  <a:schemeClr val="tx1"/>
                </a:solidFill>
              </a:defRPr>
            </a:lvl1pPr>
          </a:lstStyle>
          <a:p>
            <a:pPr algn="l" indent="0" marL="0">
              <a:buNone/>
            </a:pPr>
            <a:endParaRPr lang="en-US" sz="2100" dirty="0"/>
          </a:p>
        </p:txBody>
      </p:sp>
      <p:sp>
        <p:nvSpPr>
          <p:cNvPr id="4" name="Text 0"/>
          <p:cNvSpPr/>
          <p:nvPr/>
        </p:nvSpPr>
        <p:spPr>
          <a:xfrm>
            <a:off x="457200" y="4818888"/>
            <a:ext cx="6858000" cy="201168"/>
          </a:xfrm>
          <a:prstGeom prst="rect">
            <a:avLst/>
          </a:prstGeom>
          <a:noFill/>
          <a:ln/>
        </p:spPr>
        <p:txBody>
          <a:bodyPr wrap="square" lIns="0" tIns="0" rIns="0" bIns="0" rtlCol="0" anchor="ctr"/>
          <a:lstStyle/>
          <a:p>
            <a:pPr indent="0" marL="0">
              <a:buNone/>
            </a:pPr>
            <a:r>
              <a:rPr lang="en-US" sz="750" dirty="0">
                <a:solidFill>
                  <a:schemeClr val="accent4"/>
                </a:solidFill>
              </a:rPr>
              <a:t>RAKU SPA 1010 神田｜飲食メニュー価格改定および原価率改善プラン</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circle-1"/>
          <p:cNvSpPr/>
          <p:nvPr/>
        </p:nvSpPr>
        <p:spPr>
          <a:xfrm>
            <a:off x="6035040" y="-1097280"/>
            <a:ext cx="4754880" cy="4754880"/>
          </a:xfrm>
          <a:prstGeom prst="ellipse">
            <a:avLst/>
          </a:prstGeom>
          <a:solidFill>
            <a:schemeClr val="accent6"/>
          </a:solidFill>
          <a:ln/>
        </p:spPr>
      </p:sp>
      <p:sp>
        <p:nvSpPr>
          <p:cNvPr id="3" name="deco-circle-2"/>
          <p:cNvSpPr/>
          <p:nvPr/>
        </p:nvSpPr>
        <p:spPr>
          <a:xfrm>
            <a:off x="7223760" y="2651760"/>
            <a:ext cx="2926080" cy="2926080"/>
          </a:xfrm>
          <a:prstGeom prst="ellipse">
            <a:avLst/>
          </a:prstGeom>
          <a:solidFill>
            <a:schemeClr val="accent1">
              <a:alpha val="85000"/>
            </a:schemeClr>
          </a:solidFill>
          <a:ln/>
        </p:spPr>
      </p:sp>
      <p:sp>
        <p:nvSpPr>
          <p:cNvPr id="4" name="deco-circle-3"/>
          <p:cNvSpPr/>
          <p:nvPr/>
        </p:nvSpPr>
        <p:spPr>
          <a:xfrm>
            <a:off x="6720840" y="2240280"/>
            <a:ext cx="502920" cy="502920"/>
          </a:xfrm>
          <a:prstGeom prst="ellipse">
            <a:avLst/>
          </a:prstGeom>
          <a:solidFill>
            <a:schemeClr val="accent3"/>
          </a:solidFill>
          <a:ln/>
        </p:spPr>
      </p:sp>
      <p:sp>
        <p:nvSpPr>
          <p:cNvPr id="5" name="Text 0"/>
          <p:cNvSpPr/>
          <p:nvPr>
            <p:ph idx="100" type="body" hasCustomPrompt="1"/>
          </p:nvPr>
        </p:nvSpPr>
        <p:spPr>
          <a:xfrm>
            <a:off x="640080" y="1325880"/>
            <a:ext cx="5943600" cy="320040"/>
          </a:xfrm>
          <a:prstGeom prst="rect">
            <a:avLst/>
          </a:prstGeom>
          <a:noFill/>
          <a:ln/>
        </p:spPr>
        <p:txBody>
          <a:bodyPr wrap="square" lIns="0" tIns="0" rIns="0" bIns="0" rtlCol="0"/>
          <a:lstStyle/>
          <a:p>
            <a:pPr indent="0" marL="0">
              <a:buNone/>
            </a:pPr>
            <a:r>
              <a:rPr lang="en-US" sz="1200" b="1" spc="300" kern="0" dirty="0">
                <a:solidFill>
                  <a:schemeClr val="accent1"/>
                </a:solidFill>
              </a:rPr>
              <a:t>EXECUTIVE PROPOSAL</a:t>
            </a:r>
            <a:endParaRPr lang="en-US" sz="1200" dirty="0"/>
          </a:p>
        </p:txBody>
      </p:sp>
      <p:sp>
        <p:nvSpPr>
          <p:cNvPr id="6" name="Text 0"/>
          <p:cNvSpPr/>
          <p:nvPr>
            <p:ph idx="101" type="title" hasCustomPrompt="1"/>
          </p:nvPr>
        </p:nvSpPr>
        <p:spPr>
          <a:xfrm>
            <a:off x="640080" y="1691640"/>
            <a:ext cx="6035040" cy="1463040"/>
          </a:xfrm>
          <a:prstGeom prst="rect">
            <a:avLst/>
          </a:prstGeom>
          <a:noFill/>
          <a:ln/>
        </p:spPr>
        <p:txBody>
          <a:bodyPr wrap="square" lIns="0" tIns="0" rIns="0" bIns="0" rtlCol="0" anchor="t"/>
          <a:lstStyle/>
          <a:p>
            <a:pPr algn="l" indent="0" marL="0">
              <a:buNone/>
            </a:pPr>
            <a:r>
              <a:rPr lang="en-US" sz="3000" b="1" dirty="0">
                <a:solidFill>
                  <a:schemeClr val="bg1"/>
                </a:solidFill>
              </a:rPr>
              <a:t>飲食メニュー価格改定および</a:t>
            </a:r>
            <a:endParaRPr lang="en-US" sz="3000" dirty="0"/>
          </a:p>
          <a:p>
            <a:pPr algn="l" indent="0" marL="0">
              <a:buNone/>
            </a:pPr>
            <a:r>
              <a:rPr lang="en-US" sz="3000" b="1" dirty="0">
                <a:solidFill>
                  <a:schemeClr val="bg1"/>
                </a:solidFill>
              </a:rPr>
              <a:t>原価率改善プランのご提案</a:t>
            </a:r>
            <a:endParaRPr lang="en-US" sz="3000" dirty="0"/>
          </a:p>
        </p:txBody>
      </p:sp>
      <p:sp>
        <p:nvSpPr>
          <p:cNvPr id="7" name="Text 0"/>
          <p:cNvSpPr/>
          <p:nvPr>
            <p:ph idx="102" type="body" hasCustomPrompt="1"/>
          </p:nvPr>
        </p:nvSpPr>
        <p:spPr>
          <a:xfrm>
            <a:off x="640080" y="3429000"/>
            <a:ext cx="5943600" cy="914400"/>
          </a:xfrm>
          <a:prstGeom prst="rect">
            <a:avLst/>
          </a:prstGeom>
          <a:noFill/>
          <a:ln/>
        </p:spPr>
        <p:txBody>
          <a:bodyPr wrap="square" lIns="0" tIns="0" rIns="0" bIns="0" rtlCol="0" anchor="t"/>
          <a:lstStyle/>
          <a:p>
            <a:pPr algn="l" indent="0" marL="0">
              <a:buNone/>
            </a:pPr>
            <a:r>
              <a:rPr lang="en-US" sz="1200" dirty="0">
                <a:solidFill>
                  <a:schemeClr val="accent5"/>
                </a:solidFill>
              </a:rPr>
              <a:t>GM（グランドメニュー）の値上げと原価コントロールで、下期の飲食原価率を予算水準 33.4% へ</a:t>
            </a:r>
            <a:endParaRPr lang="en-US" sz="1200" dirty="0"/>
          </a:p>
          <a:p>
            <a:pPr algn="l" indent="0" marL="0">
              <a:buNone/>
            </a:pPr>
            <a:r>
              <a:rPr lang="en-US" sz="1200" dirty="0">
                <a:solidFill>
                  <a:schemeClr val="bg1"/>
                </a:solidFill>
              </a:rPr>
              <a:t>RAKU SPA 1010 神田　2026年10月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EXECUTIVE SUMMARY</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GM値上げ＋原価管理で、下期原価率を予算水準33.4%へ</a:t>
            </a:r>
            <a:endParaRPr lang="en-US" sz="2100" dirty="0"/>
          </a:p>
        </p:txBody>
      </p:sp>
      <p:sp>
        <p:nvSpPr>
          <p:cNvPr id="5" name="kpi"/>
          <p:cNvSpPr/>
          <p:nvPr/>
        </p:nvSpPr>
        <p:spPr>
          <a:xfrm>
            <a:off x="457200" y="1280160"/>
            <a:ext cx="1920240" cy="1234440"/>
          </a:xfrm>
          <a:prstGeom prst="roundRect">
            <a:avLst>
              <a:gd name="adj" fmla="val 7407"/>
            </a:avLst>
          </a:prstGeom>
          <a:solidFill>
            <a:schemeClr val="bg2"/>
          </a:solidFill>
          <a:ln/>
        </p:spPr>
      </p:sp>
      <p:sp>
        <p:nvSpPr>
          <p:cNvPr id="6" name="Text 3"/>
          <p:cNvSpPr txBox="1"/>
          <p:nvPr/>
        </p:nvSpPr>
        <p:spPr>
          <a:xfrm>
            <a:off x="640080" y="1426464"/>
            <a:ext cx="1554480" cy="228600"/>
          </a:xfrm>
          <a:prstGeom prst="rect">
            <a:avLst/>
          </a:prstGeom>
          <a:noFill/>
          <a:ln/>
        </p:spPr>
        <p:txBody>
          <a:bodyPr wrap="square" lIns="0" tIns="0" rIns="0" bIns="0" rtlCol="0" anchor="t"/>
          <a:lstStyle/>
          <a:p>
            <a:pPr indent="0" marL="0">
              <a:buNone/>
            </a:pPr>
            <a:r>
              <a:rPr lang="en-US" sz="950" b="1" dirty="0">
                <a:solidFill>
                  <a:schemeClr val="accent4"/>
                </a:solidFill>
              </a:rPr>
              <a:t>上期 飲食原価率</a:t>
            </a:r>
            <a:endParaRPr lang="en-US" sz="950" dirty="0"/>
          </a:p>
        </p:txBody>
      </p:sp>
      <p:sp>
        <p:nvSpPr>
          <p:cNvPr id="7" name="Text 4"/>
          <p:cNvSpPr txBox="1"/>
          <p:nvPr/>
        </p:nvSpPr>
        <p:spPr>
          <a:xfrm>
            <a:off x="640080" y="1664208"/>
            <a:ext cx="1554480" cy="457200"/>
          </a:xfrm>
          <a:prstGeom prst="rect">
            <a:avLst/>
          </a:prstGeom>
          <a:noFill/>
          <a:ln/>
        </p:spPr>
        <p:txBody>
          <a:bodyPr wrap="square" lIns="0" tIns="0" rIns="0" bIns="0" rtlCol="0" anchor="t"/>
          <a:lstStyle/>
          <a:p>
            <a:pPr indent="0" marL="0">
              <a:buNone/>
            </a:pPr>
            <a:r>
              <a:rPr lang="en-US" sz="2400" b="1" dirty="0">
                <a:solidFill>
                  <a:schemeClr val="accent1"/>
                </a:solidFill>
              </a:rPr>
              <a:t>36.4%</a:t>
            </a:r>
            <a:endParaRPr lang="en-US" sz="2400" dirty="0"/>
          </a:p>
        </p:txBody>
      </p:sp>
      <p:sp>
        <p:nvSpPr>
          <p:cNvPr id="8" name="Text 5"/>
          <p:cNvSpPr txBox="1"/>
          <p:nvPr/>
        </p:nvSpPr>
        <p:spPr>
          <a:xfrm>
            <a:off x="640080" y="2130552"/>
            <a:ext cx="1645920" cy="320040"/>
          </a:xfrm>
          <a:prstGeom prst="rect">
            <a:avLst/>
          </a:prstGeom>
          <a:noFill/>
          <a:ln/>
        </p:spPr>
        <p:txBody>
          <a:bodyPr wrap="square" lIns="0" tIns="0" rIns="0" bIns="0" rtlCol="0" anchor="t"/>
          <a:lstStyle/>
          <a:p>
            <a:pPr indent="0" marL="0">
              <a:buNone/>
            </a:pPr>
            <a:r>
              <a:rPr lang="en-US" sz="850" dirty="0">
                <a:solidFill>
                  <a:schemeClr val="accent4"/>
                </a:solidFill>
              </a:rPr>
              <a:t>予算 33.4%（+3.0pt）</a:t>
            </a:r>
            <a:endParaRPr lang="en-US" sz="850" dirty="0"/>
          </a:p>
        </p:txBody>
      </p:sp>
      <p:sp>
        <p:nvSpPr>
          <p:cNvPr id="9" name="kpi"/>
          <p:cNvSpPr/>
          <p:nvPr/>
        </p:nvSpPr>
        <p:spPr>
          <a:xfrm>
            <a:off x="2514600" y="1280160"/>
            <a:ext cx="1920240" cy="1234440"/>
          </a:xfrm>
          <a:prstGeom prst="roundRect">
            <a:avLst>
              <a:gd name="adj" fmla="val 7407"/>
            </a:avLst>
          </a:prstGeom>
          <a:solidFill>
            <a:schemeClr val="bg2"/>
          </a:solidFill>
          <a:ln/>
        </p:spPr>
      </p:sp>
      <p:sp>
        <p:nvSpPr>
          <p:cNvPr id="10" name="Text 7"/>
          <p:cNvSpPr txBox="1"/>
          <p:nvPr/>
        </p:nvSpPr>
        <p:spPr>
          <a:xfrm>
            <a:off x="2697480" y="1426464"/>
            <a:ext cx="1554480" cy="228600"/>
          </a:xfrm>
          <a:prstGeom prst="rect">
            <a:avLst/>
          </a:prstGeom>
          <a:noFill/>
          <a:ln/>
        </p:spPr>
        <p:txBody>
          <a:bodyPr wrap="square" lIns="0" tIns="0" rIns="0" bIns="0" rtlCol="0" anchor="t"/>
          <a:lstStyle/>
          <a:p>
            <a:pPr indent="0" marL="0">
              <a:buNone/>
            </a:pPr>
            <a:r>
              <a:rPr lang="en-US" sz="950" b="1" dirty="0">
                <a:solidFill>
                  <a:schemeClr val="accent4"/>
                </a:solidFill>
              </a:rPr>
              <a:t>GM実効値上げ率</a:t>
            </a:r>
            <a:endParaRPr lang="en-US" sz="950" dirty="0"/>
          </a:p>
        </p:txBody>
      </p:sp>
      <p:sp>
        <p:nvSpPr>
          <p:cNvPr id="11" name="Text 8"/>
          <p:cNvSpPr txBox="1"/>
          <p:nvPr/>
        </p:nvSpPr>
        <p:spPr>
          <a:xfrm>
            <a:off x="2697480" y="1664208"/>
            <a:ext cx="1554480" cy="457200"/>
          </a:xfrm>
          <a:prstGeom prst="rect">
            <a:avLst/>
          </a:prstGeom>
          <a:noFill/>
          <a:ln/>
        </p:spPr>
        <p:txBody>
          <a:bodyPr wrap="square" lIns="0" tIns="0" rIns="0" bIns="0" rtlCol="0" anchor="t"/>
          <a:lstStyle/>
          <a:p>
            <a:pPr indent="0" marL="0">
              <a:buNone/>
            </a:pPr>
            <a:r>
              <a:rPr lang="en-US" sz="2400" b="1" dirty="0">
                <a:solidFill>
                  <a:schemeClr val="tx2"/>
                </a:solidFill>
              </a:rPr>
              <a:t>+3.7%</a:t>
            </a:r>
            <a:endParaRPr lang="en-US" sz="2400" dirty="0"/>
          </a:p>
        </p:txBody>
      </p:sp>
      <p:sp>
        <p:nvSpPr>
          <p:cNvPr id="12" name="Text 9"/>
          <p:cNvSpPr txBox="1"/>
          <p:nvPr/>
        </p:nvSpPr>
        <p:spPr>
          <a:xfrm>
            <a:off x="2697480" y="2130552"/>
            <a:ext cx="1645920" cy="320040"/>
          </a:xfrm>
          <a:prstGeom prst="rect">
            <a:avLst/>
          </a:prstGeom>
          <a:noFill/>
          <a:ln/>
        </p:spPr>
        <p:txBody>
          <a:bodyPr wrap="square" lIns="0" tIns="0" rIns="0" bIns="0" rtlCol="0" anchor="t"/>
          <a:lstStyle/>
          <a:p>
            <a:pPr indent="0" marL="0">
              <a:buNone/>
            </a:pPr>
            <a:r>
              <a:rPr lang="en-US" sz="850" dirty="0">
                <a:solidFill>
                  <a:schemeClr val="accent4"/>
                </a:solidFill>
              </a:rPr>
              <a:t>コラボ抜き売上に対して</a:t>
            </a:r>
            <a:endParaRPr lang="en-US" sz="850" dirty="0"/>
          </a:p>
        </p:txBody>
      </p:sp>
      <p:sp>
        <p:nvSpPr>
          <p:cNvPr id="13" name="kpi"/>
          <p:cNvSpPr/>
          <p:nvPr/>
        </p:nvSpPr>
        <p:spPr>
          <a:xfrm>
            <a:off x="4572000" y="1280160"/>
            <a:ext cx="1920240" cy="1234440"/>
          </a:xfrm>
          <a:prstGeom prst="roundRect">
            <a:avLst>
              <a:gd name="adj" fmla="val 7407"/>
            </a:avLst>
          </a:prstGeom>
          <a:solidFill>
            <a:schemeClr val="bg2"/>
          </a:solidFill>
          <a:ln/>
        </p:spPr>
      </p:sp>
      <p:sp>
        <p:nvSpPr>
          <p:cNvPr id="14" name="Text 11"/>
          <p:cNvSpPr txBox="1"/>
          <p:nvPr/>
        </p:nvSpPr>
        <p:spPr>
          <a:xfrm>
            <a:off x="4754880" y="1426464"/>
            <a:ext cx="1554480" cy="228600"/>
          </a:xfrm>
          <a:prstGeom prst="rect">
            <a:avLst/>
          </a:prstGeom>
          <a:noFill/>
          <a:ln/>
        </p:spPr>
        <p:txBody>
          <a:bodyPr wrap="square" lIns="0" tIns="0" rIns="0" bIns="0" rtlCol="0" anchor="t"/>
          <a:lstStyle/>
          <a:p>
            <a:pPr indent="0" marL="0">
              <a:buNone/>
            </a:pPr>
            <a:r>
              <a:rPr lang="en-US" sz="950" b="1" dirty="0">
                <a:solidFill>
                  <a:schemeClr val="accent4"/>
                </a:solidFill>
              </a:rPr>
              <a:t>年間 粗利改善</a:t>
            </a:r>
            <a:endParaRPr lang="en-US" sz="950" dirty="0"/>
          </a:p>
        </p:txBody>
      </p:sp>
      <p:sp>
        <p:nvSpPr>
          <p:cNvPr id="15" name="Text 12"/>
          <p:cNvSpPr txBox="1"/>
          <p:nvPr/>
        </p:nvSpPr>
        <p:spPr>
          <a:xfrm>
            <a:off x="4754880" y="1664208"/>
            <a:ext cx="1554480" cy="457200"/>
          </a:xfrm>
          <a:prstGeom prst="rect">
            <a:avLst/>
          </a:prstGeom>
          <a:noFill/>
          <a:ln/>
        </p:spPr>
        <p:txBody>
          <a:bodyPr wrap="square" lIns="0" tIns="0" rIns="0" bIns="0" rtlCol="0" anchor="t"/>
          <a:lstStyle/>
          <a:p>
            <a:pPr indent="0" marL="0">
              <a:buNone/>
            </a:pPr>
            <a:r>
              <a:rPr lang="en-US" sz="2400" b="1" dirty="0">
                <a:solidFill>
                  <a:schemeClr val="tx2"/>
                </a:solidFill>
              </a:rPr>
              <a:t>+167万円</a:t>
            </a:r>
            <a:endParaRPr lang="en-US" sz="2400" dirty="0"/>
          </a:p>
        </p:txBody>
      </p:sp>
      <p:sp>
        <p:nvSpPr>
          <p:cNvPr id="16" name="Text 13"/>
          <p:cNvSpPr txBox="1"/>
          <p:nvPr/>
        </p:nvSpPr>
        <p:spPr>
          <a:xfrm>
            <a:off x="4754880" y="2130552"/>
            <a:ext cx="1645920" cy="320040"/>
          </a:xfrm>
          <a:prstGeom prst="rect">
            <a:avLst/>
          </a:prstGeom>
          <a:noFill/>
          <a:ln/>
        </p:spPr>
        <p:txBody>
          <a:bodyPr wrap="square" lIns="0" tIns="0" rIns="0" bIns="0" rtlCol="0" anchor="t"/>
          <a:lstStyle/>
          <a:p>
            <a:pPr indent="0" marL="0">
              <a:buNone/>
            </a:pPr>
            <a:r>
              <a:rPr lang="en-US" sz="850" dirty="0">
                <a:solidFill>
                  <a:schemeClr val="accent4"/>
                </a:solidFill>
              </a:rPr>
              <a:t>出数減（-1.6%）を織り込み</a:t>
            </a:r>
            <a:endParaRPr lang="en-US" sz="850" dirty="0"/>
          </a:p>
        </p:txBody>
      </p:sp>
      <p:sp>
        <p:nvSpPr>
          <p:cNvPr id="17" name="kpi"/>
          <p:cNvSpPr/>
          <p:nvPr/>
        </p:nvSpPr>
        <p:spPr>
          <a:xfrm>
            <a:off x="6629400" y="1280160"/>
            <a:ext cx="2057400" cy="1234440"/>
          </a:xfrm>
          <a:prstGeom prst="roundRect">
            <a:avLst>
              <a:gd name="adj" fmla="val 7407"/>
            </a:avLst>
          </a:prstGeom>
          <a:solidFill>
            <a:schemeClr val="tx2"/>
          </a:solidFill>
          <a:ln/>
        </p:spPr>
      </p:sp>
      <p:sp>
        <p:nvSpPr>
          <p:cNvPr id="18" name="Text 15"/>
          <p:cNvSpPr txBox="1"/>
          <p:nvPr/>
        </p:nvSpPr>
        <p:spPr>
          <a:xfrm>
            <a:off x="6812280" y="1426464"/>
            <a:ext cx="1691640" cy="228600"/>
          </a:xfrm>
          <a:prstGeom prst="rect">
            <a:avLst/>
          </a:prstGeom>
          <a:noFill/>
          <a:ln/>
        </p:spPr>
        <p:txBody>
          <a:bodyPr wrap="square" lIns="0" tIns="0" rIns="0" bIns="0" rtlCol="0" anchor="t"/>
          <a:lstStyle/>
          <a:p>
            <a:pPr indent="0" marL="0">
              <a:buNone/>
            </a:pPr>
            <a:r>
              <a:rPr lang="en-US" sz="950" b="1" dirty="0">
                <a:solidFill>
                  <a:schemeClr val="accent5"/>
                </a:solidFill>
              </a:rPr>
              <a:t>下期 原価率（計画）</a:t>
            </a:r>
            <a:endParaRPr lang="en-US" sz="950" dirty="0"/>
          </a:p>
        </p:txBody>
      </p:sp>
      <p:sp>
        <p:nvSpPr>
          <p:cNvPr id="19" name="Text 16"/>
          <p:cNvSpPr txBox="1"/>
          <p:nvPr/>
        </p:nvSpPr>
        <p:spPr>
          <a:xfrm>
            <a:off x="6812280" y="1664208"/>
            <a:ext cx="1691640" cy="457200"/>
          </a:xfrm>
          <a:prstGeom prst="rect">
            <a:avLst/>
          </a:prstGeom>
          <a:noFill/>
          <a:ln/>
        </p:spPr>
        <p:txBody>
          <a:bodyPr wrap="square" lIns="0" tIns="0" rIns="0" bIns="0" rtlCol="0" anchor="t"/>
          <a:lstStyle/>
          <a:p>
            <a:pPr indent="0" marL="0">
              <a:buNone/>
            </a:pPr>
            <a:r>
              <a:rPr lang="en-US" sz="2400" b="1" dirty="0">
                <a:solidFill>
                  <a:schemeClr val="bg1"/>
                </a:solidFill>
              </a:rPr>
              <a:t>33.4%</a:t>
            </a:r>
            <a:endParaRPr lang="en-US" sz="2400" dirty="0"/>
          </a:p>
        </p:txBody>
      </p:sp>
      <p:sp>
        <p:nvSpPr>
          <p:cNvPr id="20" name="Text 17"/>
          <p:cNvSpPr txBox="1"/>
          <p:nvPr/>
        </p:nvSpPr>
        <p:spPr>
          <a:xfrm>
            <a:off x="6812280" y="2130552"/>
            <a:ext cx="1783080" cy="320040"/>
          </a:xfrm>
          <a:prstGeom prst="rect">
            <a:avLst/>
          </a:prstGeom>
          <a:noFill/>
          <a:ln/>
        </p:spPr>
        <p:txBody>
          <a:bodyPr wrap="square" lIns="0" tIns="0" rIns="0" bIns="0" rtlCol="0" anchor="t"/>
          <a:lstStyle/>
          <a:p>
            <a:pPr indent="0" marL="0">
              <a:buNone/>
            </a:pPr>
            <a:r>
              <a:rPr lang="en-US" sz="850" dirty="0">
                <a:solidFill>
                  <a:schemeClr val="accent5"/>
                </a:solidFill>
              </a:rPr>
              <a:t>予算水準で着地</a:t>
            </a:r>
            <a:endParaRPr lang="en-US" sz="850" dirty="0"/>
          </a:p>
        </p:txBody>
      </p:sp>
      <p:sp>
        <p:nvSpPr>
          <p:cNvPr id="21" name="sum-dot"/>
          <p:cNvSpPr/>
          <p:nvPr/>
        </p:nvSpPr>
        <p:spPr>
          <a:xfrm>
            <a:off x="457200" y="2761488"/>
            <a:ext cx="329184" cy="329184"/>
          </a:xfrm>
          <a:prstGeom prst="ellipse">
            <a:avLst/>
          </a:prstGeom>
          <a:solidFill>
            <a:srgbClr val="0F3D3E"/>
          </a:solidFill>
          <a:ln/>
        </p:spPr>
      </p:sp>
      <p:sp>
        <p:nvSpPr>
          <p:cNvPr id="22" name="Text 19"/>
          <p:cNvSpPr txBox="1"/>
          <p:nvPr/>
        </p:nvSpPr>
        <p:spPr>
          <a:xfrm>
            <a:off x="457200" y="2761488"/>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3" name="Text 20"/>
          <p:cNvSpPr txBox="1"/>
          <p:nvPr/>
        </p:nvSpPr>
        <p:spPr>
          <a:xfrm>
            <a:off x="914400" y="2807208"/>
            <a:ext cx="914400" cy="274320"/>
          </a:xfrm>
          <a:prstGeom prst="rect">
            <a:avLst/>
          </a:prstGeom>
          <a:noFill/>
          <a:ln/>
        </p:spPr>
        <p:txBody>
          <a:bodyPr wrap="square" lIns="0" tIns="0" rIns="0" bIns="0" rtlCol="0" anchor="t"/>
          <a:lstStyle/>
          <a:p>
            <a:pPr indent="0" marL="0">
              <a:buNone/>
            </a:pPr>
            <a:r>
              <a:rPr lang="en-US" sz="1100" b="1" dirty="0">
                <a:solidFill>
                  <a:schemeClr val="tx2"/>
                </a:solidFill>
              </a:rPr>
              <a:t>現状</a:t>
            </a:r>
            <a:endParaRPr lang="en-US" sz="1100" dirty="0"/>
          </a:p>
        </p:txBody>
      </p:sp>
      <p:sp>
        <p:nvSpPr>
          <p:cNvPr id="24" name="Text 21"/>
          <p:cNvSpPr txBox="1"/>
          <p:nvPr/>
        </p:nvSpPr>
        <p:spPr>
          <a:xfrm>
            <a:off x="1828800" y="2807208"/>
            <a:ext cx="6858000" cy="365760"/>
          </a:xfrm>
          <a:prstGeom prst="rect">
            <a:avLst/>
          </a:prstGeom>
          <a:noFill/>
          <a:ln/>
        </p:spPr>
        <p:txBody>
          <a:bodyPr wrap="square" lIns="0" tIns="0" rIns="0" bIns="0" rtlCol="0" anchor="t"/>
          <a:lstStyle/>
          <a:p>
            <a:pPr indent="0" marL="0">
              <a:buNone/>
            </a:pPr>
            <a:r>
              <a:rPr lang="en-US" sz="1050" dirty="0">
                <a:solidFill>
                  <a:schemeClr val="tx1"/>
                </a:solidFill>
              </a:rPr>
              <a:t>コラボ売上は予算比78%。GMは予算比101%と安定。原価は予算内だが売上不足で原価率が上昇</a:t>
            </a:r>
            <a:endParaRPr lang="en-US" sz="1050" dirty="0"/>
          </a:p>
        </p:txBody>
      </p:sp>
      <p:sp>
        <p:nvSpPr>
          <p:cNvPr id="25" name="sum-dot"/>
          <p:cNvSpPr/>
          <p:nvPr/>
        </p:nvSpPr>
        <p:spPr>
          <a:xfrm>
            <a:off x="457200" y="3218688"/>
            <a:ext cx="329184" cy="329184"/>
          </a:xfrm>
          <a:prstGeom prst="ellipse">
            <a:avLst/>
          </a:prstGeom>
          <a:solidFill>
            <a:srgbClr val="0F3D3E"/>
          </a:solidFill>
          <a:ln/>
        </p:spPr>
      </p:sp>
      <p:sp>
        <p:nvSpPr>
          <p:cNvPr id="26" name="Text 23"/>
          <p:cNvSpPr txBox="1"/>
          <p:nvPr/>
        </p:nvSpPr>
        <p:spPr>
          <a:xfrm>
            <a:off x="457200" y="3218688"/>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7" name="Text 24"/>
          <p:cNvSpPr txBox="1"/>
          <p:nvPr/>
        </p:nvSpPr>
        <p:spPr>
          <a:xfrm>
            <a:off x="914400" y="3264408"/>
            <a:ext cx="914400" cy="274320"/>
          </a:xfrm>
          <a:prstGeom prst="rect">
            <a:avLst/>
          </a:prstGeom>
          <a:noFill/>
          <a:ln/>
        </p:spPr>
        <p:txBody>
          <a:bodyPr wrap="square" lIns="0" tIns="0" rIns="0" bIns="0" rtlCol="0" anchor="t"/>
          <a:lstStyle/>
          <a:p>
            <a:pPr indent="0" marL="0">
              <a:buNone/>
            </a:pPr>
            <a:r>
              <a:rPr lang="en-US" sz="1100" b="1" dirty="0">
                <a:solidFill>
                  <a:schemeClr val="tx2"/>
                </a:solidFill>
              </a:rPr>
              <a:t>施策</a:t>
            </a:r>
            <a:endParaRPr lang="en-US" sz="1100" dirty="0"/>
          </a:p>
        </p:txBody>
      </p:sp>
      <p:sp>
        <p:nvSpPr>
          <p:cNvPr id="28" name="Text 25"/>
          <p:cNvSpPr txBox="1"/>
          <p:nvPr/>
        </p:nvSpPr>
        <p:spPr>
          <a:xfrm>
            <a:off x="1828800" y="3264408"/>
            <a:ext cx="6858000" cy="365760"/>
          </a:xfrm>
          <a:prstGeom prst="rect">
            <a:avLst/>
          </a:prstGeom>
          <a:noFill/>
          <a:ln/>
        </p:spPr>
        <p:txBody>
          <a:bodyPr wrap="square" lIns="0" tIns="0" rIns="0" bIns="0" rtlCol="0" anchor="t"/>
          <a:lstStyle/>
          <a:p>
            <a:pPr indent="0" marL="0">
              <a:buNone/>
            </a:pPr>
            <a:r>
              <a:rPr lang="en-US" sz="1050" dirty="0">
                <a:solidFill>
                  <a:schemeClr val="tx1"/>
                </a:solidFill>
              </a:rPr>
              <a:t>GM141品の価格改定（A案＋相場に余地のある4品を上乗せするB案）＋原価コントロール 85万円/半期</a:t>
            </a:r>
            <a:endParaRPr lang="en-US" sz="1050" dirty="0"/>
          </a:p>
        </p:txBody>
      </p:sp>
      <p:sp>
        <p:nvSpPr>
          <p:cNvPr id="29" name="sum-dot"/>
          <p:cNvSpPr/>
          <p:nvPr/>
        </p:nvSpPr>
        <p:spPr>
          <a:xfrm>
            <a:off x="457200" y="3675888"/>
            <a:ext cx="329184" cy="329184"/>
          </a:xfrm>
          <a:prstGeom prst="ellipse">
            <a:avLst/>
          </a:prstGeom>
          <a:solidFill>
            <a:srgbClr val="0F3D3E"/>
          </a:solidFill>
          <a:ln/>
        </p:spPr>
      </p:sp>
      <p:sp>
        <p:nvSpPr>
          <p:cNvPr id="30" name="Text 27"/>
          <p:cNvSpPr txBox="1"/>
          <p:nvPr/>
        </p:nvSpPr>
        <p:spPr>
          <a:xfrm>
            <a:off x="457200" y="3675888"/>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1" name="Text 28"/>
          <p:cNvSpPr txBox="1"/>
          <p:nvPr/>
        </p:nvSpPr>
        <p:spPr>
          <a:xfrm>
            <a:off x="914400" y="3721608"/>
            <a:ext cx="914400" cy="274320"/>
          </a:xfrm>
          <a:prstGeom prst="rect">
            <a:avLst/>
          </a:prstGeom>
          <a:noFill/>
          <a:ln/>
        </p:spPr>
        <p:txBody>
          <a:bodyPr wrap="square" lIns="0" tIns="0" rIns="0" bIns="0" rtlCol="0" anchor="t"/>
          <a:lstStyle/>
          <a:p>
            <a:pPr indent="0" marL="0">
              <a:buNone/>
            </a:pPr>
            <a:r>
              <a:rPr lang="en-US" sz="1100" b="1" dirty="0">
                <a:solidFill>
                  <a:schemeClr val="tx2"/>
                </a:solidFill>
              </a:rPr>
              <a:t>効果</a:t>
            </a:r>
            <a:endParaRPr lang="en-US" sz="1100" dirty="0"/>
          </a:p>
        </p:txBody>
      </p:sp>
      <p:sp>
        <p:nvSpPr>
          <p:cNvPr id="32" name="Text 29"/>
          <p:cNvSpPr txBox="1"/>
          <p:nvPr/>
        </p:nvSpPr>
        <p:spPr>
          <a:xfrm>
            <a:off x="1828800" y="3721608"/>
            <a:ext cx="6858000" cy="365760"/>
          </a:xfrm>
          <a:prstGeom prst="rect">
            <a:avLst/>
          </a:prstGeom>
          <a:noFill/>
          <a:ln/>
        </p:spPr>
        <p:txBody>
          <a:bodyPr wrap="square" lIns="0" tIns="0" rIns="0" bIns="0" rtlCol="0" anchor="t"/>
          <a:lstStyle/>
          <a:p>
            <a:pPr indent="0" marL="0">
              <a:buNone/>
            </a:pPr>
            <a:r>
              <a:rPr lang="en-US" sz="1050" dirty="0">
                <a:solidFill>
                  <a:schemeClr val="tx1"/>
                </a:solidFill>
              </a:rPr>
              <a:t>下期原価率 35.6% → 33.4%（値上げ -0.65pt、原価管理 -1.52pt）。年間売上 +146万円</a:t>
            </a:r>
            <a:endParaRPr lang="en-US" sz="1050" dirty="0"/>
          </a:p>
        </p:txBody>
      </p:sp>
      <p:sp>
        <p:nvSpPr>
          <p:cNvPr id="33" name="sum-dot"/>
          <p:cNvSpPr/>
          <p:nvPr/>
        </p:nvSpPr>
        <p:spPr>
          <a:xfrm>
            <a:off x="457200" y="4133088"/>
            <a:ext cx="329184" cy="329184"/>
          </a:xfrm>
          <a:prstGeom prst="ellipse">
            <a:avLst/>
          </a:prstGeom>
          <a:solidFill>
            <a:srgbClr val="C8773B"/>
          </a:solidFill>
          <a:ln/>
        </p:spPr>
      </p:sp>
      <p:sp>
        <p:nvSpPr>
          <p:cNvPr id="34" name="Text 31"/>
          <p:cNvSpPr txBox="1"/>
          <p:nvPr/>
        </p:nvSpPr>
        <p:spPr>
          <a:xfrm>
            <a:off x="457200" y="4133088"/>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5" name="Text 32"/>
          <p:cNvSpPr txBox="1"/>
          <p:nvPr/>
        </p:nvSpPr>
        <p:spPr>
          <a:xfrm>
            <a:off x="914400" y="4178808"/>
            <a:ext cx="914400" cy="274320"/>
          </a:xfrm>
          <a:prstGeom prst="rect">
            <a:avLst/>
          </a:prstGeom>
          <a:noFill/>
          <a:ln/>
        </p:spPr>
        <p:txBody>
          <a:bodyPr wrap="square" lIns="0" tIns="0" rIns="0" bIns="0" rtlCol="0" anchor="t"/>
          <a:lstStyle/>
          <a:p>
            <a:pPr indent="0" marL="0">
              <a:buNone/>
            </a:pPr>
            <a:r>
              <a:rPr lang="en-US" sz="1100" b="1" dirty="0">
                <a:solidFill>
                  <a:schemeClr val="tx2"/>
                </a:solidFill>
              </a:rPr>
              <a:t>判断事項</a:t>
            </a:r>
            <a:endParaRPr lang="en-US" sz="1100" dirty="0"/>
          </a:p>
        </p:txBody>
      </p:sp>
      <p:sp>
        <p:nvSpPr>
          <p:cNvPr id="36" name="Text 33"/>
          <p:cNvSpPr txBox="1"/>
          <p:nvPr/>
        </p:nvSpPr>
        <p:spPr>
          <a:xfrm>
            <a:off x="1828800" y="4178808"/>
            <a:ext cx="6858000" cy="365760"/>
          </a:xfrm>
          <a:prstGeom prst="rect">
            <a:avLst/>
          </a:prstGeom>
          <a:noFill/>
          <a:ln/>
        </p:spPr>
        <p:txBody>
          <a:bodyPr wrap="square" lIns="0" tIns="0" rIns="0" bIns="0" rtlCol="0" anchor="t"/>
          <a:lstStyle/>
          <a:p>
            <a:pPr indent="0" marL="0">
              <a:buNone/>
            </a:pPr>
            <a:r>
              <a:rPr lang="en-US" sz="1050" dirty="0">
                <a:solidFill>
                  <a:schemeClr val="tx1"/>
                </a:solidFill>
              </a:rPr>
              <a:t>①価格改定の承認　②原価削減目標の設定　③通期予算内に向けた追加施策（上期超過166万円の回収）</a:t>
            </a:r>
            <a:endParaRPr lang="en-US" sz="10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01　上期の飲食実績（2026年4〜9月）</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原価は予算内。コラボ不振による売上不足が原価率を押し上げ</a:t>
            </a:r>
            <a:endParaRPr lang="en-US" sz="2100" dirty="0"/>
          </a:p>
        </p:txBody>
      </p:sp>
      <p:sp>
        <p:nvSpPr>
          <p:cNvPr id="5" name="kpi"/>
          <p:cNvSpPr/>
          <p:nvPr/>
        </p:nvSpPr>
        <p:spPr>
          <a:xfrm>
            <a:off x="457200" y="1280160"/>
            <a:ext cx="1920240" cy="1234440"/>
          </a:xfrm>
          <a:prstGeom prst="roundRect">
            <a:avLst>
              <a:gd name="adj" fmla="val 7407"/>
            </a:avLst>
          </a:prstGeom>
          <a:solidFill>
            <a:schemeClr val="bg2"/>
          </a:solidFill>
          <a:ln/>
        </p:spPr>
      </p:sp>
      <p:sp>
        <p:nvSpPr>
          <p:cNvPr id="6" name="Text 3"/>
          <p:cNvSpPr txBox="1"/>
          <p:nvPr/>
        </p:nvSpPr>
        <p:spPr>
          <a:xfrm>
            <a:off x="640080" y="1426464"/>
            <a:ext cx="1554480" cy="228600"/>
          </a:xfrm>
          <a:prstGeom prst="rect">
            <a:avLst/>
          </a:prstGeom>
          <a:noFill/>
          <a:ln/>
        </p:spPr>
        <p:txBody>
          <a:bodyPr wrap="square" lIns="0" tIns="0" rIns="0" bIns="0" rtlCol="0" anchor="t"/>
          <a:lstStyle/>
          <a:p>
            <a:pPr indent="0" marL="0">
              <a:buNone/>
            </a:pPr>
            <a:r>
              <a:rPr lang="en-US" sz="950" b="1" dirty="0">
                <a:solidFill>
                  <a:schemeClr val="accent4"/>
                </a:solidFill>
              </a:rPr>
              <a:t>飲食売上</a:t>
            </a:r>
            <a:endParaRPr lang="en-US" sz="950" dirty="0"/>
          </a:p>
        </p:txBody>
      </p:sp>
      <p:sp>
        <p:nvSpPr>
          <p:cNvPr id="7" name="Text 4"/>
          <p:cNvSpPr txBox="1"/>
          <p:nvPr/>
        </p:nvSpPr>
        <p:spPr>
          <a:xfrm>
            <a:off x="640080" y="1664208"/>
            <a:ext cx="1554480" cy="457200"/>
          </a:xfrm>
          <a:prstGeom prst="rect">
            <a:avLst/>
          </a:prstGeom>
          <a:noFill/>
          <a:ln/>
        </p:spPr>
        <p:txBody>
          <a:bodyPr wrap="square" lIns="0" tIns="0" rIns="0" bIns="0" rtlCol="0" anchor="t"/>
          <a:lstStyle/>
          <a:p>
            <a:pPr indent="0" marL="0">
              <a:buNone/>
            </a:pPr>
            <a:r>
              <a:rPr lang="en-US" sz="2000" b="1" dirty="0">
                <a:solidFill>
                  <a:schemeClr val="tx2"/>
                </a:solidFill>
              </a:rPr>
              <a:t>5,494万円</a:t>
            </a:r>
            <a:endParaRPr lang="en-US" sz="2000" dirty="0"/>
          </a:p>
        </p:txBody>
      </p:sp>
      <p:sp>
        <p:nvSpPr>
          <p:cNvPr id="8" name="Text 5"/>
          <p:cNvSpPr txBox="1"/>
          <p:nvPr/>
        </p:nvSpPr>
        <p:spPr>
          <a:xfrm>
            <a:off x="640080" y="2130552"/>
            <a:ext cx="1645920" cy="320040"/>
          </a:xfrm>
          <a:prstGeom prst="rect">
            <a:avLst/>
          </a:prstGeom>
          <a:noFill/>
          <a:ln/>
        </p:spPr>
        <p:txBody>
          <a:bodyPr wrap="square" lIns="0" tIns="0" rIns="0" bIns="0" rtlCol="0" anchor="t"/>
          <a:lstStyle/>
          <a:p>
            <a:pPr indent="0" marL="0">
              <a:buNone/>
            </a:pPr>
            <a:r>
              <a:rPr lang="en-US" sz="850" dirty="0">
                <a:solidFill>
                  <a:schemeClr val="accent4"/>
                </a:solidFill>
              </a:rPr>
              <a:t>予算比88.9%（▲688万円）</a:t>
            </a:r>
            <a:endParaRPr lang="en-US" sz="850" dirty="0"/>
          </a:p>
        </p:txBody>
      </p:sp>
      <p:sp>
        <p:nvSpPr>
          <p:cNvPr id="9" name="kpi"/>
          <p:cNvSpPr/>
          <p:nvPr/>
        </p:nvSpPr>
        <p:spPr>
          <a:xfrm>
            <a:off x="2514600" y="1280160"/>
            <a:ext cx="1920240" cy="1234440"/>
          </a:xfrm>
          <a:prstGeom prst="roundRect">
            <a:avLst>
              <a:gd name="adj" fmla="val 7407"/>
            </a:avLst>
          </a:prstGeom>
          <a:solidFill>
            <a:schemeClr val="bg2"/>
          </a:solidFill>
          <a:ln/>
        </p:spPr>
      </p:sp>
      <p:sp>
        <p:nvSpPr>
          <p:cNvPr id="10" name="Text 7"/>
          <p:cNvSpPr txBox="1"/>
          <p:nvPr/>
        </p:nvSpPr>
        <p:spPr>
          <a:xfrm>
            <a:off x="2697480" y="1426464"/>
            <a:ext cx="1554480" cy="228600"/>
          </a:xfrm>
          <a:prstGeom prst="rect">
            <a:avLst/>
          </a:prstGeom>
          <a:noFill/>
          <a:ln/>
        </p:spPr>
        <p:txBody>
          <a:bodyPr wrap="square" lIns="0" tIns="0" rIns="0" bIns="0" rtlCol="0" anchor="t"/>
          <a:lstStyle/>
          <a:p>
            <a:pPr indent="0" marL="0">
              <a:buNone/>
            </a:pPr>
            <a:r>
              <a:rPr lang="en-US" sz="950" b="1" dirty="0">
                <a:solidFill>
                  <a:schemeClr val="accent4"/>
                </a:solidFill>
              </a:rPr>
              <a:t>飲食原価</a:t>
            </a:r>
            <a:endParaRPr lang="en-US" sz="950" dirty="0"/>
          </a:p>
        </p:txBody>
      </p:sp>
      <p:sp>
        <p:nvSpPr>
          <p:cNvPr id="11" name="Text 8"/>
          <p:cNvSpPr txBox="1"/>
          <p:nvPr/>
        </p:nvSpPr>
        <p:spPr>
          <a:xfrm>
            <a:off x="2697480" y="1664208"/>
            <a:ext cx="1554480" cy="457200"/>
          </a:xfrm>
          <a:prstGeom prst="rect">
            <a:avLst/>
          </a:prstGeom>
          <a:noFill/>
          <a:ln/>
        </p:spPr>
        <p:txBody>
          <a:bodyPr wrap="square" lIns="0" tIns="0" rIns="0" bIns="0" rtlCol="0" anchor="t"/>
          <a:lstStyle/>
          <a:p>
            <a:pPr indent="0" marL="0">
              <a:buNone/>
            </a:pPr>
            <a:r>
              <a:rPr lang="en-US" sz="2000" b="1" dirty="0">
                <a:solidFill>
                  <a:schemeClr val="tx2"/>
                </a:solidFill>
              </a:rPr>
              <a:t>2,001万円</a:t>
            </a:r>
            <a:endParaRPr lang="en-US" sz="2000" dirty="0"/>
          </a:p>
        </p:txBody>
      </p:sp>
      <p:sp>
        <p:nvSpPr>
          <p:cNvPr id="12" name="Text 9"/>
          <p:cNvSpPr txBox="1"/>
          <p:nvPr/>
        </p:nvSpPr>
        <p:spPr>
          <a:xfrm>
            <a:off x="2697480" y="2130552"/>
            <a:ext cx="1645920" cy="320040"/>
          </a:xfrm>
          <a:prstGeom prst="rect">
            <a:avLst/>
          </a:prstGeom>
          <a:noFill/>
          <a:ln/>
        </p:spPr>
        <p:txBody>
          <a:bodyPr wrap="square" lIns="0" tIns="0" rIns="0" bIns="0" rtlCol="0" anchor="t"/>
          <a:lstStyle/>
          <a:p>
            <a:pPr indent="0" marL="0">
              <a:buNone/>
            </a:pPr>
            <a:r>
              <a:rPr lang="en-US" sz="850" dirty="0">
                <a:solidFill>
                  <a:schemeClr val="accent4"/>
                </a:solidFill>
              </a:rPr>
              <a:t>予算比96.9%（▲64万円）</a:t>
            </a:r>
            <a:endParaRPr lang="en-US" sz="850" dirty="0"/>
          </a:p>
        </p:txBody>
      </p:sp>
      <p:sp>
        <p:nvSpPr>
          <p:cNvPr id="13" name="kpi"/>
          <p:cNvSpPr/>
          <p:nvPr/>
        </p:nvSpPr>
        <p:spPr>
          <a:xfrm>
            <a:off x="4572000" y="1280160"/>
            <a:ext cx="1920240" cy="1234440"/>
          </a:xfrm>
          <a:prstGeom prst="roundRect">
            <a:avLst>
              <a:gd name="adj" fmla="val 7407"/>
            </a:avLst>
          </a:prstGeom>
          <a:solidFill>
            <a:schemeClr val="bg2"/>
          </a:solidFill>
          <a:ln/>
        </p:spPr>
      </p:sp>
      <p:sp>
        <p:nvSpPr>
          <p:cNvPr id="14" name="Text 11"/>
          <p:cNvSpPr txBox="1"/>
          <p:nvPr/>
        </p:nvSpPr>
        <p:spPr>
          <a:xfrm>
            <a:off x="4754880" y="1426464"/>
            <a:ext cx="1554480" cy="228600"/>
          </a:xfrm>
          <a:prstGeom prst="rect">
            <a:avLst/>
          </a:prstGeom>
          <a:noFill/>
          <a:ln/>
        </p:spPr>
        <p:txBody>
          <a:bodyPr wrap="square" lIns="0" tIns="0" rIns="0" bIns="0" rtlCol="0" anchor="t"/>
          <a:lstStyle/>
          <a:p>
            <a:pPr indent="0" marL="0">
              <a:buNone/>
            </a:pPr>
            <a:r>
              <a:rPr lang="en-US" sz="950" b="1" dirty="0">
                <a:solidFill>
                  <a:schemeClr val="accent4"/>
                </a:solidFill>
              </a:rPr>
              <a:t>飲食原価率</a:t>
            </a:r>
            <a:endParaRPr lang="en-US" sz="950" dirty="0"/>
          </a:p>
        </p:txBody>
      </p:sp>
      <p:sp>
        <p:nvSpPr>
          <p:cNvPr id="15" name="Text 12"/>
          <p:cNvSpPr txBox="1"/>
          <p:nvPr/>
        </p:nvSpPr>
        <p:spPr>
          <a:xfrm>
            <a:off x="4754880" y="1664208"/>
            <a:ext cx="1554480" cy="457200"/>
          </a:xfrm>
          <a:prstGeom prst="rect">
            <a:avLst/>
          </a:prstGeom>
          <a:noFill/>
          <a:ln/>
        </p:spPr>
        <p:txBody>
          <a:bodyPr wrap="square" lIns="0" tIns="0" rIns="0" bIns="0" rtlCol="0" anchor="t"/>
          <a:lstStyle/>
          <a:p>
            <a:pPr indent="0" marL="0">
              <a:buNone/>
            </a:pPr>
            <a:r>
              <a:rPr lang="en-US" sz="2400" b="1" dirty="0">
                <a:solidFill>
                  <a:schemeClr val="accent1"/>
                </a:solidFill>
              </a:rPr>
              <a:t>36.4%</a:t>
            </a:r>
            <a:endParaRPr lang="en-US" sz="2400" dirty="0"/>
          </a:p>
        </p:txBody>
      </p:sp>
      <p:sp>
        <p:nvSpPr>
          <p:cNvPr id="16" name="Text 13"/>
          <p:cNvSpPr txBox="1"/>
          <p:nvPr/>
        </p:nvSpPr>
        <p:spPr>
          <a:xfrm>
            <a:off x="4754880" y="2130552"/>
            <a:ext cx="1645920" cy="320040"/>
          </a:xfrm>
          <a:prstGeom prst="rect">
            <a:avLst/>
          </a:prstGeom>
          <a:noFill/>
          <a:ln/>
        </p:spPr>
        <p:txBody>
          <a:bodyPr wrap="square" lIns="0" tIns="0" rIns="0" bIns="0" rtlCol="0" anchor="t"/>
          <a:lstStyle/>
          <a:p>
            <a:pPr indent="0" marL="0">
              <a:buNone/>
            </a:pPr>
            <a:r>
              <a:rPr lang="en-US" sz="850" dirty="0">
                <a:solidFill>
                  <a:schemeClr val="accent4"/>
                </a:solidFill>
              </a:rPr>
              <a:t>予算 33.4%（+3.0pt）</a:t>
            </a:r>
            <a:endParaRPr lang="en-US" sz="850" dirty="0"/>
          </a:p>
        </p:txBody>
      </p:sp>
      <p:sp>
        <p:nvSpPr>
          <p:cNvPr id="17" name="kpi"/>
          <p:cNvSpPr/>
          <p:nvPr/>
        </p:nvSpPr>
        <p:spPr>
          <a:xfrm>
            <a:off x="6629400" y="1280160"/>
            <a:ext cx="2057400" cy="1234440"/>
          </a:xfrm>
          <a:prstGeom prst="roundRect">
            <a:avLst>
              <a:gd name="adj" fmla="val 7407"/>
            </a:avLst>
          </a:prstGeom>
          <a:solidFill>
            <a:schemeClr val="bg2"/>
          </a:solidFill>
          <a:ln/>
        </p:spPr>
      </p:sp>
      <p:sp>
        <p:nvSpPr>
          <p:cNvPr id="18" name="Text 15"/>
          <p:cNvSpPr txBox="1"/>
          <p:nvPr/>
        </p:nvSpPr>
        <p:spPr>
          <a:xfrm>
            <a:off x="6812280" y="1426464"/>
            <a:ext cx="1691640" cy="228600"/>
          </a:xfrm>
          <a:prstGeom prst="rect">
            <a:avLst/>
          </a:prstGeom>
          <a:noFill/>
          <a:ln/>
        </p:spPr>
        <p:txBody>
          <a:bodyPr wrap="square" lIns="0" tIns="0" rIns="0" bIns="0" rtlCol="0" anchor="t"/>
          <a:lstStyle/>
          <a:p>
            <a:pPr indent="0" marL="0">
              <a:buNone/>
            </a:pPr>
            <a:r>
              <a:rPr lang="en-US" sz="950" b="1" dirty="0">
                <a:solidFill>
                  <a:schemeClr val="accent4"/>
                </a:solidFill>
              </a:rPr>
              <a:t>飲食粗利</a:t>
            </a:r>
            <a:endParaRPr lang="en-US" sz="950" dirty="0"/>
          </a:p>
        </p:txBody>
      </p:sp>
      <p:sp>
        <p:nvSpPr>
          <p:cNvPr id="19" name="Text 16"/>
          <p:cNvSpPr txBox="1"/>
          <p:nvPr/>
        </p:nvSpPr>
        <p:spPr>
          <a:xfrm>
            <a:off x="6812280" y="1664208"/>
            <a:ext cx="1691640" cy="457200"/>
          </a:xfrm>
          <a:prstGeom prst="rect">
            <a:avLst/>
          </a:prstGeom>
          <a:noFill/>
          <a:ln/>
        </p:spPr>
        <p:txBody>
          <a:bodyPr wrap="square" lIns="0" tIns="0" rIns="0" bIns="0" rtlCol="0" anchor="t"/>
          <a:lstStyle/>
          <a:p>
            <a:pPr indent="0" marL="0">
              <a:buNone/>
            </a:pPr>
            <a:r>
              <a:rPr lang="en-US" sz="2000" b="1" dirty="0">
                <a:solidFill>
                  <a:schemeClr val="tx2"/>
                </a:solidFill>
              </a:rPr>
              <a:t>3,493万円</a:t>
            </a:r>
            <a:endParaRPr lang="en-US" sz="2000" dirty="0"/>
          </a:p>
        </p:txBody>
      </p:sp>
      <p:sp>
        <p:nvSpPr>
          <p:cNvPr id="20" name="Text 17"/>
          <p:cNvSpPr txBox="1"/>
          <p:nvPr/>
        </p:nvSpPr>
        <p:spPr>
          <a:xfrm>
            <a:off x="6812280" y="2130552"/>
            <a:ext cx="1783080" cy="320040"/>
          </a:xfrm>
          <a:prstGeom prst="rect">
            <a:avLst/>
          </a:prstGeom>
          <a:noFill/>
          <a:ln/>
        </p:spPr>
        <p:txBody>
          <a:bodyPr wrap="square" lIns="0" tIns="0" rIns="0" bIns="0" rtlCol="0" anchor="t"/>
          <a:lstStyle/>
          <a:p>
            <a:pPr indent="0" marL="0">
              <a:buNone/>
            </a:pPr>
            <a:r>
              <a:rPr lang="en-US" sz="850" dirty="0">
                <a:solidFill>
                  <a:schemeClr val="accent4"/>
                </a:solidFill>
              </a:rPr>
              <a:t>予算比84.8%（▲625万円）</a:t>
            </a:r>
            <a:endParaRPr lang="en-US" sz="850" dirty="0"/>
          </a:p>
        </p:txBody>
      </p:sp>
      <p:graphicFrame>
        <p:nvGraphicFramePr>
          <p:cNvPr id="21" name="chart-budget" descr=""/>
          <p:cNvGraphicFramePr/>
          <p:nvPr/>
        </p:nvGraphicFramePr>
        <p:xfrm>
          <a:off x="365760" y="2697480"/>
          <a:ext cx="4937760" cy="1874520"/>
        </p:xfrm>
        <a:graphic xmlns:a="http://schemas.openxmlformats.org/drawingml/2006/main">
          <a:graphicData uri="http://schemas.openxmlformats.org/drawingml/2006/chart">
            <c:chart xmlns:c="http://schemas.openxmlformats.org/drawingml/2006/chart" r:id="rId1"/>
          </a:graphicData>
        </a:graphic>
      </p:graphicFrame>
      <p:sp>
        <p:nvSpPr>
          <p:cNvPr id="22" name="insight"/>
          <p:cNvSpPr/>
          <p:nvPr/>
        </p:nvSpPr>
        <p:spPr>
          <a:xfrm>
            <a:off x="5532120" y="2788920"/>
            <a:ext cx="3154680" cy="1691640"/>
          </a:xfrm>
          <a:prstGeom prst="roundRect">
            <a:avLst>
              <a:gd name="adj" fmla="val 5405"/>
            </a:avLst>
          </a:prstGeom>
          <a:solidFill>
            <a:schemeClr val="bg2"/>
          </a:solidFill>
          <a:ln/>
        </p:spPr>
      </p:sp>
      <p:pic>
        <p:nvPicPr>
          <p:cNvPr id="23" name="Image 0" descr="insight">    </p:cNvPr>
          <p:cNvPicPr>
            <a:picLocks noChangeAspect="1"/>
          </p:cNvPicPr>
          <p:nvPr/>
        </p:nvPicPr>
        <p:blipFill>
          <a:blip r:embed="rId2"/>
          <a:stretch>
            <a:fillRect/>
          </a:stretch>
        </p:blipFill>
        <p:spPr>
          <a:xfrm>
            <a:off x="5715000" y="2944368"/>
            <a:ext cx="292608" cy="292608"/>
          </a:xfrm>
          <a:prstGeom prst="rect">
            <a:avLst/>
          </a:prstGeom>
        </p:spPr>
      </p:pic>
      <p:sp>
        <p:nvSpPr>
          <p:cNvPr id="24" name="Text 19"/>
          <p:cNvSpPr txBox="1"/>
          <p:nvPr/>
        </p:nvSpPr>
        <p:spPr>
          <a:xfrm>
            <a:off x="6126480" y="2971800"/>
            <a:ext cx="2377440" cy="274320"/>
          </a:xfrm>
          <a:prstGeom prst="rect">
            <a:avLst/>
          </a:prstGeom>
          <a:noFill/>
          <a:ln/>
        </p:spPr>
        <p:txBody>
          <a:bodyPr wrap="square" lIns="0" tIns="0" rIns="0" bIns="0" rtlCol="0" anchor="t"/>
          <a:lstStyle/>
          <a:p>
            <a:pPr indent="0" marL="0">
              <a:buNone/>
            </a:pPr>
            <a:r>
              <a:rPr lang="en-US" sz="1100" b="1" dirty="0">
                <a:solidFill>
                  <a:schemeClr val="tx2"/>
                </a:solidFill>
              </a:rPr>
              <a:t>ポイント</a:t>
            </a:r>
            <a:endParaRPr lang="en-US" sz="1100" dirty="0"/>
          </a:p>
        </p:txBody>
      </p:sp>
      <p:sp>
        <p:nvSpPr>
          <p:cNvPr id="25" name="Text 20"/>
          <p:cNvSpPr txBox="1"/>
          <p:nvPr/>
        </p:nvSpPr>
        <p:spPr>
          <a:xfrm>
            <a:off x="5715000" y="3337560"/>
            <a:ext cx="2834640" cy="1051560"/>
          </a:xfrm>
          <a:prstGeom prst="rect">
            <a:avLst/>
          </a:prstGeom>
          <a:noFill/>
          <a:ln/>
        </p:spPr>
        <p:txBody>
          <a:bodyPr wrap="square" lIns="0" tIns="0" rIns="0" bIns="0" rtlCol="0" anchor="t"/>
          <a:lstStyle/>
          <a:p>
            <a:pPr indent="0" marL="0">
              <a:buNone/>
            </a:pPr>
            <a:r>
              <a:rPr lang="en-US" sz="1000" dirty="0">
                <a:solidFill>
                  <a:schemeClr val="tx1"/>
                </a:solidFill>
              </a:rPr>
              <a:t>コラボ売上は予算比78%（▲727万円）。一方、GMは予算比101%と安定しており、価格改定の受け皿になります。</a:t>
            </a:r>
            <a:endParaRPr lang="en-US" sz="1000" dirty="0"/>
          </a:p>
        </p:txBody>
      </p:sp>
      <p:sp>
        <p:nvSpPr>
          <p:cNvPr id="26"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出典：予実管理表 2026年9月（累計）。金額は千円単位を万円に換算</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02　原価率超過の要因分解</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超過3.0ptの内訳：原価圧迫・ロス2.0pt、在庫取崩し0.85pt</a:t>
            </a:r>
            <a:endParaRPr lang="en-US" sz="2100" dirty="0"/>
          </a:p>
        </p:txBody>
      </p:sp>
      <p:sp>
        <p:nvSpPr>
          <p:cNvPr id="5" name="Text 2"/>
          <p:cNvSpPr txBox="1"/>
          <p:nvPr/>
        </p:nvSpPr>
        <p:spPr>
          <a:xfrm>
            <a:off x="457200" y="1234440"/>
            <a:ext cx="5303520" cy="228600"/>
          </a:xfrm>
          <a:prstGeom prst="rect">
            <a:avLst/>
          </a:prstGeom>
          <a:noFill/>
          <a:ln/>
        </p:spPr>
        <p:txBody>
          <a:bodyPr wrap="square" lIns="0" tIns="0" rIns="0" bIns="0" rtlCol="0" anchor="t"/>
          <a:lstStyle/>
          <a:p>
            <a:pPr algn="ctr" indent="0" marL="0">
              <a:buNone/>
            </a:pPr>
            <a:r>
              <a:rPr lang="en-US" sz="1050" dirty="0">
                <a:solidFill>
                  <a:schemeClr val="accent4"/>
                </a:solidFill>
              </a:rPr>
              <a:t>飲食原価率（%）の要因分解</a:t>
            </a:r>
            <a:endParaRPr lang="en-US" sz="1050" dirty="0"/>
          </a:p>
        </p:txBody>
      </p:sp>
      <p:sp>
        <p:nvSpPr>
          <p:cNvPr id="6" name="wf-axis"/>
          <p:cNvSpPr/>
          <p:nvPr/>
        </p:nvSpPr>
        <p:spPr>
          <a:xfrm>
            <a:off x="457200" y="4069080"/>
            <a:ext cx="5303520" cy="0"/>
          </a:xfrm>
          <a:prstGeom prst="line">
            <a:avLst/>
          </a:prstGeom>
          <a:noFill/>
          <a:ln w="9525">
            <a:solidFill>
              <a:srgbClr val="D5DEDC"/>
            </a:solidFill>
            <a:prstDash val="solid"/>
          </a:ln>
        </p:spPr>
      </p:sp>
      <p:sp>
        <p:nvSpPr>
          <p:cNvPr id="7" name="wf-bar"/>
          <p:cNvSpPr/>
          <p:nvPr/>
        </p:nvSpPr>
        <p:spPr>
          <a:xfrm>
            <a:off x="690555" y="2936530"/>
            <a:ext cx="593994" cy="1132550"/>
          </a:xfrm>
          <a:prstGeom prst="rect">
            <a:avLst/>
          </a:prstGeom>
          <a:solidFill>
            <a:srgbClr val="6B7478"/>
          </a:solidFill>
          <a:ln/>
        </p:spPr>
      </p:sp>
      <p:sp>
        <p:nvSpPr>
          <p:cNvPr id="8" name="Text 5"/>
          <p:cNvSpPr txBox="1"/>
          <p:nvPr/>
        </p:nvSpPr>
        <p:spPr>
          <a:xfrm>
            <a:off x="416235" y="2689642"/>
            <a:ext cx="1142634" cy="219456"/>
          </a:xfrm>
          <a:prstGeom prst="rect">
            <a:avLst/>
          </a:prstGeom>
          <a:noFill/>
          <a:ln/>
        </p:spPr>
        <p:txBody>
          <a:bodyPr wrap="square" lIns="0" tIns="0" rIns="0" bIns="0" rtlCol="0" anchor="t"/>
          <a:lstStyle/>
          <a:p>
            <a:pPr algn="ctr" indent="0" marL="0">
              <a:buNone/>
            </a:pPr>
            <a:r>
              <a:rPr lang="en-US" sz="1050" b="1" dirty="0">
                <a:solidFill>
                  <a:schemeClr val="tx1"/>
                </a:solidFill>
              </a:rPr>
              <a:t>33.4%</a:t>
            </a:r>
            <a:endParaRPr lang="en-US" sz="1050" dirty="0"/>
          </a:p>
        </p:txBody>
      </p:sp>
      <p:sp>
        <p:nvSpPr>
          <p:cNvPr id="9" name="Text 6"/>
          <p:cNvSpPr txBox="1"/>
          <p:nvPr/>
        </p:nvSpPr>
        <p:spPr>
          <a:xfrm>
            <a:off x="457200" y="4123944"/>
            <a:ext cx="1060704" cy="384048"/>
          </a:xfrm>
          <a:prstGeom prst="rect">
            <a:avLst/>
          </a:prstGeom>
          <a:noFill/>
          <a:ln/>
        </p:spPr>
        <p:txBody>
          <a:bodyPr wrap="square" lIns="0" tIns="0" rIns="0" bIns="0" rtlCol="0" anchor="t"/>
          <a:lstStyle/>
          <a:p>
            <a:pPr algn="ctr" indent="0" marL="0">
              <a:buNone/>
            </a:pPr>
            <a:r>
              <a:rPr lang="en-US" sz="850" dirty="0">
                <a:solidFill>
                  <a:schemeClr val="tx1"/>
                </a:solidFill>
              </a:rPr>
              <a:t>予算</a:t>
            </a:r>
            <a:endParaRPr lang="en-US" sz="850" dirty="0"/>
          </a:p>
        </p:txBody>
      </p:sp>
      <p:sp>
        <p:nvSpPr>
          <p:cNvPr id="10" name="wf-link"/>
          <p:cNvSpPr/>
          <p:nvPr/>
        </p:nvSpPr>
        <p:spPr>
          <a:xfrm>
            <a:off x="1284549" y="2936530"/>
            <a:ext cx="466710" cy="0"/>
          </a:xfrm>
          <a:prstGeom prst="line">
            <a:avLst/>
          </a:prstGeom>
          <a:noFill/>
          <a:ln w="6350">
            <a:solidFill>
              <a:srgbClr val="6B7478"/>
            </a:solidFill>
            <a:prstDash val="dash"/>
          </a:ln>
        </p:spPr>
      </p:sp>
      <p:sp>
        <p:nvSpPr>
          <p:cNvPr id="11" name="wf-bar"/>
          <p:cNvSpPr/>
          <p:nvPr/>
        </p:nvSpPr>
        <p:spPr>
          <a:xfrm>
            <a:off x="1751259" y="2869910"/>
            <a:ext cx="593994" cy="66621"/>
          </a:xfrm>
          <a:prstGeom prst="rect">
            <a:avLst/>
          </a:prstGeom>
          <a:solidFill>
            <a:srgbClr val="C8773B"/>
          </a:solidFill>
          <a:ln/>
        </p:spPr>
      </p:sp>
      <p:sp>
        <p:nvSpPr>
          <p:cNvPr id="12" name="Text 9"/>
          <p:cNvSpPr txBox="1"/>
          <p:nvPr/>
        </p:nvSpPr>
        <p:spPr>
          <a:xfrm>
            <a:off x="1476939" y="2623022"/>
            <a:ext cx="1142634" cy="219456"/>
          </a:xfrm>
          <a:prstGeom prst="rect">
            <a:avLst/>
          </a:prstGeom>
          <a:noFill/>
          <a:ln/>
        </p:spPr>
        <p:txBody>
          <a:bodyPr wrap="square" lIns="0" tIns="0" rIns="0" bIns="0" rtlCol="0" anchor="t"/>
          <a:lstStyle/>
          <a:p>
            <a:pPr algn="ctr" indent="0" marL="0">
              <a:buNone/>
            </a:pPr>
            <a:r>
              <a:rPr lang="en-US" sz="1050" b="1" dirty="0">
                <a:solidFill>
                  <a:schemeClr val="accent1"/>
                </a:solidFill>
              </a:rPr>
              <a:t>+0.20</a:t>
            </a:r>
            <a:endParaRPr lang="en-US" sz="1050" dirty="0"/>
          </a:p>
        </p:txBody>
      </p:sp>
      <p:sp>
        <p:nvSpPr>
          <p:cNvPr id="13" name="Text 10"/>
          <p:cNvSpPr txBox="1"/>
          <p:nvPr/>
        </p:nvSpPr>
        <p:spPr>
          <a:xfrm>
            <a:off x="1517904" y="4123944"/>
            <a:ext cx="1060704" cy="384048"/>
          </a:xfrm>
          <a:prstGeom prst="rect">
            <a:avLst/>
          </a:prstGeom>
          <a:noFill/>
          <a:ln/>
        </p:spPr>
        <p:txBody>
          <a:bodyPr wrap="square" lIns="0" tIns="0" rIns="0" bIns="0" rtlCol="0" anchor="t"/>
          <a:lstStyle/>
          <a:p>
            <a:pPr algn="ctr" indent="0" marL="0">
              <a:buNone/>
            </a:pPr>
            <a:r>
              <a:rPr lang="en-US" sz="850" dirty="0">
                <a:solidFill>
                  <a:schemeClr val="tx1"/>
                </a:solidFill>
              </a:rPr>
              <a:t>コラボ不振</a:t>
            </a:r>
            <a:endParaRPr lang="en-US" sz="850" dirty="0"/>
          </a:p>
          <a:p>
            <a:pPr algn="ctr" indent="0" marL="0">
              <a:buNone/>
            </a:pPr>
            <a:r>
              <a:rPr lang="en-US" sz="850" dirty="0">
                <a:solidFill>
                  <a:schemeClr val="tx1"/>
                </a:solidFill>
              </a:rPr>
              <a:t>（構成変化）</a:t>
            </a:r>
            <a:endParaRPr lang="en-US" sz="850" dirty="0"/>
          </a:p>
        </p:txBody>
      </p:sp>
      <p:sp>
        <p:nvSpPr>
          <p:cNvPr id="14" name="wf-link"/>
          <p:cNvSpPr/>
          <p:nvPr/>
        </p:nvSpPr>
        <p:spPr>
          <a:xfrm>
            <a:off x="2345253" y="2869910"/>
            <a:ext cx="466710" cy="0"/>
          </a:xfrm>
          <a:prstGeom prst="line">
            <a:avLst/>
          </a:prstGeom>
          <a:noFill/>
          <a:ln w="6350">
            <a:solidFill>
              <a:srgbClr val="6B7478"/>
            </a:solidFill>
            <a:prstDash val="dash"/>
          </a:ln>
        </p:spPr>
      </p:sp>
      <p:sp>
        <p:nvSpPr>
          <p:cNvPr id="15" name="wf-bar"/>
          <p:cNvSpPr/>
          <p:nvPr/>
        </p:nvSpPr>
        <p:spPr>
          <a:xfrm>
            <a:off x="2811963" y="2590103"/>
            <a:ext cx="593994" cy="279806"/>
          </a:xfrm>
          <a:prstGeom prst="rect">
            <a:avLst/>
          </a:prstGeom>
          <a:solidFill>
            <a:srgbClr val="C8773B"/>
          </a:solidFill>
          <a:ln/>
        </p:spPr>
      </p:sp>
      <p:sp>
        <p:nvSpPr>
          <p:cNvPr id="16" name="Text 13"/>
          <p:cNvSpPr txBox="1"/>
          <p:nvPr/>
        </p:nvSpPr>
        <p:spPr>
          <a:xfrm>
            <a:off x="2537643" y="2343215"/>
            <a:ext cx="1142634" cy="219456"/>
          </a:xfrm>
          <a:prstGeom prst="rect">
            <a:avLst/>
          </a:prstGeom>
          <a:noFill/>
          <a:ln/>
        </p:spPr>
        <p:txBody>
          <a:bodyPr wrap="square" lIns="0" tIns="0" rIns="0" bIns="0" rtlCol="0" anchor="t"/>
          <a:lstStyle/>
          <a:p>
            <a:pPr algn="ctr" indent="0" marL="0">
              <a:buNone/>
            </a:pPr>
            <a:r>
              <a:rPr lang="en-US" sz="1050" b="1" dirty="0">
                <a:solidFill>
                  <a:schemeClr val="accent1"/>
                </a:solidFill>
              </a:rPr>
              <a:t>+0.85</a:t>
            </a:r>
            <a:endParaRPr lang="en-US" sz="1050" dirty="0"/>
          </a:p>
        </p:txBody>
      </p:sp>
      <p:sp>
        <p:nvSpPr>
          <p:cNvPr id="17" name="Text 14"/>
          <p:cNvSpPr txBox="1"/>
          <p:nvPr/>
        </p:nvSpPr>
        <p:spPr>
          <a:xfrm>
            <a:off x="2578608" y="4123944"/>
            <a:ext cx="1060704" cy="384048"/>
          </a:xfrm>
          <a:prstGeom prst="rect">
            <a:avLst/>
          </a:prstGeom>
          <a:noFill/>
          <a:ln/>
        </p:spPr>
        <p:txBody>
          <a:bodyPr wrap="square" lIns="0" tIns="0" rIns="0" bIns="0" rtlCol="0" anchor="t"/>
          <a:lstStyle/>
          <a:p>
            <a:pPr algn="ctr" indent="0" marL="0">
              <a:buNone/>
            </a:pPr>
            <a:r>
              <a:rPr lang="en-US" sz="850" dirty="0">
                <a:solidFill>
                  <a:schemeClr val="tx1"/>
                </a:solidFill>
              </a:rPr>
              <a:t>在庫取崩し</a:t>
            </a:r>
            <a:endParaRPr lang="en-US" sz="850" dirty="0"/>
          </a:p>
          <a:p>
            <a:pPr algn="ctr" indent="0" marL="0">
              <a:buNone/>
            </a:pPr>
            <a:r>
              <a:rPr lang="en-US" sz="850" dirty="0">
                <a:solidFill>
                  <a:schemeClr val="tx1"/>
                </a:solidFill>
              </a:rPr>
              <a:t>（一時要因）</a:t>
            </a:r>
            <a:endParaRPr lang="en-US" sz="850" dirty="0"/>
          </a:p>
        </p:txBody>
      </p:sp>
      <p:sp>
        <p:nvSpPr>
          <p:cNvPr id="18" name="wf-link"/>
          <p:cNvSpPr/>
          <p:nvPr/>
        </p:nvSpPr>
        <p:spPr>
          <a:xfrm>
            <a:off x="3405957" y="2590103"/>
            <a:ext cx="466710" cy="0"/>
          </a:xfrm>
          <a:prstGeom prst="line">
            <a:avLst/>
          </a:prstGeom>
          <a:noFill/>
          <a:ln w="6350">
            <a:solidFill>
              <a:srgbClr val="6B7478"/>
            </a:solidFill>
            <a:prstDash val="dash"/>
          </a:ln>
        </p:spPr>
      </p:sp>
      <p:sp>
        <p:nvSpPr>
          <p:cNvPr id="19" name="wf-bar"/>
          <p:cNvSpPr/>
          <p:nvPr/>
        </p:nvSpPr>
        <p:spPr>
          <a:xfrm>
            <a:off x="3872667" y="1930560"/>
            <a:ext cx="593994" cy="659544"/>
          </a:xfrm>
          <a:prstGeom prst="rect">
            <a:avLst/>
          </a:prstGeom>
          <a:solidFill>
            <a:srgbClr val="C8773B"/>
          </a:solidFill>
          <a:ln/>
        </p:spPr>
      </p:sp>
      <p:sp>
        <p:nvSpPr>
          <p:cNvPr id="20" name="Text 17"/>
          <p:cNvSpPr txBox="1"/>
          <p:nvPr/>
        </p:nvSpPr>
        <p:spPr>
          <a:xfrm>
            <a:off x="3598347" y="1683672"/>
            <a:ext cx="1142634" cy="219456"/>
          </a:xfrm>
          <a:prstGeom prst="rect">
            <a:avLst/>
          </a:prstGeom>
          <a:noFill/>
          <a:ln/>
        </p:spPr>
        <p:txBody>
          <a:bodyPr wrap="square" lIns="0" tIns="0" rIns="0" bIns="0" rtlCol="0" anchor="t"/>
          <a:lstStyle/>
          <a:p>
            <a:pPr algn="ctr" indent="0" marL="0">
              <a:buNone/>
            </a:pPr>
            <a:r>
              <a:rPr lang="en-US" sz="1050" b="1" dirty="0">
                <a:solidFill>
                  <a:schemeClr val="accent1"/>
                </a:solidFill>
              </a:rPr>
              <a:t>+1.98</a:t>
            </a:r>
            <a:endParaRPr lang="en-US" sz="1050" dirty="0"/>
          </a:p>
        </p:txBody>
      </p:sp>
      <p:sp>
        <p:nvSpPr>
          <p:cNvPr id="21" name="Text 18"/>
          <p:cNvSpPr txBox="1"/>
          <p:nvPr/>
        </p:nvSpPr>
        <p:spPr>
          <a:xfrm>
            <a:off x="3639312" y="4123944"/>
            <a:ext cx="1060704" cy="384048"/>
          </a:xfrm>
          <a:prstGeom prst="rect">
            <a:avLst/>
          </a:prstGeom>
          <a:noFill/>
          <a:ln/>
        </p:spPr>
        <p:txBody>
          <a:bodyPr wrap="square" lIns="0" tIns="0" rIns="0" bIns="0" rtlCol="0" anchor="t"/>
          <a:lstStyle/>
          <a:p>
            <a:pPr algn="ctr" indent="0" marL="0">
              <a:buNone/>
            </a:pPr>
            <a:r>
              <a:rPr lang="en-US" sz="850" dirty="0">
                <a:solidFill>
                  <a:schemeClr val="tx1"/>
                </a:solidFill>
              </a:rPr>
              <a:t>原価圧迫・</a:t>
            </a:r>
            <a:endParaRPr lang="en-US" sz="850" dirty="0"/>
          </a:p>
          <a:p>
            <a:pPr algn="ctr" indent="0" marL="0">
              <a:buNone/>
            </a:pPr>
            <a:r>
              <a:rPr lang="en-US" sz="850" dirty="0">
                <a:solidFill>
                  <a:schemeClr val="tx1"/>
                </a:solidFill>
              </a:rPr>
              <a:t>ロス等</a:t>
            </a:r>
            <a:endParaRPr lang="en-US" sz="850" dirty="0"/>
          </a:p>
        </p:txBody>
      </p:sp>
      <p:sp>
        <p:nvSpPr>
          <p:cNvPr id="22" name="wf-link"/>
          <p:cNvSpPr/>
          <p:nvPr/>
        </p:nvSpPr>
        <p:spPr>
          <a:xfrm>
            <a:off x="4466661" y="1930560"/>
            <a:ext cx="466710" cy="0"/>
          </a:xfrm>
          <a:prstGeom prst="line">
            <a:avLst/>
          </a:prstGeom>
          <a:noFill/>
          <a:ln w="6350">
            <a:solidFill>
              <a:srgbClr val="6B7478"/>
            </a:solidFill>
            <a:prstDash val="dash"/>
          </a:ln>
        </p:spPr>
      </p:sp>
      <p:sp>
        <p:nvSpPr>
          <p:cNvPr id="23" name="wf-bar"/>
          <p:cNvSpPr/>
          <p:nvPr/>
        </p:nvSpPr>
        <p:spPr>
          <a:xfrm>
            <a:off x="4933371" y="1930560"/>
            <a:ext cx="593994" cy="2138520"/>
          </a:xfrm>
          <a:prstGeom prst="rect">
            <a:avLst/>
          </a:prstGeom>
          <a:solidFill>
            <a:srgbClr val="0F3D3E"/>
          </a:solidFill>
          <a:ln/>
        </p:spPr>
      </p:sp>
      <p:sp>
        <p:nvSpPr>
          <p:cNvPr id="24" name="Text 21"/>
          <p:cNvSpPr txBox="1"/>
          <p:nvPr/>
        </p:nvSpPr>
        <p:spPr>
          <a:xfrm>
            <a:off x="4659051" y="1683672"/>
            <a:ext cx="1142634" cy="219456"/>
          </a:xfrm>
          <a:prstGeom prst="rect">
            <a:avLst/>
          </a:prstGeom>
          <a:noFill/>
          <a:ln/>
        </p:spPr>
        <p:txBody>
          <a:bodyPr wrap="square" lIns="0" tIns="0" rIns="0" bIns="0" rtlCol="0" anchor="t"/>
          <a:lstStyle/>
          <a:p>
            <a:pPr algn="ctr" indent="0" marL="0">
              <a:buNone/>
            </a:pPr>
            <a:r>
              <a:rPr lang="en-US" sz="1050" b="1" dirty="0">
                <a:solidFill>
                  <a:schemeClr val="tx1"/>
                </a:solidFill>
              </a:rPr>
              <a:t>36.4%</a:t>
            </a:r>
            <a:endParaRPr lang="en-US" sz="1050" dirty="0"/>
          </a:p>
        </p:txBody>
      </p:sp>
      <p:sp>
        <p:nvSpPr>
          <p:cNvPr id="25" name="Text 22"/>
          <p:cNvSpPr txBox="1"/>
          <p:nvPr/>
        </p:nvSpPr>
        <p:spPr>
          <a:xfrm>
            <a:off x="4700016" y="4123944"/>
            <a:ext cx="1060704" cy="384048"/>
          </a:xfrm>
          <a:prstGeom prst="rect">
            <a:avLst/>
          </a:prstGeom>
          <a:noFill/>
          <a:ln/>
        </p:spPr>
        <p:txBody>
          <a:bodyPr wrap="square" lIns="0" tIns="0" rIns="0" bIns="0" rtlCol="0" anchor="t"/>
          <a:lstStyle/>
          <a:p>
            <a:pPr algn="ctr" indent="0" marL="0">
              <a:buNone/>
            </a:pPr>
            <a:r>
              <a:rPr lang="en-US" sz="850" dirty="0">
                <a:solidFill>
                  <a:schemeClr val="tx1"/>
                </a:solidFill>
              </a:rPr>
              <a:t>上期実績</a:t>
            </a:r>
            <a:endParaRPr lang="en-US" sz="850" dirty="0"/>
          </a:p>
        </p:txBody>
      </p:sp>
      <p:sp>
        <p:nvSpPr>
          <p:cNvPr id="26" name="factor"/>
          <p:cNvSpPr/>
          <p:nvPr/>
        </p:nvSpPr>
        <p:spPr>
          <a:xfrm>
            <a:off x="5989320" y="1325880"/>
            <a:ext cx="2697480" cy="960120"/>
          </a:xfrm>
          <a:prstGeom prst="roundRect">
            <a:avLst>
              <a:gd name="adj" fmla="val 9524"/>
            </a:avLst>
          </a:prstGeom>
          <a:solidFill>
            <a:schemeClr val="bg2"/>
          </a:solidFill>
          <a:ln/>
        </p:spPr>
      </p:sp>
      <p:sp>
        <p:nvSpPr>
          <p:cNvPr id="27" name="Text 24"/>
          <p:cNvSpPr txBox="1"/>
          <p:nvPr/>
        </p:nvSpPr>
        <p:spPr>
          <a:xfrm>
            <a:off x="6144768" y="1435608"/>
            <a:ext cx="1600200" cy="256032"/>
          </a:xfrm>
          <a:prstGeom prst="rect">
            <a:avLst/>
          </a:prstGeom>
          <a:noFill/>
          <a:ln/>
        </p:spPr>
        <p:txBody>
          <a:bodyPr wrap="square" lIns="0" tIns="0" rIns="0" bIns="0" rtlCol="0" anchor="t"/>
          <a:lstStyle/>
          <a:p>
            <a:pPr indent="0" marL="0">
              <a:buNone/>
            </a:pPr>
            <a:r>
              <a:rPr lang="en-US" sz="1050" b="1" dirty="0">
                <a:solidFill>
                  <a:schemeClr val="tx2"/>
                </a:solidFill>
              </a:rPr>
              <a:t>原価圧迫・ロス等</a:t>
            </a:r>
            <a:endParaRPr lang="en-US" sz="1050" dirty="0"/>
          </a:p>
        </p:txBody>
      </p:sp>
      <p:sp>
        <p:nvSpPr>
          <p:cNvPr id="28" name="Text 25"/>
          <p:cNvSpPr txBox="1"/>
          <p:nvPr/>
        </p:nvSpPr>
        <p:spPr>
          <a:xfrm>
            <a:off x="7589520" y="1417320"/>
            <a:ext cx="960120" cy="274320"/>
          </a:xfrm>
          <a:prstGeom prst="rect">
            <a:avLst/>
          </a:prstGeom>
          <a:noFill/>
          <a:ln/>
        </p:spPr>
        <p:txBody>
          <a:bodyPr wrap="square" lIns="0" tIns="0" rIns="0" bIns="0" rtlCol="0" anchor="t"/>
          <a:lstStyle/>
          <a:p>
            <a:pPr algn="r" indent="0" marL="0">
              <a:buNone/>
            </a:pPr>
            <a:r>
              <a:rPr lang="en-US" sz="1300" b="1" dirty="0">
                <a:solidFill>
                  <a:schemeClr val="accent1"/>
                </a:solidFill>
              </a:rPr>
              <a:t>+1.98pt</a:t>
            </a:r>
            <a:endParaRPr lang="en-US" sz="1300" dirty="0"/>
          </a:p>
        </p:txBody>
      </p:sp>
      <p:sp>
        <p:nvSpPr>
          <p:cNvPr id="29" name="Text 26"/>
          <p:cNvSpPr txBox="1"/>
          <p:nvPr/>
        </p:nvSpPr>
        <p:spPr>
          <a:xfrm>
            <a:off x="6144768" y="1737360"/>
            <a:ext cx="2423160" cy="502920"/>
          </a:xfrm>
          <a:prstGeom prst="rect">
            <a:avLst/>
          </a:prstGeom>
          <a:noFill/>
          <a:ln/>
        </p:spPr>
        <p:txBody>
          <a:bodyPr wrap="square" lIns="0" tIns="0" rIns="0" bIns="0" rtlCol="0" anchor="t"/>
          <a:lstStyle/>
          <a:p>
            <a:pPr indent="0" marL="0">
              <a:buNone/>
            </a:pPr>
            <a:r>
              <a:rPr lang="en-US" sz="850" dirty="0">
                <a:solidFill>
                  <a:schemeClr val="accent4"/>
                </a:solidFill>
              </a:rPr>
              <a:t>108.8万円｜仕入価格の上昇、コラボ食材の消化不良などのロス</a:t>
            </a:r>
            <a:endParaRPr lang="en-US" sz="850" dirty="0"/>
          </a:p>
        </p:txBody>
      </p:sp>
      <p:sp>
        <p:nvSpPr>
          <p:cNvPr id="30" name="factor"/>
          <p:cNvSpPr/>
          <p:nvPr/>
        </p:nvSpPr>
        <p:spPr>
          <a:xfrm>
            <a:off x="5989320" y="2404872"/>
            <a:ext cx="2697480" cy="960120"/>
          </a:xfrm>
          <a:prstGeom prst="roundRect">
            <a:avLst>
              <a:gd name="adj" fmla="val 9524"/>
            </a:avLst>
          </a:prstGeom>
          <a:solidFill>
            <a:schemeClr val="bg2"/>
          </a:solidFill>
          <a:ln/>
        </p:spPr>
      </p:sp>
      <p:sp>
        <p:nvSpPr>
          <p:cNvPr id="31" name="Text 28"/>
          <p:cNvSpPr txBox="1"/>
          <p:nvPr/>
        </p:nvSpPr>
        <p:spPr>
          <a:xfrm>
            <a:off x="6144768" y="2514600"/>
            <a:ext cx="1600200" cy="256032"/>
          </a:xfrm>
          <a:prstGeom prst="rect">
            <a:avLst/>
          </a:prstGeom>
          <a:noFill/>
          <a:ln/>
        </p:spPr>
        <p:txBody>
          <a:bodyPr wrap="square" lIns="0" tIns="0" rIns="0" bIns="0" rtlCol="0" anchor="t"/>
          <a:lstStyle/>
          <a:p>
            <a:pPr indent="0" marL="0">
              <a:buNone/>
            </a:pPr>
            <a:r>
              <a:rPr lang="en-US" sz="1050" b="1" dirty="0">
                <a:solidFill>
                  <a:schemeClr val="tx2"/>
                </a:solidFill>
              </a:rPr>
              <a:t>在庫取崩し</a:t>
            </a:r>
            <a:endParaRPr lang="en-US" sz="1050" dirty="0"/>
          </a:p>
        </p:txBody>
      </p:sp>
      <p:sp>
        <p:nvSpPr>
          <p:cNvPr id="32" name="Text 29"/>
          <p:cNvSpPr txBox="1"/>
          <p:nvPr/>
        </p:nvSpPr>
        <p:spPr>
          <a:xfrm>
            <a:off x="7589520" y="2496312"/>
            <a:ext cx="960120" cy="274320"/>
          </a:xfrm>
          <a:prstGeom prst="rect">
            <a:avLst/>
          </a:prstGeom>
          <a:noFill/>
          <a:ln/>
        </p:spPr>
        <p:txBody>
          <a:bodyPr wrap="square" lIns="0" tIns="0" rIns="0" bIns="0" rtlCol="0" anchor="t"/>
          <a:lstStyle/>
          <a:p>
            <a:pPr algn="r" indent="0" marL="0">
              <a:buNone/>
            </a:pPr>
            <a:r>
              <a:rPr lang="en-US" sz="1300" b="1" dirty="0">
                <a:solidFill>
                  <a:schemeClr val="accent1"/>
                </a:solidFill>
              </a:rPr>
              <a:t>+0.85pt</a:t>
            </a:r>
            <a:endParaRPr lang="en-US" sz="1300" dirty="0"/>
          </a:p>
        </p:txBody>
      </p:sp>
      <p:sp>
        <p:nvSpPr>
          <p:cNvPr id="33" name="Text 30"/>
          <p:cNvSpPr txBox="1"/>
          <p:nvPr/>
        </p:nvSpPr>
        <p:spPr>
          <a:xfrm>
            <a:off x="6144768" y="2816352"/>
            <a:ext cx="2423160" cy="502920"/>
          </a:xfrm>
          <a:prstGeom prst="rect">
            <a:avLst/>
          </a:prstGeom>
          <a:noFill/>
          <a:ln/>
        </p:spPr>
        <p:txBody>
          <a:bodyPr wrap="square" lIns="0" tIns="0" rIns="0" bIns="0" rtlCol="0" anchor="t"/>
          <a:lstStyle/>
          <a:p>
            <a:pPr indent="0" marL="0">
              <a:buNone/>
            </a:pPr>
            <a:r>
              <a:rPr lang="en-US" sz="850" dirty="0">
                <a:solidFill>
                  <a:schemeClr val="accent4"/>
                </a:solidFill>
              </a:rPr>
              <a:t>46.5万円｜期首183万円→期末136万円。下期は一巡する見込み</a:t>
            </a:r>
            <a:endParaRPr lang="en-US" sz="850" dirty="0"/>
          </a:p>
        </p:txBody>
      </p:sp>
      <p:sp>
        <p:nvSpPr>
          <p:cNvPr id="34" name="factor"/>
          <p:cNvSpPr/>
          <p:nvPr/>
        </p:nvSpPr>
        <p:spPr>
          <a:xfrm>
            <a:off x="5989320" y="3483864"/>
            <a:ext cx="2697480" cy="960120"/>
          </a:xfrm>
          <a:prstGeom prst="roundRect">
            <a:avLst>
              <a:gd name="adj" fmla="val 9524"/>
            </a:avLst>
          </a:prstGeom>
          <a:solidFill>
            <a:schemeClr val="bg2"/>
          </a:solidFill>
          <a:ln/>
        </p:spPr>
      </p:sp>
      <p:sp>
        <p:nvSpPr>
          <p:cNvPr id="35" name="Text 32"/>
          <p:cNvSpPr txBox="1"/>
          <p:nvPr/>
        </p:nvSpPr>
        <p:spPr>
          <a:xfrm>
            <a:off x="6144768" y="3593592"/>
            <a:ext cx="1600200" cy="256032"/>
          </a:xfrm>
          <a:prstGeom prst="rect">
            <a:avLst/>
          </a:prstGeom>
          <a:noFill/>
          <a:ln/>
        </p:spPr>
        <p:txBody>
          <a:bodyPr wrap="square" lIns="0" tIns="0" rIns="0" bIns="0" rtlCol="0" anchor="t"/>
          <a:lstStyle/>
          <a:p>
            <a:pPr indent="0" marL="0">
              <a:buNone/>
            </a:pPr>
            <a:r>
              <a:rPr lang="en-US" sz="1050" b="1" dirty="0">
                <a:solidFill>
                  <a:schemeClr val="tx2"/>
                </a:solidFill>
              </a:rPr>
              <a:t>コラボ不振（構成変化）</a:t>
            </a:r>
            <a:endParaRPr lang="en-US" sz="1050" dirty="0"/>
          </a:p>
        </p:txBody>
      </p:sp>
      <p:sp>
        <p:nvSpPr>
          <p:cNvPr id="36" name="Text 33"/>
          <p:cNvSpPr txBox="1"/>
          <p:nvPr/>
        </p:nvSpPr>
        <p:spPr>
          <a:xfrm>
            <a:off x="7589520" y="3575304"/>
            <a:ext cx="960120" cy="274320"/>
          </a:xfrm>
          <a:prstGeom prst="rect">
            <a:avLst/>
          </a:prstGeom>
          <a:noFill/>
          <a:ln/>
        </p:spPr>
        <p:txBody>
          <a:bodyPr wrap="square" lIns="0" tIns="0" rIns="0" bIns="0" rtlCol="0" anchor="t"/>
          <a:lstStyle/>
          <a:p>
            <a:pPr algn="r" indent="0" marL="0">
              <a:buNone/>
            </a:pPr>
            <a:r>
              <a:rPr lang="en-US" sz="1300" b="1" dirty="0">
                <a:solidFill>
                  <a:schemeClr val="accent1"/>
                </a:solidFill>
              </a:rPr>
              <a:t>+0.20pt</a:t>
            </a:r>
            <a:endParaRPr lang="en-US" sz="1300" dirty="0"/>
          </a:p>
        </p:txBody>
      </p:sp>
      <p:sp>
        <p:nvSpPr>
          <p:cNvPr id="37" name="Text 34"/>
          <p:cNvSpPr txBox="1"/>
          <p:nvPr/>
        </p:nvSpPr>
        <p:spPr>
          <a:xfrm>
            <a:off x="6144768" y="3895344"/>
            <a:ext cx="2423160" cy="502920"/>
          </a:xfrm>
          <a:prstGeom prst="rect">
            <a:avLst/>
          </a:prstGeom>
          <a:noFill/>
          <a:ln/>
        </p:spPr>
        <p:txBody>
          <a:bodyPr wrap="square" lIns="0" tIns="0" rIns="0" bIns="0" rtlCol="0" anchor="t"/>
          <a:lstStyle/>
          <a:p>
            <a:pPr indent="0" marL="0">
              <a:buNone/>
            </a:pPr>
            <a:r>
              <a:rPr lang="en-US" sz="850" dirty="0">
                <a:solidFill>
                  <a:schemeClr val="accent4"/>
                </a:solidFill>
              </a:rPr>
              <a:t>10.8万円｜低原価のコラボ売上の比率低下</a:t>
            </a:r>
            <a:endParaRPr lang="en-US" sz="850" dirty="0"/>
          </a:p>
        </p:txBody>
      </p:sp>
      <p:sp>
        <p:nvSpPr>
          <p:cNvPr id="38"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試算：役員提案_根拠データ.xlsx「要因分解」。予算原価率＝上期予算原価2,065万円÷予算売上6,183万円</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03　コラボ不振とGMの安定</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コラボは前期比67%。GMは前期並みを維持し値上げの受け皿に</a:t>
            </a:r>
            <a:endParaRPr lang="en-US" sz="2100" dirty="0"/>
          </a:p>
        </p:txBody>
      </p:sp>
      <p:graphicFrame>
        <p:nvGraphicFramePr>
          <p:cNvPr id="5" name="chart-collab" descr=""/>
          <p:cNvGraphicFramePr/>
          <p:nvPr/>
        </p:nvGraphicFramePr>
        <p:xfrm>
          <a:off x="365760" y="1234440"/>
          <a:ext cx="49377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category-yoy" descr=""/>
          <p:cNvGraphicFramePr/>
          <p:nvPr/>
        </p:nvGraphicFramePr>
        <p:xfrm>
          <a:off x="5486400" y="1234440"/>
          <a:ext cx="3291840" cy="3291840"/>
        </p:xfrm>
        <a:graphic xmlns:a="http://schemas.openxmlformats.org/drawingml/2006/main">
          <a:graphicData uri="http://schemas.openxmlformats.org/drawingml/2006/chart">
            <c:chart xmlns:c="http://schemas.openxmlformats.org/drawingml/2006/chart" r:id="rId2"/>
          </a:graphicData>
        </a:graphic>
      </p:graphicFrame>
      <p:sp>
        <p:nvSpPr>
          <p:cNvPr id="7"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出典：予実管理表 2026年9月（累計）／期間報 分類別 2026/4/1〜6/30 税抜</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04　値上げの根拠①　出数×原価</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原価上位10品でGM原価の48%。主力の食事メニュー改定が効く</a:t>
            </a:r>
            <a:endParaRPr lang="en-US" sz="2100" dirty="0"/>
          </a:p>
        </p:txBody>
      </p:sp>
      <p:graphicFrame>
        <p:nvGraphicFramePr>
          <p:cNvPr id="7" name="table-top10"/>
          <p:cNvGraphicFramePr>
            <a:graphicFrameLocks noGrp="1"/>
          </p:cNvGraphicFramePr>
          <p:nvPr>
            <p:extLst>
              <p:ext uri="{D42A27DB-BD31-4B8C-83A1-F6EECF244321}">
                <p14:modId xmlns:p14="http://schemas.microsoft.com/office/powerpoint/2010/main" val="1579011935"/>
              </p:ext>
            </p:extLst>
          </p:nvPr>
        </p:nvGraphicFramePr>
        <p:xfrm>
          <a:off x="457200" y="1234440"/>
          <a:ext cx="5669280" cy="914400"/>
        </p:xfrm>
        <a:graphic>
          <a:graphicData uri="http://schemas.openxmlformats.org/drawingml/2006/table">
            <a:tbl>
              <a:tblPr/>
              <a:tblGrid>
                <a:gridCol w="1920240"/>
                <a:gridCol w="548640"/>
                <a:gridCol w="777240"/>
                <a:gridCol w="777240"/>
                <a:gridCol w="960120"/>
                <a:gridCol w="685800"/>
              </a:tblGrid>
              <a:tr h="292608">
                <a:tc>
                  <a:txBody>
                    <a:bodyPr/>
                    <a:lstStyle/>
                    <a:p>
                      <a:pPr algn="l" indent="0" marL="0">
                        <a:buNone/>
                      </a:pPr>
                      <a:r>
                        <a:rPr lang="en-US" sz="900" b="1" dirty="0">
                          <a:solidFill>
                            <a:srgbClr val="FFFFFF"/>
                          </a:solidFill>
                        </a:rPr>
                        <a:t>品目</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rPr>
                        <a:t>出数</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rPr>
                        <a:t>改定前</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rPr>
                        <a:t>改定後</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rPr>
                        <a:t>原価率(前→後)</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rPr>
                        <a:t>原価額</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r>
              <a:tr h="292608">
                <a:tc>
                  <a:txBody>
                    <a:bodyPr/>
                    <a:lstStyle/>
                    <a:p>
                      <a:pPr algn="l" indent="0" marL="0">
                        <a:buNone/>
                      </a:pPr>
                      <a:r>
                        <a:rPr lang="en-US" sz="900" dirty="0">
                          <a:solidFill>
                            <a:srgbClr val="1B2324"/>
                          </a:solidFill>
                        </a:rPr>
                        <a:t>プレミアムロースかつカレー</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843</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1,518円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1,598円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36%→34%</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41.5万円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B2324"/>
                          </a:solidFill>
                        </a:rPr>
                        <a:t>釜玉チーズカレーうどん</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677</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1,078円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1,128円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35%→33%</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22.9万円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292608">
                <a:tc>
                  <a:txBody>
                    <a:bodyPr/>
                    <a:lstStyle/>
                    <a:p>
                      <a:pPr algn="l" indent="0" marL="0">
                        <a:buNone/>
                      </a:pPr>
                      <a:r>
                        <a:rPr lang="en-US" sz="900" dirty="0">
                          <a:solidFill>
                            <a:srgbClr val="1B2324"/>
                          </a:solidFill>
                        </a:rPr>
                        <a:t>リポスパ</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2,134</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473円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493円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22%→21%</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20.1万円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B2324"/>
                          </a:solidFill>
                        </a:rPr>
                        <a:t>揚げ物盛り合わせ</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299</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1,408円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1,458円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35%→34%</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13.4万円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292608">
                <a:tc>
                  <a:txBody>
                    <a:bodyPr/>
                    <a:lstStyle/>
                    <a:p>
                      <a:pPr algn="l" indent="0" marL="0">
                        <a:buNone/>
                      </a:pPr>
                      <a:r>
                        <a:rPr lang="en-US" sz="900" dirty="0">
                          <a:solidFill>
                            <a:srgbClr val="1B2324"/>
                          </a:solidFill>
                        </a:rPr>
                        <a:t>ローストビーフベジボウル</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217</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1,518円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1,568円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42%→40%</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12.5万円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B2324"/>
                          </a:solidFill>
                        </a:rPr>
                        <a:t>バターチキンカレー</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336</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1,188円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1,218円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33%→33%</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12.1万円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292608">
                <a:tc>
                  <a:txBody>
                    <a:bodyPr/>
                    <a:lstStyle/>
                    <a:p>
                      <a:pPr algn="l" indent="0" marL="0">
                        <a:buNone/>
                      </a:pPr>
                      <a:r>
                        <a:rPr lang="en-US" sz="900" dirty="0">
                          <a:solidFill>
                            <a:srgbClr val="1B2324"/>
                          </a:solidFill>
                        </a:rPr>
                        <a:t>アサヒスーパードライ</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416</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855円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855円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37%（据置）</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11.8万円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B2324"/>
                          </a:solidFill>
                        </a:rPr>
                        <a:t>サーモンアボカドベジボウル</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338</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1,408円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1,458円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27%→26%</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11.6万円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292608">
                <a:tc>
                  <a:txBody>
                    <a:bodyPr/>
                    <a:lstStyle/>
                    <a:p>
                      <a:pPr algn="l" indent="0" marL="0">
                        <a:buNone/>
                      </a:pPr>
                      <a:r>
                        <a:rPr lang="en-US" sz="900" dirty="0">
                          <a:solidFill>
                            <a:srgbClr val="1B2324"/>
                          </a:solidFill>
                        </a:rPr>
                        <a:t>マルエフ</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327</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855円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855円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40%（据置）</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00" dirty="0">
                          <a:solidFill>
                            <a:srgbClr val="1B2324"/>
                          </a:solidFill>
                        </a:rPr>
                        <a:t>10.0万円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B2324"/>
                          </a:solidFill>
                        </a:rPr>
                        <a:t>熟撰</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281</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855円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855円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41%（据置）</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00" dirty="0">
                          <a:solidFill>
                            <a:srgbClr val="1B2324"/>
                          </a:solidFill>
                        </a:rPr>
                        <a:t>9.0万円</a:t>
                      </a:r>
                      <a:endParaRPr lang="en-US" sz="9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bl>
          </a:graphicData>
        </a:graphic>
      </p:graphicFrame>
      <p:sp>
        <p:nvSpPr>
          <p:cNvPr id="6" name="insight-dark"/>
          <p:cNvSpPr/>
          <p:nvPr/>
        </p:nvSpPr>
        <p:spPr>
          <a:xfrm>
            <a:off x="6355080" y="1234440"/>
            <a:ext cx="2331720" cy="3200400"/>
          </a:xfrm>
          <a:prstGeom prst="roundRect">
            <a:avLst>
              <a:gd name="adj" fmla="val 3922"/>
            </a:avLst>
          </a:prstGeom>
          <a:solidFill>
            <a:schemeClr val="tx2"/>
          </a:solidFill>
          <a:ln/>
        </p:spPr>
      </p:sp>
      <p:sp>
        <p:nvSpPr>
          <p:cNvPr id="7" name="Text 3"/>
          <p:cNvSpPr txBox="1"/>
          <p:nvPr/>
        </p:nvSpPr>
        <p:spPr>
          <a:xfrm>
            <a:off x="6537960" y="1417320"/>
            <a:ext cx="2011680" cy="548640"/>
          </a:xfrm>
          <a:prstGeom prst="rect">
            <a:avLst/>
          </a:prstGeom>
          <a:noFill/>
          <a:ln/>
        </p:spPr>
        <p:txBody>
          <a:bodyPr wrap="square" lIns="0" tIns="0" rIns="0" bIns="0" rtlCol="0" anchor="t"/>
          <a:lstStyle/>
          <a:p>
            <a:pPr indent="0" marL="0">
              <a:buNone/>
            </a:pPr>
            <a:r>
              <a:rPr lang="en-US" sz="3000" b="1" dirty="0">
                <a:solidFill>
                  <a:schemeClr val="bg1"/>
                </a:solidFill>
              </a:rPr>
              <a:t>48%</a:t>
            </a:r>
            <a:endParaRPr lang="en-US" sz="3000" dirty="0"/>
          </a:p>
        </p:txBody>
      </p:sp>
      <p:sp>
        <p:nvSpPr>
          <p:cNvPr id="8" name="Text 4"/>
          <p:cNvSpPr txBox="1"/>
          <p:nvPr/>
        </p:nvSpPr>
        <p:spPr>
          <a:xfrm>
            <a:off x="6537960" y="1993392"/>
            <a:ext cx="2011680" cy="411480"/>
          </a:xfrm>
          <a:prstGeom prst="rect">
            <a:avLst/>
          </a:prstGeom>
          <a:noFill/>
          <a:ln/>
        </p:spPr>
        <p:txBody>
          <a:bodyPr wrap="square" lIns="0" tIns="0" rIns="0" bIns="0" rtlCol="0" anchor="t"/>
          <a:lstStyle/>
          <a:p>
            <a:pPr indent="0" marL="0">
              <a:buNone/>
            </a:pPr>
            <a:r>
              <a:rPr lang="en-US" sz="950" dirty="0">
                <a:solidFill>
                  <a:schemeClr val="accent5"/>
                </a:solidFill>
              </a:rPr>
              <a:t>上位10品が占めるGM原価の割合</a:t>
            </a:r>
            <a:endParaRPr lang="en-US" sz="950" dirty="0"/>
          </a:p>
        </p:txBody>
      </p:sp>
      <p:sp>
        <p:nvSpPr>
          <p:cNvPr id="9" name="Text 5"/>
          <p:cNvSpPr txBox="1"/>
          <p:nvPr/>
        </p:nvSpPr>
        <p:spPr>
          <a:xfrm>
            <a:off x="6537960" y="2606040"/>
            <a:ext cx="2011680" cy="1645920"/>
          </a:xfrm>
          <a:prstGeom prst="rect">
            <a:avLst/>
          </a:prstGeom>
          <a:noFill/>
          <a:ln/>
        </p:spPr>
        <p:txBody>
          <a:bodyPr wrap="square" lIns="0" tIns="0" rIns="0" bIns="0" rtlCol="0" anchor="t"/>
          <a:lstStyle/>
          <a:p>
            <a:pPr indent="0" marL="0">
              <a:buNone/>
            </a:pPr>
            <a:r>
              <a:rPr lang="en-US" sz="2000" b="1" dirty="0">
                <a:solidFill>
                  <a:schemeClr val="accent1"/>
                </a:solidFill>
              </a:rPr>
              <a:t>30.9%</a:t>
            </a:r>
            <a:endParaRPr lang="en-US" sz="1100" dirty="0"/>
          </a:p>
          <a:p>
            <a:pPr indent="0" marL="0">
              <a:buNone/>
            </a:pPr>
            <a:r>
              <a:rPr lang="en-US" sz="950" dirty="0">
                <a:solidFill>
                  <a:schemeClr val="accent5"/>
                </a:solidFill>
              </a:rPr>
              <a:t>GMの理論原価率（レシピ原価）。実績36.4%との差はロス・在庫・コラボ食材を示唆</a:t>
            </a:r>
            <a:endParaRPr lang="en-US" sz="1100" dirty="0"/>
          </a:p>
        </p:txBody>
      </p:sp>
      <p:sp>
        <p:nvSpPr>
          <p:cNvPr id="10"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出典：期間報 商品別 2026/4/1〜6/30 × メニュー原価一覧（2024 GMレシピ）。価格は税込、原価額は4〜6月の出数×原価単価</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05　値上げの根拠②　外部環境</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外食の値上げは定着。一方でビール減税・米価下落には配慮が必要</a:t>
            </a:r>
            <a:endParaRPr lang="en-US" sz="2100" dirty="0"/>
          </a:p>
        </p:txBody>
      </p:sp>
      <p:sp>
        <p:nvSpPr>
          <p:cNvPr id="5" name="macro"/>
          <p:cNvSpPr/>
          <p:nvPr/>
        </p:nvSpPr>
        <p:spPr>
          <a:xfrm>
            <a:off x="457200" y="1280160"/>
            <a:ext cx="4069080" cy="1463040"/>
          </a:xfrm>
          <a:prstGeom prst="roundRect">
            <a:avLst>
              <a:gd name="adj" fmla="val 6250"/>
            </a:avLst>
          </a:prstGeom>
          <a:solidFill>
            <a:schemeClr val="bg2"/>
          </a:solidFill>
          <a:ln/>
        </p:spPr>
      </p:sp>
      <p:sp>
        <p:nvSpPr>
          <p:cNvPr id="6" name="macro-icon"/>
          <p:cNvSpPr/>
          <p:nvPr/>
        </p:nvSpPr>
        <p:spPr>
          <a:xfrm>
            <a:off x="685800" y="1554480"/>
            <a:ext cx="640080" cy="640080"/>
          </a:xfrm>
          <a:prstGeom prst="ellipse">
            <a:avLst/>
          </a:prstGeom>
          <a:solidFill>
            <a:srgbClr val="0F3D3E"/>
          </a:solidFill>
          <a:ln/>
        </p:spPr>
      </p:sp>
      <p:pic>
        <p:nvPicPr>
          <p:cNvPr id="7" name="Image 0" descr="macro-icon">    </p:cNvPr>
          <p:cNvPicPr>
            <a:picLocks noChangeAspect="1"/>
          </p:cNvPicPr>
          <p:nvPr/>
        </p:nvPicPr>
        <p:blipFill>
          <a:blip r:embed="rId1"/>
          <a:stretch>
            <a:fillRect/>
          </a:stretch>
        </p:blipFill>
        <p:spPr>
          <a:xfrm>
            <a:off x="845820" y="1714500"/>
            <a:ext cx="320040" cy="320040"/>
          </a:xfrm>
          <a:prstGeom prst="rect">
            <a:avLst/>
          </a:prstGeom>
        </p:spPr>
      </p:pic>
      <p:sp>
        <p:nvSpPr>
          <p:cNvPr id="8" name="Text 4"/>
          <p:cNvSpPr txBox="1"/>
          <p:nvPr/>
        </p:nvSpPr>
        <p:spPr>
          <a:xfrm>
            <a:off x="1508760" y="1481328"/>
            <a:ext cx="2834640" cy="256032"/>
          </a:xfrm>
          <a:prstGeom prst="rect">
            <a:avLst/>
          </a:prstGeom>
          <a:noFill/>
          <a:ln/>
        </p:spPr>
        <p:txBody>
          <a:bodyPr wrap="square" lIns="0" tIns="0" rIns="0" bIns="0" rtlCol="0" anchor="t"/>
          <a:lstStyle/>
          <a:p>
            <a:pPr indent="0" marL="0">
              <a:buNone/>
            </a:pPr>
            <a:r>
              <a:rPr lang="en-US" sz="1000" b="1" dirty="0">
                <a:solidFill>
                  <a:schemeClr val="accent4"/>
                </a:solidFill>
              </a:rPr>
              <a:t>外食CPI 前年比</a:t>
            </a:r>
            <a:endParaRPr lang="en-US" sz="1000" dirty="0"/>
          </a:p>
        </p:txBody>
      </p:sp>
      <p:sp>
        <p:nvSpPr>
          <p:cNvPr id="9" name="Text 5"/>
          <p:cNvSpPr txBox="1"/>
          <p:nvPr/>
        </p:nvSpPr>
        <p:spPr>
          <a:xfrm>
            <a:off x="1508760" y="1737360"/>
            <a:ext cx="2834640" cy="457200"/>
          </a:xfrm>
          <a:prstGeom prst="rect">
            <a:avLst/>
          </a:prstGeom>
          <a:noFill/>
          <a:ln/>
        </p:spPr>
        <p:txBody>
          <a:bodyPr wrap="square" lIns="0" tIns="0" rIns="0" bIns="0" rtlCol="0" anchor="t"/>
          <a:lstStyle/>
          <a:p>
            <a:pPr indent="0" marL="0">
              <a:buNone/>
            </a:pPr>
            <a:r>
              <a:rPr lang="en-US" sz="2200" b="1" dirty="0">
                <a:solidFill>
                  <a:schemeClr val="tx2"/>
                </a:solidFill>
              </a:rPr>
              <a:t>+4.2%</a:t>
            </a:r>
            <a:endParaRPr lang="en-US" sz="2200" dirty="0"/>
          </a:p>
        </p:txBody>
      </p:sp>
      <p:sp>
        <p:nvSpPr>
          <p:cNvPr id="10" name="Text 6"/>
          <p:cNvSpPr txBox="1"/>
          <p:nvPr/>
        </p:nvSpPr>
        <p:spPr>
          <a:xfrm>
            <a:off x="1508760" y="2212848"/>
            <a:ext cx="2880360" cy="457200"/>
          </a:xfrm>
          <a:prstGeom prst="rect">
            <a:avLst/>
          </a:prstGeom>
          <a:noFill/>
          <a:ln/>
        </p:spPr>
        <p:txBody>
          <a:bodyPr wrap="square" lIns="0" tIns="0" rIns="0" bIns="0" rtlCol="0" anchor="t"/>
          <a:lstStyle/>
          <a:p>
            <a:pPr indent="0" marL="0">
              <a:buNone/>
            </a:pPr>
            <a:r>
              <a:rPr lang="en-US" sz="900" dirty="0">
                <a:solidFill>
                  <a:schemeClr val="tx1"/>
                </a:solidFill>
              </a:rPr>
              <a:t>2025年度平均（総務省）。2026年3月も+3.9%</a:t>
            </a:r>
            <a:endParaRPr lang="en-US" sz="900" dirty="0"/>
          </a:p>
        </p:txBody>
      </p:sp>
      <p:sp>
        <p:nvSpPr>
          <p:cNvPr id="11" name="macro"/>
          <p:cNvSpPr/>
          <p:nvPr/>
        </p:nvSpPr>
        <p:spPr>
          <a:xfrm>
            <a:off x="4617720" y="1280160"/>
            <a:ext cx="4069080" cy="1463040"/>
          </a:xfrm>
          <a:prstGeom prst="roundRect">
            <a:avLst>
              <a:gd name="adj" fmla="val 6250"/>
            </a:avLst>
          </a:prstGeom>
          <a:solidFill>
            <a:schemeClr val="bg2"/>
          </a:solidFill>
          <a:ln/>
        </p:spPr>
      </p:sp>
      <p:sp>
        <p:nvSpPr>
          <p:cNvPr id="12" name="macro-icon"/>
          <p:cNvSpPr/>
          <p:nvPr/>
        </p:nvSpPr>
        <p:spPr>
          <a:xfrm>
            <a:off x="4846320" y="1554480"/>
            <a:ext cx="640080" cy="640080"/>
          </a:xfrm>
          <a:prstGeom prst="ellipse">
            <a:avLst/>
          </a:prstGeom>
          <a:solidFill>
            <a:srgbClr val="0F3D3E"/>
          </a:solidFill>
          <a:ln/>
        </p:spPr>
      </p:sp>
      <p:pic>
        <p:nvPicPr>
          <p:cNvPr id="13" name="Image 1" descr="macro-icon">    </p:cNvPr>
          <p:cNvPicPr>
            <a:picLocks noChangeAspect="1"/>
          </p:cNvPicPr>
          <p:nvPr/>
        </p:nvPicPr>
        <p:blipFill>
          <a:blip r:embed="rId2"/>
          <a:stretch>
            <a:fillRect/>
          </a:stretch>
        </p:blipFill>
        <p:spPr>
          <a:xfrm>
            <a:off x="5006340" y="1714500"/>
            <a:ext cx="320040" cy="320040"/>
          </a:xfrm>
          <a:prstGeom prst="rect">
            <a:avLst/>
          </a:prstGeom>
        </p:spPr>
      </p:pic>
      <p:sp>
        <p:nvSpPr>
          <p:cNvPr id="14" name="Text 9"/>
          <p:cNvSpPr txBox="1"/>
          <p:nvPr/>
        </p:nvSpPr>
        <p:spPr>
          <a:xfrm>
            <a:off x="5669280" y="1481328"/>
            <a:ext cx="2834640" cy="256032"/>
          </a:xfrm>
          <a:prstGeom prst="rect">
            <a:avLst/>
          </a:prstGeom>
          <a:noFill/>
          <a:ln/>
        </p:spPr>
        <p:txBody>
          <a:bodyPr wrap="square" lIns="0" tIns="0" rIns="0" bIns="0" rtlCol="0" anchor="t"/>
          <a:lstStyle/>
          <a:p>
            <a:pPr indent="0" marL="0">
              <a:buNone/>
            </a:pPr>
            <a:r>
              <a:rPr lang="en-US" sz="1000" b="1" dirty="0">
                <a:solidFill>
                  <a:schemeClr val="accent4"/>
                </a:solidFill>
              </a:rPr>
              <a:t>2026年 食品値上げ</a:t>
            </a:r>
            <a:endParaRPr lang="en-US" sz="1000" dirty="0"/>
          </a:p>
        </p:txBody>
      </p:sp>
      <p:sp>
        <p:nvSpPr>
          <p:cNvPr id="15" name="Text 10"/>
          <p:cNvSpPr txBox="1"/>
          <p:nvPr/>
        </p:nvSpPr>
        <p:spPr>
          <a:xfrm>
            <a:off x="5669280" y="1737360"/>
            <a:ext cx="2834640" cy="457200"/>
          </a:xfrm>
          <a:prstGeom prst="rect">
            <a:avLst/>
          </a:prstGeom>
          <a:noFill/>
          <a:ln/>
        </p:spPr>
        <p:txBody>
          <a:bodyPr wrap="square" lIns="0" tIns="0" rIns="0" bIns="0" rtlCol="0" anchor="t"/>
          <a:lstStyle/>
          <a:p>
            <a:pPr indent="0" marL="0">
              <a:buNone/>
            </a:pPr>
            <a:r>
              <a:rPr lang="en-US" sz="2200" b="1" dirty="0">
                <a:solidFill>
                  <a:schemeClr val="tx2"/>
                </a:solidFill>
              </a:rPr>
              <a:t>20,187品目</a:t>
            </a:r>
            <a:endParaRPr lang="en-US" sz="2200" dirty="0"/>
          </a:p>
        </p:txBody>
      </p:sp>
      <p:sp>
        <p:nvSpPr>
          <p:cNvPr id="16" name="Text 11"/>
          <p:cNvSpPr txBox="1"/>
          <p:nvPr/>
        </p:nvSpPr>
        <p:spPr>
          <a:xfrm>
            <a:off x="5669280" y="2212848"/>
            <a:ext cx="2880360" cy="457200"/>
          </a:xfrm>
          <a:prstGeom prst="rect">
            <a:avLst/>
          </a:prstGeom>
          <a:noFill/>
          <a:ln/>
        </p:spPr>
        <p:txBody>
          <a:bodyPr wrap="square" lIns="0" tIns="0" rIns="0" bIns="0" rtlCol="0" anchor="t"/>
          <a:lstStyle/>
          <a:p>
            <a:pPr indent="0" marL="0">
              <a:buNone/>
            </a:pPr>
            <a:r>
              <a:rPr lang="en-US" sz="900" dirty="0">
                <a:solidFill>
                  <a:schemeClr val="tx1"/>
                </a:solidFill>
              </a:rPr>
              <a:t>9/30時点の累計（帝国データバンク）。2年連続2万品目超</a:t>
            </a:r>
            <a:endParaRPr lang="en-US" sz="900" dirty="0"/>
          </a:p>
        </p:txBody>
      </p:sp>
      <p:sp>
        <p:nvSpPr>
          <p:cNvPr id="17" name="macro"/>
          <p:cNvSpPr/>
          <p:nvPr/>
        </p:nvSpPr>
        <p:spPr>
          <a:xfrm>
            <a:off x="457200" y="2880360"/>
            <a:ext cx="4069080" cy="1463040"/>
          </a:xfrm>
          <a:prstGeom prst="roundRect">
            <a:avLst>
              <a:gd name="adj" fmla="val 6250"/>
            </a:avLst>
          </a:prstGeom>
          <a:solidFill>
            <a:schemeClr val="bg2"/>
          </a:solidFill>
          <a:ln/>
        </p:spPr>
      </p:sp>
      <p:sp>
        <p:nvSpPr>
          <p:cNvPr id="18" name="macro-icon"/>
          <p:cNvSpPr/>
          <p:nvPr/>
        </p:nvSpPr>
        <p:spPr>
          <a:xfrm>
            <a:off x="685800" y="3154680"/>
            <a:ext cx="640080" cy="640080"/>
          </a:xfrm>
          <a:prstGeom prst="ellipse">
            <a:avLst/>
          </a:prstGeom>
          <a:solidFill>
            <a:srgbClr val="0F3D3E"/>
          </a:solidFill>
          <a:ln/>
        </p:spPr>
      </p:sp>
      <p:pic>
        <p:nvPicPr>
          <p:cNvPr id="19" name="Image 2" descr="macro-icon">    </p:cNvPr>
          <p:cNvPicPr>
            <a:picLocks noChangeAspect="1"/>
          </p:cNvPicPr>
          <p:nvPr/>
        </p:nvPicPr>
        <p:blipFill>
          <a:blip r:embed="rId3"/>
          <a:stretch>
            <a:fillRect/>
          </a:stretch>
        </p:blipFill>
        <p:spPr>
          <a:xfrm>
            <a:off x="845820" y="3314700"/>
            <a:ext cx="320040" cy="320040"/>
          </a:xfrm>
          <a:prstGeom prst="rect">
            <a:avLst/>
          </a:prstGeom>
        </p:spPr>
      </p:pic>
      <p:sp>
        <p:nvSpPr>
          <p:cNvPr id="20" name="Text 14"/>
          <p:cNvSpPr txBox="1"/>
          <p:nvPr/>
        </p:nvSpPr>
        <p:spPr>
          <a:xfrm>
            <a:off x="1508760" y="3081528"/>
            <a:ext cx="2834640" cy="256032"/>
          </a:xfrm>
          <a:prstGeom prst="rect">
            <a:avLst/>
          </a:prstGeom>
          <a:noFill/>
          <a:ln/>
        </p:spPr>
        <p:txBody>
          <a:bodyPr wrap="square" lIns="0" tIns="0" rIns="0" bIns="0" rtlCol="0" anchor="t"/>
          <a:lstStyle/>
          <a:p>
            <a:pPr indent="0" marL="0">
              <a:buNone/>
            </a:pPr>
            <a:r>
              <a:rPr lang="en-US" sz="1000" b="1" dirty="0">
                <a:solidFill>
                  <a:schemeClr val="accent4"/>
                </a:solidFill>
              </a:rPr>
              <a:t>周辺チェーンの改定</a:t>
            </a:r>
            <a:endParaRPr lang="en-US" sz="1000" dirty="0"/>
          </a:p>
        </p:txBody>
      </p:sp>
      <p:sp>
        <p:nvSpPr>
          <p:cNvPr id="21" name="Text 15"/>
          <p:cNvSpPr txBox="1"/>
          <p:nvPr/>
        </p:nvSpPr>
        <p:spPr>
          <a:xfrm>
            <a:off x="1508760" y="3337560"/>
            <a:ext cx="2834640" cy="457200"/>
          </a:xfrm>
          <a:prstGeom prst="rect">
            <a:avLst/>
          </a:prstGeom>
          <a:noFill/>
          <a:ln/>
        </p:spPr>
        <p:txBody>
          <a:bodyPr wrap="square" lIns="0" tIns="0" rIns="0" bIns="0" rtlCol="0" anchor="t"/>
          <a:lstStyle/>
          <a:p>
            <a:pPr indent="0" marL="0">
              <a:buNone/>
            </a:pPr>
            <a:r>
              <a:rPr lang="en-US" sz="2200" b="1" dirty="0">
                <a:solidFill>
                  <a:schemeClr val="tx2"/>
                </a:solidFill>
              </a:rPr>
              <a:t>値上げが相次ぐ</a:t>
            </a:r>
            <a:endParaRPr lang="en-US" sz="2200" dirty="0"/>
          </a:p>
        </p:txBody>
      </p:sp>
      <p:sp>
        <p:nvSpPr>
          <p:cNvPr id="22" name="Text 16"/>
          <p:cNvSpPr txBox="1"/>
          <p:nvPr/>
        </p:nvSpPr>
        <p:spPr>
          <a:xfrm>
            <a:off x="1508760" y="3813048"/>
            <a:ext cx="2880360" cy="457200"/>
          </a:xfrm>
          <a:prstGeom prst="rect">
            <a:avLst/>
          </a:prstGeom>
          <a:noFill/>
          <a:ln/>
        </p:spPr>
        <p:txBody>
          <a:bodyPr wrap="square" lIns="0" tIns="0" rIns="0" bIns="0" rtlCol="0" anchor="t"/>
          <a:lstStyle/>
          <a:p>
            <a:pPr indent="0" marL="0">
              <a:buNone/>
            </a:pPr>
            <a:r>
              <a:rPr lang="en-US" sz="900" dirty="0">
                <a:solidFill>
                  <a:schemeClr val="tx1"/>
                </a:solidFill>
              </a:rPr>
              <a:t>鳥貴族 390→410円（2026/10）、丸亀製麺（2026/1）、はなまる（2026/2）</a:t>
            </a:r>
            <a:endParaRPr lang="en-US" sz="900" dirty="0"/>
          </a:p>
        </p:txBody>
      </p:sp>
      <p:sp>
        <p:nvSpPr>
          <p:cNvPr id="23" name="macro"/>
          <p:cNvSpPr/>
          <p:nvPr/>
        </p:nvSpPr>
        <p:spPr>
          <a:xfrm>
            <a:off x="4617720" y="2880360"/>
            <a:ext cx="4069080" cy="1463040"/>
          </a:xfrm>
          <a:prstGeom prst="roundRect">
            <a:avLst>
              <a:gd name="adj" fmla="val 6250"/>
            </a:avLst>
          </a:prstGeom>
          <a:solidFill>
            <a:srgbClr val="FBF1EA"/>
          </a:solidFill>
          <a:ln/>
        </p:spPr>
      </p:sp>
      <p:sp>
        <p:nvSpPr>
          <p:cNvPr id="24" name="macro-icon"/>
          <p:cNvSpPr/>
          <p:nvPr/>
        </p:nvSpPr>
        <p:spPr>
          <a:xfrm>
            <a:off x="4846320" y="3154680"/>
            <a:ext cx="640080" cy="640080"/>
          </a:xfrm>
          <a:prstGeom prst="ellipse">
            <a:avLst/>
          </a:prstGeom>
          <a:solidFill>
            <a:srgbClr val="C8773B"/>
          </a:solidFill>
          <a:ln/>
        </p:spPr>
      </p:sp>
      <p:pic>
        <p:nvPicPr>
          <p:cNvPr id="25" name="Image 3" descr="macro-icon">    </p:cNvPr>
          <p:cNvPicPr>
            <a:picLocks noChangeAspect="1"/>
          </p:cNvPicPr>
          <p:nvPr/>
        </p:nvPicPr>
        <p:blipFill>
          <a:blip r:embed="rId4"/>
          <a:stretch>
            <a:fillRect/>
          </a:stretch>
        </p:blipFill>
        <p:spPr>
          <a:xfrm>
            <a:off x="5006340" y="3314700"/>
            <a:ext cx="320040" cy="320040"/>
          </a:xfrm>
          <a:prstGeom prst="rect">
            <a:avLst/>
          </a:prstGeom>
        </p:spPr>
      </p:pic>
      <p:sp>
        <p:nvSpPr>
          <p:cNvPr id="26" name="Text 19"/>
          <p:cNvSpPr txBox="1"/>
          <p:nvPr/>
        </p:nvSpPr>
        <p:spPr>
          <a:xfrm>
            <a:off x="5669280" y="3081528"/>
            <a:ext cx="2834640" cy="256032"/>
          </a:xfrm>
          <a:prstGeom prst="rect">
            <a:avLst/>
          </a:prstGeom>
          <a:noFill/>
          <a:ln/>
        </p:spPr>
        <p:txBody>
          <a:bodyPr wrap="square" lIns="0" tIns="0" rIns="0" bIns="0" rtlCol="0" anchor="t"/>
          <a:lstStyle/>
          <a:p>
            <a:pPr indent="0" marL="0">
              <a:buNone/>
            </a:pPr>
            <a:r>
              <a:rPr lang="en-US" sz="1000" b="1" dirty="0">
                <a:solidFill>
                  <a:schemeClr val="accent4"/>
                </a:solidFill>
              </a:rPr>
              <a:t>ビール酒税（350ml）</a:t>
            </a:r>
            <a:endParaRPr lang="en-US" sz="1000" dirty="0"/>
          </a:p>
        </p:txBody>
      </p:sp>
      <p:sp>
        <p:nvSpPr>
          <p:cNvPr id="27" name="Text 20"/>
          <p:cNvSpPr txBox="1"/>
          <p:nvPr/>
        </p:nvSpPr>
        <p:spPr>
          <a:xfrm>
            <a:off x="5669280" y="3337560"/>
            <a:ext cx="2834640" cy="457200"/>
          </a:xfrm>
          <a:prstGeom prst="rect">
            <a:avLst/>
          </a:prstGeom>
          <a:noFill/>
          <a:ln/>
        </p:spPr>
        <p:txBody>
          <a:bodyPr wrap="square" lIns="0" tIns="0" rIns="0" bIns="0" rtlCol="0" anchor="t"/>
          <a:lstStyle/>
          <a:p>
            <a:pPr indent="0" marL="0">
              <a:buNone/>
            </a:pPr>
            <a:r>
              <a:rPr lang="en-US" sz="2200" b="1" dirty="0">
                <a:solidFill>
                  <a:schemeClr val="accent1"/>
                </a:solidFill>
              </a:rPr>
              <a:t>▲9.1円</a:t>
            </a:r>
            <a:endParaRPr lang="en-US" sz="2200" dirty="0"/>
          </a:p>
        </p:txBody>
      </p:sp>
      <p:sp>
        <p:nvSpPr>
          <p:cNvPr id="28" name="Text 21"/>
          <p:cNvSpPr txBox="1"/>
          <p:nvPr/>
        </p:nvSpPr>
        <p:spPr>
          <a:xfrm>
            <a:off x="5669280" y="3813048"/>
            <a:ext cx="2880360" cy="457200"/>
          </a:xfrm>
          <a:prstGeom prst="rect">
            <a:avLst/>
          </a:prstGeom>
          <a:noFill/>
          <a:ln/>
        </p:spPr>
        <p:txBody>
          <a:bodyPr wrap="square" lIns="0" tIns="0" rIns="0" bIns="0" rtlCol="0" anchor="t"/>
          <a:lstStyle/>
          <a:p>
            <a:pPr indent="0" marL="0">
              <a:buNone/>
            </a:pPr>
            <a:r>
              <a:rPr lang="en-US" sz="900" dirty="0">
                <a:solidFill>
                  <a:schemeClr val="tx1"/>
                </a:solidFill>
              </a:rPr>
              <a:t>2026年10月に減税。値上げは控え、据え置きが妥当</a:t>
            </a:r>
            <a:endParaRPr lang="en-US" sz="900" dirty="0"/>
          </a:p>
        </p:txBody>
      </p:sp>
      <p:sp>
        <p:nvSpPr>
          <p:cNvPr id="29"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出典：総務省 消費者物価指数／帝国データバンク 価格改定動向調査（2026/9/30）／各社発表（2026年10月 Web調査）</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06　値上げの根拠③　競合価格との比較</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食事メニューは温浴施設の相場内。カツカレーは専門店より割安</a:t>
            </a:r>
            <a:endParaRPr lang="en-US" sz="2100" dirty="0"/>
          </a:p>
        </p:txBody>
      </p:sp>
      <p:sp>
        <p:nvSpPr>
          <p:cNvPr id="5" name="grid"/>
          <p:cNvSpPr/>
          <p:nvPr/>
        </p:nvSpPr>
        <p:spPr>
          <a:xfrm>
            <a:off x="2377440" y="1371600"/>
            <a:ext cx="0" cy="2834640"/>
          </a:xfrm>
          <a:prstGeom prst="line">
            <a:avLst/>
          </a:prstGeom>
          <a:noFill/>
          <a:ln w="6350">
            <a:solidFill>
              <a:srgbClr val="D5DEDC"/>
            </a:solidFill>
            <a:prstDash val="dash"/>
          </a:ln>
        </p:spPr>
      </p:sp>
      <p:sp>
        <p:nvSpPr>
          <p:cNvPr id="6" name="Text 3"/>
          <p:cNvSpPr txBox="1"/>
          <p:nvPr/>
        </p:nvSpPr>
        <p:spPr>
          <a:xfrm>
            <a:off x="2011680" y="4224528"/>
            <a:ext cx="731520" cy="182880"/>
          </a:xfrm>
          <a:prstGeom prst="rect">
            <a:avLst/>
          </a:prstGeom>
          <a:noFill/>
          <a:ln/>
        </p:spPr>
        <p:txBody>
          <a:bodyPr wrap="square" lIns="0" tIns="0" rIns="0" bIns="0" rtlCol="0" anchor="t"/>
          <a:lstStyle/>
          <a:p>
            <a:pPr algn="ctr" indent="0" marL="0">
              <a:buNone/>
            </a:pPr>
            <a:r>
              <a:rPr lang="en-US" sz="800" dirty="0">
                <a:solidFill>
                  <a:schemeClr val="accent4"/>
                </a:solidFill>
              </a:rPr>
              <a:t>0円</a:t>
            </a:r>
            <a:endParaRPr lang="en-US" sz="800" dirty="0"/>
          </a:p>
        </p:txBody>
      </p:sp>
      <p:sp>
        <p:nvSpPr>
          <p:cNvPr id="7" name="grid"/>
          <p:cNvSpPr/>
          <p:nvPr/>
        </p:nvSpPr>
        <p:spPr>
          <a:xfrm>
            <a:off x="3817620" y="1371600"/>
            <a:ext cx="0" cy="2834640"/>
          </a:xfrm>
          <a:prstGeom prst="line">
            <a:avLst/>
          </a:prstGeom>
          <a:noFill/>
          <a:ln w="6350">
            <a:solidFill>
              <a:srgbClr val="D5DEDC"/>
            </a:solidFill>
            <a:prstDash val="dash"/>
          </a:ln>
        </p:spPr>
      </p:sp>
      <p:sp>
        <p:nvSpPr>
          <p:cNvPr id="8" name="Text 5"/>
          <p:cNvSpPr txBox="1"/>
          <p:nvPr/>
        </p:nvSpPr>
        <p:spPr>
          <a:xfrm>
            <a:off x="3451860" y="4224528"/>
            <a:ext cx="731520" cy="182880"/>
          </a:xfrm>
          <a:prstGeom prst="rect">
            <a:avLst/>
          </a:prstGeom>
          <a:noFill/>
          <a:ln/>
        </p:spPr>
        <p:txBody>
          <a:bodyPr wrap="square" lIns="0" tIns="0" rIns="0" bIns="0" rtlCol="0" anchor="t"/>
          <a:lstStyle/>
          <a:p>
            <a:pPr algn="ctr" indent="0" marL="0">
              <a:buNone/>
            </a:pPr>
            <a:r>
              <a:rPr lang="en-US" sz="800" dirty="0">
                <a:solidFill>
                  <a:schemeClr val="accent4"/>
                </a:solidFill>
              </a:rPr>
              <a:t>500円</a:t>
            </a:r>
            <a:endParaRPr lang="en-US" sz="800" dirty="0"/>
          </a:p>
        </p:txBody>
      </p:sp>
      <p:sp>
        <p:nvSpPr>
          <p:cNvPr id="9" name="grid"/>
          <p:cNvSpPr/>
          <p:nvPr/>
        </p:nvSpPr>
        <p:spPr>
          <a:xfrm>
            <a:off x="5257800" y="1371600"/>
            <a:ext cx="0" cy="2834640"/>
          </a:xfrm>
          <a:prstGeom prst="line">
            <a:avLst/>
          </a:prstGeom>
          <a:noFill/>
          <a:ln w="6350">
            <a:solidFill>
              <a:srgbClr val="D5DEDC"/>
            </a:solidFill>
            <a:prstDash val="dash"/>
          </a:ln>
        </p:spPr>
      </p:sp>
      <p:sp>
        <p:nvSpPr>
          <p:cNvPr id="10" name="Text 7"/>
          <p:cNvSpPr txBox="1"/>
          <p:nvPr/>
        </p:nvSpPr>
        <p:spPr>
          <a:xfrm>
            <a:off x="4892040" y="4224528"/>
            <a:ext cx="731520" cy="182880"/>
          </a:xfrm>
          <a:prstGeom prst="rect">
            <a:avLst/>
          </a:prstGeom>
          <a:noFill/>
          <a:ln/>
        </p:spPr>
        <p:txBody>
          <a:bodyPr wrap="square" lIns="0" tIns="0" rIns="0" bIns="0" rtlCol="0" anchor="t"/>
          <a:lstStyle/>
          <a:p>
            <a:pPr algn="ctr" indent="0" marL="0">
              <a:buNone/>
            </a:pPr>
            <a:r>
              <a:rPr lang="en-US" sz="800" dirty="0">
                <a:solidFill>
                  <a:schemeClr val="accent4"/>
                </a:solidFill>
              </a:rPr>
              <a:t>1,000円</a:t>
            </a:r>
            <a:endParaRPr lang="en-US" sz="800" dirty="0"/>
          </a:p>
        </p:txBody>
      </p:sp>
      <p:sp>
        <p:nvSpPr>
          <p:cNvPr id="11" name="grid"/>
          <p:cNvSpPr/>
          <p:nvPr/>
        </p:nvSpPr>
        <p:spPr>
          <a:xfrm>
            <a:off x="6697980" y="1371600"/>
            <a:ext cx="0" cy="2834640"/>
          </a:xfrm>
          <a:prstGeom prst="line">
            <a:avLst/>
          </a:prstGeom>
          <a:noFill/>
          <a:ln w="6350">
            <a:solidFill>
              <a:srgbClr val="D5DEDC"/>
            </a:solidFill>
            <a:prstDash val="dash"/>
          </a:ln>
        </p:spPr>
      </p:sp>
      <p:sp>
        <p:nvSpPr>
          <p:cNvPr id="12" name="Text 9"/>
          <p:cNvSpPr txBox="1"/>
          <p:nvPr/>
        </p:nvSpPr>
        <p:spPr>
          <a:xfrm>
            <a:off x="6332220" y="4224528"/>
            <a:ext cx="731520" cy="182880"/>
          </a:xfrm>
          <a:prstGeom prst="rect">
            <a:avLst/>
          </a:prstGeom>
          <a:noFill/>
          <a:ln/>
        </p:spPr>
        <p:txBody>
          <a:bodyPr wrap="square" lIns="0" tIns="0" rIns="0" bIns="0" rtlCol="0" anchor="t"/>
          <a:lstStyle/>
          <a:p>
            <a:pPr algn="ctr" indent="0" marL="0">
              <a:buNone/>
            </a:pPr>
            <a:r>
              <a:rPr lang="en-US" sz="800" dirty="0">
                <a:solidFill>
                  <a:schemeClr val="accent4"/>
                </a:solidFill>
              </a:rPr>
              <a:t>1,500円</a:t>
            </a:r>
            <a:endParaRPr lang="en-US" sz="800" dirty="0"/>
          </a:p>
        </p:txBody>
      </p:sp>
      <p:sp>
        <p:nvSpPr>
          <p:cNvPr id="13" name="grid"/>
          <p:cNvSpPr/>
          <p:nvPr/>
        </p:nvSpPr>
        <p:spPr>
          <a:xfrm>
            <a:off x="8138160" y="1371600"/>
            <a:ext cx="0" cy="2834640"/>
          </a:xfrm>
          <a:prstGeom prst="line">
            <a:avLst/>
          </a:prstGeom>
          <a:noFill/>
          <a:ln w="6350">
            <a:solidFill>
              <a:srgbClr val="D5DEDC"/>
            </a:solidFill>
            <a:prstDash val="dash"/>
          </a:ln>
        </p:spPr>
      </p:sp>
      <p:sp>
        <p:nvSpPr>
          <p:cNvPr id="14" name="Text 11"/>
          <p:cNvSpPr txBox="1"/>
          <p:nvPr/>
        </p:nvSpPr>
        <p:spPr>
          <a:xfrm>
            <a:off x="7772400" y="4224528"/>
            <a:ext cx="731520" cy="182880"/>
          </a:xfrm>
          <a:prstGeom prst="rect">
            <a:avLst/>
          </a:prstGeom>
          <a:noFill/>
          <a:ln/>
        </p:spPr>
        <p:txBody>
          <a:bodyPr wrap="square" lIns="0" tIns="0" rIns="0" bIns="0" rtlCol="0" anchor="t"/>
          <a:lstStyle/>
          <a:p>
            <a:pPr algn="ctr" indent="0" marL="0">
              <a:buNone/>
            </a:pPr>
            <a:r>
              <a:rPr lang="en-US" sz="800" dirty="0">
                <a:solidFill>
                  <a:schemeClr val="accent4"/>
                </a:solidFill>
              </a:rPr>
              <a:t>2,000円</a:t>
            </a:r>
            <a:endParaRPr lang="en-US" sz="800" dirty="0"/>
          </a:p>
        </p:txBody>
      </p:sp>
      <p:sp>
        <p:nvSpPr>
          <p:cNvPr id="15" name="Text 12"/>
          <p:cNvSpPr txBox="1"/>
          <p:nvPr/>
        </p:nvSpPr>
        <p:spPr>
          <a:xfrm>
            <a:off x="457200" y="1399032"/>
            <a:ext cx="1783080" cy="228600"/>
          </a:xfrm>
          <a:prstGeom prst="rect">
            <a:avLst/>
          </a:prstGeom>
          <a:noFill/>
          <a:ln/>
        </p:spPr>
        <p:txBody>
          <a:bodyPr wrap="square" lIns="0" tIns="0" rIns="0" bIns="0" rtlCol="0" anchor="t"/>
          <a:lstStyle/>
          <a:p>
            <a:pPr indent="0" marL="0">
              <a:buNone/>
            </a:pPr>
            <a:r>
              <a:rPr lang="en-US" sz="1000" b="1" dirty="0">
                <a:solidFill>
                  <a:schemeClr val="tx1"/>
                </a:solidFill>
              </a:rPr>
              <a:t>ロースカツカレー</a:t>
            </a:r>
            <a:endParaRPr lang="en-US" sz="1000" dirty="0"/>
          </a:p>
        </p:txBody>
      </p:sp>
      <p:sp>
        <p:nvSpPr>
          <p:cNvPr id="16" name="Text 13"/>
          <p:cNvSpPr txBox="1"/>
          <p:nvPr/>
        </p:nvSpPr>
        <p:spPr>
          <a:xfrm>
            <a:off x="457200" y="1618488"/>
            <a:ext cx="1874520" cy="201168"/>
          </a:xfrm>
          <a:prstGeom prst="rect">
            <a:avLst/>
          </a:prstGeom>
          <a:noFill/>
          <a:ln/>
        </p:spPr>
        <p:txBody>
          <a:bodyPr wrap="square" lIns="0" tIns="0" rIns="0" bIns="0" rtlCol="0" anchor="t"/>
          <a:lstStyle/>
          <a:p>
            <a:pPr indent="0" marL="0">
              <a:buNone/>
            </a:pPr>
            <a:r>
              <a:rPr lang="en-US" sz="750" dirty="0">
                <a:solidFill>
                  <a:schemeClr val="accent4"/>
                </a:solidFill>
              </a:rPr>
              <a:t>神田のカツカレー 780〜1,940円</a:t>
            </a:r>
            <a:endParaRPr lang="en-US" sz="750" dirty="0"/>
          </a:p>
        </p:txBody>
      </p:sp>
      <p:sp>
        <p:nvSpPr>
          <p:cNvPr id="17" name="range-town"/>
          <p:cNvSpPr/>
          <p:nvPr/>
        </p:nvSpPr>
        <p:spPr>
          <a:xfrm>
            <a:off x="4587545" y="1435608"/>
            <a:ext cx="3414370" cy="146304"/>
          </a:xfrm>
          <a:prstGeom prst="roundRect">
            <a:avLst>
              <a:gd name="adj" fmla="val 50000"/>
            </a:avLst>
          </a:prstGeom>
          <a:solidFill>
            <a:srgbClr val="B8C2C0"/>
          </a:solidFill>
          <a:ln/>
        </p:spPr>
      </p:sp>
      <p:sp>
        <p:nvSpPr>
          <p:cNvPr id="18" name="ours"/>
          <p:cNvSpPr/>
          <p:nvPr/>
        </p:nvSpPr>
        <p:spPr>
          <a:xfrm>
            <a:off x="6879671" y="1490472"/>
            <a:ext cx="201168" cy="201168"/>
          </a:xfrm>
          <a:prstGeom prst="ellipse">
            <a:avLst/>
          </a:prstGeom>
          <a:solidFill>
            <a:srgbClr val="C8773B"/>
          </a:solidFill>
          <a:ln w="19050">
            <a:solidFill>
              <a:srgbClr val="FFFFFF"/>
            </a:solidFill>
            <a:prstDash val="solid"/>
          </a:ln>
        </p:spPr>
      </p:sp>
      <p:sp>
        <p:nvSpPr>
          <p:cNvPr id="19" name="Text 16"/>
          <p:cNvSpPr txBox="1"/>
          <p:nvPr/>
        </p:nvSpPr>
        <p:spPr>
          <a:xfrm>
            <a:off x="7108271" y="1463040"/>
            <a:ext cx="731520" cy="228600"/>
          </a:xfrm>
          <a:prstGeom prst="rect">
            <a:avLst/>
          </a:prstGeom>
          <a:noFill/>
          <a:ln/>
        </p:spPr>
        <p:txBody>
          <a:bodyPr wrap="square" lIns="0" tIns="0" rIns="0" bIns="0" rtlCol="0" anchor="t"/>
          <a:lstStyle/>
          <a:p>
            <a:pPr indent="0" marL="0">
              <a:buNone/>
            </a:pPr>
            <a:r>
              <a:rPr lang="en-US" sz="900" b="1" dirty="0">
                <a:solidFill>
                  <a:schemeClr val="accent1"/>
                </a:solidFill>
              </a:rPr>
              <a:t>1,598円</a:t>
            </a:r>
            <a:endParaRPr lang="en-US" sz="900" dirty="0"/>
          </a:p>
        </p:txBody>
      </p:sp>
      <p:sp>
        <p:nvSpPr>
          <p:cNvPr id="20" name="Text 17"/>
          <p:cNvSpPr txBox="1"/>
          <p:nvPr/>
        </p:nvSpPr>
        <p:spPr>
          <a:xfrm>
            <a:off x="457200" y="1947672"/>
            <a:ext cx="1783080" cy="228600"/>
          </a:xfrm>
          <a:prstGeom prst="rect">
            <a:avLst/>
          </a:prstGeom>
          <a:noFill/>
          <a:ln/>
        </p:spPr>
        <p:txBody>
          <a:bodyPr wrap="square" lIns="0" tIns="0" rIns="0" bIns="0" rtlCol="0" anchor="t"/>
          <a:lstStyle/>
          <a:p>
            <a:pPr indent="0" marL="0">
              <a:buNone/>
            </a:pPr>
            <a:r>
              <a:rPr lang="en-US" sz="1000" b="1" dirty="0">
                <a:solidFill>
                  <a:schemeClr val="tx1"/>
                </a:solidFill>
              </a:rPr>
              <a:t>カレー（一般）</a:t>
            </a:r>
            <a:endParaRPr lang="en-US" sz="1000" dirty="0"/>
          </a:p>
        </p:txBody>
      </p:sp>
      <p:sp>
        <p:nvSpPr>
          <p:cNvPr id="21" name="Text 18"/>
          <p:cNvSpPr txBox="1"/>
          <p:nvPr/>
        </p:nvSpPr>
        <p:spPr>
          <a:xfrm>
            <a:off x="457200" y="2167128"/>
            <a:ext cx="1874520" cy="201168"/>
          </a:xfrm>
          <a:prstGeom prst="rect">
            <a:avLst/>
          </a:prstGeom>
          <a:noFill/>
          <a:ln/>
        </p:spPr>
        <p:txBody>
          <a:bodyPr wrap="square" lIns="0" tIns="0" rIns="0" bIns="0" rtlCol="0" anchor="t"/>
          <a:lstStyle/>
          <a:p>
            <a:pPr indent="0" marL="0">
              <a:buNone/>
            </a:pPr>
            <a:r>
              <a:rPr lang="en-US" sz="750" dirty="0">
                <a:solidFill>
                  <a:schemeClr val="accent4"/>
                </a:solidFill>
              </a:rPr>
              <a:t>温浴施設 1,100〜1,290円</a:t>
            </a:r>
            <a:endParaRPr lang="en-US" sz="750" dirty="0"/>
          </a:p>
        </p:txBody>
      </p:sp>
      <p:sp>
        <p:nvSpPr>
          <p:cNvPr id="22" name="range-spa"/>
          <p:cNvSpPr/>
          <p:nvPr/>
        </p:nvSpPr>
        <p:spPr>
          <a:xfrm>
            <a:off x="5509260" y="2148840"/>
            <a:ext cx="620420" cy="146304"/>
          </a:xfrm>
          <a:prstGeom prst="roundRect">
            <a:avLst>
              <a:gd name="adj" fmla="val 50000"/>
            </a:avLst>
          </a:prstGeom>
          <a:solidFill>
            <a:srgbClr val="0F3D3E"/>
          </a:solidFill>
          <a:ln/>
        </p:spPr>
      </p:sp>
      <p:sp>
        <p:nvSpPr>
          <p:cNvPr id="23" name="ours"/>
          <p:cNvSpPr/>
          <p:nvPr/>
        </p:nvSpPr>
        <p:spPr>
          <a:xfrm>
            <a:off x="5785134" y="2039112"/>
            <a:ext cx="201168" cy="201168"/>
          </a:xfrm>
          <a:prstGeom prst="ellipse">
            <a:avLst/>
          </a:prstGeom>
          <a:solidFill>
            <a:srgbClr val="C8773B"/>
          </a:solidFill>
          <a:ln w="19050">
            <a:solidFill>
              <a:srgbClr val="FFFFFF"/>
            </a:solidFill>
            <a:prstDash val="solid"/>
          </a:ln>
        </p:spPr>
      </p:sp>
      <p:sp>
        <p:nvSpPr>
          <p:cNvPr id="24" name="Text 21"/>
          <p:cNvSpPr txBox="1"/>
          <p:nvPr/>
        </p:nvSpPr>
        <p:spPr>
          <a:xfrm>
            <a:off x="6013734" y="2011680"/>
            <a:ext cx="731520" cy="228600"/>
          </a:xfrm>
          <a:prstGeom prst="rect">
            <a:avLst/>
          </a:prstGeom>
          <a:noFill/>
          <a:ln/>
        </p:spPr>
        <p:txBody>
          <a:bodyPr wrap="square" lIns="0" tIns="0" rIns="0" bIns="0" rtlCol="0" anchor="t"/>
          <a:lstStyle/>
          <a:p>
            <a:pPr indent="0" marL="0">
              <a:buNone/>
            </a:pPr>
            <a:r>
              <a:rPr lang="en-US" sz="900" b="1" dirty="0">
                <a:solidFill>
                  <a:schemeClr val="accent1"/>
                </a:solidFill>
              </a:rPr>
              <a:t>1,218円</a:t>
            </a:r>
            <a:endParaRPr lang="en-US" sz="900" dirty="0"/>
          </a:p>
        </p:txBody>
      </p:sp>
      <p:sp>
        <p:nvSpPr>
          <p:cNvPr id="25" name="Text 22"/>
          <p:cNvSpPr txBox="1"/>
          <p:nvPr/>
        </p:nvSpPr>
        <p:spPr>
          <a:xfrm>
            <a:off x="457200" y="2496312"/>
            <a:ext cx="1783080" cy="228600"/>
          </a:xfrm>
          <a:prstGeom prst="rect">
            <a:avLst/>
          </a:prstGeom>
          <a:noFill/>
          <a:ln/>
        </p:spPr>
        <p:txBody>
          <a:bodyPr wrap="square" lIns="0" tIns="0" rIns="0" bIns="0" rtlCol="0" anchor="t"/>
          <a:lstStyle/>
          <a:p>
            <a:pPr indent="0" marL="0">
              <a:buNone/>
            </a:pPr>
            <a:r>
              <a:rPr lang="en-US" sz="1000" b="1" dirty="0">
                <a:solidFill>
                  <a:schemeClr val="tx1"/>
                </a:solidFill>
              </a:rPr>
              <a:t>うどん</a:t>
            </a:r>
            <a:endParaRPr lang="en-US" sz="1000" dirty="0"/>
          </a:p>
        </p:txBody>
      </p:sp>
      <p:sp>
        <p:nvSpPr>
          <p:cNvPr id="26" name="Text 23"/>
          <p:cNvSpPr txBox="1"/>
          <p:nvPr/>
        </p:nvSpPr>
        <p:spPr>
          <a:xfrm>
            <a:off x="457200" y="2715768"/>
            <a:ext cx="1874520" cy="201168"/>
          </a:xfrm>
          <a:prstGeom prst="rect">
            <a:avLst/>
          </a:prstGeom>
          <a:noFill/>
          <a:ln/>
        </p:spPr>
        <p:txBody>
          <a:bodyPr wrap="square" lIns="0" tIns="0" rIns="0" bIns="0" rtlCol="0" anchor="t"/>
          <a:lstStyle/>
          <a:p>
            <a:pPr indent="0" marL="0">
              <a:buNone/>
            </a:pPr>
            <a:r>
              <a:rPr lang="en-US" sz="750" dirty="0">
                <a:solidFill>
                  <a:schemeClr val="accent4"/>
                </a:solidFill>
              </a:rPr>
              <a:t>チェーン550円／ラクーア1,100円</a:t>
            </a:r>
            <a:endParaRPr lang="en-US" sz="750" dirty="0"/>
          </a:p>
        </p:txBody>
      </p:sp>
      <p:sp>
        <p:nvSpPr>
          <p:cNvPr id="27" name="range-town"/>
          <p:cNvSpPr/>
          <p:nvPr/>
        </p:nvSpPr>
        <p:spPr>
          <a:xfrm>
            <a:off x="3925062" y="2532888"/>
            <a:ext cx="73152" cy="146304"/>
          </a:xfrm>
          <a:prstGeom prst="roundRect">
            <a:avLst>
              <a:gd name="adj" fmla="val 100000"/>
            </a:avLst>
          </a:prstGeom>
          <a:solidFill>
            <a:srgbClr val="B8C2C0"/>
          </a:solidFill>
          <a:ln/>
        </p:spPr>
      </p:sp>
      <p:sp>
        <p:nvSpPr>
          <p:cNvPr id="28" name="range-spa"/>
          <p:cNvSpPr/>
          <p:nvPr/>
        </p:nvSpPr>
        <p:spPr>
          <a:xfrm>
            <a:off x="5509260" y="2697480"/>
            <a:ext cx="73152" cy="146304"/>
          </a:xfrm>
          <a:prstGeom prst="roundRect">
            <a:avLst>
              <a:gd name="adj" fmla="val 100000"/>
            </a:avLst>
          </a:prstGeom>
          <a:solidFill>
            <a:srgbClr val="0F3D3E"/>
          </a:solidFill>
          <a:ln/>
        </p:spPr>
      </p:sp>
      <p:sp>
        <p:nvSpPr>
          <p:cNvPr id="29" name="ours"/>
          <p:cNvSpPr/>
          <p:nvPr/>
        </p:nvSpPr>
        <p:spPr>
          <a:xfrm>
            <a:off x="5525902" y="2587752"/>
            <a:ext cx="201168" cy="201168"/>
          </a:xfrm>
          <a:prstGeom prst="ellipse">
            <a:avLst/>
          </a:prstGeom>
          <a:solidFill>
            <a:srgbClr val="C8773B"/>
          </a:solidFill>
          <a:ln w="19050">
            <a:solidFill>
              <a:srgbClr val="FFFFFF"/>
            </a:solidFill>
            <a:prstDash val="solid"/>
          </a:ln>
        </p:spPr>
      </p:sp>
      <p:sp>
        <p:nvSpPr>
          <p:cNvPr id="30" name="Text 27"/>
          <p:cNvSpPr txBox="1"/>
          <p:nvPr/>
        </p:nvSpPr>
        <p:spPr>
          <a:xfrm>
            <a:off x="5754502" y="2560320"/>
            <a:ext cx="731520" cy="228600"/>
          </a:xfrm>
          <a:prstGeom prst="rect">
            <a:avLst/>
          </a:prstGeom>
          <a:noFill/>
          <a:ln/>
        </p:spPr>
        <p:txBody>
          <a:bodyPr wrap="square" lIns="0" tIns="0" rIns="0" bIns="0" rtlCol="0" anchor="t"/>
          <a:lstStyle/>
          <a:p>
            <a:pPr indent="0" marL="0">
              <a:buNone/>
            </a:pPr>
            <a:r>
              <a:rPr lang="en-US" sz="900" b="1" dirty="0">
                <a:solidFill>
                  <a:schemeClr val="accent1"/>
                </a:solidFill>
              </a:rPr>
              <a:t>1,128円</a:t>
            </a:r>
            <a:endParaRPr lang="en-US" sz="900" dirty="0"/>
          </a:p>
        </p:txBody>
      </p:sp>
      <p:sp>
        <p:nvSpPr>
          <p:cNvPr id="31" name="Text 28"/>
          <p:cNvSpPr txBox="1"/>
          <p:nvPr/>
        </p:nvSpPr>
        <p:spPr>
          <a:xfrm>
            <a:off x="457200" y="3044952"/>
            <a:ext cx="1783080" cy="228600"/>
          </a:xfrm>
          <a:prstGeom prst="rect">
            <a:avLst/>
          </a:prstGeom>
          <a:noFill/>
          <a:ln/>
        </p:spPr>
        <p:txBody>
          <a:bodyPr wrap="square" lIns="0" tIns="0" rIns="0" bIns="0" rtlCol="0" anchor="t"/>
          <a:lstStyle/>
          <a:p>
            <a:pPr indent="0" marL="0">
              <a:buNone/>
            </a:pPr>
            <a:r>
              <a:rPr lang="en-US" sz="1000" b="1" dirty="0">
                <a:solidFill>
                  <a:schemeClr val="tx1"/>
                </a:solidFill>
              </a:rPr>
              <a:t>生ビール</a:t>
            </a:r>
            <a:endParaRPr lang="en-US" sz="1000" dirty="0"/>
          </a:p>
        </p:txBody>
      </p:sp>
      <p:sp>
        <p:nvSpPr>
          <p:cNvPr id="32" name="Text 29"/>
          <p:cNvSpPr txBox="1"/>
          <p:nvPr/>
        </p:nvSpPr>
        <p:spPr>
          <a:xfrm>
            <a:off x="457200" y="3264408"/>
            <a:ext cx="1874520" cy="201168"/>
          </a:xfrm>
          <a:prstGeom prst="rect">
            <a:avLst/>
          </a:prstGeom>
          <a:noFill/>
          <a:ln/>
        </p:spPr>
        <p:txBody>
          <a:bodyPr wrap="square" lIns="0" tIns="0" rIns="0" bIns="0" rtlCol="0" anchor="t"/>
          <a:lstStyle/>
          <a:p>
            <a:pPr indent="0" marL="0">
              <a:buNone/>
            </a:pPr>
            <a:r>
              <a:rPr lang="en-US" sz="750" dirty="0">
                <a:solidFill>
                  <a:schemeClr val="accent4"/>
                </a:solidFill>
              </a:rPr>
              <a:t>神田 390〜499円／温浴 500〜850円</a:t>
            </a:r>
            <a:endParaRPr lang="en-US" sz="750" dirty="0"/>
          </a:p>
        </p:txBody>
      </p:sp>
      <p:sp>
        <p:nvSpPr>
          <p:cNvPr id="33" name="range-town"/>
          <p:cNvSpPr/>
          <p:nvPr/>
        </p:nvSpPr>
        <p:spPr>
          <a:xfrm>
            <a:off x="3464204" y="3081528"/>
            <a:ext cx="387111" cy="146304"/>
          </a:xfrm>
          <a:prstGeom prst="roundRect">
            <a:avLst>
              <a:gd name="adj" fmla="val 50000"/>
            </a:avLst>
          </a:prstGeom>
          <a:solidFill>
            <a:srgbClr val="B8C2C0"/>
          </a:solidFill>
          <a:ln/>
        </p:spPr>
      </p:sp>
      <p:sp>
        <p:nvSpPr>
          <p:cNvPr id="34" name="range-spa"/>
          <p:cNvSpPr/>
          <p:nvPr/>
        </p:nvSpPr>
        <p:spPr>
          <a:xfrm>
            <a:off x="3781044" y="3246120"/>
            <a:ext cx="1081278" cy="146304"/>
          </a:xfrm>
          <a:prstGeom prst="roundRect">
            <a:avLst>
              <a:gd name="adj" fmla="val 50000"/>
            </a:avLst>
          </a:prstGeom>
          <a:solidFill>
            <a:srgbClr val="0F3D3E"/>
          </a:solidFill>
          <a:ln/>
        </p:spPr>
      </p:sp>
      <p:sp>
        <p:nvSpPr>
          <p:cNvPr id="35" name="ours"/>
          <p:cNvSpPr/>
          <p:nvPr/>
        </p:nvSpPr>
        <p:spPr>
          <a:xfrm>
            <a:off x="4739564" y="3136392"/>
            <a:ext cx="201168" cy="201168"/>
          </a:xfrm>
          <a:prstGeom prst="ellipse">
            <a:avLst/>
          </a:prstGeom>
          <a:solidFill>
            <a:srgbClr val="C8773B"/>
          </a:solidFill>
          <a:ln w="19050">
            <a:solidFill>
              <a:srgbClr val="FFFFFF"/>
            </a:solidFill>
            <a:prstDash val="solid"/>
          </a:ln>
        </p:spPr>
      </p:sp>
      <p:sp>
        <p:nvSpPr>
          <p:cNvPr id="36" name="Text 33"/>
          <p:cNvSpPr txBox="1"/>
          <p:nvPr/>
        </p:nvSpPr>
        <p:spPr>
          <a:xfrm>
            <a:off x="4968164" y="3108960"/>
            <a:ext cx="731520" cy="228600"/>
          </a:xfrm>
          <a:prstGeom prst="rect">
            <a:avLst/>
          </a:prstGeom>
          <a:noFill/>
          <a:ln/>
        </p:spPr>
        <p:txBody>
          <a:bodyPr wrap="square" lIns="0" tIns="0" rIns="0" bIns="0" rtlCol="0" anchor="t"/>
          <a:lstStyle/>
          <a:p>
            <a:pPr indent="0" marL="0">
              <a:buNone/>
            </a:pPr>
            <a:r>
              <a:rPr lang="en-US" sz="900" b="1" dirty="0">
                <a:solidFill>
                  <a:schemeClr val="accent1"/>
                </a:solidFill>
              </a:rPr>
              <a:t>855円</a:t>
            </a:r>
            <a:endParaRPr lang="en-US" sz="900" dirty="0"/>
          </a:p>
        </p:txBody>
      </p:sp>
      <p:sp>
        <p:nvSpPr>
          <p:cNvPr id="37" name="Text 34"/>
          <p:cNvSpPr txBox="1"/>
          <p:nvPr/>
        </p:nvSpPr>
        <p:spPr>
          <a:xfrm>
            <a:off x="457200" y="3593592"/>
            <a:ext cx="1783080" cy="228600"/>
          </a:xfrm>
          <a:prstGeom prst="rect">
            <a:avLst/>
          </a:prstGeom>
          <a:noFill/>
          <a:ln/>
        </p:spPr>
        <p:txBody>
          <a:bodyPr wrap="square" lIns="0" tIns="0" rIns="0" bIns="0" rtlCol="0" anchor="t"/>
          <a:lstStyle/>
          <a:p>
            <a:pPr indent="0" marL="0">
              <a:buNone/>
            </a:pPr>
            <a:r>
              <a:rPr lang="en-US" sz="1000" b="1" dirty="0">
                <a:solidFill>
                  <a:schemeClr val="tx1"/>
                </a:solidFill>
              </a:rPr>
              <a:t>揚げ物</a:t>
            </a:r>
            <a:endParaRPr lang="en-US" sz="1000" dirty="0"/>
          </a:p>
        </p:txBody>
      </p:sp>
      <p:sp>
        <p:nvSpPr>
          <p:cNvPr id="38" name="Text 35"/>
          <p:cNvSpPr txBox="1"/>
          <p:nvPr/>
        </p:nvSpPr>
        <p:spPr>
          <a:xfrm>
            <a:off x="457200" y="3813048"/>
            <a:ext cx="1874520" cy="201168"/>
          </a:xfrm>
          <a:prstGeom prst="rect">
            <a:avLst/>
          </a:prstGeom>
          <a:noFill/>
          <a:ln/>
        </p:spPr>
        <p:txBody>
          <a:bodyPr wrap="square" lIns="0" tIns="0" rIns="0" bIns="0" rtlCol="0" anchor="t"/>
          <a:lstStyle/>
          <a:p>
            <a:pPr indent="0" marL="0">
              <a:buNone/>
            </a:pPr>
            <a:r>
              <a:rPr lang="en-US" sz="750" dirty="0">
                <a:solidFill>
                  <a:schemeClr val="accent4"/>
                </a:solidFill>
              </a:rPr>
              <a:t>温浴施設 550〜650円</a:t>
            </a:r>
            <a:endParaRPr lang="en-US" sz="750" dirty="0"/>
          </a:p>
        </p:txBody>
      </p:sp>
      <p:sp>
        <p:nvSpPr>
          <p:cNvPr id="39" name="range-spa"/>
          <p:cNvSpPr/>
          <p:nvPr/>
        </p:nvSpPr>
        <p:spPr>
          <a:xfrm>
            <a:off x="3925062" y="3794760"/>
            <a:ext cx="361188" cy="146304"/>
          </a:xfrm>
          <a:prstGeom prst="roundRect">
            <a:avLst>
              <a:gd name="adj" fmla="val 50000"/>
            </a:avLst>
          </a:prstGeom>
          <a:solidFill>
            <a:srgbClr val="0F3D3E"/>
          </a:solidFill>
          <a:ln/>
        </p:spPr>
      </p:sp>
      <p:sp>
        <p:nvSpPr>
          <p:cNvPr id="40" name="ours"/>
          <p:cNvSpPr/>
          <p:nvPr/>
        </p:nvSpPr>
        <p:spPr>
          <a:xfrm>
            <a:off x="4200936" y="3685032"/>
            <a:ext cx="201168" cy="201168"/>
          </a:xfrm>
          <a:prstGeom prst="ellipse">
            <a:avLst/>
          </a:prstGeom>
          <a:solidFill>
            <a:srgbClr val="C8773B"/>
          </a:solidFill>
          <a:ln w="19050">
            <a:solidFill>
              <a:srgbClr val="FFFFFF"/>
            </a:solidFill>
            <a:prstDash val="solid"/>
          </a:ln>
        </p:spPr>
      </p:sp>
      <p:sp>
        <p:nvSpPr>
          <p:cNvPr id="41" name="Text 38"/>
          <p:cNvSpPr txBox="1"/>
          <p:nvPr/>
        </p:nvSpPr>
        <p:spPr>
          <a:xfrm>
            <a:off x="4429536" y="3657600"/>
            <a:ext cx="731520" cy="228600"/>
          </a:xfrm>
          <a:prstGeom prst="rect">
            <a:avLst/>
          </a:prstGeom>
          <a:noFill/>
          <a:ln/>
        </p:spPr>
        <p:txBody>
          <a:bodyPr wrap="square" lIns="0" tIns="0" rIns="0" bIns="0" rtlCol="0" anchor="t"/>
          <a:lstStyle/>
          <a:p>
            <a:pPr indent="0" marL="0">
              <a:buNone/>
            </a:pPr>
            <a:r>
              <a:rPr lang="en-US" sz="900" b="1" dirty="0">
                <a:solidFill>
                  <a:schemeClr val="accent1"/>
                </a:solidFill>
              </a:rPr>
              <a:t>668円</a:t>
            </a:r>
            <a:endParaRPr lang="en-US" sz="900" dirty="0"/>
          </a:p>
        </p:txBody>
      </p:sp>
      <p:sp>
        <p:nvSpPr>
          <p:cNvPr id="42" name="legend"/>
          <p:cNvSpPr/>
          <p:nvPr/>
        </p:nvSpPr>
        <p:spPr>
          <a:xfrm>
            <a:off x="3657600" y="1115568"/>
            <a:ext cx="320040" cy="128016"/>
          </a:xfrm>
          <a:prstGeom prst="roundRect">
            <a:avLst>
              <a:gd name="adj" fmla="val 50000"/>
            </a:avLst>
          </a:prstGeom>
          <a:solidFill>
            <a:srgbClr val="B8C2C0"/>
          </a:solidFill>
          <a:ln/>
        </p:spPr>
      </p:sp>
      <p:sp>
        <p:nvSpPr>
          <p:cNvPr id="43" name="Text 40"/>
          <p:cNvSpPr txBox="1"/>
          <p:nvPr/>
        </p:nvSpPr>
        <p:spPr>
          <a:xfrm>
            <a:off x="4069080" y="1078992"/>
            <a:ext cx="1463040" cy="182880"/>
          </a:xfrm>
          <a:prstGeom prst="rect">
            <a:avLst/>
          </a:prstGeom>
          <a:noFill/>
          <a:ln/>
        </p:spPr>
        <p:txBody>
          <a:bodyPr wrap="square" lIns="0" tIns="0" rIns="0" bIns="0" rtlCol="0" anchor="t"/>
          <a:lstStyle/>
          <a:p>
            <a:pPr indent="0" marL="0">
              <a:buNone/>
            </a:pPr>
            <a:r>
              <a:rPr lang="en-US" sz="850" dirty="0">
                <a:solidFill>
                  <a:schemeClr val="accent4"/>
                </a:solidFill>
              </a:rPr>
              <a:t>神田周辺・チェーン</a:t>
            </a:r>
            <a:endParaRPr lang="en-US" sz="850" dirty="0"/>
          </a:p>
        </p:txBody>
      </p:sp>
      <p:sp>
        <p:nvSpPr>
          <p:cNvPr id="44" name="legend"/>
          <p:cNvSpPr/>
          <p:nvPr/>
        </p:nvSpPr>
        <p:spPr>
          <a:xfrm>
            <a:off x="5349240" y="1115568"/>
            <a:ext cx="320040" cy="128016"/>
          </a:xfrm>
          <a:prstGeom prst="roundRect">
            <a:avLst>
              <a:gd name="adj" fmla="val 50000"/>
            </a:avLst>
          </a:prstGeom>
          <a:solidFill>
            <a:srgbClr val="0F3D3E"/>
          </a:solidFill>
          <a:ln/>
        </p:spPr>
      </p:sp>
      <p:sp>
        <p:nvSpPr>
          <p:cNvPr id="45" name="Text 42"/>
          <p:cNvSpPr txBox="1"/>
          <p:nvPr/>
        </p:nvSpPr>
        <p:spPr>
          <a:xfrm>
            <a:off x="5760720" y="1078992"/>
            <a:ext cx="1463040" cy="182880"/>
          </a:xfrm>
          <a:prstGeom prst="rect">
            <a:avLst/>
          </a:prstGeom>
          <a:noFill/>
          <a:ln/>
        </p:spPr>
        <p:txBody>
          <a:bodyPr wrap="square" lIns="0" tIns="0" rIns="0" bIns="0" rtlCol="0" anchor="t"/>
          <a:lstStyle/>
          <a:p>
            <a:pPr indent="0" marL="0">
              <a:buNone/>
            </a:pPr>
            <a:r>
              <a:rPr lang="en-US" sz="850" dirty="0">
                <a:solidFill>
                  <a:schemeClr val="accent4"/>
                </a:solidFill>
              </a:rPr>
              <a:t>都内温浴施設</a:t>
            </a:r>
            <a:endParaRPr lang="en-US" sz="850" dirty="0"/>
          </a:p>
        </p:txBody>
      </p:sp>
      <p:sp>
        <p:nvSpPr>
          <p:cNvPr id="46" name="legend"/>
          <p:cNvSpPr/>
          <p:nvPr/>
        </p:nvSpPr>
        <p:spPr>
          <a:xfrm>
            <a:off x="7040880" y="1115568"/>
            <a:ext cx="146304" cy="128016"/>
          </a:xfrm>
          <a:prstGeom prst="ellipse">
            <a:avLst>
              <a:gd name="adj" fmla="val 50000"/>
            </a:avLst>
          </a:prstGeom>
          <a:solidFill>
            <a:srgbClr val="C8773B"/>
          </a:solidFill>
          <a:ln/>
        </p:spPr>
      </p:sp>
      <p:sp>
        <p:nvSpPr>
          <p:cNvPr id="47" name="Text 44"/>
          <p:cNvSpPr txBox="1"/>
          <p:nvPr/>
        </p:nvSpPr>
        <p:spPr>
          <a:xfrm>
            <a:off x="7269480" y="1078992"/>
            <a:ext cx="1463040" cy="182880"/>
          </a:xfrm>
          <a:prstGeom prst="rect">
            <a:avLst/>
          </a:prstGeom>
          <a:noFill/>
          <a:ln/>
        </p:spPr>
        <p:txBody>
          <a:bodyPr wrap="square" lIns="0" tIns="0" rIns="0" bIns="0" rtlCol="0" anchor="t"/>
          <a:lstStyle/>
          <a:p>
            <a:pPr indent="0" marL="0">
              <a:buNone/>
            </a:pPr>
            <a:r>
              <a:rPr lang="en-US" sz="850" dirty="0">
                <a:solidFill>
                  <a:schemeClr val="accent4"/>
                </a:solidFill>
              </a:rPr>
              <a:t>当店（改定後）</a:t>
            </a:r>
            <a:endParaRPr lang="en-US" sz="850" dirty="0"/>
          </a:p>
        </p:txBody>
      </p:sp>
      <p:sp>
        <p:nvSpPr>
          <p:cNvPr id="48"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出典：食べログ・kanda-curry.com・各施設紹介記事ほか（2026年10月 Web調査・税込）。詳細は根拠データ「競合価格」</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07　価格改定案の全体像</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GM141品を改定。コラボ抜き売上に対して実効+3.7%</a:t>
            </a:r>
            <a:endParaRPr lang="en-US" sz="2100" dirty="0"/>
          </a:p>
        </p:txBody>
      </p:sp>
      <p:graphicFrame>
        <p:nvGraphicFramePr>
          <p:cNvPr id="10" name="table-plan"/>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80160"/>
                <a:gridCol w="3566160"/>
                <a:gridCol w="1280160"/>
                <a:gridCol w="1051560"/>
                <a:gridCol w="1051560"/>
              </a:tblGrid>
              <a:tr h="384048">
                <a:tc>
                  <a:txBody>
                    <a:bodyPr/>
                    <a:lstStyle/>
                    <a:p>
                      <a:pPr algn="l" indent="0" marL="0">
                        <a:buNone/>
                      </a:pPr>
                      <a:r>
                        <a:rPr lang="en-US" sz="1000" b="1" dirty="0">
                          <a:solidFill>
                            <a:srgbClr val="FFFFFF"/>
                          </a:solidFill>
                        </a:rPr>
                        <a:t>分類</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l" indent="0" marL="0">
                        <a:buNone/>
                      </a:pPr>
                      <a:r>
                        <a:rPr lang="en-US" sz="1000" b="1" dirty="0">
                          <a:solidFill>
                            <a:srgbClr val="FFFFFF"/>
                          </a:solidFill>
                        </a:rPr>
                        <a:t>主な改定（税込）</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1000" b="1" dirty="0">
                          <a:solidFill>
                            <a:srgbClr val="FFFFFF"/>
                          </a:solidFill>
                        </a:rPr>
                        <a:t>1品平均の値上げ率</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1000" b="1" dirty="0">
                          <a:solidFill>
                            <a:srgbClr val="FFFFFF"/>
                          </a:solidFill>
                        </a:rPr>
                        <a:t>年間売上増</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1000" b="1" dirty="0">
                          <a:solidFill>
                            <a:srgbClr val="FFFFFF"/>
                          </a:solidFill>
                        </a:rPr>
                        <a:t>年間粗利増</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r>
              <a:tr h="384048">
                <a:tc>
                  <a:txBody>
                    <a:bodyPr/>
                    <a:lstStyle/>
                    <a:p>
                      <a:pPr algn="l" indent="0" marL="0">
                        <a:buNone/>
                      </a:pPr>
                      <a:r>
                        <a:rPr lang="en-US" sz="1000" dirty="0">
                          <a:solidFill>
                            <a:srgbClr val="1B2324"/>
                          </a:solidFill>
                        </a:rPr>
                        <a:t>ご飯類</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324"/>
                          </a:solidFill>
                        </a:rPr>
                        <a:t>カレー+30円・ボウル+50円・サウナカリー+50円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+4.8%</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+54万円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+62万円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B2324"/>
                          </a:solidFill>
                        </a:rPr>
                        <a:t>一品料理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1000" dirty="0">
                          <a:solidFill>
                            <a:srgbClr val="1B2324"/>
                          </a:solidFill>
                        </a:rPr>
                        <a:t>おつまみ+10円・サラダ+20円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+4.6%</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+27万円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+31万円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84048">
                <a:tc>
                  <a:txBody>
                    <a:bodyPr/>
                    <a:lstStyle/>
                    <a:p>
                      <a:pPr algn="l" indent="0" marL="0">
                        <a:buNone/>
                      </a:pPr>
                      <a:r>
                        <a:rPr lang="en-US" sz="1000" dirty="0">
                          <a:solidFill>
                            <a:srgbClr val="1B2324"/>
                          </a:solidFill>
                        </a:rPr>
                        <a:t>ソフトドリンク</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324"/>
                          </a:solidFill>
                        </a:rPr>
                        <a:t>+10円・リポスパ+20円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+5.6%</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+23万円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+25万円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B2324"/>
                          </a:solidFill>
                        </a:rPr>
                        <a:t>麺類</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1000" dirty="0">
                          <a:solidFill>
                            <a:srgbClr val="1B2324"/>
                          </a:solidFill>
                        </a:rPr>
                        <a:t>うどん・パスタ+50円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+4.1%</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+21万円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+23万円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84048">
                <a:tc>
                  <a:txBody>
                    <a:bodyPr/>
                    <a:lstStyle/>
                    <a:p>
                      <a:pPr algn="l" indent="0" marL="0">
                        <a:buNone/>
                      </a:pPr>
                      <a:r>
                        <a:rPr lang="en-US" sz="1000" dirty="0">
                          <a:solidFill>
                            <a:srgbClr val="1B2324"/>
                          </a:solidFill>
                        </a:rPr>
                        <a:t>アルコール</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324"/>
                          </a:solidFill>
                        </a:rPr>
                        <a:t>サワー+30円・ハイボール+20円（ビール据置）</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+2.4%</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+13万円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2324"/>
                          </a:solidFill>
                        </a:rPr>
                        <a:t>+15万円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B2324"/>
                          </a:solidFill>
                        </a:rPr>
                        <a:t>デザート</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1000" dirty="0">
                          <a:solidFill>
                            <a:srgbClr val="1B2324"/>
                          </a:solidFill>
                        </a:rPr>
                        <a:t>パフェ+20円・トルティーヤ+20円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+5.3%</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+9万円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1000" dirty="0">
                          <a:solidFill>
                            <a:srgbClr val="1B2324"/>
                          </a:solidFill>
                        </a:rPr>
                        <a:t>+10万円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84048">
                <a:tc>
                  <a:txBody>
                    <a:bodyPr/>
                    <a:lstStyle/>
                    <a:p>
                      <a:pPr algn="l" indent="0" marL="0">
                        <a:buNone/>
                      </a:pPr>
                      <a:r>
                        <a:rPr lang="en-US" sz="1000" b="1" dirty="0">
                          <a:solidFill>
                            <a:srgbClr val="1B2324"/>
                          </a:solidFill>
                        </a:rPr>
                        <a:t>合計</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E3EEEC"/>
                    </a:solidFill>
                  </a:tcPr>
                </a:tc>
                <a:tc>
                  <a:txBody>
                    <a:bodyPr/>
                    <a:lstStyle/>
                    <a:p>
                      <a:pPr algn="l" indent="0" marL="0">
                        <a:buNone/>
                      </a:pPr>
                      <a:r>
                        <a:rPr lang="en-US" sz="1000" b="1" dirty="0">
                          <a:solidFill>
                            <a:srgbClr val="C8773B"/>
                          </a:solidFill>
                        </a:rPr>
                        <a:t>GM141品（B案4品を含む）</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E3EEEC"/>
                    </a:solidFill>
                  </a:tcPr>
                </a:tc>
                <a:tc>
                  <a:txBody>
                    <a:bodyPr/>
                    <a:lstStyle/>
                    <a:p>
                      <a:pPr algn="r" indent="0" marL="0">
                        <a:buNone/>
                      </a:pPr>
                      <a:r>
                        <a:rPr lang="en-US" sz="1000" b="1" dirty="0">
                          <a:solidFill>
                            <a:srgbClr val="C8773B"/>
                          </a:solidFill>
                        </a:rPr>
                        <a:t>+3.7%</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E3EEEC"/>
                    </a:solidFill>
                  </a:tcPr>
                </a:tc>
                <a:tc>
                  <a:txBody>
                    <a:bodyPr/>
                    <a:lstStyle/>
                    <a:p>
                      <a:pPr algn="r" indent="0" marL="0">
                        <a:buNone/>
                      </a:pPr>
                      <a:r>
                        <a:rPr lang="en-US" sz="1000" b="1" dirty="0">
                          <a:solidFill>
                            <a:srgbClr val="C8773B"/>
                          </a:solidFill>
                        </a:rPr>
                        <a:t>+146万円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E3EEEC"/>
                    </a:solidFill>
                  </a:tcPr>
                </a:tc>
                <a:tc>
                  <a:txBody>
                    <a:bodyPr/>
                    <a:lstStyle/>
                    <a:p>
                      <a:pPr algn="r" indent="0" marL="0">
                        <a:buNone/>
                      </a:pPr>
                      <a:r>
                        <a:rPr lang="en-US" sz="1000" b="1" dirty="0">
                          <a:solidFill>
                            <a:srgbClr val="C8773B"/>
                          </a:solidFill>
                        </a:rPr>
                        <a:t>+167万円</a:t>
                      </a:r>
                      <a:endParaRPr lang="en-US" sz="100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E3EEEC"/>
                    </a:solidFill>
                  </a:tcPr>
                </a:tc>
              </a:tr>
            </a:tbl>
          </a:graphicData>
        </a:graphic>
      </p:graphicFrame>
      <p:sp>
        <p:nvSpPr>
          <p:cNvPr id="6"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試算：根拠データ「効果サマリー」。4〜6月の出数×改定額に弾力性-0.3を織り込み年間換算。+3.7%はコラボ抜き売上全体に対する率</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08　強化案（B案）　相場と原価で余地のある4品</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4品の上乗せで、年間売上を+55万円上積みします</a:t>
            </a:r>
            <a:endParaRPr lang="en-US" sz="2100" dirty="0"/>
          </a:p>
        </p:txBody>
      </p:sp>
      <p:sp>
        <p:nvSpPr>
          <p:cNvPr id="5" name="bcard"/>
          <p:cNvSpPr/>
          <p:nvPr/>
        </p:nvSpPr>
        <p:spPr>
          <a:xfrm>
            <a:off x="457200" y="1280160"/>
            <a:ext cx="1956816" cy="3154680"/>
          </a:xfrm>
          <a:prstGeom prst="roundRect">
            <a:avLst>
              <a:gd name="adj" fmla="val 4673"/>
            </a:avLst>
          </a:prstGeom>
          <a:solidFill>
            <a:schemeClr val="bg2"/>
          </a:solidFill>
          <a:ln/>
        </p:spPr>
      </p:sp>
      <p:sp>
        <p:nvSpPr>
          <p:cNvPr id="6" name="b-icon"/>
          <p:cNvSpPr/>
          <p:nvPr/>
        </p:nvSpPr>
        <p:spPr>
          <a:xfrm>
            <a:off x="640080" y="1463040"/>
            <a:ext cx="548640" cy="548640"/>
          </a:xfrm>
          <a:prstGeom prst="ellipse">
            <a:avLst/>
          </a:prstGeom>
          <a:solidFill>
            <a:srgbClr val="0F3D3E"/>
          </a:solidFill>
          <a:ln/>
        </p:spPr>
      </p:sp>
      <p:pic>
        <p:nvPicPr>
          <p:cNvPr id="7" name="Image 0" descr="b-icon">    </p:cNvPr>
          <p:cNvPicPr>
            <a:picLocks noChangeAspect="1"/>
          </p:cNvPicPr>
          <p:nvPr/>
        </p:nvPicPr>
        <p:blipFill>
          <a:blip r:embed="rId1"/>
          <a:stretch>
            <a:fillRect/>
          </a:stretch>
        </p:blipFill>
        <p:spPr>
          <a:xfrm>
            <a:off x="777240" y="1600200"/>
            <a:ext cx="274320" cy="274320"/>
          </a:xfrm>
          <a:prstGeom prst="rect">
            <a:avLst/>
          </a:prstGeom>
        </p:spPr>
      </p:pic>
      <p:sp>
        <p:nvSpPr>
          <p:cNvPr id="8" name="Text 4"/>
          <p:cNvSpPr txBox="1"/>
          <p:nvPr/>
        </p:nvSpPr>
        <p:spPr>
          <a:xfrm>
            <a:off x="640080" y="2148840"/>
            <a:ext cx="1645920" cy="457200"/>
          </a:xfrm>
          <a:prstGeom prst="rect">
            <a:avLst/>
          </a:prstGeom>
          <a:noFill/>
          <a:ln/>
        </p:spPr>
        <p:txBody>
          <a:bodyPr wrap="square" lIns="0" tIns="0" rIns="0" bIns="0" rtlCol="0" anchor="t"/>
          <a:lstStyle/>
          <a:p>
            <a:pPr indent="0" marL="0">
              <a:buNone/>
            </a:pPr>
            <a:r>
              <a:rPr lang="en-US" sz="1150" b="1" dirty="0">
                <a:solidFill>
                  <a:schemeClr val="tx2"/>
                </a:solidFill>
              </a:rPr>
              <a:t>プレミアムロースかつカレー</a:t>
            </a:r>
            <a:endParaRPr lang="en-US" sz="1150" dirty="0"/>
          </a:p>
        </p:txBody>
      </p:sp>
      <p:sp>
        <p:nvSpPr>
          <p:cNvPr id="9" name="Text 5"/>
          <p:cNvSpPr txBox="1"/>
          <p:nvPr/>
        </p:nvSpPr>
        <p:spPr>
          <a:xfrm>
            <a:off x="640080" y="2633472"/>
            <a:ext cx="1691640" cy="256032"/>
          </a:xfrm>
          <a:prstGeom prst="rect">
            <a:avLst/>
          </a:prstGeom>
          <a:noFill/>
          <a:ln/>
        </p:spPr>
        <p:txBody>
          <a:bodyPr wrap="square" lIns="0" tIns="0" rIns="0" bIns="0" rtlCol="0" anchor="t"/>
          <a:lstStyle/>
          <a:p>
            <a:pPr indent="0" marL="0">
              <a:buNone/>
            </a:pPr>
            <a:r>
              <a:rPr lang="en-US" sz="1050" b="1" dirty="0">
                <a:solidFill>
                  <a:schemeClr val="tx1"/>
                </a:solidFill>
              </a:rPr>
              <a:t>1,548円 → 1,598円</a:t>
            </a:r>
            <a:endParaRPr lang="en-US" sz="1050" dirty="0"/>
          </a:p>
        </p:txBody>
      </p:sp>
      <p:sp>
        <p:nvSpPr>
          <p:cNvPr id="10" name="Text 6"/>
          <p:cNvSpPr txBox="1"/>
          <p:nvPr/>
        </p:nvSpPr>
        <p:spPr>
          <a:xfrm>
            <a:off x="640080" y="2907792"/>
            <a:ext cx="1691640" cy="228600"/>
          </a:xfrm>
          <a:prstGeom prst="rect">
            <a:avLst/>
          </a:prstGeom>
          <a:noFill/>
          <a:ln/>
        </p:spPr>
        <p:txBody>
          <a:bodyPr wrap="square" lIns="0" tIns="0" rIns="0" bIns="0" rtlCol="0" anchor="t"/>
          <a:lstStyle/>
          <a:p>
            <a:pPr indent="0" marL="0">
              <a:buNone/>
            </a:pPr>
            <a:r>
              <a:rPr lang="en-US" sz="900" b="1" dirty="0">
                <a:solidFill>
                  <a:schemeClr val="accent1"/>
                </a:solidFill>
              </a:rPr>
              <a:t>A案から+50円上乗せ</a:t>
            </a:r>
            <a:endParaRPr lang="en-US" sz="900" dirty="0"/>
          </a:p>
        </p:txBody>
      </p:sp>
      <p:sp>
        <p:nvSpPr>
          <p:cNvPr id="11" name="Text 7"/>
          <p:cNvSpPr txBox="1"/>
          <p:nvPr/>
        </p:nvSpPr>
        <p:spPr>
          <a:xfrm>
            <a:off x="640080" y="3182112"/>
            <a:ext cx="1645920" cy="685800"/>
          </a:xfrm>
          <a:prstGeom prst="rect">
            <a:avLst/>
          </a:prstGeom>
          <a:noFill/>
          <a:ln/>
        </p:spPr>
        <p:txBody>
          <a:bodyPr wrap="square" lIns="0" tIns="0" rIns="0" bIns="0" rtlCol="0" anchor="t"/>
          <a:lstStyle/>
          <a:p>
            <a:pPr indent="0" marL="0">
              <a:buNone/>
            </a:pPr>
            <a:r>
              <a:rPr lang="en-US" sz="900" dirty="0">
                <a:solidFill>
                  <a:schemeClr val="accent4"/>
                </a:solidFill>
              </a:rPr>
              <a:t>神田のカツカレー上位帯（1,650〜1,940円）より下</a:t>
            </a:r>
            <a:endParaRPr lang="en-US" sz="900" dirty="0"/>
          </a:p>
        </p:txBody>
      </p:sp>
      <p:sp>
        <p:nvSpPr>
          <p:cNvPr id="12" name="Text 8"/>
          <p:cNvSpPr txBox="1"/>
          <p:nvPr/>
        </p:nvSpPr>
        <p:spPr>
          <a:xfrm>
            <a:off x="640080" y="3931920"/>
            <a:ext cx="1645920" cy="365760"/>
          </a:xfrm>
          <a:prstGeom prst="rect">
            <a:avLst/>
          </a:prstGeom>
          <a:noFill/>
          <a:ln/>
        </p:spPr>
        <p:txBody>
          <a:bodyPr wrap="square" lIns="0" tIns="0" rIns="0" bIns="0" rtlCol="0" anchor="t"/>
          <a:lstStyle/>
          <a:p>
            <a:pPr indent="0" marL="0">
              <a:buNone/>
            </a:pPr>
            <a:r>
              <a:rPr lang="en-US" sz="1800" b="1" dirty="0">
                <a:solidFill>
                  <a:schemeClr val="accent1"/>
                </a:solidFill>
              </a:rPr>
              <a:t>+16万円</a:t>
            </a:r>
            <a:endParaRPr lang="en-US" sz="1800" dirty="0"/>
          </a:p>
        </p:txBody>
      </p:sp>
      <p:sp>
        <p:nvSpPr>
          <p:cNvPr id="13" name="Text 9"/>
          <p:cNvSpPr txBox="1"/>
          <p:nvPr/>
        </p:nvSpPr>
        <p:spPr>
          <a:xfrm>
            <a:off x="1783080" y="4041648"/>
            <a:ext cx="457200" cy="228600"/>
          </a:xfrm>
          <a:prstGeom prst="rect">
            <a:avLst/>
          </a:prstGeom>
          <a:noFill/>
          <a:ln/>
        </p:spPr>
        <p:txBody>
          <a:bodyPr wrap="square" lIns="0" tIns="0" rIns="0" bIns="0" rtlCol="0" anchor="t"/>
          <a:lstStyle/>
          <a:p>
            <a:pPr indent="0" marL="0">
              <a:buNone/>
            </a:pPr>
            <a:r>
              <a:rPr lang="en-US" sz="900" dirty="0">
                <a:solidFill>
                  <a:schemeClr val="accent4"/>
                </a:solidFill>
              </a:rPr>
              <a:t>/年</a:t>
            </a:r>
            <a:endParaRPr lang="en-US" sz="900" dirty="0"/>
          </a:p>
        </p:txBody>
      </p:sp>
      <p:sp>
        <p:nvSpPr>
          <p:cNvPr id="14" name="bcard"/>
          <p:cNvSpPr/>
          <p:nvPr/>
        </p:nvSpPr>
        <p:spPr>
          <a:xfrm>
            <a:off x="2542032" y="1280160"/>
            <a:ext cx="1956816" cy="3154680"/>
          </a:xfrm>
          <a:prstGeom prst="roundRect">
            <a:avLst>
              <a:gd name="adj" fmla="val 4673"/>
            </a:avLst>
          </a:prstGeom>
          <a:solidFill>
            <a:schemeClr val="bg2"/>
          </a:solidFill>
          <a:ln/>
        </p:spPr>
      </p:sp>
      <p:sp>
        <p:nvSpPr>
          <p:cNvPr id="15" name="b-icon"/>
          <p:cNvSpPr/>
          <p:nvPr/>
        </p:nvSpPr>
        <p:spPr>
          <a:xfrm>
            <a:off x="2724912" y="1463040"/>
            <a:ext cx="548640" cy="548640"/>
          </a:xfrm>
          <a:prstGeom prst="ellipse">
            <a:avLst/>
          </a:prstGeom>
          <a:solidFill>
            <a:srgbClr val="0F3D3E"/>
          </a:solidFill>
          <a:ln/>
        </p:spPr>
      </p:sp>
      <p:pic>
        <p:nvPicPr>
          <p:cNvPr id="16" name="Image 1" descr="b-icon">    </p:cNvPr>
          <p:cNvPicPr>
            <a:picLocks noChangeAspect="1"/>
          </p:cNvPicPr>
          <p:nvPr/>
        </p:nvPicPr>
        <p:blipFill>
          <a:blip r:embed="rId2"/>
          <a:stretch>
            <a:fillRect/>
          </a:stretch>
        </p:blipFill>
        <p:spPr>
          <a:xfrm>
            <a:off x="2862072" y="1600200"/>
            <a:ext cx="274320" cy="274320"/>
          </a:xfrm>
          <a:prstGeom prst="rect">
            <a:avLst/>
          </a:prstGeom>
        </p:spPr>
      </p:pic>
      <p:sp>
        <p:nvSpPr>
          <p:cNvPr id="17" name="Text 12"/>
          <p:cNvSpPr txBox="1"/>
          <p:nvPr/>
        </p:nvSpPr>
        <p:spPr>
          <a:xfrm>
            <a:off x="2724912" y="2148840"/>
            <a:ext cx="1645920" cy="457200"/>
          </a:xfrm>
          <a:prstGeom prst="rect">
            <a:avLst/>
          </a:prstGeom>
          <a:noFill/>
          <a:ln/>
        </p:spPr>
        <p:txBody>
          <a:bodyPr wrap="square" lIns="0" tIns="0" rIns="0" bIns="0" rtlCol="0" anchor="t"/>
          <a:lstStyle/>
          <a:p>
            <a:pPr indent="0" marL="0">
              <a:buNone/>
            </a:pPr>
            <a:r>
              <a:rPr lang="en-US" sz="1150" b="1" dirty="0">
                <a:solidFill>
                  <a:schemeClr val="tx2"/>
                </a:solidFill>
              </a:rPr>
              <a:t>近江牛サウナカリー</a:t>
            </a:r>
            <a:endParaRPr lang="en-US" sz="1150" dirty="0"/>
          </a:p>
        </p:txBody>
      </p:sp>
      <p:sp>
        <p:nvSpPr>
          <p:cNvPr id="18" name="Text 13"/>
          <p:cNvSpPr txBox="1"/>
          <p:nvPr/>
        </p:nvSpPr>
        <p:spPr>
          <a:xfrm>
            <a:off x="2724912" y="2633472"/>
            <a:ext cx="1691640" cy="256032"/>
          </a:xfrm>
          <a:prstGeom prst="rect">
            <a:avLst/>
          </a:prstGeom>
          <a:noFill/>
          <a:ln/>
        </p:spPr>
        <p:txBody>
          <a:bodyPr wrap="square" lIns="0" tIns="0" rIns="0" bIns="0" rtlCol="0" anchor="t"/>
          <a:lstStyle/>
          <a:p>
            <a:pPr indent="0" marL="0">
              <a:buNone/>
            </a:pPr>
            <a:r>
              <a:rPr lang="en-US" sz="1050" b="1" dirty="0">
                <a:solidFill>
                  <a:schemeClr val="tx1"/>
                </a:solidFill>
              </a:rPr>
              <a:t>1,355円 → 1,405円</a:t>
            </a:r>
            <a:endParaRPr lang="en-US" sz="1050" dirty="0"/>
          </a:p>
        </p:txBody>
      </p:sp>
      <p:sp>
        <p:nvSpPr>
          <p:cNvPr id="19" name="Text 14"/>
          <p:cNvSpPr txBox="1"/>
          <p:nvPr/>
        </p:nvSpPr>
        <p:spPr>
          <a:xfrm>
            <a:off x="2724912" y="2907792"/>
            <a:ext cx="1691640" cy="228600"/>
          </a:xfrm>
          <a:prstGeom prst="rect">
            <a:avLst/>
          </a:prstGeom>
          <a:noFill/>
          <a:ln/>
        </p:spPr>
        <p:txBody>
          <a:bodyPr wrap="square" lIns="0" tIns="0" rIns="0" bIns="0" rtlCol="0" anchor="t"/>
          <a:lstStyle/>
          <a:p>
            <a:pPr indent="0" marL="0">
              <a:buNone/>
            </a:pPr>
            <a:r>
              <a:rPr lang="en-US" sz="900" b="1" dirty="0">
                <a:solidFill>
                  <a:schemeClr val="accent1"/>
                </a:solidFill>
              </a:rPr>
              <a:t>価格表外の売上1位を追加</a:t>
            </a:r>
            <a:endParaRPr lang="en-US" sz="900" dirty="0"/>
          </a:p>
        </p:txBody>
      </p:sp>
      <p:sp>
        <p:nvSpPr>
          <p:cNvPr id="20" name="Text 15"/>
          <p:cNvSpPr txBox="1"/>
          <p:nvPr/>
        </p:nvSpPr>
        <p:spPr>
          <a:xfrm>
            <a:off x="2724912" y="3182112"/>
            <a:ext cx="1645920" cy="685800"/>
          </a:xfrm>
          <a:prstGeom prst="rect">
            <a:avLst/>
          </a:prstGeom>
          <a:noFill/>
          <a:ln/>
        </p:spPr>
        <p:txBody>
          <a:bodyPr wrap="square" lIns="0" tIns="0" rIns="0" bIns="0" rtlCol="0" anchor="t"/>
          <a:lstStyle/>
          <a:p>
            <a:pPr indent="0" marL="0">
              <a:buNone/>
            </a:pPr>
            <a:r>
              <a:rPr lang="en-US" sz="900" dirty="0">
                <a:solidFill>
                  <a:schemeClr val="accent4"/>
                </a:solidFill>
              </a:rPr>
              <a:t>3か月964食。温浴施設のカレー相場の範囲内</a:t>
            </a:r>
            <a:endParaRPr lang="en-US" sz="900" dirty="0"/>
          </a:p>
        </p:txBody>
      </p:sp>
      <p:sp>
        <p:nvSpPr>
          <p:cNvPr id="21" name="Text 16"/>
          <p:cNvSpPr txBox="1"/>
          <p:nvPr/>
        </p:nvSpPr>
        <p:spPr>
          <a:xfrm>
            <a:off x="2724912" y="3931920"/>
            <a:ext cx="1645920" cy="365760"/>
          </a:xfrm>
          <a:prstGeom prst="rect">
            <a:avLst/>
          </a:prstGeom>
          <a:noFill/>
          <a:ln/>
        </p:spPr>
        <p:txBody>
          <a:bodyPr wrap="square" lIns="0" tIns="0" rIns="0" bIns="0" rtlCol="0" anchor="t"/>
          <a:lstStyle/>
          <a:p>
            <a:pPr indent="0" marL="0">
              <a:buNone/>
            </a:pPr>
            <a:r>
              <a:rPr lang="en-US" sz="1800" b="1" dirty="0">
                <a:solidFill>
                  <a:schemeClr val="accent1"/>
                </a:solidFill>
              </a:rPr>
              <a:t>+18万円</a:t>
            </a:r>
            <a:endParaRPr lang="en-US" sz="1800" dirty="0"/>
          </a:p>
        </p:txBody>
      </p:sp>
      <p:sp>
        <p:nvSpPr>
          <p:cNvPr id="22" name="Text 17"/>
          <p:cNvSpPr txBox="1"/>
          <p:nvPr/>
        </p:nvSpPr>
        <p:spPr>
          <a:xfrm>
            <a:off x="3867912" y="4041648"/>
            <a:ext cx="457200" cy="228600"/>
          </a:xfrm>
          <a:prstGeom prst="rect">
            <a:avLst/>
          </a:prstGeom>
          <a:noFill/>
          <a:ln/>
        </p:spPr>
        <p:txBody>
          <a:bodyPr wrap="square" lIns="0" tIns="0" rIns="0" bIns="0" rtlCol="0" anchor="t"/>
          <a:lstStyle/>
          <a:p>
            <a:pPr indent="0" marL="0">
              <a:buNone/>
            </a:pPr>
            <a:r>
              <a:rPr lang="en-US" sz="900" dirty="0">
                <a:solidFill>
                  <a:schemeClr val="accent4"/>
                </a:solidFill>
              </a:rPr>
              <a:t>/年</a:t>
            </a:r>
            <a:endParaRPr lang="en-US" sz="900" dirty="0"/>
          </a:p>
        </p:txBody>
      </p:sp>
      <p:sp>
        <p:nvSpPr>
          <p:cNvPr id="23" name="bcard"/>
          <p:cNvSpPr/>
          <p:nvPr/>
        </p:nvSpPr>
        <p:spPr>
          <a:xfrm>
            <a:off x="4626864" y="1280160"/>
            <a:ext cx="1956816" cy="3154680"/>
          </a:xfrm>
          <a:prstGeom prst="roundRect">
            <a:avLst>
              <a:gd name="adj" fmla="val 4673"/>
            </a:avLst>
          </a:prstGeom>
          <a:solidFill>
            <a:schemeClr val="bg2"/>
          </a:solidFill>
          <a:ln/>
        </p:spPr>
      </p:sp>
      <p:sp>
        <p:nvSpPr>
          <p:cNvPr id="24" name="b-icon"/>
          <p:cNvSpPr/>
          <p:nvPr/>
        </p:nvSpPr>
        <p:spPr>
          <a:xfrm>
            <a:off x="4809744" y="1463040"/>
            <a:ext cx="548640" cy="548640"/>
          </a:xfrm>
          <a:prstGeom prst="ellipse">
            <a:avLst/>
          </a:prstGeom>
          <a:solidFill>
            <a:srgbClr val="0F3D3E"/>
          </a:solidFill>
          <a:ln/>
        </p:spPr>
      </p:sp>
      <p:pic>
        <p:nvPicPr>
          <p:cNvPr id="25" name="Image 2" descr="b-icon">    </p:cNvPr>
          <p:cNvPicPr>
            <a:picLocks noChangeAspect="1"/>
          </p:cNvPicPr>
          <p:nvPr/>
        </p:nvPicPr>
        <p:blipFill>
          <a:blip r:embed="rId3"/>
          <a:stretch>
            <a:fillRect/>
          </a:stretch>
        </p:blipFill>
        <p:spPr>
          <a:xfrm>
            <a:off x="4946904" y="1600200"/>
            <a:ext cx="274320" cy="274320"/>
          </a:xfrm>
          <a:prstGeom prst="rect">
            <a:avLst/>
          </a:prstGeom>
        </p:spPr>
      </p:pic>
      <p:sp>
        <p:nvSpPr>
          <p:cNvPr id="26" name="Text 20"/>
          <p:cNvSpPr txBox="1"/>
          <p:nvPr/>
        </p:nvSpPr>
        <p:spPr>
          <a:xfrm>
            <a:off x="4809744" y="2148840"/>
            <a:ext cx="1645920" cy="457200"/>
          </a:xfrm>
          <a:prstGeom prst="rect">
            <a:avLst/>
          </a:prstGeom>
          <a:noFill/>
          <a:ln/>
        </p:spPr>
        <p:txBody>
          <a:bodyPr wrap="square" lIns="0" tIns="0" rIns="0" bIns="0" rtlCol="0" anchor="t"/>
          <a:lstStyle/>
          <a:p>
            <a:pPr indent="0" marL="0">
              <a:buNone/>
            </a:pPr>
            <a:r>
              <a:rPr lang="en-US" sz="1150" b="1" dirty="0">
                <a:solidFill>
                  <a:schemeClr val="tx2"/>
                </a:solidFill>
              </a:rPr>
              <a:t>リポスパ</a:t>
            </a:r>
            <a:endParaRPr lang="en-US" sz="1150" dirty="0"/>
          </a:p>
        </p:txBody>
      </p:sp>
      <p:sp>
        <p:nvSpPr>
          <p:cNvPr id="27" name="Text 21"/>
          <p:cNvSpPr txBox="1"/>
          <p:nvPr/>
        </p:nvSpPr>
        <p:spPr>
          <a:xfrm>
            <a:off x="4809744" y="2633472"/>
            <a:ext cx="1691640" cy="256032"/>
          </a:xfrm>
          <a:prstGeom prst="rect">
            <a:avLst/>
          </a:prstGeom>
          <a:noFill/>
          <a:ln/>
        </p:spPr>
        <p:txBody>
          <a:bodyPr wrap="square" lIns="0" tIns="0" rIns="0" bIns="0" rtlCol="0" anchor="t"/>
          <a:lstStyle/>
          <a:p>
            <a:pPr indent="0" marL="0">
              <a:buNone/>
            </a:pPr>
            <a:r>
              <a:rPr lang="en-US" sz="1050" b="1" dirty="0">
                <a:solidFill>
                  <a:schemeClr val="tx1"/>
                </a:solidFill>
              </a:rPr>
              <a:t>473円 → 493円</a:t>
            </a:r>
            <a:endParaRPr lang="en-US" sz="1050" dirty="0"/>
          </a:p>
        </p:txBody>
      </p:sp>
      <p:sp>
        <p:nvSpPr>
          <p:cNvPr id="28" name="Text 22"/>
          <p:cNvSpPr txBox="1"/>
          <p:nvPr/>
        </p:nvSpPr>
        <p:spPr>
          <a:xfrm>
            <a:off x="4809744" y="2907792"/>
            <a:ext cx="1691640" cy="228600"/>
          </a:xfrm>
          <a:prstGeom prst="rect">
            <a:avLst/>
          </a:prstGeom>
          <a:noFill/>
          <a:ln/>
        </p:spPr>
        <p:txBody>
          <a:bodyPr wrap="square" lIns="0" tIns="0" rIns="0" bIns="0" rtlCol="0" anchor="t"/>
          <a:lstStyle/>
          <a:p>
            <a:pPr indent="0" marL="0">
              <a:buNone/>
            </a:pPr>
            <a:r>
              <a:rPr lang="en-US" sz="900" b="1" dirty="0">
                <a:solidFill>
                  <a:schemeClr val="accent1"/>
                </a:solidFill>
              </a:rPr>
              <a:t>出数1位を改定</a:t>
            </a:r>
            <a:endParaRPr lang="en-US" sz="900" dirty="0"/>
          </a:p>
        </p:txBody>
      </p:sp>
      <p:sp>
        <p:nvSpPr>
          <p:cNvPr id="29" name="Text 23"/>
          <p:cNvSpPr txBox="1"/>
          <p:nvPr/>
        </p:nvSpPr>
        <p:spPr>
          <a:xfrm>
            <a:off x="4809744" y="3182112"/>
            <a:ext cx="1645920" cy="685800"/>
          </a:xfrm>
          <a:prstGeom prst="rect">
            <a:avLst/>
          </a:prstGeom>
          <a:noFill/>
          <a:ln/>
        </p:spPr>
        <p:txBody>
          <a:bodyPr wrap="square" lIns="0" tIns="0" rIns="0" bIns="0" rtlCol="0" anchor="t"/>
          <a:lstStyle/>
          <a:p>
            <a:pPr indent="0" marL="0">
              <a:buNone/>
            </a:pPr>
            <a:r>
              <a:rPr lang="en-US" sz="900" dirty="0">
                <a:solidFill>
                  <a:schemeClr val="accent4"/>
                </a:solidFill>
              </a:rPr>
              <a:t>3か月2,134杯。原価率22%で、+20円でも割安感を維持</a:t>
            </a:r>
            <a:endParaRPr lang="en-US" sz="900" dirty="0"/>
          </a:p>
        </p:txBody>
      </p:sp>
      <p:sp>
        <p:nvSpPr>
          <p:cNvPr id="30" name="Text 24"/>
          <p:cNvSpPr txBox="1"/>
          <p:nvPr/>
        </p:nvSpPr>
        <p:spPr>
          <a:xfrm>
            <a:off x="4809744" y="3931920"/>
            <a:ext cx="1645920" cy="365760"/>
          </a:xfrm>
          <a:prstGeom prst="rect">
            <a:avLst/>
          </a:prstGeom>
          <a:noFill/>
          <a:ln/>
        </p:spPr>
        <p:txBody>
          <a:bodyPr wrap="square" lIns="0" tIns="0" rIns="0" bIns="0" rtlCol="0" anchor="t"/>
          <a:lstStyle/>
          <a:p>
            <a:pPr indent="0" marL="0">
              <a:buNone/>
            </a:pPr>
            <a:r>
              <a:rPr lang="en-US" sz="1800" b="1" dirty="0">
                <a:solidFill>
                  <a:schemeClr val="accent1"/>
                </a:solidFill>
              </a:rPr>
              <a:t>+16万円</a:t>
            </a:r>
            <a:endParaRPr lang="en-US" sz="1800" dirty="0"/>
          </a:p>
        </p:txBody>
      </p:sp>
      <p:sp>
        <p:nvSpPr>
          <p:cNvPr id="31" name="Text 25"/>
          <p:cNvSpPr txBox="1"/>
          <p:nvPr/>
        </p:nvSpPr>
        <p:spPr>
          <a:xfrm>
            <a:off x="5952744" y="4041648"/>
            <a:ext cx="457200" cy="228600"/>
          </a:xfrm>
          <a:prstGeom prst="rect">
            <a:avLst/>
          </a:prstGeom>
          <a:noFill/>
          <a:ln/>
        </p:spPr>
        <p:txBody>
          <a:bodyPr wrap="square" lIns="0" tIns="0" rIns="0" bIns="0" rtlCol="0" anchor="t"/>
          <a:lstStyle/>
          <a:p>
            <a:pPr indent="0" marL="0">
              <a:buNone/>
            </a:pPr>
            <a:r>
              <a:rPr lang="en-US" sz="900" dirty="0">
                <a:solidFill>
                  <a:schemeClr val="accent4"/>
                </a:solidFill>
              </a:rPr>
              <a:t>/年</a:t>
            </a:r>
            <a:endParaRPr lang="en-US" sz="900" dirty="0"/>
          </a:p>
        </p:txBody>
      </p:sp>
      <p:sp>
        <p:nvSpPr>
          <p:cNvPr id="32" name="bcard"/>
          <p:cNvSpPr/>
          <p:nvPr/>
        </p:nvSpPr>
        <p:spPr>
          <a:xfrm>
            <a:off x="6711696" y="1280160"/>
            <a:ext cx="1956816" cy="3154680"/>
          </a:xfrm>
          <a:prstGeom prst="roundRect">
            <a:avLst>
              <a:gd name="adj" fmla="val 4673"/>
            </a:avLst>
          </a:prstGeom>
          <a:solidFill>
            <a:schemeClr val="bg2"/>
          </a:solidFill>
          <a:ln/>
        </p:spPr>
      </p:sp>
      <p:sp>
        <p:nvSpPr>
          <p:cNvPr id="33" name="b-icon"/>
          <p:cNvSpPr/>
          <p:nvPr/>
        </p:nvSpPr>
        <p:spPr>
          <a:xfrm>
            <a:off x="6894576" y="1463040"/>
            <a:ext cx="548640" cy="548640"/>
          </a:xfrm>
          <a:prstGeom prst="ellipse">
            <a:avLst/>
          </a:prstGeom>
          <a:solidFill>
            <a:srgbClr val="0F3D3E"/>
          </a:solidFill>
          <a:ln/>
        </p:spPr>
      </p:sp>
      <p:pic>
        <p:nvPicPr>
          <p:cNvPr id="34" name="Image 3" descr="b-icon">    </p:cNvPr>
          <p:cNvPicPr>
            <a:picLocks noChangeAspect="1"/>
          </p:cNvPicPr>
          <p:nvPr/>
        </p:nvPicPr>
        <p:blipFill>
          <a:blip r:embed="rId4"/>
          <a:stretch>
            <a:fillRect/>
          </a:stretch>
        </p:blipFill>
        <p:spPr>
          <a:xfrm>
            <a:off x="7031736" y="1600200"/>
            <a:ext cx="274320" cy="274320"/>
          </a:xfrm>
          <a:prstGeom prst="rect">
            <a:avLst/>
          </a:prstGeom>
        </p:spPr>
      </p:pic>
      <p:sp>
        <p:nvSpPr>
          <p:cNvPr id="35" name="Text 28"/>
          <p:cNvSpPr txBox="1"/>
          <p:nvPr/>
        </p:nvSpPr>
        <p:spPr>
          <a:xfrm>
            <a:off x="6894576" y="2148840"/>
            <a:ext cx="1645920" cy="457200"/>
          </a:xfrm>
          <a:prstGeom prst="rect">
            <a:avLst/>
          </a:prstGeom>
          <a:noFill/>
          <a:ln/>
        </p:spPr>
        <p:txBody>
          <a:bodyPr wrap="square" lIns="0" tIns="0" rIns="0" bIns="0" rtlCol="0" anchor="t"/>
          <a:lstStyle/>
          <a:p>
            <a:pPr indent="0" marL="0">
              <a:buNone/>
            </a:pPr>
            <a:r>
              <a:rPr lang="en-US" sz="1150" b="1" dirty="0">
                <a:solidFill>
                  <a:schemeClr val="tx2"/>
                </a:solidFill>
              </a:rPr>
              <a:t>ごはん大盛り</a:t>
            </a:r>
            <a:endParaRPr lang="en-US" sz="1150" dirty="0"/>
          </a:p>
        </p:txBody>
      </p:sp>
      <p:sp>
        <p:nvSpPr>
          <p:cNvPr id="36" name="Text 29"/>
          <p:cNvSpPr txBox="1"/>
          <p:nvPr/>
        </p:nvSpPr>
        <p:spPr>
          <a:xfrm>
            <a:off x="6894576" y="2633472"/>
            <a:ext cx="1691640" cy="256032"/>
          </a:xfrm>
          <a:prstGeom prst="rect">
            <a:avLst/>
          </a:prstGeom>
          <a:noFill/>
          <a:ln/>
        </p:spPr>
        <p:txBody>
          <a:bodyPr wrap="square" lIns="0" tIns="0" rIns="0" bIns="0" rtlCol="0" anchor="t"/>
          <a:lstStyle/>
          <a:p>
            <a:pPr indent="0" marL="0">
              <a:buNone/>
            </a:pPr>
            <a:r>
              <a:rPr lang="en-US" sz="1050" b="1" dirty="0">
                <a:solidFill>
                  <a:schemeClr val="tx1"/>
                </a:solidFill>
              </a:rPr>
              <a:t>185円 → 220円</a:t>
            </a:r>
            <a:endParaRPr lang="en-US" sz="1050" dirty="0"/>
          </a:p>
        </p:txBody>
      </p:sp>
      <p:sp>
        <p:nvSpPr>
          <p:cNvPr id="37" name="Text 30"/>
          <p:cNvSpPr txBox="1"/>
          <p:nvPr/>
        </p:nvSpPr>
        <p:spPr>
          <a:xfrm>
            <a:off x="6894576" y="2907792"/>
            <a:ext cx="1691640" cy="228600"/>
          </a:xfrm>
          <a:prstGeom prst="rect">
            <a:avLst/>
          </a:prstGeom>
          <a:noFill/>
          <a:ln/>
        </p:spPr>
        <p:txBody>
          <a:bodyPr wrap="square" lIns="0" tIns="0" rIns="0" bIns="0" rtlCol="0" anchor="t"/>
          <a:lstStyle/>
          <a:p>
            <a:pPr indent="0" marL="0">
              <a:buNone/>
            </a:pPr>
            <a:r>
              <a:rPr lang="en-US" sz="900" b="1" dirty="0">
                <a:solidFill>
                  <a:schemeClr val="accent1"/>
                </a:solidFill>
              </a:rPr>
              <a:t>原価率50% → 42%</a:t>
            </a:r>
            <a:endParaRPr lang="en-US" sz="900" dirty="0"/>
          </a:p>
        </p:txBody>
      </p:sp>
      <p:sp>
        <p:nvSpPr>
          <p:cNvPr id="38" name="Text 31"/>
          <p:cNvSpPr txBox="1"/>
          <p:nvPr/>
        </p:nvSpPr>
        <p:spPr>
          <a:xfrm>
            <a:off x="6894576" y="3182112"/>
            <a:ext cx="1645920" cy="685800"/>
          </a:xfrm>
          <a:prstGeom prst="rect">
            <a:avLst/>
          </a:prstGeom>
          <a:noFill/>
          <a:ln/>
        </p:spPr>
        <p:txBody>
          <a:bodyPr wrap="square" lIns="0" tIns="0" rIns="0" bIns="0" rtlCol="0" anchor="t"/>
          <a:lstStyle/>
          <a:p>
            <a:pPr indent="0" marL="0">
              <a:buNone/>
            </a:pPr>
            <a:r>
              <a:rPr lang="en-US" sz="900" dirty="0">
                <a:solidFill>
                  <a:schemeClr val="accent4"/>
                </a:solidFill>
              </a:rPr>
              <a:t>3か月357食。単品の原価率が最も高い部類</a:t>
            </a:r>
            <a:endParaRPr lang="en-US" sz="900" dirty="0"/>
          </a:p>
        </p:txBody>
      </p:sp>
      <p:sp>
        <p:nvSpPr>
          <p:cNvPr id="39" name="Text 32"/>
          <p:cNvSpPr txBox="1"/>
          <p:nvPr/>
        </p:nvSpPr>
        <p:spPr>
          <a:xfrm>
            <a:off x="6894576" y="3931920"/>
            <a:ext cx="1645920" cy="365760"/>
          </a:xfrm>
          <a:prstGeom prst="rect">
            <a:avLst/>
          </a:prstGeom>
          <a:noFill/>
          <a:ln/>
        </p:spPr>
        <p:txBody>
          <a:bodyPr wrap="square" lIns="0" tIns="0" rIns="0" bIns="0" rtlCol="0" anchor="t"/>
          <a:lstStyle/>
          <a:p>
            <a:pPr indent="0" marL="0">
              <a:buNone/>
            </a:pPr>
            <a:r>
              <a:rPr lang="en-US" sz="1800" b="1" dirty="0">
                <a:solidFill>
                  <a:schemeClr val="accent1"/>
                </a:solidFill>
              </a:rPr>
              <a:t>+5万円</a:t>
            </a:r>
            <a:endParaRPr lang="en-US" sz="1800" dirty="0"/>
          </a:p>
        </p:txBody>
      </p:sp>
      <p:sp>
        <p:nvSpPr>
          <p:cNvPr id="40" name="Text 33"/>
          <p:cNvSpPr txBox="1"/>
          <p:nvPr/>
        </p:nvSpPr>
        <p:spPr>
          <a:xfrm>
            <a:off x="8037576" y="4041648"/>
            <a:ext cx="457200" cy="228600"/>
          </a:xfrm>
          <a:prstGeom prst="rect">
            <a:avLst/>
          </a:prstGeom>
          <a:noFill/>
          <a:ln/>
        </p:spPr>
        <p:txBody>
          <a:bodyPr wrap="square" lIns="0" tIns="0" rIns="0" bIns="0" rtlCol="0" anchor="t"/>
          <a:lstStyle/>
          <a:p>
            <a:pPr indent="0" marL="0">
              <a:buNone/>
            </a:pPr>
            <a:r>
              <a:rPr lang="en-US" sz="900" dirty="0">
                <a:solidFill>
                  <a:schemeClr val="accent4"/>
                </a:solidFill>
              </a:rPr>
              <a:t>/年</a:t>
            </a:r>
            <a:endParaRPr lang="en-US" sz="900" dirty="0"/>
          </a:p>
        </p:txBody>
      </p:sp>
      <p:sp>
        <p:nvSpPr>
          <p:cNvPr id="41"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年間効果は売上ベース（出数変化なし、4〜6月×半期換算係数2.07×2）。サウナカリーの原価は登録品平均31%で仮置き</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09　出数を加味した効果試算</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出数が5%減っても粗利はプラス。標準ケースで年間+167万円</a:t>
            </a:r>
            <a:endParaRPr lang="en-US" sz="2100" dirty="0"/>
          </a:p>
        </p:txBody>
      </p:sp>
      <p:graphicFrame>
        <p:nvGraphicFramePr>
          <p:cNvPr id="5" name="chart-elasticity" descr=""/>
          <p:cNvGraphicFramePr/>
          <p:nvPr/>
        </p:nvGraphicFramePr>
        <p:xfrm>
          <a:off x="365760" y="1234440"/>
          <a:ext cx="51206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elasticity"/>
          <p:cNvGraphicFramePr>
            <a:graphicFrameLocks noGrp="1"/>
          </p:cNvGraphicFramePr>
          <p:nvPr>
            <p:extLst>
              <p:ext uri="{D42A27DB-BD31-4B8C-83A1-F6EECF244321}">
                <p14:modId xmlns:p14="http://schemas.microsoft.com/office/powerpoint/2010/main" val="1579011935"/>
              </p:ext>
            </p:extLst>
          </p:nvPr>
        </p:nvGraphicFramePr>
        <p:xfrm>
          <a:off x="5715000" y="1325880"/>
          <a:ext cx="2971800" cy="914400"/>
        </p:xfrm>
        <a:graphic>
          <a:graphicData uri="http://schemas.openxmlformats.org/drawingml/2006/table">
            <a:tbl>
              <a:tblPr/>
              <a:tblGrid>
                <a:gridCol w="914400"/>
                <a:gridCol w="640080"/>
                <a:gridCol w="640080"/>
                <a:gridCol w="777240"/>
              </a:tblGrid>
              <a:tr h="310896">
                <a:tc>
                  <a:txBody>
                    <a:bodyPr/>
                    <a:lstStyle/>
                    <a:p>
                      <a:pPr algn="l" indent="0" marL="0">
                        <a:buNone/>
                      </a:pPr>
                      <a:r>
                        <a:rPr lang="en-US" sz="950" b="1" dirty="0">
                          <a:solidFill>
                            <a:srgbClr val="FFFFFF"/>
                          </a:solidFill>
                        </a:rPr>
                        <a:t>ケース</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50" b="1" dirty="0">
                          <a:solidFill>
                            <a:srgbClr val="FFFFFF"/>
                          </a:solidFill>
                        </a:rPr>
                        <a:t>弾力性</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50" b="1" dirty="0">
                          <a:solidFill>
                            <a:srgbClr val="FFFFFF"/>
                          </a:solidFill>
                        </a:rPr>
                        <a:t>出数</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r" indent="0" marL="0">
                        <a:buNone/>
                      </a:pPr>
                      <a:r>
                        <a:rPr lang="en-US" sz="950" b="1" dirty="0">
                          <a:solidFill>
                            <a:srgbClr val="FFFFFF"/>
                          </a:solidFill>
                        </a:rPr>
                        <a:t>理論原価率</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r>
              <a:tr h="310896">
                <a:tc>
                  <a:txBody>
                    <a:bodyPr/>
                    <a:lstStyle/>
                    <a:p>
                      <a:pPr algn="l" indent="0" marL="0">
                        <a:buNone/>
                      </a:pPr>
                      <a:r>
                        <a:rPr lang="en-US" sz="950" dirty="0">
                          <a:solidFill>
                            <a:srgbClr val="1B2324"/>
                          </a:solidFill>
                        </a:rPr>
                        <a:t>出数変化なし</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B2324"/>
                          </a:solidFill>
                        </a:rPr>
                        <a:t>0</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B2324"/>
                          </a:solidFill>
                        </a:rPr>
                        <a:t>±0%</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B2324"/>
                          </a:solidFill>
                        </a:rPr>
                        <a:t>29.7%</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B2324"/>
                          </a:solidFill>
                        </a:rPr>
                        <a:t>標準</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50" dirty="0">
                          <a:solidFill>
                            <a:srgbClr val="1B2324"/>
                          </a:solidFill>
                        </a:rPr>
                        <a:t>-0.3</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50" dirty="0">
                          <a:solidFill>
                            <a:srgbClr val="1B2324"/>
                          </a:solidFill>
                        </a:rPr>
                        <a:t>-1.6%</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50" dirty="0">
                          <a:solidFill>
                            <a:srgbClr val="1B2324"/>
                          </a:solidFill>
                        </a:rPr>
                        <a:t>29.7%</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10896">
                <a:tc>
                  <a:txBody>
                    <a:bodyPr/>
                    <a:lstStyle/>
                    <a:p>
                      <a:pPr algn="l" indent="0" marL="0">
                        <a:buNone/>
                      </a:pPr>
                      <a:r>
                        <a:rPr lang="en-US" sz="950" dirty="0">
                          <a:solidFill>
                            <a:srgbClr val="1B2324"/>
                          </a:solidFill>
                        </a:rPr>
                        <a:t>慎重</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B2324"/>
                          </a:solidFill>
                        </a:rPr>
                        <a:t>-0.6</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B2324"/>
                          </a:solidFill>
                        </a:rPr>
                        <a:t>-3.3%</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r" indent="0" marL="0">
                        <a:buNone/>
                      </a:pPr>
                      <a:r>
                        <a:rPr lang="en-US" sz="950" dirty="0">
                          <a:solidFill>
                            <a:srgbClr val="1B2324"/>
                          </a:solidFill>
                        </a:rPr>
                        <a:t>29.7%</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B2324"/>
                          </a:solidFill>
                        </a:rPr>
                        <a:t>悲観</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50" dirty="0">
                          <a:solidFill>
                            <a:srgbClr val="1B2324"/>
                          </a:solidFill>
                        </a:rPr>
                        <a:t>-1.0</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50" dirty="0">
                          <a:solidFill>
                            <a:srgbClr val="1B2324"/>
                          </a:solidFill>
                        </a:rPr>
                        <a:t>-5.4%</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r" indent="0" marL="0">
                        <a:buNone/>
                      </a:pPr>
                      <a:r>
                        <a:rPr lang="en-US" sz="950" dirty="0">
                          <a:solidFill>
                            <a:srgbClr val="1B2324"/>
                          </a:solidFill>
                        </a:rPr>
                        <a:t>29.7%</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bl>
          </a:graphicData>
        </a:graphic>
      </p:graphicFrame>
      <p:sp>
        <p:nvSpPr>
          <p:cNvPr id="7" name="elastic-note"/>
          <p:cNvSpPr/>
          <p:nvPr/>
        </p:nvSpPr>
        <p:spPr>
          <a:xfrm>
            <a:off x="5715000" y="3063240"/>
            <a:ext cx="2971800" cy="1371600"/>
          </a:xfrm>
          <a:prstGeom prst="roundRect">
            <a:avLst>
              <a:gd name="adj" fmla="val 6667"/>
            </a:avLst>
          </a:prstGeom>
          <a:solidFill>
            <a:schemeClr val="tx2"/>
          </a:solidFill>
          <a:ln/>
        </p:spPr>
      </p:sp>
      <p:sp>
        <p:nvSpPr>
          <p:cNvPr id="8" name="Text 3"/>
          <p:cNvSpPr txBox="1"/>
          <p:nvPr/>
        </p:nvSpPr>
        <p:spPr>
          <a:xfrm>
            <a:off x="5897880" y="3200400"/>
            <a:ext cx="2651760" cy="1188720"/>
          </a:xfrm>
          <a:prstGeom prst="rect">
            <a:avLst/>
          </a:prstGeom>
          <a:noFill/>
          <a:ln/>
        </p:spPr>
        <p:txBody>
          <a:bodyPr wrap="square" lIns="0" tIns="0" rIns="0" bIns="0" rtlCol="0" anchor="t"/>
          <a:lstStyle/>
          <a:p>
            <a:pPr indent="0" marL="0">
              <a:buNone/>
            </a:pPr>
            <a:r>
              <a:rPr lang="en-US" sz="1100" b="1" dirty="0">
                <a:solidFill>
                  <a:schemeClr val="bg1"/>
                </a:solidFill>
              </a:rPr>
              <a:t>1品あたり原価は不変</a:t>
            </a:r>
            <a:endParaRPr lang="en-US" sz="1100" dirty="0"/>
          </a:p>
          <a:p>
            <a:pPr indent="0" marL="0">
              <a:buNone/>
            </a:pPr>
            <a:r>
              <a:rPr lang="en-US" sz="950" dirty="0">
                <a:solidFill>
                  <a:schemeClr val="accent5"/>
                </a:solidFill>
              </a:rPr>
              <a:t>出数が減っても、値上げで1品あたりの粗利が増えるため、粗利額はプラスを維持します。理論原価率は30.9%→29.7%に改善します。</a:t>
            </a:r>
            <a:endParaRPr lang="en-US" sz="1100" dirty="0"/>
          </a:p>
        </p:txBody>
      </p:sp>
      <p:sp>
        <p:nvSpPr>
          <p:cNvPr id="9"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試算：根拠データ「品目別試算」。4〜6月の出数×（1＋弾力性×値上げ率）。原価はメニュー原価一覧のレシピ原価</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10　下期の原価率改善ブリッジ</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値上げ−0.65pt、原価管理−1.52ptで下期原価率を33.4%へ</a:t>
            </a:r>
            <a:endParaRPr lang="en-US" sz="2100" dirty="0"/>
          </a:p>
        </p:txBody>
      </p:sp>
      <p:sp>
        <p:nvSpPr>
          <p:cNvPr id="5" name="Text 2"/>
          <p:cNvSpPr txBox="1"/>
          <p:nvPr/>
        </p:nvSpPr>
        <p:spPr>
          <a:xfrm>
            <a:off x="457200" y="1234440"/>
            <a:ext cx="5394960" cy="228600"/>
          </a:xfrm>
          <a:prstGeom prst="rect">
            <a:avLst/>
          </a:prstGeom>
          <a:noFill/>
          <a:ln/>
        </p:spPr>
        <p:txBody>
          <a:bodyPr wrap="square" lIns="0" tIns="0" rIns="0" bIns="0" rtlCol="0" anchor="t"/>
          <a:lstStyle/>
          <a:p>
            <a:pPr algn="ctr" indent="0" marL="0">
              <a:buNone/>
            </a:pPr>
            <a:r>
              <a:rPr lang="en-US" sz="1050" dirty="0">
                <a:solidFill>
                  <a:schemeClr val="accent4"/>
                </a:solidFill>
              </a:rPr>
              <a:t>飲食原価率（%）　上期実績 → 下期計画</a:t>
            </a:r>
            <a:endParaRPr lang="en-US" sz="1050" dirty="0"/>
          </a:p>
        </p:txBody>
      </p:sp>
      <p:sp>
        <p:nvSpPr>
          <p:cNvPr id="6" name="wf-axis"/>
          <p:cNvSpPr/>
          <p:nvPr/>
        </p:nvSpPr>
        <p:spPr>
          <a:xfrm>
            <a:off x="457200" y="4069080"/>
            <a:ext cx="5394960" cy="0"/>
          </a:xfrm>
          <a:prstGeom prst="line">
            <a:avLst/>
          </a:prstGeom>
          <a:noFill/>
          <a:ln w="9525">
            <a:solidFill>
              <a:srgbClr val="D5DEDC"/>
            </a:solidFill>
            <a:prstDash val="solid"/>
          </a:ln>
        </p:spPr>
      </p:sp>
      <p:sp>
        <p:nvSpPr>
          <p:cNvPr id="7" name="wf-bar"/>
          <p:cNvSpPr/>
          <p:nvPr/>
        </p:nvSpPr>
        <p:spPr>
          <a:xfrm>
            <a:off x="694578" y="1930560"/>
            <a:ext cx="604236" cy="2138520"/>
          </a:xfrm>
          <a:prstGeom prst="rect">
            <a:avLst/>
          </a:prstGeom>
          <a:solidFill>
            <a:srgbClr val="6B7478"/>
          </a:solidFill>
          <a:ln/>
        </p:spPr>
      </p:sp>
      <p:sp>
        <p:nvSpPr>
          <p:cNvPr id="8" name="Text 5"/>
          <p:cNvSpPr txBox="1"/>
          <p:nvPr/>
        </p:nvSpPr>
        <p:spPr>
          <a:xfrm>
            <a:off x="420258" y="1683672"/>
            <a:ext cx="1152876" cy="219456"/>
          </a:xfrm>
          <a:prstGeom prst="rect">
            <a:avLst/>
          </a:prstGeom>
          <a:noFill/>
          <a:ln/>
        </p:spPr>
        <p:txBody>
          <a:bodyPr wrap="square" lIns="0" tIns="0" rIns="0" bIns="0" rtlCol="0" anchor="t"/>
          <a:lstStyle/>
          <a:p>
            <a:pPr algn="ctr" indent="0" marL="0">
              <a:buNone/>
            </a:pPr>
            <a:r>
              <a:rPr lang="en-US" sz="1050" b="1" dirty="0">
                <a:solidFill>
                  <a:schemeClr val="tx1"/>
                </a:solidFill>
              </a:rPr>
              <a:t>36.4%</a:t>
            </a:r>
            <a:endParaRPr lang="en-US" sz="1050" dirty="0"/>
          </a:p>
        </p:txBody>
      </p:sp>
      <p:sp>
        <p:nvSpPr>
          <p:cNvPr id="9" name="Text 6"/>
          <p:cNvSpPr txBox="1"/>
          <p:nvPr/>
        </p:nvSpPr>
        <p:spPr>
          <a:xfrm>
            <a:off x="457200" y="4123944"/>
            <a:ext cx="1078992" cy="384048"/>
          </a:xfrm>
          <a:prstGeom prst="rect">
            <a:avLst/>
          </a:prstGeom>
          <a:noFill/>
          <a:ln/>
        </p:spPr>
        <p:txBody>
          <a:bodyPr wrap="square" lIns="0" tIns="0" rIns="0" bIns="0" rtlCol="0" anchor="t"/>
          <a:lstStyle/>
          <a:p>
            <a:pPr algn="ctr" indent="0" marL="0">
              <a:buNone/>
            </a:pPr>
            <a:r>
              <a:rPr lang="en-US" sz="850" dirty="0">
                <a:solidFill>
                  <a:schemeClr val="tx1"/>
                </a:solidFill>
              </a:rPr>
              <a:t>上期実績</a:t>
            </a:r>
            <a:endParaRPr lang="en-US" sz="850" dirty="0"/>
          </a:p>
        </p:txBody>
      </p:sp>
      <p:sp>
        <p:nvSpPr>
          <p:cNvPr id="10" name="wf-link"/>
          <p:cNvSpPr/>
          <p:nvPr/>
        </p:nvSpPr>
        <p:spPr>
          <a:xfrm>
            <a:off x="1298814" y="1930560"/>
            <a:ext cx="474756" cy="0"/>
          </a:xfrm>
          <a:prstGeom prst="line">
            <a:avLst/>
          </a:prstGeom>
          <a:noFill/>
          <a:ln w="6350">
            <a:solidFill>
              <a:srgbClr val="6B7478"/>
            </a:solidFill>
            <a:prstDash val="dash"/>
          </a:ln>
        </p:spPr>
      </p:sp>
      <p:sp>
        <p:nvSpPr>
          <p:cNvPr id="11" name="wf-bar"/>
          <p:cNvSpPr/>
          <p:nvPr/>
        </p:nvSpPr>
        <p:spPr>
          <a:xfrm>
            <a:off x="1773570" y="1930560"/>
            <a:ext cx="604236" cy="283137"/>
          </a:xfrm>
          <a:prstGeom prst="rect">
            <a:avLst/>
          </a:prstGeom>
          <a:solidFill>
            <a:srgbClr val="C9DCD8"/>
          </a:solidFill>
          <a:ln/>
        </p:spPr>
      </p:sp>
      <p:sp>
        <p:nvSpPr>
          <p:cNvPr id="12" name="Text 9"/>
          <p:cNvSpPr txBox="1"/>
          <p:nvPr/>
        </p:nvSpPr>
        <p:spPr>
          <a:xfrm>
            <a:off x="1499250" y="1683672"/>
            <a:ext cx="1152876" cy="219456"/>
          </a:xfrm>
          <a:prstGeom prst="rect">
            <a:avLst/>
          </a:prstGeom>
          <a:noFill/>
          <a:ln/>
        </p:spPr>
        <p:txBody>
          <a:bodyPr wrap="square" lIns="0" tIns="0" rIns="0" bIns="0" rtlCol="0" anchor="t"/>
          <a:lstStyle/>
          <a:p>
            <a:pPr algn="ctr" indent="0" marL="0">
              <a:buNone/>
            </a:pPr>
            <a:r>
              <a:rPr lang="en-US" sz="1050" b="1" dirty="0">
                <a:solidFill>
                  <a:schemeClr val="tx1"/>
                </a:solidFill>
              </a:rPr>
              <a:t>-0.85</a:t>
            </a:r>
            <a:endParaRPr lang="en-US" sz="1050" dirty="0"/>
          </a:p>
        </p:txBody>
      </p:sp>
      <p:sp>
        <p:nvSpPr>
          <p:cNvPr id="13" name="Text 10"/>
          <p:cNvSpPr txBox="1"/>
          <p:nvPr/>
        </p:nvSpPr>
        <p:spPr>
          <a:xfrm>
            <a:off x="1536192" y="4123944"/>
            <a:ext cx="1078992" cy="384048"/>
          </a:xfrm>
          <a:prstGeom prst="rect">
            <a:avLst/>
          </a:prstGeom>
          <a:noFill/>
          <a:ln/>
        </p:spPr>
        <p:txBody>
          <a:bodyPr wrap="square" lIns="0" tIns="0" rIns="0" bIns="0" rtlCol="0" anchor="t"/>
          <a:lstStyle/>
          <a:p>
            <a:pPr algn="ctr" indent="0" marL="0">
              <a:buNone/>
            </a:pPr>
            <a:r>
              <a:rPr lang="en-US" sz="850" dirty="0">
                <a:solidFill>
                  <a:schemeClr val="tx1"/>
                </a:solidFill>
              </a:rPr>
              <a:t>在庫取崩し</a:t>
            </a:r>
            <a:endParaRPr lang="en-US" sz="850" dirty="0"/>
          </a:p>
          <a:p>
            <a:pPr algn="ctr" indent="0" marL="0">
              <a:buNone/>
            </a:pPr>
            <a:r>
              <a:rPr lang="en-US" sz="850" dirty="0">
                <a:solidFill>
                  <a:schemeClr val="tx1"/>
                </a:solidFill>
              </a:rPr>
              <a:t>の一巡</a:t>
            </a:r>
            <a:endParaRPr lang="en-US" sz="850" dirty="0"/>
          </a:p>
        </p:txBody>
      </p:sp>
      <p:sp>
        <p:nvSpPr>
          <p:cNvPr id="14" name="wf-link"/>
          <p:cNvSpPr/>
          <p:nvPr/>
        </p:nvSpPr>
        <p:spPr>
          <a:xfrm>
            <a:off x="2377806" y="2213697"/>
            <a:ext cx="474756" cy="0"/>
          </a:xfrm>
          <a:prstGeom prst="line">
            <a:avLst/>
          </a:prstGeom>
          <a:noFill/>
          <a:ln w="6350">
            <a:solidFill>
              <a:srgbClr val="6B7478"/>
            </a:solidFill>
            <a:prstDash val="dash"/>
          </a:ln>
        </p:spPr>
      </p:sp>
      <p:sp>
        <p:nvSpPr>
          <p:cNvPr id="15" name="wf-bar"/>
          <p:cNvSpPr/>
          <p:nvPr/>
        </p:nvSpPr>
        <p:spPr>
          <a:xfrm>
            <a:off x="2852562" y="2213697"/>
            <a:ext cx="604236" cy="216517"/>
          </a:xfrm>
          <a:prstGeom prst="rect">
            <a:avLst/>
          </a:prstGeom>
          <a:solidFill>
            <a:srgbClr val="0F3D3E"/>
          </a:solidFill>
          <a:ln/>
        </p:spPr>
      </p:sp>
      <p:sp>
        <p:nvSpPr>
          <p:cNvPr id="16" name="Text 13"/>
          <p:cNvSpPr txBox="1"/>
          <p:nvPr/>
        </p:nvSpPr>
        <p:spPr>
          <a:xfrm>
            <a:off x="2578242" y="1966809"/>
            <a:ext cx="1152876" cy="219456"/>
          </a:xfrm>
          <a:prstGeom prst="rect">
            <a:avLst/>
          </a:prstGeom>
          <a:noFill/>
          <a:ln/>
        </p:spPr>
        <p:txBody>
          <a:bodyPr wrap="square" lIns="0" tIns="0" rIns="0" bIns="0" rtlCol="0" anchor="t"/>
          <a:lstStyle/>
          <a:p>
            <a:pPr algn="ctr" indent="0" marL="0">
              <a:buNone/>
            </a:pPr>
            <a:r>
              <a:rPr lang="en-US" sz="1050" b="1" dirty="0">
                <a:solidFill>
                  <a:schemeClr val="tx1"/>
                </a:solidFill>
              </a:rPr>
              <a:t>-0.65</a:t>
            </a:r>
            <a:endParaRPr lang="en-US" sz="1050" dirty="0"/>
          </a:p>
        </p:txBody>
      </p:sp>
      <p:sp>
        <p:nvSpPr>
          <p:cNvPr id="17" name="Text 14"/>
          <p:cNvSpPr txBox="1"/>
          <p:nvPr/>
        </p:nvSpPr>
        <p:spPr>
          <a:xfrm>
            <a:off x="2615184" y="4123944"/>
            <a:ext cx="1078992" cy="384048"/>
          </a:xfrm>
          <a:prstGeom prst="rect">
            <a:avLst/>
          </a:prstGeom>
          <a:noFill/>
          <a:ln/>
        </p:spPr>
        <p:txBody>
          <a:bodyPr wrap="square" lIns="0" tIns="0" rIns="0" bIns="0" rtlCol="0" anchor="t"/>
          <a:lstStyle/>
          <a:p>
            <a:pPr algn="ctr" indent="0" marL="0">
              <a:buNone/>
            </a:pPr>
            <a:r>
              <a:rPr lang="en-US" sz="850" dirty="0">
                <a:solidFill>
                  <a:schemeClr val="tx1"/>
                </a:solidFill>
              </a:rPr>
              <a:t>GM値上げ</a:t>
            </a:r>
            <a:endParaRPr lang="en-US" sz="850" dirty="0"/>
          </a:p>
          <a:p>
            <a:pPr algn="ctr" indent="0" marL="0">
              <a:buNone/>
            </a:pPr>
            <a:r>
              <a:rPr lang="en-US" sz="850" dirty="0">
                <a:solidFill>
                  <a:schemeClr val="tx1"/>
                </a:solidFill>
              </a:rPr>
              <a:t>（A＋B案）</a:t>
            </a:r>
            <a:endParaRPr lang="en-US" sz="850" dirty="0"/>
          </a:p>
        </p:txBody>
      </p:sp>
      <p:sp>
        <p:nvSpPr>
          <p:cNvPr id="18" name="wf-link"/>
          <p:cNvSpPr/>
          <p:nvPr/>
        </p:nvSpPr>
        <p:spPr>
          <a:xfrm>
            <a:off x="3456798" y="2430214"/>
            <a:ext cx="474756" cy="0"/>
          </a:xfrm>
          <a:prstGeom prst="line">
            <a:avLst/>
          </a:prstGeom>
          <a:noFill/>
          <a:ln w="6350">
            <a:solidFill>
              <a:srgbClr val="6B7478"/>
            </a:solidFill>
            <a:prstDash val="dash"/>
          </a:ln>
        </p:spPr>
      </p:sp>
      <p:sp>
        <p:nvSpPr>
          <p:cNvPr id="19" name="wf-bar"/>
          <p:cNvSpPr/>
          <p:nvPr/>
        </p:nvSpPr>
        <p:spPr>
          <a:xfrm>
            <a:off x="3931554" y="2430214"/>
            <a:ext cx="604236" cy="506316"/>
          </a:xfrm>
          <a:prstGeom prst="rect">
            <a:avLst/>
          </a:prstGeom>
          <a:solidFill>
            <a:srgbClr val="0F3D3E"/>
          </a:solidFill>
          <a:ln/>
        </p:spPr>
      </p:sp>
      <p:sp>
        <p:nvSpPr>
          <p:cNvPr id="20" name="Text 17"/>
          <p:cNvSpPr txBox="1"/>
          <p:nvPr/>
        </p:nvSpPr>
        <p:spPr>
          <a:xfrm>
            <a:off x="3657234" y="2183326"/>
            <a:ext cx="1152876" cy="219456"/>
          </a:xfrm>
          <a:prstGeom prst="rect">
            <a:avLst/>
          </a:prstGeom>
          <a:noFill/>
          <a:ln/>
        </p:spPr>
        <p:txBody>
          <a:bodyPr wrap="square" lIns="0" tIns="0" rIns="0" bIns="0" rtlCol="0" anchor="t"/>
          <a:lstStyle/>
          <a:p>
            <a:pPr algn="ctr" indent="0" marL="0">
              <a:buNone/>
            </a:pPr>
            <a:r>
              <a:rPr lang="en-US" sz="1050" b="1" dirty="0">
                <a:solidFill>
                  <a:schemeClr val="tx1"/>
                </a:solidFill>
              </a:rPr>
              <a:t>-1.52</a:t>
            </a:r>
            <a:endParaRPr lang="en-US" sz="1050" dirty="0"/>
          </a:p>
        </p:txBody>
      </p:sp>
      <p:sp>
        <p:nvSpPr>
          <p:cNvPr id="21" name="Text 18"/>
          <p:cNvSpPr txBox="1"/>
          <p:nvPr/>
        </p:nvSpPr>
        <p:spPr>
          <a:xfrm>
            <a:off x="3694176" y="4123944"/>
            <a:ext cx="1078992" cy="384048"/>
          </a:xfrm>
          <a:prstGeom prst="rect">
            <a:avLst/>
          </a:prstGeom>
          <a:noFill/>
          <a:ln/>
        </p:spPr>
        <p:txBody>
          <a:bodyPr wrap="square" lIns="0" tIns="0" rIns="0" bIns="0" rtlCol="0" anchor="t"/>
          <a:lstStyle/>
          <a:p>
            <a:pPr algn="ctr" indent="0" marL="0">
              <a:buNone/>
            </a:pPr>
            <a:r>
              <a:rPr lang="en-US" sz="850" dirty="0">
                <a:solidFill>
                  <a:schemeClr val="tx1"/>
                </a:solidFill>
              </a:rPr>
              <a:t>原価</a:t>
            </a:r>
            <a:endParaRPr lang="en-US" sz="850" dirty="0"/>
          </a:p>
          <a:p>
            <a:pPr algn="ctr" indent="0" marL="0">
              <a:buNone/>
            </a:pPr>
            <a:r>
              <a:rPr lang="en-US" sz="850" dirty="0">
                <a:solidFill>
                  <a:schemeClr val="tx1"/>
                </a:solidFill>
              </a:rPr>
              <a:t>コントロール</a:t>
            </a:r>
            <a:endParaRPr lang="en-US" sz="850" dirty="0"/>
          </a:p>
        </p:txBody>
      </p:sp>
      <p:sp>
        <p:nvSpPr>
          <p:cNvPr id="22" name="wf-link"/>
          <p:cNvSpPr/>
          <p:nvPr/>
        </p:nvSpPr>
        <p:spPr>
          <a:xfrm>
            <a:off x="4535790" y="2936530"/>
            <a:ext cx="474756" cy="0"/>
          </a:xfrm>
          <a:prstGeom prst="line">
            <a:avLst/>
          </a:prstGeom>
          <a:noFill/>
          <a:ln w="6350">
            <a:solidFill>
              <a:srgbClr val="6B7478"/>
            </a:solidFill>
            <a:prstDash val="dash"/>
          </a:ln>
        </p:spPr>
      </p:sp>
      <p:sp>
        <p:nvSpPr>
          <p:cNvPr id="23" name="wf-bar"/>
          <p:cNvSpPr/>
          <p:nvPr/>
        </p:nvSpPr>
        <p:spPr>
          <a:xfrm>
            <a:off x="5010546" y="2936530"/>
            <a:ext cx="604236" cy="1132550"/>
          </a:xfrm>
          <a:prstGeom prst="rect">
            <a:avLst/>
          </a:prstGeom>
          <a:solidFill>
            <a:srgbClr val="C8773B"/>
          </a:solidFill>
          <a:ln/>
        </p:spPr>
      </p:sp>
      <p:sp>
        <p:nvSpPr>
          <p:cNvPr id="24" name="Text 21"/>
          <p:cNvSpPr txBox="1"/>
          <p:nvPr/>
        </p:nvSpPr>
        <p:spPr>
          <a:xfrm>
            <a:off x="4736226" y="2689642"/>
            <a:ext cx="1152876" cy="219456"/>
          </a:xfrm>
          <a:prstGeom prst="rect">
            <a:avLst/>
          </a:prstGeom>
          <a:noFill/>
          <a:ln/>
        </p:spPr>
        <p:txBody>
          <a:bodyPr wrap="square" lIns="0" tIns="0" rIns="0" bIns="0" rtlCol="0" anchor="t"/>
          <a:lstStyle/>
          <a:p>
            <a:pPr algn="ctr" indent="0" marL="0">
              <a:buNone/>
            </a:pPr>
            <a:r>
              <a:rPr lang="en-US" sz="1050" b="1" dirty="0">
                <a:solidFill>
                  <a:schemeClr val="accent1"/>
                </a:solidFill>
              </a:rPr>
              <a:t>33.4%</a:t>
            </a:r>
            <a:endParaRPr lang="en-US" sz="1050" dirty="0"/>
          </a:p>
        </p:txBody>
      </p:sp>
      <p:sp>
        <p:nvSpPr>
          <p:cNvPr id="25" name="Text 22"/>
          <p:cNvSpPr txBox="1"/>
          <p:nvPr/>
        </p:nvSpPr>
        <p:spPr>
          <a:xfrm>
            <a:off x="4773168" y="4123944"/>
            <a:ext cx="1078992" cy="384048"/>
          </a:xfrm>
          <a:prstGeom prst="rect">
            <a:avLst/>
          </a:prstGeom>
          <a:noFill/>
          <a:ln/>
        </p:spPr>
        <p:txBody>
          <a:bodyPr wrap="square" lIns="0" tIns="0" rIns="0" bIns="0" rtlCol="0" anchor="t"/>
          <a:lstStyle/>
          <a:p>
            <a:pPr algn="ctr" indent="0" marL="0">
              <a:buNone/>
            </a:pPr>
            <a:r>
              <a:rPr lang="en-US" sz="850" dirty="0">
                <a:solidFill>
                  <a:schemeClr val="tx1"/>
                </a:solidFill>
              </a:rPr>
              <a:t>下期計画</a:t>
            </a:r>
            <a:endParaRPr lang="en-US" sz="850" dirty="0"/>
          </a:p>
        </p:txBody>
      </p:sp>
      <p:sp>
        <p:nvSpPr>
          <p:cNvPr id="26" name="kpi"/>
          <p:cNvSpPr/>
          <p:nvPr/>
        </p:nvSpPr>
        <p:spPr>
          <a:xfrm>
            <a:off x="6080760" y="1280160"/>
            <a:ext cx="2606040" cy="1234440"/>
          </a:xfrm>
          <a:prstGeom prst="roundRect">
            <a:avLst>
              <a:gd name="adj" fmla="val 7407"/>
            </a:avLst>
          </a:prstGeom>
          <a:solidFill>
            <a:schemeClr val="bg2"/>
          </a:solidFill>
          <a:ln/>
        </p:spPr>
      </p:sp>
      <p:sp>
        <p:nvSpPr>
          <p:cNvPr id="27" name="Text 24"/>
          <p:cNvSpPr txBox="1"/>
          <p:nvPr/>
        </p:nvSpPr>
        <p:spPr>
          <a:xfrm>
            <a:off x="6263640" y="1426464"/>
            <a:ext cx="2240280" cy="228600"/>
          </a:xfrm>
          <a:prstGeom prst="rect">
            <a:avLst/>
          </a:prstGeom>
          <a:noFill/>
          <a:ln/>
        </p:spPr>
        <p:txBody>
          <a:bodyPr wrap="square" lIns="0" tIns="0" rIns="0" bIns="0" rtlCol="0" anchor="t"/>
          <a:lstStyle/>
          <a:p>
            <a:pPr indent="0" marL="0">
              <a:buNone/>
            </a:pPr>
            <a:r>
              <a:rPr lang="en-US" sz="950" b="1" dirty="0">
                <a:solidFill>
                  <a:schemeClr val="accent4"/>
                </a:solidFill>
              </a:rPr>
              <a:t>原価コントロール 必要額（下期）</a:t>
            </a:r>
            <a:endParaRPr lang="en-US" sz="950" dirty="0"/>
          </a:p>
        </p:txBody>
      </p:sp>
      <p:sp>
        <p:nvSpPr>
          <p:cNvPr id="28" name="Text 25"/>
          <p:cNvSpPr txBox="1"/>
          <p:nvPr/>
        </p:nvSpPr>
        <p:spPr>
          <a:xfrm>
            <a:off x="6263640" y="1664208"/>
            <a:ext cx="2240280" cy="457200"/>
          </a:xfrm>
          <a:prstGeom prst="rect">
            <a:avLst/>
          </a:prstGeom>
          <a:noFill/>
          <a:ln/>
        </p:spPr>
        <p:txBody>
          <a:bodyPr wrap="square" lIns="0" tIns="0" rIns="0" bIns="0" rtlCol="0" anchor="t"/>
          <a:lstStyle/>
          <a:p>
            <a:pPr indent="0" marL="0">
              <a:buNone/>
            </a:pPr>
            <a:r>
              <a:rPr lang="en-US" sz="2400" b="1" dirty="0">
                <a:solidFill>
                  <a:schemeClr val="accent1"/>
                </a:solidFill>
              </a:rPr>
              <a:t>85万円</a:t>
            </a:r>
            <a:endParaRPr lang="en-US" sz="2400" dirty="0"/>
          </a:p>
        </p:txBody>
      </p:sp>
      <p:sp>
        <p:nvSpPr>
          <p:cNvPr id="29" name="Text 26"/>
          <p:cNvSpPr txBox="1"/>
          <p:nvPr/>
        </p:nvSpPr>
        <p:spPr>
          <a:xfrm>
            <a:off x="6263640" y="2130552"/>
            <a:ext cx="2331720" cy="320040"/>
          </a:xfrm>
          <a:prstGeom prst="rect">
            <a:avLst/>
          </a:prstGeom>
          <a:noFill/>
          <a:ln/>
        </p:spPr>
        <p:txBody>
          <a:bodyPr wrap="square" lIns="0" tIns="0" rIns="0" bIns="0" rtlCol="0" anchor="t"/>
          <a:lstStyle/>
          <a:p>
            <a:pPr indent="0" marL="0">
              <a:buNone/>
            </a:pPr>
            <a:r>
              <a:rPr lang="en-US" sz="850" dirty="0">
                <a:solidFill>
                  <a:schemeClr val="accent4"/>
                </a:solidFill>
              </a:rPr>
              <a:t>月14万円・下期原価の4.4%</a:t>
            </a:r>
            <a:endParaRPr lang="en-US" sz="850" dirty="0"/>
          </a:p>
        </p:txBody>
      </p:sp>
      <p:sp>
        <p:nvSpPr>
          <p:cNvPr id="30" name="kpi"/>
          <p:cNvSpPr/>
          <p:nvPr/>
        </p:nvSpPr>
        <p:spPr>
          <a:xfrm>
            <a:off x="6080760" y="2651760"/>
            <a:ext cx="2606040" cy="1234440"/>
          </a:xfrm>
          <a:prstGeom prst="roundRect">
            <a:avLst>
              <a:gd name="adj" fmla="val 7407"/>
            </a:avLst>
          </a:prstGeom>
          <a:solidFill>
            <a:schemeClr val="bg2"/>
          </a:solidFill>
          <a:ln/>
        </p:spPr>
      </p:sp>
      <p:sp>
        <p:nvSpPr>
          <p:cNvPr id="31" name="Text 28"/>
          <p:cNvSpPr txBox="1"/>
          <p:nvPr/>
        </p:nvSpPr>
        <p:spPr>
          <a:xfrm>
            <a:off x="6263640" y="2798064"/>
            <a:ext cx="2240280" cy="228600"/>
          </a:xfrm>
          <a:prstGeom prst="rect">
            <a:avLst/>
          </a:prstGeom>
          <a:noFill/>
          <a:ln/>
        </p:spPr>
        <p:txBody>
          <a:bodyPr wrap="square" lIns="0" tIns="0" rIns="0" bIns="0" rtlCol="0" anchor="t"/>
          <a:lstStyle/>
          <a:p>
            <a:pPr indent="0" marL="0">
              <a:buNone/>
            </a:pPr>
            <a:r>
              <a:rPr lang="en-US" sz="950" b="1" dirty="0">
                <a:solidFill>
                  <a:schemeClr val="accent4"/>
                </a:solidFill>
              </a:rPr>
              <a:t>値上げのみで達成する場合</a:t>
            </a:r>
            <a:endParaRPr lang="en-US" sz="950" dirty="0"/>
          </a:p>
        </p:txBody>
      </p:sp>
      <p:sp>
        <p:nvSpPr>
          <p:cNvPr id="32" name="Text 29"/>
          <p:cNvSpPr txBox="1"/>
          <p:nvPr/>
        </p:nvSpPr>
        <p:spPr>
          <a:xfrm>
            <a:off x="6263640" y="3035808"/>
            <a:ext cx="2240280" cy="457200"/>
          </a:xfrm>
          <a:prstGeom prst="rect">
            <a:avLst/>
          </a:prstGeom>
          <a:noFill/>
          <a:ln/>
        </p:spPr>
        <p:txBody>
          <a:bodyPr wrap="square" lIns="0" tIns="0" rIns="0" bIns="0" rtlCol="0" anchor="t"/>
          <a:lstStyle/>
          <a:p>
            <a:pPr indent="0" marL="0">
              <a:buNone/>
            </a:pPr>
            <a:r>
              <a:rPr lang="en-US" sz="2400" b="1" dirty="0">
                <a:solidFill>
                  <a:schemeClr val="tx2"/>
                </a:solidFill>
              </a:rPr>
              <a:t>+12%</a:t>
            </a:r>
            <a:endParaRPr lang="en-US" sz="2400" dirty="0"/>
          </a:p>
        </p:txBody>
      </p:sp>
      <p:sp>
        <p:nvSpPr>
          <p:cNvPr id="33" name="Text 30"/>
          <p:cNvSpPr txBox="1"/>
          <p:nvPr/>
        </p:nvSpPr>
        <p:spPr>
          <a:xfrm>
            <a:off x="6263640" y="3502152"/>
            <a:ext cx="2331720" cy="320040"/>
          </a:xfrm>
          <a:prstGeom prst="rect">
            <a:avLst/>
          </a:prstGeom>
          <a:noFill/>
          <a:ln/>
        </p:spPr>
        <p:txBody>
          <a:bodyPr wrap="square" lIns="0" tIns="0" rIns="0" bIns="0" rtlCol="0" anchor="t"/>
          <a:lstStyle/>
          <a:p>
            <a:pPr indent="0" marL="0">
              <a:buNone/>
            </a:pPr>
            <a:r>
              <a:rPr lang="en-US" sz="850" dirty="0">
                <a:solidFill>
                  <a:schemeClr val="accent4"/>
                </a:solidFill>
              </a:rPr>
              <a:t>GM全体で平均+12%が必要（非現実的）</a:t>
            </a:r>
            <a:endParaRPr lang="en-US" sz="850" dirty="0"/>
          </a:p>
        </p:txBody>
      </p:sp>
      <p:sp>
        <p:nvSpPr>
          <p:cNvPr id="34" name="Text 31"/>
          <p:cNvSpPr txBox="1"/>
          <p:nvPr/>
        </p:nvSpPr>
        <p:spPr>
          <a:xfrm>
            <a:off x="6080760" y="4069080"/>
            <a:ext cx="2606040" cy="274320"/>
          </a:xfrm>
          <a:prstGeom prst="rect">
            <a:avLst/>
          </a:prstGeom>
          <a:noFill/>
          <a:ln/>
        </p:spPr>
        <p:txBody>
          <a:bodyPr wrap="square" lIns="0" tIns="0" rIns="0" bIns="0" rtlCol="0" anchor="t"/>
          <a:lstStyle/>
          <a:p>
            <a:pPr indent="0" marL="0">
              <a:buNone/>
            </a:pPr>
            <a:r>
              <a:rPr lang="en-US" sz="1050" b="1" dirty="0">
                <a:solidFill>
                  <a:schemeClr val="tx2"/>
                </a:solidFill>
              </a:rPr>
              <a:t>→ 値上げと原価管理の両輪で達成</a:t>
            </a:r>
            <a:endParaRPr lang="en-US" sz="1050" dirty="0"/>
          </a:p>
        </p:txBody>
      </p:sp>
      <p:sp>
        <p:nvSpPr>
          <p:cNvPr id="35"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試算：根拠データ「原価率プラン」。下期の売上・出数は上期と同水準、在庫は横ばいを前提。値上げ効果は弾力性-0.3</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11　通期の着地見通し</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通期見通しは34.9%。予算内には166万円の追加改善が必要</a:t>
            </a:r>
            <a:endParaRPr lang="en-US" sz="2100" dirty="0"/>
          </a:p>
        </p:txBody>
      </p:sp>
      <p:graphicFrame>
        <p:nvGraphicFramePr>
          <p:cNvPr id="5" name="chart-fy" descr=""/>
          <p:cNvGraphicFramePr/>
          <p:nvPr/>
        </p:nvGraphicFramePr>
        <p:xfrm>
          <a:off x="365760" y="123444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6" name="options"/>
          <p:cNvSpPr/>
          <p:nvPr/>
        </p:nvSpPr>
        <p:spPr>
          <a:xfrm>
            <a:off x="5532120" y="1280160"/>
            <a:ext cx="3154680" cy="3154680"/>
          </a:xfrm>
          <a:prstGeom prst="roundRect">
            <a:avLst>
              <a:gd name="adj" fmla="val 2899"/>
            </a:avLst>
          </a:prstGeom>
          <a:solidFill>
            <a:schemeClr val="bg2"/>
          </a:solidFill>
          <a:ln/>
        </p:spPr>
      </p:sp>
      <p:sp>
        <p:nvSpPr>
          <p:cNvPr id="7" name="Text 3"/>
          <p:cNvSpPr txBox="1"/>
          <p:nvPr/>
        </p:nvSpPr>
        <p:spPr>
          <a:xfrm>
            <a:off x="5715000" y="1417320"/>
            <a:ext cx="2834640" cy="274320"/>
          </a:xfrm>
          <a:prstGeom prst="rect">
            <a:avLst/>
          </a:prstGeom>
          <a:noFill/>
          <a:ln/>
        </p:spPr>
        <p:txBody>
          <a:bodyPr wrap="square" lIns="0" tIns="0" rIns="0" bIns="0" rtlCol="0" anchor="t"/>
          <a:lstStyle/>
          <a:p>
            <a:pPr indent="0" marL="0">
              <a:buNone/>
            </a:pPr>
            <a:r>
              <a:rPr lang="en-US" sz="1100" b="1" dirty="0">
                <a:solidFill>
                  <a:schemeClr val="tx2"/>
                </a:solidFill>
              </a:rPr>
              <a:t>通期予算内に向けた追加施策（案）</a:t>
            </a:r>
            <a:endParaRPr lang="en-US" sz="1100" dirty="0"/>
          </a:p>
        </p:txBody>
      </p:sp>
      <p:sp>
        <p:nvSpPr>
          <p:cNvPr id="8" name="opt-dot"/>
          <p:cNvSpPr/>
          <p:nvPr/>
        </p:nvSpPr>
        <p:spPr>
          <a:xfrm>
            <a:off x="5715000" y="1828800"/>
            <a:ext cx="274320" cy="274320"/>
          </a:xfrm>
          <a:prstGeom prst="ellipse">
            <a:avLst/>
          </a:prstGeom>
          <a:solidFill>
            <a:srgbClr val="C8773B"/>
          </a:solidFill>
          <a:ln/>
        </p:spPr>
      </p:sp>
      <p:sp>
        <p:nvSpPr>
          <p:cNvPr id="9" name="Text 5"/>
          <p:cNvSpPr txBox="1"/>
          <p:nvPr/>
        </p:nvSpPr>
        <p:spPr>
          <a:xfrm>
            <a:off x="5715000" y="1828800"/>
            <a:ext cx="274320" cy="274320"/>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10" name="Text 6"/>
          <p:cNvSpPr txBox="1"/>
          <p:nvPr/>
        </p:nvSpPr>
        <p:spPr>
          <a:xfrm>
            <a:off x="6108192" y="1810512"/>
            <a:ext cx="2468880" cy="256032"/>
          </a:xfrm>
          <a:prstGeom prst="rect">
            <a:avLst/>
          </a:prstGeom>
          <a:noFill/>
          <a:ln/>
        </p:spPr>
        <p:txBody>
          <a:bodyPr wrap="square" lIns="0" tIns="0" rIns="0" bIns="0" rtlCol="0" anchor="t"/>
          <a:lstStyle/>
          <a:p>
            <a:pPr indent="0" marL="0">
              <a:buNone/>
            </a:pPr>
            <a:r>
              <a:rPr lang="en-US" sz="1050" b="1" dirty="0">
                <a:solidFill>
                  <a:schemeClr val="tx1"/>
                </a:solidFill>
              </a:rPr>
              <a:t>コラボ売上の回復</a:t>
            </a:r>
            <a:endParaRPr lang="en-US" sz="1050" dirty="0"/>
          </a:p>
        </p:txBody>
      </p:sp>
      <p:sp>
        <p:nvSpPr>
          <p:cNvPr id="11" name="Text 7"/>
          <p:cNvSpPr txBox="1"/>
          <p:nvPr/>
        </p:nvSpPr>
        <p:spPr>
          <a:xfrm>
            <a:off x="6108192" y="2084832"/>
            <a:ext cx="2468880" cy="502920"/>
          </a:xfrm>
          <a:prstGeom prst="rect">
            <a:avLst/>
          </a:prstGeom>
          <a:noFill/>
          <a:ln/>
        </p:spPr>
        <p:txBody>
          <a:bodyPr wrap="square" lIns="0" tIns="0" rIns="0" bIns="0" rtlCol="0" anchor="t"/>
          <a:lstStyle/>
          <a:p>
            <a:pPr indent="0" marL="0">
              <a:buNone/>
            </a:pPr>
            <a:r>
              <a:rPr lang="en-US" sz="900" dirty="0">
                <a:solidFill>
                  <a:schemeClr val="accent4"/>
                </a:solidFill>
              </a:rPr>
              <a:t>下期コラボが予算水準（半期3,301万円）に戻れば原価率は約0.6pt改善</a:t>
            </a:r>
            <a:endParaRPr lang="en-US" sz="900" dirty="0"/>
          </a:p>
        </p:txBody>
      </p:sp>
      <p:sp>
        <p:nvSpPr>
          <p:cNvPr id="12" name="opt-dot"/>
          <p:cNvSpPr/>
          <p:nvPr/>
        </p:nvSpPr>
        <p:spPr>
          <a:xfrm>
            <a:off x="5715000" y="2697480"/>
            <a:ext cx="274320" cy="274320"/>
          </a:xfrm>
          <a:prstGeom prst="ellipse">
            <a:avLst/>
          </a:prstGeom>
          <a:solidFill>
            <a:srgbClr val="C8773B"/>
          </a:solidFill>
          <a:ln/>
        </p:spPr>
      </p:sp>
      <p:sp>
        <p:nvSpPr>
          <p:cNvPr id="13" name="Text 9"/>
          <p:cNvSpPr txBox="1"/>
          <p:nvPr/>
        </p:nvSpPr>
        <p:spPr>
          <a:xfrm>
            <a:off x="5715000" y="2697480"/>
            <a:ext cx="274320" cy="274320"/>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14" name="Text 10"/>
          <p:cNvSpPr txBox="1"/>
          <p:nvPr/>
        </p:nvSpPr>
        <p:spPr>
          <a:xfrm>
            <a:off x="6108192" y="2679192"/>
            <a:ext cx="2468880" cy="256032"/>
          </a:xfrm>
          <a:prstGeom prst="rect">
            <a:avLst/>
          </a:prstGeom>
          <a:noFill/>
          <a:ln/>
        </p:spPr>
        <p:txBody>
          <a:bodyPr wrap="square" lIns="0" tIns="0" rIns="0" bIns="0" rtlCol="0" anchor="t"/>
          <a:lstStyle/>
          <a:p>
            <a:pPr indent="0" marL="0">
              <a:buNone/>
            </a:pPr>
            <a:r>
              <a:rPr lang="en-US" sz="1050" b="1" dirty="0">
                <a:solidFill>
                  <a:schemeClr val="tx1"/>
                </a:solidFill>
              </a:rPr>
              <a:t>原価コントロールの上積み</a:t>
            </a:r>
            <a:endParaRPr lang="en-US" sz="1050" dirty="0"/>
          </a:p>
        </p:txBody>
      </p:sp>
      <p:sp>
        <p:nvSpPr>
          <p:cNvPr id="15" name="Text 11"/>
          <p:cNvSpPr txBox="1"/>
          <p:nvPr/>
        </p:nvSpPr>
        <p:spPr>
          <a:xfrm>
            <a:off x="6108192" y="2953512"/>
            <a:ext cx="2468880" cy="502920"/>
          </a:xfrm>
          <a:prstGeom prst="rect">
            <a:avLst/>
          </a:prstGeom>
          <a:noFill/>
          <a:ln/>
        </p:spPr>
        <p:txBody>
          <a:bodyPr wrap="square" lIns="0" tIns="0" rIns="0" bIns="0" rtlCol="0" anchor="t"/>
          <a:lstStyle/>
          <a:p>
            <a:pPr indent="0" marL="0">
              <a:buNone/>
            </a:pPr>
            <a:r>
              <a:rPr lang="en-US" sz="900" dirty="0">
                <a:solidFill>
                  <a:schemeClr val="accent4"/>
                </a:solidFill>
              </a:rPr>
              <a:t>必要額85万円に加え、さらに81万円/半期を削減</a:t>
            </a:r>
            <a:endParaRPr lang="en-US" sz="900" dirty="0"/>
          </a:p>
        </p:txBody>
      </p:sp>
      <p:sp>
        <p:nvSpPr>
          <p:cNvPr id="16" name="opt-dot"/>
          <p:cNvSpPr/>
          <p:nvPr/>
        </p:nvSpPr>
        <p:spPr>
          <a:xfrm>
            <a:off x="5715000" y="3566160"/>
            <a:ext cx="274320" cy="274320"/>
          </a:xfrm>
          <a:prstGeom prst="ellipse">
            <a:avLst/>
          </a:prstGeom>
          <a:solidFill>
            <a:srgbClr val="C8773B"/>
          </a:solidFill>
          <a:ln/>
        </p:spPr>
      </p:sp>
      <p:sp>
        <p:nvSpPr>
          <p:cNvPr id="17" name="Text 13"/>
          <p:cNvSpPr txBox="1"/>
          <p:nvPr/>
        </p:nvSpPr>
        <p:spPr>
          <a:xfrm>
            <a:off x="5715000" y="3566160"/>
            <a:ext cx="274320" cy="274320"/>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18" name="Text 14"/>
          <p:cNvSpPr txBox="1"/>
          <p:nvPr/>
        </p:nvSpPr>
        <p:spPr>
          <a:xfrm>
            <a:off x="6108192" y="3547872"/>
            <a:ext cx="2468880" cy="256032"/>
          </a:xfrm>
          <a:prstGeom prst="rect">
            <a:avLst/>
          </a:prstGeom>
          <a:noFill/>
          <a:ln/>
        </p:spPr>
        <p:txBody>
          <a:bodyPr wrap="square" lIns="0" tIns="0" rIns="0" bIns="0" rtlCol="0" anchor="t"/>
          <a:lstStyle/>
          <a:p>
            <a:pPr indent="0" marL="0">
              <a:buNone/>
            </a:pPr>
            <a:r>
              <a:rPr lang="en-US" sz="1050" b="1" dirty="0">
                <a:solidFill>
                  <a:schemeClr val="tx1"/>
                </a:solidFill>
              </a:rPr>
              <a:t>下期中の追加改定</a:t>
            </a:r>
            <a:endParaRPr lang="en-US" sz="1050" dirty="0"/>
          </a:p>
        </p:txBody>
      </p:sp>
      <p:sp>
        <p:nvSpPr>
          <p:cNvPr id="19" name="Text 15"/>
          <p:cNvSpPr txBox="1"/>
          <p:nvPr/>
        </p:nvSpPr>
        <p:spPr>
          <a:xfrm>
            <a:off x="6108192" y="3822192"/>
            <a:ext cx="2468880" cy="502920"/>
          </a:xfrm>
          <a:prstGeom prst="rect">
            <a:avLst/>
          </a:prstGeom>
          <a:noFill/>
          <a:ln/>
        </p:spPr>
        <p:txBody>
          <a:bodyPr wrap="square" lIns="0" tIns="0" rIns="0" bIns="0" rtlCol="0" anchor="t"/>
          <a:lstStyle/>
          <a:p>
            <a:pPr indent="0" marL="0">
              <a:buNone/>
            </a:pPr>
            <a:r>
              <a:rPr lang="en-US" sz="900" dirty="0">
                <a:solidFill>
                  <a:schemeClr val="accent4"/>
                </a:solidFill>
              </a:rPr>
              <a:t>効果検証後、2〜3月に相場内で再改定を検討</a:t>
            </a:r>
            <a:endParaRPr lang="en-US" sz="900" dirty="0"/>
          </a:p>
        </p:txBody>
      </p:sp>
      <p:sp>
        <p:nvSpPr>
          <p:cNvPr id="20"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試算：根拠データ「原価率プラン」。コラボ回復効果は予算の区分別原価率（コラボ32%）で概算</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12　原価コントロール施策（下期85万円）</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理論原価との差を縮め、半期85万円（月14万円）を削減します</a:t>
            </a:r>
            <a:endParaRPr lang="en-US" sz="2100" dirty="0"/>
          </a:p>
        </p:txBody>
      </p:sp>
      <p:sp>
        <p:nvSpPr>
          <p:cNvPr id="5" name="cc"/>
          <p:cNvSpPr/>
          <p:nvPr/>
        </p:nvSpPr>
        <p:spPr>
          <a:xfrm>
            <a:off x="457200" y="1280160"/>
            <a:ext cx="8229600" cy="960120"/>
          </a:xfrm>
          <a:prstGeom prst="roundRect">
            <a:avLst>
              <a:gd name="adj" fmla="val 9524"/>
            </a:avLst>
          </a:prstGeom>
          <a:solidFill>
            <a:schemeClr val="bg2"/>
          </a:solidFill>
          <a:ln/>
        </p:spPr>
      </p:sp>
      <p:sp>
        <p:nvSpPr>
          <p:cNvPr id="6" name="cc-icon"/>
          <p:cNvSpPr/>
          <p:nvPr/>
        </p:nvSpPr>
        <p:spPr>
          <a:xfrm>
            <a:off x="658368" y="1463040"/>
            <a:ext cx="594360" cy="594360"/>
          </a:xfrm>
          <a:prstGeom prst="ellipse">
            <a:avLst/>
          </a:prstGeom>
          <a:solidFill>
            <a:srgbClr val="0F3D3E"/>
          </a:solidFill>
          <a:ln/>
        </p:spPr>
      </p:sp>
      <p:pic>
        <p:nvPicPr>
          <p:cNvPr id="7" name="Image 0" descr="cc-icon">    </p:cNvPr>
          <p:cNvPicPr>
            <a:picLocks noChangeAspect="1"/>
          </p:cNvPicPr>
          <p:nvPr/>
        </p:nvPicPr>
        <p:blipFill>
          <a:blip r:embed="rId1"/>
          <a:stretch>
            <a:fillRect/>
          </a:stretch>
        </p:blipFill>
        <p:spPr>
          <a:xfrm>
            <a:off x="806958" y="1611630"/>
            <a:ext cx="297180" cy="297180"/>
          </a:xfrm>
          <a:prstGeom prst="rect">
            <a:avLst/>
          </a:prstGeom>
        </p:spPr>
      </p:pic>
      <p:sp>
        <p:nvSpPr>
          <p:cNvPr id="8" name="Text 4"/>
          <p:cNvSpPr txBox="1"/>
          <p:nvPr/>
        </p:nvSpPr>
        <p:spPr>
          <a:xfrm>
            <a:off x="1463040" y="1435608"/>
            <a:ext cx="2743200" cy="274320"/>
          </a:xfrm>
          <a:prstGeom prst="rect">
            <a:avLst/>
          </a:prstGeom>
          <a:noFill/>
          <a:ln/>
        </p:spPr>
        <p:txBody>
          <a:bodyPr wrap="square" lIns="0" tIns="0" rIns="0" bIns="0" rtlCol="0" anchor="t"/>
          <a:lstStyle/>
          <a:p>
            <a:pPr indent="0" marL="0">
              <a:buNone/>
            </a:pPr>
            <a:r>
              <a:rPr lang="en-US" sz="1200" b="1" dirty="0">
                <a:solidFill>
                  <a:schemeClr val="tx2"/>
                </a:solidFill>
              </a:rPr>
              <a:t>廃棄・ロスの削減</a:t>
            </a:r>
            <a:endParaRPr lang="en-US" sz="1200" dirty="0"/>
          </a:p>
        </p:txBody>
      </p:sp>
      <p:sp>
        <p:nvSpPr>
          <p:cNvPr id="9" name="Text 5"/>
          <p:cNvSpPr txBox="1"/>
          <p:nvPr/>
        </p:nvSpPr>
        <p:spPr>
          <a:xfrm>
            <a:off x="1463040" y="1755648"/>
            <a:ext cx="4206240" cy="411480"/>
          </a:xfrm>
          <a:prstGeom prst="rect">
            <a:avLst/>
          </a:prstGeom>
          <a:noFill/>
          <a:ln/>
        </p:spPr>
        <p:txBody>
          <a:bodyPr wrap="square" lIns="0" tIns="0" rIns="0" bIns="0" rtlCol="0" anchor="t"/>
          <a:lstStyle/>
          <a:p>
            <a:pPr indent="0" marL="0">
              <a:buNone/>
            </a:pPr>
            <a:r>
              <a:rPr lang="en-US" sz="950" dirty="0">
                <a:solidFill>
                  <a:schemeClr val="tx1"/>
                </a:solidFill>
              </a:rPr>
              <a:t>コラボ食材の消化計画、仕込み量の標準化、日次の廃棄記録</a:t>
            </a:r>
            <a:endParaRPr lang="en-US" sz="950" dirty="0"/>
          </a:p>
        </p:txBody>
      </p:sp>
      <p:sp>
        <p:nvSpPr>
          <p:cNvPr id="10" name="Text 6"/>
          <p:cNvSpPr txBox="1"/>
          <p:nvPr/>
        </p:nvSpPr>
        <p:spPr>
          <a:xfrm>
            <a:off x="5806440" y="1463040"/>
            <a:ext cx="457200" cy="201168"/>
          </a:xfrm>
          <a:prstGeom prst="rect">
            <a:avLst/>
          </a:prstGeom>
          <a:noFill/>
          <a:ln/>
        </p:spPr>
        <p:txBody>
          <a:bodyPr wrap="square" lIns="0" tIns="0" rIns="0" bIns="0" rtlCol="0" anchor="t"/>
          <a:lstStyle/>
          <a:p>
            <a:pPr indent="0" marL="0">
              <a:buNone/>
            </a:pPr>
            <a:r>
              <a:rPr lang="en-US" sz="800" b="1" dirty="0">
                <a:solidFill>
                  <a:schemeClr val="accent4"/>
                </a:solidFill>
              </a:rPr>
              <a:t>KPI</a:t>
            </a:r>
            <a:endParaRPr lang="en-US" sz="800" dirty="0"/>
          </a:p>
        </p:txBody>
      </p:sp>
      <p:sp>
        <p:nvSpPr>
          <p:cNvPr id="11" name="Text 7"/>
          <p:cNvSpPr txBox="1"/>
          <p:nvPr/>
        </p:nvSpPr>
        <p:spPr>
          <a:xfrm>
            <a:off x="5806440" y="1691640"/>
            <a:ext cx="1645920" cy="411480"/>
          </a:xfrm>
          <a:prstGeom prst="rect">
            <a:avLst/>
          </a:prstGeom>
          <a:noFill/>
          <a:ln/>
        </p:spPr>
        <p:txBody>
          <a:bodyPr wrap="square" lIns="0" tIns="0" rIns="0" bIns="0" rtlCol="0" anchor="t"/>
          <a:lstStyle/>
          <a:p>
            <a:pPr indent="0" marL="0">
              <a:buNone/>
            </a:pPr>
            <a:r>
              <a:rPr lang="en-US" sz="950" b="1" dirty="0">
                <a:solidFill>
                  <a:schemeClr val="tx1"/>
                </a:solidFill>
              </a:rPr>
              <a:t>廃棄率・コラボ食材の残在庫</a:t>
            </a:r>
            <a:endParaRPr lang="en-US" sz="950" dirty="0"/>
          </a:p>
        </p:txBody>
      </p:sp>
      <p:sp>
        <p:nvSpPr>
          <p:cNvPr id="12" name="Text 8"/>
          <p:cNvSpPr txBox="1"/>
          <p:nvPr/>
        </p:nvSpPr>
        <p:spPr>
          <a:xfrm>
            <a:off x="7406640" y="1536192"/>
            <a:ext cx="1143000" cy="411480"/>
          </a:xfrm>
          <a:prstGeom prst="rect">
            <a:avLst/>
          </a:prstGeom>
          <a:noFill/>
          <a:ln/>
        </p:spPr>
        <p:txBody>
          <a:bodyPr wrap="square" lIns="0" tIns="0" rIns="0" bIns="0" rtlCol="0" anchor="t"/>
          <a:lstStyle/>
          <a:p>
            <a:pPr algn="r" indent="0" marL="0">
              <a:buNone/>
            </a:pPr>
            <a:r>
              <a:rPr lang="en-US" sz="2000" b="1" dirty="0">
                <a:solidFill>
                  <a:schemeClr val="accent1"/>
                </a:solidFill>
              </a:rPr>
              <a:t>40万円</a:t>
            </a:r>
            <a:endParaRPr lang="en-US" sz="2000" dirty="0"/>
          </a:p>
        </p:txBody>
      </p:sp>
      <p:sp>
        <p:nvSpPr>
          <p:cNvPr id="13" name="cc"/>
          <p:cNvSpPr/>
          <p:nvPr/>
        </p:nvSpPr>
        <p:spPr>
          <a:xfrm>
            <a:off x="457200" y="2359152"/>
            <a:ext cx="8229600" cy="960120"/>
          </a:xfrm>
          <a:prstGeom prst="roundRect">
            <a:avLst>
              <a:gd name="adj" fmla="val 9524"/>
            </a:avLst>
          </a:prstGeom>
          <a:solidFill>
            <a:schemeClr val="bg1"/>
          </a:solidFill>
          <a:ln/>
        </p:spPr>
      </p:sp>
      <p:sp>
        <p:nvSpPr>
          <p:cNvPr id="14" name="cc-icon"/>
          <p:cNvSpPr/>
          <p:nvPr/>
        </p:nvSpPr>
        <p:spPr>
          <a:xfrm>
            <a:off x="658368" y="2542032"/>
            <a:ext cx="594360" cy="594360"/>
          </a:xfrm>
          <a:prstGeom prst="ellipse">
            <a:avLst/>
          </a:prstGeom>
          <a:solidFill>
            <a:srgbClr val="0F3D3E"/>
          </a:solidFill>
          <a:ln/>
        </p:spPr>
      </p:sp>
      <p:pic>
        <p:nvPicPr>
          <p:cNvPr id="15" name="Image 1" descr="cc-icon">    </p:cNvPr>
          <p:cNvPicPr>
            <a:picLocks noChangeAspect="1"/>
          </p:cNvPicPr>
          <p:nvPr/>
        </p:nvPicPr>
        <p:blipFill>
          <a:blip r:embed="rId2"/>
          <a:stretch>
            <a:fillRect/>
          </a:stretch>
        </p:blipFill>
        <p:spPr>
          <a:xfrm>
            <a:off x="806958" y="2690622"/>
            <a:ext cx="297180" cy="297180"/>
          </a:xfrm>
          <a:prstGeom prst="rect">
            <a:avLst/>
          </a:prstGeom>
        </p:spPr>
      </p:pic>
      <p:sp>
        <p:nvSpPr>
          <p:cNvPr id="16" name="Text 11"/>
          <p:cNvSpPr txBox="1"/>
          <p:nvPr/>
        </p:nvSpPr>
        <p:spPr>
          <a:xfrm>
            <a:off x="1463040" y="2514600"/>
            <a:ext cx="2743200" cy="274320"/>
          </a:xfrm>
          <a:prstGeom prst="rect">
            <a:avLst/>
          </a:prstGeom>
          <a:noFill/>
          <a:ln/>
        </p:spPr>
        <p:txBody>
          <a:bodyPr wrap="square" lIns="0" tIns="0" rIns="0" bIns="0" rtlCol="0" anchor="t"/>
          <a:lstStyle/>
          <a:p>
            <a:pPr indent="0" marL="0">
              <a:buNone/>
            </a:pPr>
            <a:r>
              <a:rPr lang="en-US" sz="1200" b="1" dirty="0">
                <a:solidFill>
                  <a:schemeClr val="tx2"/>
                </a:solidFill>
              </a:rPr>
              <a:t>仕入れの見直し</a:t>
            </a:r>
            <a:endParaRPr lang="en-US" sz="1200" dirty="0"/>
          </a:p>
        </p:txBody>
      </p:sp>
      <p:sp>
        <p:nvSpPr>
          <p:cNvPr id="17" name="Text 12"/>
          <p:cNvSpPr txBox="1"/>
          <p:nvPr/>
        </p:nvSpPr>
        <p:spPr>
          <a:xfrm>
            <a:off x="1463040" y="2834640"/>
            <a:ext cx="4206240" cy="411480"/>
          </a:xfrm>
          <a:prstGeom prst="rect">
            <a:avLst/>
          </a:prstGeom>
          <a:noFill/>
          <a:ln/>
        </p:spPr>
        <p:txBody>
          <a:bodyPr wrap="square" lIns="0" tIns="0" rIns="0" bIns="0" rtlCol="0" anchor="t"/>
          <a:lstStyle/>
          <a:p>
            <a:pPr indent="0" marL="0">
              <a:buNone/>
            </a:pPr>
            <a:r>
              <a:rPr lang="en-US" sz="950" dirty="0">
                <a:solidFill>
                  <a:schemeClr val="tx1"/>
                </a:solidFill>
              </a:rPr>
              <a:t>米価下落の反映、主要食材の相見積、規格の見直し</a:t>
            </a:r>
            <a:endParaRPr lang="en-US" sz="950" dirty="0"/>
          </a:p>
        </p:txBody>
      </p:sp>
      <p:sp>
        <p:nvSpPr>
          <p:cNvPr id="18" name="Text 13"/>
          <p:cNvSpPr txBox="1"/>
          <p:nvPr/>
        </p:nvSpPr>
        <p:spPr>
          <a:xfrm>
            <a:off x="5806440" y="2542032"/>
            <a:ext cx="457200" cy="201168"/>
          </a:xfrm>
          <a:prstGeom prst="rect">
            <a:avLst/>
          </a:prstGeom>
          <a:noFill/>
          <a:ln/>
        </p:spPr>
        <p:txBody>
          <a:bodyPr wrap="square" lIns="0" tIns="0" rIns="0" bIns="0" rtlCol="0" anchor="t"/>
          <a:lstStyle/>
          <a:p>
            <a:pPr indent="0" marL="0">
              <a:buNone/>
            </a:pPr>
            <a:r>
              <a:rPr lang="en-US" sz="800" b="1" dirty="0">
                <a:solidFill>
                  <a:schemeClr val="accent4"/>
                </a:solidFill>
              </a:rPr>
              <a:t>KPI</a:t>
            </a:r>
            <a:endParaRPr lang="en-US" sz="800" dirty="0"/>
          </a:p>
        </p:txBody>
      </p:sp>
      <p:sp>
        <p:nvSpPr>
          <p:cNvPr id="19" name="Text 14"/>
          <p:cNvSpPr txBox="1"/>
          <p:nvPr/>
        </p:nvSpPr>
        <p:spPr>
          <a:xfrm>
            <a:off x="5806440" y="2770632"/>
            <a:ext cx="1645920" cy="411480"/>
          </a:xfrm>
          <a:prstGeom prst="rect">
            <a:avLst/>
          </a:prstGeom>
          <a:noFill/>
          <a:ln/>
        </p:spPr>
        <p:txBody>
          <a:bodyPr wrap="square" lIns="0" tIns="0" rIns="0" bIns="0" rtlCol="0" anchor="t"/>
          <a:lstStyle/>
          <a:p>
            <a:pPr indent="0" marL="0">
              <a:buNone/>
            </a:pPr>
            <a:r>
              <a:rPr lang="en-US" sz="950" b="1" dirty="0">
                <a:solidFill>
                  <a:schemeClr val="tx1"/>
                </a:solidFill>
              </a:rPr>
              <a:t>主要20品の仕入単価</a:t>
            </a:r>
            <a:endParaRPr lang="en-US" sz="950" dirty="0"/>
          </a:p>
        </p:txBody>
      </p:sp>
      <p:sp>
        <p:nvSpPr>
          <p:cNvPr id="20" name="Text 15"/>
          <p:cNvSpPr txBox="1"/>
          <p:nvPr/>
        </p:nvSpPr>
        <p:spPr>
          <a:xfrm>
            <a:off x="7406640" y="2615184"/>
            <a:ext cx="1143000" cy="411480"/>
          </a:xfrm>
          <a:prstGeom prst="rect">
            <a:avLst/>
          </a:prstGeom>
          <a:noFill/>
          <a:ln/>
        </p:spPr>
        <p:txBody>
          <a:bodyPr wrap="square" lIns="0" tIns="0" rIns="0" bIns="0" rtlCol="0" anchor="t"/>
          <a:lstStyle/>
          <a:p>
            <a:pPr algn="r" indent="0" marL="0">
              <a:buNone/>
            </a:pPr>
            <a:r>
              <a:rPr lang="en-US" sz="2000" b="1" dirty="0">
                <a:solidFill>
                  <a:schemeClr val="accent1"/>
                </a:solidFill>
              </a:rPr>
              <a:t>25万円</a:t>
            </a:r>
            <a:endParaRPr lang="en-US" sz="2000" dirty="0"/>
          </a:p>
        </p:txBody>
      </p:sp>
      <p:sp>
        <p:nvSpPr>
          <p:cNvPr id="21" name="cc"/>
          <p:cNvSpPr/>
          <p:nvPr/>
        </p:nvSpPr>
        <p:spPr>
          <a:xfrm>
            <a:off x="457200" y="3438144"/>
            <a:ext cx="8229600" cy="960120"/>
          </a:xfrm>
          <a:prstGeom prst="roundRect">
            <a:avLst>
              <a:gd name="adj" fmla="val 9524"/>
            </a:avLst>
          </a:prstGeom>
          <a:solidFill>
            <a:schemeClr val="bg2"/>
          </a:solidFill>
          <a:ln/>
        </p:spPr>
      </p:sp>
      <p:sp>
        <p:nvSpPr>
          <p:cNvPr id="22" name="cc-icon"/>
          <p:cNvSpPr/>
          <p:nvPr/>
        </p:nvSpPr>
        <p:spPr>
          <a:xfrm>
            <a:off x="658368" y="3621024"/>
            <a:ext cx="594360" cy="594360"/>
          </a:xfrm>
          <a:prstGeom prst="ellipse">
            <a:avLst/>
          </a:prstGeom>
          <a:solidFill>
            <a:srgbClr val="0F3D3E"/>
          </a:solidFill>
          <a:ln/>
        </p:spPr>
      </p:sp>
      <p:pic>
        <p:nvPicPr>
          <p:cNvPr id="23" name="Image 2" descr="cc-icon">    </p:cNvPr>
          <p:cNvPicPr>
            <a:picLocks noChangeAspect="1"/>
          </p:cNvPicPr>
          <p:nvPr/>
        </p:nvPicPr>
        <p:blipFill>
          <a:blip r:embed="rId3"/>
          <a:stretch>
            <a:fillRect/>
          </a:stretch>
        </p:blipFill>
        <p:spPr>
          <a:xfrm>
            <a:off x="806958" y="3769614"/>
            <a:ext cx="297180" cy="297180"/>
          </a:xfrm>
          <a:prstGeom prst="rect">
            <a:avLst/>
          </a:prstGeom>
        </p:spPr>
      </p:pic>
      <p:sp>
        <p:nvSpPr>
          <p:cNvPr id="24" name="Text 18"/>
          <p:cNvSpPr txBox="1"/>
          <p:nvPr/>
        </p:nvSpPr>
        <p:spPr>
          <a:xfrm>
            <a:off x="1463040" y="3593592"/>
            <a:ext cx="2743200" cy="274320"/>
          </a:xfrm>
          <a:prstGeom prst="rect">
            <a:avLst/>
          </a:prstGeom>
          <a:noFill/>
          <a:ln/>
        </p:spPr>
        <p:txBody>
          <a:bodyPr wrap="square" lIns="0" tIns="0" rIns="0" bIns="0" rtlCol="0" anchor="t"/>
          <a:lstStyle/>
          <a:p>
            <a:pPr indent="0" marL="0">
              <a:buNone/>
            </a:pPr>
            <a:r>
              <a:rPr lang="en-US" sz="1200" b="1" dirty="0">
                <a:solidFill>
                  <a:schemeClr val="tx2"/>
                </a:solidFill>
              </a:rPr>
              <a:t>盛付基準の徹底</a:t>
            </a:r>
            <a:endParaRPr lang="en-US" sz="1200" dirty="0"/>
          </a:p>
        </p:txBody>
      </p:sp>
      <p:sp>
        <p:nvSpPr>
          <p:cNvPr id="25" name="Text 19"/>
          <p:cNvSpPr txBox="1"/>
          <p:nvPr/>
        </p:nvSpPr>
        <p:spPr>
          <a:xfrm>
            <a:off x="1463040" y="3913632"/>
            <a:ext cx="4206240" cy="411480"/>
          </a:xfrm>
          <a:prstGeom prst="rect">
            <a:avLst/>
          </a:prstGeom>
          <a:noFill/>
          <a:ln/>
        </p:spPr>
        <p:txBody>
          <a:bodyPr wrap="square" lIns="0" tIns="0" rIns="0" bIns="0" rtlCol="0" anchor="t"/>
          <a:lstStyle/>
          <a:p>
            <a:pPr indent="0" marL="0">
              <a:buNone/>
            </a:pPr>
            <a:r>
              <a:rPr lang="en-US" sz="950" dirty="0">
                <a:solidFill>
                  <a:schemeClr val="tx1"/>
                </a:solidFill>
              </a:rPr>
              <a:t>レシピ量の再周知、計量の徹底、月次の理論原価差異の確認</a:t>
            </a:r>
            <a:endParaRPr lang="en-US" sz="950" dirty="0"/>
          </a:p>
        </p:txBody>
      </p:sp>
      <p:sp>
        <p:nvSpPr>
          <p:cNvPr id="26" name="Text 20"/>
          <p:cNvSpPr txBox="1"/>
          <p:nvPr/>
        </p:nvSpPr>
        <p:spPr>
          <a:xfrm>
            <a:off x="5806440" y="3621024"/>
            <a:ext cx="457200" cy="201168"/>
          </a:xfrm>
          <a:prstGeom prst="rect">
            <a:avLst/>
          </a:prstGeom>
          <a:noFill/>
          <a:ln/>
        </p:spPr>
        <p:txBody>
          <a:bodyPr wrap="square" lIns="0" tIns="0" rIns="0" bIns="0" rtlCol="0" anchor="t"/>
          <a:lstStyle/>
          <a:p>
            <a:pPr indent="0" marL="0">
              <a:buNone/>
            </a:pPr>
            <a:r>
              <a:rPr lang="en-US" sz="800" b="1" dirty="0">
                <a:solidFill>
                  <a:schemeClr val="accent4"/>
                </a:solidFill>
              </a:rPr>
              <a:t>KPI</a:t>
            </a:r>
            <a:endParaRPr lang="en-US" sz="800" dirty="0"/>
          </a:p>
        </p:txBody>
      </p:sp>
      <p:sp>
        <p:nvSpPr>
          <p:cNvPr id="27" name="Text 21"/>
          <p:cNvSpPr txBox="1"/>
          <p:nvPr/>
        </p:nvSpPr>
        <p:spPr>
          <a:xfrm>
            <a:off x="5806440" y="3849624"/>
            <a:ext cx="1645920" cy="411480"/>
          </a:xfrm>
          <a:prstGeom prst="rect">
            <a:avLst/>
          </a:prstGeom>
          <a:noFill/>
          <a:ln/>
        </p:spPr>
        <p:txBody>
          <a:bodyPr wrap="square" lIns="0" tIns="0" rIns="0" bIns="0" rtlCol="0" anchor="t"/>
          <a:lstStyle/>
          <a:p>
            <a:pPr indent="0" marL="0">
              <a:buNone/>
            </a:pPr>
            <a:r>
              <a:rPr lang="en-US" sz="950" b="1" dirty="0">
                <a:solidFill>
                  <a:schemeClr val="tx1"/>
                </a:solidFill>
              </a:rPr>
              <a:t>理論原価との差（pt）</a:t>
            </a:r>
            <a:endParaRPr lang="en-US" sz="950" dirty="0"/>
          </a:p>
        </p:txBody>
      </p:sp>
      <p:sp>
        <p:nvSpPr>
          <p:cNvPr id="28" name="Text 22"/>
          <p:cNvSpPr txBox="1"/>
          <p:nvPr/>
        </p:nvSpPr>
        <p:spPr>
          <a:xfrm>
            <a:off x="7406640" y="3694176"/>
            <a:ext cx="1143000" cy="411480"/>
          </a:xfrm>
          <a:prstGeom prst="rect">
            <a:avLst/>
          </a:prstGeom>
          <a:noFill/>
          <a:ln/>
        </p:spPr>
        <p:txBody>
          <a:bodyPr wrap="square" lIns="0" tIns="0" rIns="0" bIns="0" rtlCol="0" anchor="t"/>
          <a:lstStyle/>
          <a:p>
            <a:pPr algn="r" indent="0" marL="0">
              <a:buNone/>
            </a:pPr>
            <a:r>
              <a:rPr lang="en-US" sz="2000" b="1" dirty="0">
                <a:solidFill>
                  <a:schemeClr val="accent1"/>
                </a:solidFill>
              </a:rPr>
              <a:t>20万円</a:t>
            </a:r>
            <a:endParaRPr lang="en-US" sz="2000" dirty="0"/>
          </a:p>
        </p:txBody>
      </p:sp>
      <p:sp>
        <p:nvSpPr>
          <p:cNvPr id="29" name="source"/>
          <p:cNvSpPr txBox="1"/>
          <p:nvPr/>
        </p:nvSpPr>
        <p:spPr>
          <a:xfrm>
            <a:off x="457200" y="4590288"/>
            <a:ext cx="8229600" cy="201168"/>
          </a:xfrm>
          <a:prstGeom prst="rect">
            <a:avLst/>
          </a:prstGeom>
          <a:noFill/>
          <a:ln/>
        </p:spPr>
        <p:txBody>
          <a:bodyPr wrap="square" lIns="0" tIns="0" rIns="0" bIns="0" rtlCol="0" anchor="t"/>
          <a:lstStyle/>
          <a:p>
            <a:pPr indent="0" marL="0">
              <a:buNone/>
            </a:pPr>
            <a:r>
              <a:rPr lang="en-US" sz="750" dirty="0">
                <a:solidFill>
                  <a:schemeClr val="accent4"/>
                </a:solidFill>
              </a:rPr>
              <a:t>金額配分は目標値。月次で「理論原価（出数×レシピ原価）」と「実績原価」の差を確認し、配分を見直します</a:t>
            </a:r>
            <a:endParaRPr lang="en-US" sz="7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13　リスクと対策</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客離れリスクは限定的。月次KPIで早期に検知し、見直します</a:t>
            </a:r>
            <a:endParaRPr lang="en-US" sz="2100" dirty="0"/>
          </a:p>
        </p:txBody>
      </p:sp>
      <p:sp>
        <p:nvSpPr>
          <p:cNvPr id="5" name="risk"/>
          <p:cNvSpPr/>
          <p:nvPr/>
        </p:nvSpPr>
        <p:spPr>
          <a:xfrm>
            <a:off x="457200" y="1280160"/>
            <a:ext cx="2651760" cy="2377440"/>
          </a:xfrm>
          <a:prstGeom prst="roundRect">
            <a:avLst>
              <a:gd name="adj" fmla="val 3846"/>
            </a:avLst>
          </a:prstGeom>
          <a:solidFill>
            <a:schemeClr val="bg2"/>
          </a:solidFill>
          <a:ln/>
        </p:spPr>
      </p:sp>
      <p:sp>
        <p:nvSpPr>
          <p:cNvPr id="6" name="risk-icon"/>
          <p:cNvSpPr/>
          <p:nvPr/>
        </p:nvSpPr>
        <p:spPr>
          <a:xfrm>
            <a:off x="640080" y="1463040"/>
            <a:ext cx="548640" cy="548640"/>
          </a:xfrm>
          <a:prstGeom prst="ellipse">
            <a:avLst/>
          </a:prstGeom>
          <a:solidFill>
            <a:srgbClr val="C8773B"/>
          </a:solidFill>
          <a:ln/>
        </p:spPr>
      </p:sp>
      <p:pic>
        <p:nvPicPr>
          <p:cNvPr id="7" name="Image 0" descr="risk-icon">    </p:cNvPr>
          <p:cNvPicPr>
            <a:picLocks noChangeAspect="1"/>
          </p:cNvPicPr>
          <p:nvPr/>
        </p:nvPicPr>
        <p:blipFill>
          <a:blip r:embed="rId1"/>
          <a:stretch>
            <a:fillRect/>
          </a:stretch>
        </p:blipFill>
        <p:spPr>
          <a:xfrm>
            <a:off x="777240" y="1600200"/>
            <a:ext cx="274320" cy="274320"/>
          </a:xfrm>
          <a:prstGeom prst="rect">
            <a:avLst/>
          </a:prstGeom>
        </p:spPr>
      </p:pic>
      <p:sp>
        <p:nvSpPr>
          <p:cNvPr id="8" name="Text 4"/>
          <p:cNvSpPr txBox="1"/>
          <p:nvPr/>
        </p:nvSpPr>
        <p:spPr>
          <a:xfrm>
            <a:off x="1325880" y="1600200"/>
            <a:ext cx="1691640" cy="292608"/>
          </a:xfrm>
          <a:prstGeom prst="rect">
            <a:avLst/>
          </a:prstGeom>
          <a:noFill/>
          <a:ln/>
        </p:spPr>
        <p:txBody>
          <a:bodyPr wrap="square" lIns="0" tIns="0" rIns="0" bIns="0" rtlCol="0" anchor="t"/>
          <a:lstStyle/>
          <a:p>
            <a:pPr indent="0" marL="0">
              <a:buNone/>
            </a:pPr>
            <a:r>
              <a:rPr lang="en-US" sz="1200" b="1" dirty="0">
                <a:solidFill>
                  <a:schemeClr val="tx2"/>
                </a:solidFill>
              </a:rPr>
              <a:t>客離れ</a:t>
            </a:r>
            <a:endParaRPr lang="en-US" sz="1200" dirty="0"/>
          </a:p>
        </p:txBody>
      </p:sp>
      <p:sp>
        <p:nvSpPr>
          <p:cNvPr id="9" name="Text 5"/>
          <p:cNvSpPr txBox="1"/>
          <p:nvPr/>
        </p:nvSpPr>
        <p:spPr>
          <a:xfrm>
            <a:off x="640080" y="2194560"/>
            <a:ext cx="2286000" cy="201168"/>
          </a:xfrm>
          <a:prstGeom prst="rect">
            <a:avLst/>
          </a:prstGeom>
          <a:noFill/>
          <a:ln/>
        </p:spPr>
        <p:txBody>
          <a:bodyPr wrap="square" lIns="0" tIns="0" rIns="0" bIns="0" rtlCol="0" anchor="t"/>
          <a:lstStyle/>
          <a:p>
            <a:pPr indent="0" marL="0">
              <a:buNone/>
            </a:pPr>
            <a:r>
              <a:rPr lang="en-US" sz="800" b="1" dirty="0">
                <a:solidFill>
                  <a:schemeClr val="accent4"/>
                </a:solidFill>
              </a:rPr>
              <a:t>評価</a:t>
            </a:r>
            <a:endParaRPr lang="en-US" sz="800" dirty="0"/>
          </a:p>
        </p:txBody>
      </p:sp>
      <p:sp>
        <p:nvSpPr>
          <p:cNvPr id="10" name="Text 6"/>
          <p:cNvSpPr txBox="1"/>
          <p:nvPr/>
        </p:nvSpPr>
        <p:spPr>
          <a:xfrm>
            <a:off x="640080" y="2395728"/>
            <a:ext cx="2331720" cy="457200"/>
          </a:xfrm>
          <a:prstGeom prst="rect">
            <a:avLst/>
          </a:prstGeom>
          <a:noFill/>
          <a:ln/>
        </p:spPr>
        <p:txBody>
          <a:bodyPr wrap="square" lIns="0" tIns="0" rIns="0" bIns="0" rtlCol="0" anchor="t"/>
          <a:lstStyle/>
          <a:p>
            <a:pPr indent="0" marL="0">
              <a:buNone/>
            </a:pPr>
            <a:r>
              <a:rPr lang="en-US" sz="950" dirty="0">
                <a:solidFill>
                  <a:schemeClr val="tx1"/>
                </a:solidFill>
              </a:rPr>
              <a:t>悲観ケース（出数-5.4%）でも年間粗利+54万円</a:t>
            </a:r>
            <a:endParaRPr lang="en-US" sz="950" dirty="0"/>
          </a:p>
        </p:txBody>
      </p:sp>
      <p:sp>
        <p:nvSpPr>
          <p:cNvPr id="11" name="Text 7"/>
          <p:cNvSpPr txBox="1"/>
          <p:nvPr/>
        </p:nvSpPr>
        <p:spPr>
          <a:xfrm>
            <a:off x="640080" y="2880360"/>
            <a:ext cx="2286000" cy="201168"/>
          </a:xfrm>
          <a:prstGeom prst="rect">
            <a:avLst/>
          </a:prstGeom>
          <a:noFill/>
          <a:ln/>
        </p:spPr>
        <p:txBody>
          <a:bodyPr wrap="square" lIns="0" tIns="0" rIns="0" bIns="0" rtlCol="0" anchor="t"/>
          <a:lstStyle/>
          <a:p>
            <a:pPr indent="0" marL="0">
              <a:buNone/>
            </a:pPr>
            <a:r>
              <a:rPr lang="en-US" sz="800" b="1" dirty="0">
                <a:solidFill>
                  <a:schemeClr val="accent1"/>
                </a:solidFill>
              </a:rPr>
              <a:t>対策</a:t>
            </a:r>
            <a:endParaRPr lang="en-US" sz="800" dirty="0"/>
          </a:p>
        </p:txBody>
      </p:sp>
      <p:sp>
        <p:nvSpPr>
          <p:cNvPr id="12" name="Text 8"/>
          <p:cNvSpPr txBox="1"/>
          <p:nvPr/>
        </p:nvSpPr>
        <p:spPr>
          <a:xfrm>
            <a:off x="640080" y="3081528"/>
            <a:ext cx="2331720" cy="502920"/>
          </a:xfrm>
          <a:prstGeom prst="rect">
            <a:avLst/>
          </a:prstGeom>
          <a:noFill/>
          <a:ln/>
        </p:spPr>
        <p:txBody>
          <a:bodyPr wrap="square" lIns="0" tIns="0" rIns="0" bIns="0" rtlCol="0" anchor="t"/>
          <a:lstStyle/>
          <a:p>
            <a:pPr indent="0" marL="0">
              <a:buNone/>
            </a:pPr>
            <a:r>
              <a:rPr lang="en-US" sz="950" dirty="0">
                <a:solidFill>
                  <a:schemeClr val="tx1"/>
                </a:solidFill>
              </a:rPr>
              <a:t>飲食者数・出数が前年比-5%を超えたら品目別に見直し</a:t>
            </a:r>
            <a:endParaRPr lang="en-US" sz="950" dirty="0"/>
          </a:p>
        </p:txBody>
      </p:sp>
      <p:sp>
        <p:nvSpPr>
          <p:cNvPr id="13" name="risk"/>
          <p:cNvSpPr/>
          <p:nvPr/>
        </p:nvSpPr>
        <p:spPr>
          <a:xfrm>
            <a:off x="3246120" y="1280160"/>
            <a:ext cx="2651760" cy="2377440"/>
          </a:xfrm>
          <a:prstGeom prst="roundRect">
            <a:avLst>
              <a:gd name="adj" fmla="val 3846"/>
            </a:avLst>
          </a:prstGeom>
          <a:solidFill>
            <a:schemeClr val="bg2"/>
          </a:solidFill>
          <a:ln/>
        </p:spPr>
      </p:sp>
      <p:sp>
        <p:nvSpPr>
          <p:cNvPr id="14" name="risk-icon"/>
          <p:cNvSpPr/>
          <p:nvPr/>
        </p:nvSpPr>
        <p:spPr>
          <a:xfrm>
            <a:off x="3429000" y="1463040"/>
            <a:ext cx="548640" cy="548640"/>
          </a:xfrm>
          <a:prstGeom prst="ellipse">
            <a:avLst/>
          </a:prstGeom>
          <a:solidFill>
            <a:srgbClr val="C8773B"/>
          </a:solidFill>
          <a:ln/>
        </p:spPr>
      </p:sp>
      <p:pic>
        <p:nvPicPr>
          <p:cNvPr id="15" name="Image 1" descr="risk-icon">    </p:cNvPr>
          <p:cNvPicPr>
            <a:picLocks noChangeAspect="1"/>
          </p:cNvPicPr>
          <p:nvPr/>
        </p:nvPicPr>
        <p:blipFill>
          <a:blip r:embed="rId2"/>
          <a:stretch>
            <a:fillRect/>
          </a:stretch>
        </p:blipFill>
        <p:spPr>
          <a:xfrm>
            <a:off x="3566160" y="1600200"/>
            <a:ext cx="274320" cy="274320"/>
          </a:xfrm>
          <a:prstGeom prst="rect">
            <a:avLst/>
          </a:prstGeom>
        </p:spPr>
      </p:pic>
      <p:sp>
        <p:nvSpPr>
          <p:cNvPr id="16" name="Text 11"/>
          <p:cNvSpPr txBox="1"/>
          <p:nvPr/>
        </p:nvSpPr>
        <p:spPr>
          <a:xfrm>
            <a:off x="4114800" y="1600200"/>
            <a:ext cx="1691640" cy="292608"/>
          </a:xfrm>
          <a:prstGeom prst="rect">
            <a:avLst/>
          </a:prstGeom>
          <a:noFill/>
          <a:ln/>
        </p:spPr>
        <p:txBody>
          <a:bodyPr wrap="square" lIns="0" tIns="0" rIns="0" bIns="0" rtlCol="0" anchor="t"/>
          <a:lstStyle/>
          <a:p>
            <a:pPr indent="0" marL="0">
              <a:buNone/>
            </a:pPr>
            <a:r>
              <a:rPr lang="en-US" sz="1200" b="1" dirty="0">
                <a:solidFill>
                  <a:schemeClr val="tx2"/>
                </a:solidFill>
              </a:rPr>
              <a:t>アルコール低迷の加速</a:t>
            </a:r>
            <a:endParaRPr lang="en-US" sz="1200" dirty="0"/>
          </a:p>
        </p:txBody>
      </p:sp>
      <p:sp>
        <p:nvSpPr>
          <p:cNvPr id="17" name="Text 12"/>
          <p:cNvSpPr txBox="1"/>
          <p:nvPr/>
        </p:nvSpPr>
        <p:spPr>
          <a:xfrm>
            <a:off x="3429000" y="2194560"/>
            <a:ext cx="2286000" cy="201168"/>
          </a:xfrm>
          <a:prstGeom prst="rect">
            <a:avLst/>
          </a:prstGeom>
          <a:noFill/>
          <a:ln/>
        </p:spPr>
        <p:txBody>
          <a:bodyPr wrap="square" lIns="0" tIns="0" rIns="0" bIns="0" rtlCol="0" anchor="t"/>
          <a:lstStyle/>
          <a:p>
            <a:pPr indent="0" marL="0">
              <a:buNone/>
            </a:pPr>
            <a:r>
              <a:rPr lang="en-US" sz="800" b="1" dirty="0">
                <a:solidFill>
                  <a:schemeClr val="accent4"/>
                </a:solidFill>
              </a:rPr>
              <a:t>評価</a:t>
            </a:r>
            <a:endParaRPr lang="en-US" sz="800" dirty="0"/>
          </a:p>
        </p:txBody>
      </p:sp>
      <p:sp>
        <p:nvSpPr>
          <p:cNvPr id="18" name="Text 13"/>
          <p:cNvSpPr txBox="1"/>
          <p:nvPr/>
        </p:nvSpPr>
        <p:spPr>
          <a:xfrm>
            <a:off x="3429000" y="2395728"/>
            <a:ext cx="2331720" cy="457200"/>
          </a:xfrm>
          <a:prstGeom prst="rect">
            <a:avLst/>
          </a:prstGeom>
          <a:noFill/>
          <a:ln/>
        </p:spPr>
        <p:txBody>
          <a:bodyPr wrap="square" lIns="0" tIns="0" rIns="0" bIns="0" rtlCol="0" anchor="t"/>
          <a:lstStyle/>
          <a:p>
            <a:pPr indent="0" marL="0">
              <a:buNone/>
            </a:pPr>
            <a:r>
              <a:rPr lang="en-US" sz="950" dirty="0">
                <a:solidFill>
                  <a:schemeClr val="tx1"/>
                </a:solidFill>
              </a:rPr>
              <a:t>ビール4種は据え置き（減税局面での値上げを回避）</a:t>
            </a:r>
            <a:endParaRPr lang="en-US" sz="950" dirty="0"/>
          </a:p>
        </p:txBody>
      </p:sp>
      <p:sp>
        <p:nvSpPr>
          <p:cNvPr id="19" name="Text 14"/>
          <p:cNvSpPr txBox="1"/>
          <p:nvPr/>
        </p:nvSpPr>
        <p:spPr>
          <a:xfrm>
            <a:off x="3429000" y="2880360"/>
            <a:ext cx="2286000" cy="201168"/>
          </a:xfrm>
          <a:prstGeom prst="rect">
            <a:avLst/>
          </a:prstGeom>
          <a:noFill/>
          <a:ln/>
        </p:spPr>
        <p:txBody>
          <a:bodyPr wrap="square" lIns="0" tIns="0" rIns="0" bIns="0" rtlCol="0" anchor="t"/>
          <a:lstStyle/>
          <a:p>
            <a:pPr indent="0" marL="0">
              <a:buNone/>
            </a:pPr>
            <a:r>
              <a:rPr lang="en-US" sz="800" b="1" dirty="0">
                <a:solidFill>
                  <a:schemeClr val="accent1"/>
                </a:solidFill>
              </a:rPr>
              <a:t>対策</a:t>
            </a:r>
            <a:endParaRPr lang="en-US" sz="800" dirty="0"/>
          </a:p>
        </p:txBody>
      </p:sp>
      <p:sp>
        <p:nvSpPr>
          <p:cNvPr id="20" name="Text 15"/>
          <p:cNvSpPr txBox="1"/>
          <p:nvPr/>
        </p:nvSpPr>
        <p:spPr>
          <a:xfrm>
            <a:off x="3429000" y="3081528"/>
            <a:ext cx="2331720" cy="502920"/>
          </a:xfrm>
          <a:prstGeom prst="rect">
            <a:avLst/>
          </a:prstGeom>
          <a:noFill/>
          <a:ln/>
        </p:spPr>
        <p:txBody>
          <a:bodyPr wrap="square" lIns="0" tIns="0" rIns="0" bIns="0" rtlCol="0" anchor="t"/>
          <a:lstStyle/>
          <a:p>
            <a:pPr indent="0" marL="0">
              <a:buNone/>
            </a:pPr>
            <a:r>
              <a:rPr lang="en-US" sz="950" dirty="0">
                <a:solidFill>
                  <a:schemeClr val="tx1"/>
                </a:solidFill>
              </a:rPr>
              <a:t>ハッピーアワー・「食事＋1杯」セットで注文率を回復</a:t>
            </a:r>
            <a:endParaRPr lang="en-US" sz="950" dirty="0"/>
          </a:p>
        </p:txBody>
      </p:sp>
      <p:sp>
        <p:nvSpPr>
          <p:cNvPr id="21" name="risk"/>
          <p:cNvSpPr/>
          <p:nvPr/>
        </p:nvSpPr>
        <p:spPr>
          <a:xfrm>
            <a:off x="6035040" y="1280160"/>
            <a:ext cx="2651760" cy="2377440"/>
          </a:xfrm>
          <a:prstGeom prst="roundRect">
            <a:avLst>
              <a:gd name="adj" fmla="val 3846"/>
            </a:avLst>
          </a:prstGeom>
          <a:solidFill>
            <a:schemeClr val="bg2"/>
          </a:solidFill>
          <a:ln/>
        </p:spPr>
      </p:sp>
      <p:sp>
        <p:nvSpPr>
          <p:cNvPr id="22" name="risk-icon"/>
          <p:cNvSpPr/>
          <p:nvPr/>
        </p:nvSpPr>
        <p:spPr>
          <a:xfrm>
            <a:off x="6217920" y="1463040"/>
            <a:ext cx="548640" cy="548640"/>
          </a:xfrm>
          <a:prstGeom prst="ellipse">
            <a:avLst/>
          </a:prstGeom>
          <a:solidFill>
            <a:srgbClr val="C8773B"/>
          </a:solidFill>
          <a:ln/>
        </p:spPr>
      </p:sp>
      <p:pic>
        <p:nvPicPr>
          <p:cNvPr id="23" name="Image 2" descr="risk-icon">    </p:cNvPr>
          <p:cNvPicPr>
            <a:picLocks noChangeAspect="1"/>
          </p:cNvPicPr>
          <p:nvPr/>
        </p:nvPicPr>
        <p:blipFill>
          <a:blip r:embed="rId3"/>
          <a:stretch>
            <a:fillRect/>
          </a:stretch>
        </p:blipFill>
        <p:spPr>
          <a:xfrm>
            <a:off x="6355080" y="1600200"/>
            <a:ext cx="274320" cy="274320"/>
          </a:xfrm>
          <a:prstGeom prst="rect">
            <a:avLst/>
          </a:prstGeom>
        </p:spPr>
      </p:pic>
      <p:sp>
        <p:nvSpPr>
          <p:cNvPr id="24" name="Text 18"/>
          <p:cNvSpPr txBox="1"/>
          <p:nvPr/>
        </p:nvSpPr>
        <p:spPr>
          <a:xfrm>
            <a:off x="6903720" y="1600200"/>
            <a:ext cx="1691640" cy="292608"/>
          </a:xfrm>
          <a:prstGeom prst="rect">
            <a:avLst/>
          </a:prstGeom>
          <a:noFill/>
          <a:ln/>
        </p:spPr>
        <p:txBody>
          <a:bodyPr wrap="square" lIns="0" tIns="0" rIns="0" bIns="0" rtlCol="0" anchor="t"/>
          <a:lstStyle/>
          <a:p>
            <a:pPr indent="0" marL="0">
              <a:buNone/>
            </a:pPr>
            <a:r>
              <a:rPr lang="en-US" sz="1200" b="1" dirty="0">
                <a:solidFill>
                  <a:schemeClr val="tx2"/>
                </a:solidFill>
              </a:rPr>
              <a:t>値上げへの印象</a:t>
            </a:r>
            <a:endParaRPr lang="en-US" sz="1200" dirty="0"/>
          </a:p>
        </p:txBody>
      </p:sp>
      <p:sp>
        <p:nvSpPr>
          <p:cNvPr id="25" name="Text 19"/>
          <p:cNvSpPr txBox="1"/>
          <p:nvPr/>
        </p:nvSpPr>
        <p:spPr>
          <a:xfrm>
            <a:off x="6217920" y="2194560"/>
            <a:ext cx="2286000" cy="201168"/>
          </a:xfrm>
          <a:prstGeom prst="rect">
            <a:avLst/>
          </a:prstGeom>
          <a:noFill/>
          <a:ln/>
        </p:spPr>
        <p:txBody>
          <a:bodyPr wrap="square" lIns="0" tIns="0" rIns="0" bIns="0" rtlCol="0" anchor="t"/>
          <a:lstStyle/>
          <a:p>
            <a:pPr indent="0" marL="0">
              <a:buNone/>
            </a:pPr>
            <a:r>
              <a:rPr lang="en-US" sz="800" b="1" dirty="0">
                <a:solidFill>
                  <a:schemeClr val="accent4"/>
                </a:solidFill>
              </a:rPr>
              <a:t>評価</a:t>
            </a:r>
            <a:endParaRPr lang="en-US" sz="800" dirty="0"/>
          </a:p>
        </p:txBody>
      </p:sp>
      <p:sp>
        <p:nvSpPr>
          <p:cNvPr id="26" name="Text 20"/>
          <p:cNvSpPr txBox="1"/>
          <p:nvPr/>
        </p:nvSpPr>
        <p:spPr>
          <a:xfrm>
            <a:off x="6217920" y="2395728"/>
            <a:ext cx="2331720" cy="457200"/>
          </a:xfrm>
          <a:prstGeom prst="rect">
            <a:avLst/>
          </a:prstGeom>
          <a:noFill/>
          <a:ln/>
        </p:spPr>
        <p:txBody>
          <a:bodyPr wrap="square" lIns="0" tIns="0" rIns="0" bIns="0" rtlCol="0" anchor="t"/>
          <a:lstStyle/>
          <a:p>
            <a:pPr indent="0" marL="0">
              <a:buNone/>
            </a:pPr>
            <a:r>
              <a:rPr lang="en-US" sz="950" dirty="0">
                <a:solidFill>
                  <a:schemeClr val="tx1"/>
                </a:solidFill>
              </a:rPr>
              <a:t>食事メニューは温浴施設の相場内、カツカレーは専門店より割安</a:t>
            </a:r>
            <a:endParaRPr lang="en-US" sz="950" dirty="0"/>
          </a:p>
        </p:txBody>
      </p:sp>
      <p:sp>
        <p:nvSpPr>
          <p:cNvPr id="27" name="Text 21"/>
          <p:cNvSpPr txBox="1"/>
          <p:nvPr/>
        </p:nvSpPr>
        <p:spPr>
          <a:xfrm>
            <a:off x="6217920" y="2880360"/>
            <a:ext cx="2286000" cy="201168"/>
          </a:xfrm>
          <a:prstGeom prst="rect">
            <a:avLst/>
          </a:prstGeom>
          <a:noFill/>
          <a:ln/>
        </p:spPr>
        <p:txBody>
          <a:bodyPr wrap="square" lIns="0" tIns="0" rIns="0" bIns="0" rtlCol="0" anchor="t"/>
          <a:lstStyle/>
          <a:p>
            <a:pPr indent="0" marL="0">
              <a:buNone/>
            </a:pPr>
            <a:r>
              <a:rPr lang="en-US" sz="800" b="1" dirty="0">
                <a:solidFill>
                  <a:schemeClr val="accent1"/>
                </a:solidFill>
              </a:rPr>
              <a:t>対策</a:t>
            </a:r>
            <a:endParaRPr lang="en-US" sz="800" dirty="0"/>
          </a:p>
        </p:txBody>
      </p:sp>
      <p:sp>
        <p:nvSpPr>
          <p:cNvPr id="28" name="Text 22"/>
          <p:cNvSpPr txBox="1"/>
          <p:nvPr/>
        </p:nvSpPr>
        <p:spPr>
          <a:xfrm>
            <a:off x="6217920" y="3081528"/>
            <a:ext cx="2331720" cy="502920"/>
          </a:xfrm>
          <a:prstGeom prst="rect">
            <a:avLst/>
          </a:prstGeom>
          <a:noFill/>
          <a:ln/>
        </p:spPr>
        <p:txBody>
          <a:bodyPr wrap="square" lIns="0" tIns="0" rIns="0" bIns="0" rtlCol="0" anchor="t"/>
          <a:lstStyle/>
          <a:p>
            <a:pPr indent="0" marL="0">
              <a:buNone/>
            </a:pPr>
            <a:r>
              <a:rPr lang="en-US" sz="950" dirty="0">
                <a:solidFill>
                  <a:schemeClr val="tx1"/>
                </a:solidFill>
              </a:rPr>
              <a:t>改定理由の店内告知、セット・クーポンで割安感を維持</a:t>
            </a:r>
            <a:endParaRPr lang="en-US" sz="950" dirty="0"/>
          </a:p>
        </p:txBody>
      </p:sp>
      <p:sp>
        <p:nvSpPr>
          <p:cNvPr id="29" name="kpi-bar"/>
          <p:cNvSpPr/>
          <p:nvPr/>
        </p:nvSpPr>
        <p:spPr>
          <a:xfrm>
            <a:off x="457200" y="3794760"/>
            <a:ext cx="8229600" cy="640080"/>
          </a:xfrm>
          <a:prstGeom prst="roundRect">
            <a:avLst>
              <a:gd name="adj" fmla="val 14286"/>
            </a:avLst>
          </a:prstGeom>
          <a:solidFill>
            <a:schemeClr val="tx2"/>
          </a:solidFill>
          <a:ln/>
        </p:spPr>
      </p:sp>
      <p:sp>
        <p:nvSpPr>
          <p:cNvPr id="30" name="Text 24"/>
          <p:cNvSpPr txBox="1"/>
          <p:nvPr/>
        </p:nvSpPr>
        <p:spPr>
          <a:xfrm>
            <a:off x="685800" y="3794760"/>
            <a:ext cx="7863840" cy="640080"/>
          </a:xfrm>
          <a:prstGeom prst="rect">
            <a:avLst/>
          </a:prstGeom>
          <a:noFill/>
          <a:ln/>
        </p:spPr>
        <p:txBody>
          <a:bodyPr wrap="square" lIns="0" tIns="0" rIns="0" bIns="0" rtlCol="0" anchor="ctr"/>
          <a:lstStyle/>
          <a:p>
            <a:pPr indent="0" marL="0">
              <a:buNone/>
            </a:pPr>
            <a:r>
              <a:rPr lang="en-US" sz="1050" b="1" dirty="0">
                <a:solidFill>
                  <a:schemeClr val="bg1"/>
                </a:solidFill>
              </a:rPr>
              <a:t>月次モニタリングKPI　</a:t>
            </a:r>
            <a:pPr indent="0" marL="0">
              <a:buNone/>
            </a:pPr>
            <a:r>
              <a:rPr lang="en-US" sz="1050" dirty="0">
                <a:solidFill>
                  <a:schemeClr val="accent5"/>
                </a:solidFill>
              </a:rPr>
              <a:t>飲食原価率／理論原価との差／品目別出数（前年比）／飲食客単価／アルコール注文率</a:t>
            </a:r>
            <a:endParaRPr lang="en-US" sz="105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14　実行スケジュールと決裁事項</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11月に準備し、12月1日から新価格で運用を開始します（案）</a:t>
            </a:r>
            <a:endParaRPr lang="en-US" sz="2100" dirty="0"/>
          </a:p>
        </p:txBody>
      </p:sp>
      <p:sp>
        <p:nvSpPr>
          <p:cNvPr id="5" name="timeline"/>
          <p:cNvSpPr/>
          <p:nvPr/>
        </p:nvSpPr>
        <p:spPr>
          <a:xfrm>
            <a:off x="795528" y="1691640"/>
            <a:ext cx="6766560" cy="0"/>
          </a:xfrm>
          <a:prstGeom prst="line">
            <a:avLst/>
          </a:prstGeom>
          <a:noFill/>
          <a:ln w="25400">
            <a:solidFill>
              <a:srgbClr val="C9DCD8"/>
            </a:solidFill>
            <a:prstDash val="solid"/>
          </a:ln>
        </p:spPr>
      </p:sp>
      <p:sp>
        <p:nvSpPr>
          <p:cNvPr id="6" name="tl-dot"/>
          <p:cNvSpPr/>
          <p:nvPr/>
        </p:nvSpPr>
        <p:spPr>
          <a:xfrm>
            <a:off x="640080" y="1536192"/>
            <a:ext cx="310896" cy="310896"/>
          </a:xfrm>
          <a:prstGeom prst="ellipse">
            <a:avLst/>
          </a:prstGeom>
          <a:solidFill>
            <a:srgbClr val="0F3D3E"/>
          </a:solidFill>
          <a:ln/>
        </p:spPr>
      </p:sp>
      <p:sp>
        <p:nvSpPr>
          <p:cNvPr id="7" name="Text 4"/>
          <p:cNvSpPr txBox="1"/>
          <p:nvPr/>
        </p:nvSpPr>
        <p:spPr>
          <a:xfrm>
            <a:off x="457200" y="1920240"/>
            <a:ext cx="1600200" cy="274320"/>
          </a:xfrm>
          <a:prstGeom prst="rect">
            <a:avLst/>
          </a:prstGeom>
          <a:noFill/>
          <a:ln/>
        </p:spPr>
        <p:txBody>
          <a:bodyPr wrap="square" lIns="0" tIns="0" rIns="0" bIns="0" rtlCol="0" anchor="t"/>
          <a:lstStyle/>
          <a:p>
            <a:pPr indent="0" marL="0">
              <a:buNone/>
            </a:pPr>
            <a:r>
              <a:rPr lang="en-US" sz="1200" b="1" dirty="0">
                <a:solidFill>
                  <a:schemeClr val="tx2"/>
                </a:solidFill>
              </a:rPr>
              <a:t>10月末</a:t>
            </a:r>
            <a:endParaRPr lang="en-US" sz="1200" dirty="0"/>
          </a:p>
        </p:txBody>
      </p:sp>
      <p:sp>
        <p:nvSpPr>
          <p:cNvPr id="8" name="Text 5"/>
          <p:cNvSpPr txBox="1"/>
          <p:nvPr/>
        </p:nvSpPr>
        <p:spPr>
          <a:xfrm>
            <a:off x="457200" y="2212848"/>
            <a:ext cx="1600200" cy="256032"/>
          </a:xfrm>
          <a:prstGeom prst="rect">
            <a:avLst/>
          </a:prstGeom>
          <a:noFill/>
          <a:ln/>
        </p:spPr>
        <p:txBody>
          <a:bodyPr wrap="square" lIns="0" tIns="0" rIns="0" bIns="0" rtlCol="0" anchor="t"/>
          <a:lstStyle/>
          <a:p>
            <a:pPr indent="0" marL="0">
              <a:buNone/>
            </a:pPr>
            <a:r>
              <a:rPr lang="en-US" sz="1050" b="1" dirty="0">
                <a:solidFill>
                  <a:schemeClr val="tx1"/>
                </a:solidFill>
              </a:rPr>
              <a:t>ご承認</a:t>
            </a:r>
            <a:endParaRPr lang="en-US" sz="1050" dirty="0"/>
          </a:p>
        </p:txBody>
      </p:sp>
      <p:sp>
        <p:nvSpPr>
          <p:cNvPr id="9" name="Text 6"/>
          <p:cNvSpPr txBox="1"/>
          <p:nvPr/>
        </p:nvSpPr>
        <p:spPr>
          <a:xfrm>
            <a:off x="457200" y="2487168"/>
            <a:ext cx="1554480" cy="365760"/>
          </a:xfrm>
          <a:prstGeom prst="rect">
            <a:avLst/>
          </a:prstGeom>
          <a:noFill/>
          <a:ln/>
        </p:spPr>
        <p:txBody>
          <a:bodyPr wrap="square" lIns="0" tIns="0" rIns="0" bIns="0" rtlCol="0" anchor="t"/>
          <a:lstStyle/>
          <a:p>
            <a:pPr indent="0" marL="0">
              <a:buNone/>
            </a:pPr>
            <a:r>
              <a:rPr lang="en-US" sz="900" dirty="0">
                <a:solidFill>
                  <a:schemeClr val="accent4"/>
                </a:solidFill>
              </a:rPr>
              <a:t>本提案の決裁</a:t>
            </a:r>
            <a:endParaRPr lang="en-US" sz="900" dirty="0"/>
          </a:p>
        </p:txBody>
      </p:sp>
      <p:sp>
        <p:nvSpPr>
          <p:cNvPr id="10" name="tl-dot"/>
          <p:cNvSpPr/>
          <p:nvPr/>
        </p:nvSpPr>
        <p:spPr>
          <a:xfrm>
            <a:off x="2331720" y="1536192"/>
            <a:ext cx="310896" cy="310896"/>
          </a:xfrm>
          <a:prstGeom prst="ellipse">
            <a:avLst/>
          </a:prstGeom>
          <a:solidFill>
            <a:srgbClr val="0F3D3E"/>
          </a:solidFill>
          <a:ln/>
        </p:spPr>
      </p:sp>
      <p:sp>
        <p:nvSpPr>
          <p:cNvPr id="11" name="Text 8"/>
          <p:cNvSpPr txBox="1"/>
          <p:nvPr/>
        </p:nvSpPr>
        <p:spPr>
          <a:xfrm>
            <a:off x="2148840" y="1920240"/>
            <a:ext cx="1600200" cy="274320"/>
          </a:xfrm>
          <a:prstGeom prst="rect">
            <a:avLst/>
          </a:prstGeom>
          <a:noFill/>
          <a:ln/>
        </p:spPr>
        <p:txBody>
          <a:bodyPr wrap="square" lIns="0" tIns="0" rIns="0" bIns="0" rtlCol="0" anchor="t"/>
          <a:lstStyle/>
          <a:p>
            <a:pPr indent="0" marL="0">
              <a:buNone/>
            </a:pPr>
            <a:r>
              <a:rPr lang="en-US" sz="1200" b="1" dirty="0">
                <a:solidFill>
                  <a:schemeClr val="tx2"/>
                </a:solidFill>
              </a:rPr>
              <a:t>11月</a:t>
            </a:r>
            <a:endParaRPr lang="en-US" sz="1200" dirty="0"/>
          </a:p>
        </p:txBody>
      </p:sp>
      <p:sp>
        <p:nvSpPr>
          <p:cNvPr id="12" name="Text 9"/>
          <p:cNvSpPr txBox="1"/>
          <p:nvPr/>
        </p:nvSpPr>
        <p:spPr>
          <a:xfrm>
            <a:off x="2148840" y="2212848"/>
            <a:ext cx="1600200" cy="256032"/>
          </a:xfrm>
          <a:prstGeom prst="rect">
            <a:avLst/>
          </a:prstGeom>
          <a:noFill/>
          <a:ln/>
        </p:spPr>
        <p:txBody>
          <a:bodyPr wrap="square" lIns="0" tIns="0" rIns="0" bIns="0" rtlCol="0" anchor="t"/>
          <a:lstStyle/>
          <a:p>
            <a:pPr indent="0" marL="0">
              <a:buNone/>
            </a:pPr>
            <a:r>
              <a:rPr lang="en-US" sz="1050" b="1" dirty="0">
                <a:solidFill>
                  <a:schemeClr val="tx1"/>
                </a:solidFill>
              </a:rPr>
              <a:t>準備</a:t>
            </a:r>
            <a:endParaRPr lang="en-US" sz="1050" dirty="0"/>
          </a:p>
        </p:txBody>
      </p:sp>
      <p:sp>
        <p:nvSpPr>
          <p:cNvPr id="13" name="Text 10"/>
          <p:cNvSpPr txBox="1"/>
          <p:nvPr/>
        </p:nvSpPr>
        <p:spPr>
          <a:xfrm>
            <a:off x="2148840" y="2487168"/>
            <a:ext cx="1554480" cy="365760"/>
          </a:xfrm>
          <a:prstGeom prst="rect">
            <a:avLst/>
          </a:prstGeom>
          <a:noFill/>
          <a:ln/>
        </p:spPr>
        <p:txBody>
          <a:bodyPr wrap="square" lIns="0" tIns="0" rIns="0" bIns="0" rtlCol="0" anchor="t"/>
          <a:lstStyle/>
          <a:p>
            <a:pPr indent="0" marL="0">
              <a:buNone/>
            </a:pPr>
            <a:r>
              <a:rPr lang="en-US" sz="900" dirty="0">
                <a:solidFill>
                  <a:schemeClr val="accent4"/>
                </a:solidFill>
              </a:rPr>
              <a:t>メニュー表・POS設定・告知物</a:t>
            </a:r>
            <a:endParaRPr lang="en-US" sz="900" dirty="0"/>
          </a:p>
        </p:txBody>
      </p:sp>
      <p:sp>
        <p:nvSpPr>
          <p:cNvPr id="14" name="tl-dot"/>
          <p:cNvSpPr/>
          <p:nvPr/>
        </p:nvSpPr>
        <p:spPr>
          <a:xfrm>
            <a:off x="4023360" y="1536192"/>
            <a:ext cx="310896" cy="310896"/>
          </a:xfrm>
          <a:prstGeom prst="ellipse">
            <a:avLst/>
          </a:prstGeom>
          <a:solidFill>
            <a:srgbClr val="C8773B"/>
          </a:solidFill>
          <a:ln/>
        </p:spPr>
      </p:sp>
      <p:sp>
        <p:nvSpPr>
          <p:cNvPr id="15" name="Text 12"/>
          <p:cNvSpPr txBox="1"/>
          <p:nvPr/>
        </p:nvSpPr>
        <p:spPr>
          <a:xfrm>
            <a:off x="3840480" y="1920240"/>
            <a:ext cx="1600200" cy="274320"/>
          </a:xfrm>
          <a:prstGeom prst="rect">
            <a:avLst/>
          </a:prstGeom>
          <a:noFill/>
          <a:ln/>
        </p:spPr>
        <p:txBody>
          <a:bodyPr wrap="square" lIns="0" tIns="0" rIns="0" bIns="0" rtlCol="0" anchor="t"/>
          <a:lstStyle/>
          <a:p>
            <a:pPr indent="0" marL="0">
              <a:buNone/>
            </a:pPr>
            <a:r>
              <a:rPr lang="en-US" sz="1200" b="1" dirty="0">
                <a:solidFill>
                  <a:schemeClr val="accent1"/>
                </a:solidFill>
              </a:rPr>
              <a:t>12/1</a:t>
            </a:r>
            <a:endParaRPr lang="en-US" sz="1200" dirty="0"/>
          </a:p>
        </p:txBody>
      </p:sp>
      <p:sp>
        <p:nvSpPr>
          <p:cNvPr id="16" name="Text 13"/>
          <p:cNvSpPr txBox="1"/>
          <p:nvPr/>
        </p:nvSpPr>
        <p:spPr>
          <a:xfrm>
            <a:off x="3840480" y="2212848"/>
            <a:ext cx="1600200" cy="256032"/>
          </a:xfrm>
          <a:prstGeom prst="rect">
            <a:avLst/>
          </a:prstGeom>
          <a:noFill/>
          <a:ln/>
        </p:spPr>
        <p:txBody>
          <a:bodyPr wrap="square" lIns="0" tIns="0" rIns="0" bIns="0" rtlCol="0" anchor="t"/>
          <a:lstStyle/>
          <a:p>
            <a:pPr indent="0" marL="0">
              <a:buNone/>
            </a:pPr>
            <a:r>
              <a:rPr lang="en-US" sz="1050" b="1" dirty="0">
                <a:solidFill>
                  <a:schemeClr val="tx1"/>
                </a:solidFill>
              </a:rPr>
              <a:t>新価格で運用開始</a:t>
            </a:r>
            <a:endParaRPr lang="en-US" sz="1050" dirty="0"/>
          </a:p>
        </p:txBody>
      </p:sp>
      <p:sp>
        <p:nvSpPr>
          <p:cNvPr id="17" name="Text 14"/>
          <p:cNvSpPr txBox="1"/>
          <p:nvPr/>
        </p:nvSpPr>
        <p:spPr>
          <a:xfrm>
            <a:off x="3840480" y="2487168"/>
            <a:ext cx="1554480" cy="365760"/>
          </a:xfrm>
          <a:prstGeom prst="rect">
            <a:avLst/>
          </a:prstGeom>
          <a:noFill/>
          <a:ln/>
        </p:spPr>
        <p:txBody>
          <a:bodyPr wrap="square" lIns="0" tIns="0" rIns="0" bIns="0" rtlCol="0" anchor="t"/>
          <a:lstStyle/>
          <a:p>
            <a:pPr indent="0" marL="0">
              <a:buNone/>
            </a:pPr>
            <a:r>
              <a:rPr lang="en-US" sz="900" dirty="0">
                <a:solidFill>
                  <a:schemeClr val="accent4"/>
                </a:solidFill>
              </a:rPr>
              <a:t>A案＋B案</a:t>
            </a:r>
            <a:endParaRPr lang="en-US" sz="900" dirty="0"/>
          </a:p>
        </p:txBody>
      </p:sp>
      <p:sp>
        <p:nvSpPr>
          <p:cNvPr id="18" name="tl-dot"/>
          <p:cNvSpPr/>
          <p:nvPr/>
        </p:nvSpPr>
        <p:spPr>
          <a:xfrm>
            <a:off x="5715000" y="1536192"/>
            <a:ext cx="310896" cy="310896"/>
          </a:xfrm>
          <a:prstGeom prst="ellipse">
            <a:avLst/>
          </a:prstGeom>
          <a:solidFill>
            <a:srgbClr val="0F3D3E"/>
          </a:solidFill>
          <a:ln/>
        </p:spPr>
      </p:sp>
      <p:sp>
        <p:nvSpPr>
          <p:cNvPr id="19" name="Text 16"/>
          <p:cNvSpPr txBox="1"/>
          <p:nvPr/>
        </p:nvSpPr>
        <p:spPr>
          <a:xfrm>
            <a:off x="5532120" y="1920240"/>
            <a:ext cx="1600200" cy="274320"/>
          </a:xfrm>
          <a:prstGeom prst="rect">
            <a:avLst/>
          </a:prstGeom>
          <a:noFill/>
          <a:ln/>
        </p:spPr>
        <p:txBody>
          <a:bodyPr wrap="square" lIns="0" tIns="0" rIns="0" bIns="0" rtlCol="0" anchor="t"/>
          <a:lstStyle/>
          <a:p>
            <a:pPr indent="0" marL="0">
              <a:buNone/>
            </a:pPr>
            <a:r>
              <a:rPr lang="en-US" sz="1200" b="1" dirty="0">
                <a:solidFill>
                  <a:schemeClr val="tx2"/>
                </a:solidFill>
              </a:rPr>
              <a:t>1月</a:t>
            </a:r>
            <a:endParaRPr lang="en-US" sz="1200" dirty="0"/>
          </a:p>
        </p:txBody>
      </p:sp>
      <p:sp>
        <p:nvSpPr>
          <p:cNvPr id="20" name="Text 17"/>
          <p:cNvSpPr txBox="1"/>
          <p:nvPr/>
        </p:nvSpPr>
        <p:spPr>
          <a:xfrm>
            <a:off x="5532120" y="2212848"/>
            <a:ext cx="1600200" cy="256032"/>
          </a:xfrm>
          <a:prstGeom prst="rect">
            <a:avLst/>
          </a:prstGeom>
          <a:noFill/>
          <a:ln/>
        </p:spPr>
        <p:txBody>
          <a:bodyPr wrap="square" lIns="0" tIns="0" rIns="0" bIns="0" rtlCol="0" anchor="t"/>
          <a:lstStyle/>
          <a:p>
            <a:pPr indent="0" marL="0">
              <a:buNone/>
            </a:pPr>
            <a:r>
              <a:rPr lang="en-US" sz="1050" b="1" dirty="0">
                <a:solidFill>
                  <a:schemeClr val="tx1"/>
                </a:solidFill>
              </a:rPr>
              <a:t>初回効果検証</a:t>
            </a:r>
            <a:endParaRPr lang="en-US" sz="1050" dirty="0"/>
          </a:p>
        </p:txBody>
      </p:sp>
      <p:sp>
        <p:nvSpPr>
          <p:cNvPr id="21" name="Text 18"/>
          <p:cNvSpPr txBox="1"/>
          <p:nvPr/>
        </p:nvSpPr>
        <p:spPr>
          <a:xfrm>
            <a:off x="5532120" y="2487168"/>
            <a:ext cx="1554480" cy="365760"/>
          </a:xfrm>
          <a:prstGeom prst="rect">
            <a:avLst/>
          </a:prstGeom>
          <a:noFill/>
          <a:ln/>
        </p:spPr>
        <p:txBody>
          <a:bodyPr wrap="square" lIns="0" tIns="0" rIns="0" bIns="0" rtlCol="0" anchor="t"/>
          <a:lstStyle/>
          <a:p>
            <a:pPr indent="0" marL="0">
              <a:buNone/>
            </a:pPr>
            <a:r>
              <a:rPr lang="en-US" sz="900" dirty="0">
                <a:solidFill>
                  <a:schemeClr val="accent4"/>
                </a:solidFill>
              </a:rPr>
              <a:t>出数・原価率・客単価</a:t>
            </a:r>
            <a:endParaRPr lang="en-US" sz="900" dirty="0"/>
          </a:p>
        </p:txBody>
      </p:sp>
      <p:sp>
        <p:nvSpPr>
          <p:cNvPr id="22" name="tl-dot"/>
          <p:cNvSpPr/>
          <p:nvPr/>
        </p:nvSpPr>
        <p:spPr>
          <a:xfrm>
            <a:off x="7406640" y="1536192"/>
            <a:ext cx="310896" cy="310896"/>
          </a:xfrm>
          <a:prstGeom prst="ellipse">
            <a:avLst/>
          </a:prstGeom>
          <a:solidFill>
            <a:srgbClr val="0F3D3E"/>
          </a:solidFill>
          <a:ln/>
        </p:spPr>
      </p:sp>
      <p:sp>
        <p:nvSpPr>
          <p:cNvPr id="23" name="Text 20"/>
          <p:cNvSpPr txBox="1"/>
          <p:nvPr/>
        </p:nvSpPr>
        <p:spPr>
          <a:xfrm>
            <a:off x="7223760" y="1920240"/>
            <a:ext cx="1600200" cy="274320"/>
          </a:xfrm>
          <a:prstGeom prst="rect">
            <a:avLst/>
          </a:prstGeom>
          <a:noFill/>
          <a:ln/>
        </p:spPr>
        <p:txBody>
          <a:bodyPr wrap="square" lIns="0" tIns="0" rIns="0" bIns="0" rtlCol="0" anchor="t"/>
          <a:lstStyle/>
          <a:p>
            <a:pPr indent="0" marL="0">
              <a:buNone/>
            </a:pPr>
            <a:r>
              <a:rPr lang="en-US" sz="1200" b="1" dirty="0">
                <a:solidFill>
                  <a:schemeClr val="tx2"/>
                </a:solidFill>
              </a:rPr>
              <a:t>3月</a:t>
            </a:r>
            <a:endParaRPr lang="en-US" sz="1200" dirty="0"/>
          </a:p>
        </p:txBody>
      </p:sp>
      <p:sp>
        <p:nvSpPr>
          <p:cNvPr id="24" name="Text 21"/>
          <p:cNvSpPr txBox="1"/>
          <p:nvPr/>
        </p:nvSpPr>
        <p:spPr>
          <a:xfrm>
            <a:off x="7223760" y="2212848"/>
            <a:ext cx="1600200" cy="256032"/>
          </a:xfrm>
          <a:prstGeom prst="rect">
            <a:avLst/>
          </a:prstGeom>
          <a:noFill/>
          <a:ln/>
        </p:spPr>
        <p:txBody>
          <a:bodyPr wrap="square" lIns="0" tIns="0" rIns="0" bIns="0" rtlCol="0" anchor="t"/>
          <a:lstStyle/>
          <a:p>
            <a:pPr indent="0" marL="0">
              <a:buNone/>
            </a:pPr>
            <a:r>
              <a:rPr lang="en-US" sz="1050" b="1" dirty="0">
                <a:solidFill>
                  <a:schemeClr val="tx1"/>
                </a:solidFill>
              </a:rPr>
              <a:t>通期着地の確認</a:t>
            </a:r>
            <a:endParaRPr lang="en-US" sz="1050" dirty="0"/>
          </a:p>
        </p:txBody>
      </p:sp>
      <p:sp>
        <p:nvSpPr>
          <p:cNvPr id="25" name="Text 22"/>
          <p:cNvSpPr txBox="1"/>
          <p:nvPr/>
        </p:nvSpPr>
        <p:spPr>
          <a:xfrm>
            <a:off x="7223760" y="2487168"/>
            <a:ext cx="1554480" cy="365760"/>
          </a:xfrm>
          <a:prstGeom prst="rect">
            <a:avLst/>
          </a:prstGeom>
          <a:noFill/>
          <a:ln/>
        </p:spPr>
        <p:txBody>
          <a:bodyPr wrap="square" lIns="0" tIns="0" rIns="0" bIns="0" rtlCol="0" anchor="t"/>
          <a:lstStyle/>
          <a:p>
            <a:pPr indent="0" marL="0">
              <a:buNone/>
            </a:pPr>
            <a:r>
              <a:rPr lang="en-US" sz="900" dirty="0">
                <a:solidFill>
                  <a:schemeClr val="accent4"/>
                </a:solidFill>
              </a:rPr>
              <a:t>追加施策の要否判断</a:t>
            </a:r>
            <a:endParaRPr lang="en-US" sz="900" dirty="0"/>
          </a:p>
        </p:txBody>
      </p:sp>
      <p:sp>
        <p:nvSpPr>
          <p:cNvPr id="26" name="decision"/>
          <p:cNvSpPr/>
          <p:nvPr/>
        </p:nvSpPr>
        <p:spPr>
          <a:xfrm>
            <a:off x="457200" y="3017520"/>
            <a:ext cx="8229600" cy="1417320"/>
          </a:xfrm>
          <a:prstGeom prst="roundRect">
            <a:avLst>
              <a:gd name="adj" fmla="val 6452"/>
            </a:avLst>
          </a:prstGeom>
          <a:solidFill>
            <a:schemeClr val="tx2"/>
          </a:solidFill>
          <a:ln/>
        </p:spPr>
      </p:sp>
      <p:sp>
        <p:nvSpPr>
          <p:cNvPr id="27" name="Text 24"/>
          <p:cNvSpPr txBox="1"/>
          <p:nvPr/>
        </p:nvSpPr>
        <p:spPr>
          <a:xfrm>
            <a:off x="685800" y="3127248"/>
            <a:ext cx="3657600" cy="274320"/>
          </a:xfrm>
          <a:prstGeom prst="rect">
            <a:avLst/>
          </a:prstGeom>
          <a:noFill/>
          <a:ln/>
        </p:spPr>
        <p:txBody>
          <a:bodyPr wrap="square" lIns="0" tIns="0" rIns="0" bIns="0" rtlCol="0" anchor="t"/>
          <a:lstStyle/>
          <a:p>
            <a:pPr indent="0" marL="0">
              <a:buNone/>
            </a:pPr>
            <a:r>
              <a:rPr lang="en-US" sz="1200" b="1" dirty="0">
                <a:solidFill>
                  <a:schemeClr val="accent1"/>
                </a:solidFill>
              </a:rPr>
              <a:t>ご判断いただきたいこと</a:t>
            </a:r>
            <a:endParaRPr lang="en-US" sz="1200" dirty="0"/>
          </a:p>
        </p:txBody>
      </p:sp>
      <p:sp>
        <p:nvSpPr>
          <p:cNvPr id="28" name="Text 25"/>
          <p:cNvSpPr txBox="1"/>
          <p:nvPr/>
        </p:nvSpPr>
        <p:spPr>
          <a:xfrm>
            <a:off x="685800" y="3456432"/>
            <a:ext cx="7863840" cy="91440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00" dirty="0">
                <a:solidFill>
                  <a:schemeClr val="bg1"/>
                </a:solidFill>
              </a:rPr>
              <a:t>価格改定（A案＋B案、GM141品・実効+3.7%）の承認</a:t>
            </a:r>
            <a:endParaRPr lang="en-US" sz="1100" dirty="0"/>
          </a:p>
          <a:p>
            <a:pPr marL="342900" indent="-342900">
              <a:spcAft>
                <a:spcPts val="300"/>
              </a:spcAft>
              <a:buSzPct val="100000"/>
              <a:buFont typeface="+mj-lt"/>
              <a:buAutoNum type="arabicPeriod" startAt="1"/>
            </a:pPr>
            <a:r>
              <a:rPr lang="en-US" sz="1100" dirty="0">
                <a:solidFill>
                  <a:schemeClr val="bg1"/>
                </a:solidFill>
              </a:rPr>
              <a:t>下期の原価削減目標85万円（月14万円）と、月次KPI管理の設定</a:t>
            </a:r>
            <a:endParaRPr lang="en-US" sz="1100" dirty="0"/>
          </a:p>
          <a:p>
            <a:pPr marL="342900" indent="-342900">
              <a:spcAft>
                <a:spcPts val="300"/>
              </a:spcAft>
              <a:buSzPct val="100000"/>
              <a:buFont typeface="+mj-lt"/>
              <a:buAutoNum type="arabicPeriod" startAt="1"/>
            </a:pPr>
            <a:r>
              <a:rPr lang="en-US" sz="1100" dirty="0">
                <a:solidFill>
                  <a:schemeClr val="bg1"/>
                </a:solidFill>
              </a:rPr>
              <a:t>通期予算内に向けた追加施策（上期超過166万円の回収方法）の方針</a:t>
            </a:r>
            <a:endParaRPr lang="en-US" sz="11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000" b="1" spc="150" kern="0" dirty="0">
                <a:solidFill>
                  <a:schemeClr val="accent1"/>
                </a:solidFill>
              </a:rPr>
              <a:t>APPENDIX　試算の前提と算定方法</a:t>
            </a:r>
            <a:endParaRPr lang="en-US" sz="1000" dirty="0"/>
          </a:p>
        </p:txBody>
      </p:sp>
      <p:sp>
        <p:nvSpPr>
          <p:cNvPr id="3" name="Text 0"/>
          <p:cNvSpPr/>
          <p:nvPr>
            <p:ph idx="101" type="title" hasCustomPrompt="1"/>
          </p:nvPr>
        </p:nvSpPr>
        <p:spPr>
          <a:xfrm>
            <a:off x="457200" y="512064"/>
            <a:ext cx="8229600" cy="566928"/>
          </a:xfrm>
          <a:prstGeom prst="rect">
            <a:avLst/>
          </a:prstGeom>
          <a:noFill/>
          <a:ln/>
        </p:spPr>
        <p:txBody>
          <a:bodyPr wrap="square" lIns="0" tIns="0" rIns="0" bIns="0" rtlCol="0" anchor="t"/>
          <a:lstStyle/>
          <a:p>
            <a:pPr algn="l" indent="0" marL="0">
              <a:buNone/>
            </a:pPr>
            <a:r>
              <a:rPr lang="en-US" sz="2100" b="1" dirty="0">
                <a:solidFill>
                  <a:schemeClr val="tx1"/>
                </a:solidFill>
              </a:rPr>
              <a:t>試算はすべて実績データに基づき、根拠データで再計算できます</a:t>
            </a:r>
            <a:endParaRPr lang="en-US" sz="2100" dirty="0"/>
          </a:p>
        </p:txBody>
      </p:sp>
      <p:graphicFrame>
        <p:nvGraphicFramePr>
          <p:cNvPr id="18" name="table-appendix"/>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554480"/>
                <a:gridCol w="6675120"/>
              </a:tblGrid>
              <a:tr h="365760">
                <a:tc>
                  <a:txBody>
                    <a:bodyPr/>
                    <a:lstStyle/>
                    <a:p>
                      <a:pPr algn="l" indent="0" marL="0">
                        <a:buNone/>
                      </a:pPr>
                      <a:r>
                        <a:rPr lang="en-US" sz="950" b="1" dirty="0">
                          <a:solidFill>
                            <a:srgbClr val="FFFFFF"/>
                          </a:solidFill>
                        </a:rPr>
                        <a:t>項目</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c>
                  <a:txBody>
                    <a:bodyPr/>
                    <a:lstStyle/>
                    <a:p>
                      <a:pPr algn="l" indent="0" marL="0">
                        <a:buNone/>
                      </a:pPr>
                      <a:r>
                        <a:rPr lang="en-US" sz="950" b="1" dirty="0">
                          <a:solidFill>
                            <a:srgbClr val="FFFFFF"/>
                          </a:solidFill>
                        </a:rPr>
                        <a:t>内容</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0F3D3E"/>
                    </a:solidFill>
                  </a:tcPr>
                </a:tc>
              </a:tr>
              <a:tr h="365760">
                <a:tc>
                  <a:txBody>
                    <a:bodyPr/>
                    <a:lstStyle/>
                    <a:p>
                      <a:pPr algn="l" indent="0" marL="0">
                        <a:buNone/>
                      </a:pPr>
                      <a:r>
                        <a:rPr lang="en-US" sz="950" b="1" dirty="0">
                          <a:solidFill>
                            <a:srgbClr val="1B2324"/>
                          </a:solidFill>
                        </a:rPr>
                        <a:t>使用データ</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324"/>
                          </a:solidFill>
                        </a:rPr>
                        <a:t>予実管理表 2026年9月（上期累計）／期間報 分類別・商品別 2026/4/1〜6/30（税抜）／メニュー原価一覧（2024 GMレシピ）</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65760">
                <a:tc>
                  <a:txBody>
                    <a:bodyPr/>
                    <a:lstStyle/>
                    <a:p>
                      <a:pPr algn="l" indent="0" marL="0">
                        <a:buNone/>
                      </a:pPr>
                      <a:r>
                        <a:rPr lang="en-US" sz="950" b="1" dirty="0">
                          <a:solidFill>
                            <a:srgbClr val="1B2324"/>
                          </a:solidFill>
                        </a:rPr>
                        <a:t>出数ベース試算</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950" dirty="0">
                          <a:solidFill>
                            <a:srgbClr val="1B2324"/>
                          </a:solidFill>
                        </a:rPr>
                        <a:t>4〜6月の商品別出数×（改定後税抜−改定前税抜）。POS商品名とメニュー名を照合（GM150品＋近江牛サウナカリー）</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65760">
                <a:tc>
                  <a:txBody>
                    <a:bodyPr/>
                    <a:lstStyle/>
                    <a:p>
                      <a:pPr algn="l" indent="0" marL="0">
                        <a:buNone/>
                      </a:pPr>
                      <a:r>
                        <a:rPr lang="en-US" sz="950" b="1" dirty="0">
                          <a:solidFill>
                            <a:srgbClr val="1B2324"/>
                          </a:solidFill>
                        </a:rPr>
                        <a:t>価格弾力性</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324"/>
                          </a:solidFill>
                        </a:rPr>
                        <a:t>標準-0.3（値上げ率5%で出数1.5%減）。0／-0.6／-1.0で感度分析</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65760">
                <a:tc>
                  <a:txBody>
                    <a:bodyPr/>
                    <a:lstStyle/>
                    <a:p>
                      <a:pPr algn="l" indent="0" marL="0">
                        <a:buNone/>
                      </a:pPr>
                      <a:r>
                        <a:rPr lang="en-US" sz="950" b="1" dirty="0">
                          <a:solidFill>
                            <a:srgbClr val="1B2324"/>
                          </a:solidFill>
                        </a:rPr>
                        <a:t>半期・年間換算</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950" dirty="0">
                          <a:solidFill>
                            <a:srgbClr val="1B2324"/>
                          </a:solidFill>
                        </a:rPr>
                        <a:t>4〜6月のコラボ抜き売上1,410万円 → 上期食事売上2,921万円（係数2.07）。年間は×2</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65760">
                <a:tc>
                  <a:txBody>
                    <a:bodyPr/>
                    <a:lstStyle/>
                    <a:p>
                      <a:pPr algn="l" indent="0" marL="0">
                        <a:buNone/>
                      </a:pPr>
                      <a:r>
                        <a:rPr lang="en-US" sz="950" b="1" dirty="0">
                          <a:solidFill>
                            <a:srgbClr val="1B2324"/>
                          </a:solidFill>
                        </a:rPr>
                        <a:t>原価</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324"/>
                          </a:solidFill>
                        </a:rPr>
                        <a:t>レシピ原価（1品あたり不変）。原価未登録品とサウナカリーは登録品平均31%で仮置き</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65760">
                <a:tc>
                  <a:txBody>
                    <a:bodyPr/>
                    <a:lstStyle/>
                    <a:p>
                      <a:pPr algn="l" indent="0" marL="0">
                        <a:buNone/>
                      </a:pPr>
                      <a:r>
                        <a:rPr lang="en-US" sz="950" b="1" dirty="0">
                          <a:solidFill>
                            <a:srgbClr val="1B2324"/>
                          </a:solidFill>
                        </a:rPr>
                        <a:t>下期ベース</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950" dirty="0">
                          <a:solidFill>
                            <a:srgbClr val="1B2324"/>
                          </a:solidFill>
                        </a:rPr>
                        <a:t>売上・出数は上期と同水準。在庫は横ばい（上期の取崩し46.5万円は一時要因として除外）</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r h="365760">
                <a:tc>
                  <a:txBody>
                    <a:bodyPr/>
                    <a:lstStyle/>
                    <a:p>
                      <a:pPr algn="l" indent="0" marL="0">
                        <a:buNone/>
                      </a:pPr>
                      <a:r>
                        <a:rPr lang="en-US" sz="950" b="1" dirty="0">
                          <a:solidFill>
                            <a:srgbClr val="1B2324"/>
                          </a:solidFill>
                        </a:rPr>
                        <a:t>要因分解</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324"/>
                          </a:solidFill>
                        </a:rPr>
                        <a:t>予算の区分別原価率（コラボ32.0%・食事35.0%）を実績構成に適用。残差を原価圧迫・ロスとした</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FFFFF"/>
                    </a:solidFill>
                  </a:tcPr>
                </a:tc>
              </a:tr>
              <a:tr h="365760">
                <a:tc>
                  <a:txBody>
                    <a:bodyPr/>
                    <a:lstStyle/>
                    <a:p>
                      <a:pPr algn="l" indent="0" marL="0">
                        <a:buNone/>
                      </a:pPr>
                      <a:r>
                        <a:rPr lang="en-US" sz="950" b="1" dirty="0">
                          <a:solidFill>
                            <a:srgbClr val="1B2324"/>
                          </a:solidFill>
                        </a:rPr>
                        <a:t>競合価格</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c>
                  <a:txBody>
                    <a:bodyPr/>
                    <a:lstStyle/>
                    <a:p>
                      <a:pPr algn="l" indent="0" marL="0">
                        <a:buNone/>
                      </a:pPr>
                      <a:r>
                        <a:rPr lang="en-US" sz="950" dirty="0">
                          <a:solidFill>
                            <a:srgbClr val="1B2324"/>
                          </a:solidFill>
                        </a:rPr>
                        <a:t>2026年10月のWeb調査（税込）。各店の最新価格は要確認</a:t>
                      </a:r>
                      <a:endParaRPr lang="en-US" sz="950" dirty="0"/>
                    </a:p>
                  </a:txBody>
                  <a:tcPr marL="64008" marR="64008" marT="0" marB="0" anchor="ctr">
                    <a:lnL w="0" cap="flat" cmpd="sng" algn="ctr">
                      <a:noFill/>
                    </a:lnL>
                    <a:lnR w="0" cap="flat" cmpd="sng" algn="ctr">
                      <a:noFill/>
                    </a:lnR>
                    <a:lnT w="0" cap="flat" cmpd="sng" algn="ctr">
                      <a:noFill/>
                    </a:lnT>
                    <a:lnB w="6350" cap="flat" cmpd="sng" algn="ctr">
                      <a:solidFill>
                        <a:srgbClr val="D5DEDC"/>
                      </a:solidFill>
                      <a:prstDash val="solid"/>
                      <a:round/>
                      <a:headEnd type="none" w="med" len="med"/>
                      <a:tailEnd type="none" w="med" len="med"/>
                    </a:lnB>
                    <a:solidFill>
                      <a:srgbClr val="F7F9F9"/>
                    </a:solidFill>
                  </a:tcPr>
                </a:tc>
              </a:tr>
            </a:tbl>
          </a:graphicData>
        </a:graphic>
      </p:graphicFrame>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75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RakuSpa Executive">
  <a:themeElements>
    <a:clrScheme name="RakuSpa Executive">
      <a:dk1>
        <a:srgbClr val="1B2324"/>
      </a:dk1>
      <a:lt1>
        <a:srgbClr val="FFFFFF"/>
      </a:lt1>
      <a:dk2>
        <a:srgbClr val="0F3D3E"/>
      </a:dk2>
      <a:lt2>
        <a:srgbClr val="F5F7F7"/>
      </a:lt2>
      <a:accent1>
        <a:srgbClr val="C8773B"/>
      </a:accent1>
      <a:accent2>
        <a:srgbClr val="0F3D3E"/>
      </a:accent2>
      <a:accent3>
        <a:srgbClr val="E3EEEC"/>
      </a:accent3>
      <a:accent4>
        <a:srgbClr val="6B7478"/>
      </a:accent4>
      <a:accent5>
        <a:srgbClr val="C9DCD8"/>
      </a:accent5>
      <a:accent6>
        <a:srgbClr val="1F5C5C"/>
      </a:accent6>
      <a:hlink>
        <a:srgbClr val="C8773B"/>
      </a:hlink>
      <a:folHlink>
        <a:srgbClr val="6B7478"/>
      </a:folHlink>
    </a:clrScheme>
    <a:fontScheme name="RakuSpa Executive">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RAKU SPA 1010 神田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飲食メニュー価格改定および原価率改善プランのご提案</dc:title>
  <dc:subject>PptxGenJS Presentation</dc:subject>
  <dc:creator>PptxGenJS</dc:creator>
  <cp:lastModifiedBy>PptxGenJS</cp:lastModifiedBy>
  <cp:revision>1</cp:revision>
  <dcterms:created xsi:type="dcterms:W3CDTF">2026-10-17T15:58:03Z</dcterms:created>
  <dcterms:modified xsi:type="dcterms:W3CDTF">2026-10-17T15:58:03Z</dcterms:modified>
</cp:coreProperties>
</file>