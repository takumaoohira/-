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d630eb70-c253-d892-b9ce-ae1bb7c1431d}">
          <p14:sldIdLst>
            <p14:sldId id="256"/>
          </p14:sldIdLst>
        </p14:section>
        <p14:section name="現場状況" id="{91546846-b52b-f770-42e7-0e0c6053183b}">
          <p14:sldIdLst>
            <p14:sldId id="257"/>
            <p14:sldId id="258"/>
            <p14:sldId id="259"/>
            <p14:sldId id="260"/>
            <p14:sldId id="261"/>
            <p14:sldId id="262"/>
          </p14:sldIdLst>
        </p14:section>
        <p14:section name="飲食スケジュール" id="{4ae84f75-92ce-53bd-d127-173819f9f44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現場の状況報告です。採用、シフト、人間関係、設備の4つです。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まず全体の要点です。一番の課題は週末の人手不足。設備ではゆで麺器の不調が提供停止につながる恐れがあります。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募集は18時から23時半。社保加入希望で週末も出られる人が1名見つかれば、週末メインの未加入者1名と合わせて2名。見つからなければ未加入者で3名程度です。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シフトの状況です。週末の不足が毎月ひどくなっています。また当日に遅れる連絡から休みになるケースが増え、日によって戦力のバランスが取れていません。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人間関係は大きなトラブルはありませんが、学生とそれ以外でなんとなく溝があり、愚痴を聞くことが増えています。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設備の不具合は3カ所です。特にゆで麺器は、今回のように跳ねたコラボで冷凍麺が増えると提供できなくなります。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の飲食スケジュールです。10月下旬からビールセット、11月上旬から角煮カレーの販促強化。11月5日から麺やこころ、11月12日から12月8日までにじさんじ。11月中旬から冬の差込、11月下旬に健康促進を予定、12月中旬からGM価格改定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8229600" cy="15544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640080" y="3794760"/>
            <a:ext cx="8229600" cy="45720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320040"/>
            <a:ext cx="10911535" cy="274320"/>
          </a:xfrm>
          <a:prstGeom prst="rect">
            <a:avLst/>
          </a:prstGeom>
          <a:noFill/>
          <a:ln/>
        </p:spPr>
        <p:txBody>
          <a:bodyPr wrap="square" rtlCol="0"/>
          <a:lstStyle>
            <a:lvl1pPr algn="l" indent="0" marL="0">
              <a:buNone/>
              <a:defRPr lang="en-US" sz="1100" b="1"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640080" y="621792"/>
            <a:ext cx="10911535" cy="59436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4" name="Text 0"/>
          <p:cNvSpPr/>
          <p:nvPr/>
        </p:nvSpPr>
        <p:spPr>
          <a:xfrm>
            <a:off x="640080" y="6473952"/>
            <a:ext cx="6400800" cy="228600"/>
          </a:xfrm>
          <a:prstGeom prst="rect">
            <a:avLst/>
          </a:prstGeom>
          <a:noFill/>
          <a:ln/>
        </p:spPr>
        <p:txBody>
          <a:bodyPr wrap="square" lIns="0" tIns="0" rIns="0" bIns="0" rtlCol="0" anchor="ctr"/>
          <a:lstStyle/>
          <a:p>
            <a:pPr indent="0" marL="0">
              <a:buNone/>
            </a:pPr>
            <a:r>
              <a:rPr lang="en-US" sz="900" dirty="0">
                <a:solidFill>
                  <a:schemeClr val="accent5"/>
                </a:solidFill>
              </a:rPr>
              <a:t>RAKUSPA1010神田　飲食部門　2026年9月 現場状況報告</a:t>
            </a:r>
            <a:endParaRPr lang="en-US" sz="900" dirty="0"/>
          </a:p>
        </p:txBody>
      </p:sp>
      <p:sp>
        <p:nvSpPr>
          <p:cNvPr id="25" name="Slide Number Placeholder 0"/>
          <p:cNvSpPr>
            <a:spLocks noGrp="1"/>
          </p:cNvSpPr>
          <p:nvPr>
            <p:ph type="sldNum" sz="quarter" idx="4294967295"/>
          </p:nvPr>
        </p:nvSpPr>
        <p:spPr>
          <a:xfrm>
            <a:off x="1100297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NEL">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3291840" cy="6858000"/>
          </a:xfrm>
          <a:prstGeom prst="rect">
            <a:avLst/>
          </a:prstGeom>
          <a:solidFill>
            <a:schemeClr val="accent1"/>
          </a:solidFill>
          <a:ln w="12700">
            <a:solidFill>
              <a:schemeClr val="accent1"/>
            </a:solidFill>
            <a:prstDash val="solid"/>
          </a:ln>
        </p:spPr>
      </p:sp>
      <p:sp>
        <p:nvSpPr>
          <p:cNvPr id="3" name="Text 1"/>
          <p:cNvSpPr/>
          <p:nvPr>
            <p:ph idx="101" type="body" hasCustomPrompt="1"/>
          </p:nvPr>
        </p:nvSpPr>
        <p:spPr>
          <a:xfrm>
            <a:off x="502920" y="685800"/>
            <a:ext cx="2377440" cy="914400"/>
          </a:xfrm>
          <a:prstGeom prst="rect">
            <a:avLst/>
          </a:prstGeom>
          <a:noFill/>
          <a:ln/>
        </p:spPr>
        <p:txBody>
          <a:bodyPr wrap="square" rtlCol="0"/>
          <a:lstStyle>
            <a:lvl1pPr algn="l" indent="0" marL="0">
              <a:buNone/>
              <a:defRPr lang="en-US" sz="5400" b="1" dirty="0">
                <a:solidFill>
                  <a:schemeClr val="accent4"/>
                </a:solidFill>
              </a:defRPr>
            </a:lvl1pPr>
          </a:lstStyle>
          <a:p>
            <a:pPr algn="l" indent="0" marL="0">
              <a:buNone/>
            </a:pPr>
            <a:endParaRPr lang="en-US" sz="5400" dirty="0"/>
          </a:p>
        </p:txBody>
      </p:sp>
      <p:sp>
        <p:nvSpPr>
          <p:cNvPr id="4" name="Text 1"/>
          <p:cNvSpPr/>
          <p:nvPr>
            <p:ph idx="102" type="title" hasCustomPrompt="1"/>
          </p:nvPr>
        </p:nvSpPr>
        <p:spPr>
          <a:xfrm>
            <a:off x="502920" y="1691640"/>
            <a:ext cx="2377440" cy="54864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5" name="Text 1"/>
          <p:cNvSpPr/>
          <p:nvPr>
            <p:ph idx="103" type="body" hasCustomPrompt="1"/>
          </p:nvPr>
        </p:nvSpPr>
        <p:spPr>
          <a:xfrm>
            <a:off x="502920" y="2514600"/>
            <a:ext cx="2377440" cy="2377440"/>
          </a:xfrm>
          <a:prstGeom prst="rect">
            <a:avLst/>
          </a:prstGeom>
          <a:noFill/>
          <a:ln/>
        </p:spPr>
        <p:txBody>
          <a:bodyPr wrap="square" rtlCol="0"/>
          <a:lstStyle>
            <a:lvl1pPr algn="l" indent="0" marL="0">
              <a:lnSpc>
                <a:spcPct val="130000"/>
              </a:lnSpc>
              <a:buNone/>
              <a:defRPr lang="en-US" sz="1700" b="1" dirty="0">
                <a:solidFill>
                  <a:schemeClr val="bg1"/>
                </a:solidFill>
              </a:defRPr>
            </a:lvl1pPr>
          </a:lstStyle>
          <a:p>
            <a:pPr algn="l" indent="0" marL="0">
              <a:lnSpc>
                <a:spcPct val="130000"/>
              </a:lnSpc>
              <a:buNone/>
            </a:pPr>
            <a:endParaRPr lang="en-US" sz="1700" dirty="0"/>
          </a:p>
        </p:txBody>
      </p:sp>
      <p:sp>
        <p:nvSpPr>
          <p:cNvPr id="6" name="Text 1"/>
          <p:cNvSpPr/>
          <p:nvPr/>
        </p:nvSpPr>
        <p:spPr>
          <a:xfrm>
            <a:off x="502920" y="6400800"/>
            <a:ext cx="2560320" cy="228600"/>
          </a:xfrm>
          <a:prstGeom prst="rect">
            <a:avLst/>
          </a:prstGeom>
          <a:noFill/>
          <a:ln/>
        </p:spPr>
        <p:txBody>
          <a:bodyPr wrap="square" lIns="0" tIns="0" rIns="0" bIns="0" rtlCol="0" anchor="ctr"/>
          <a:lstStyle/>
          <a:p>
            <a:pPr indent="0" marL="0">
              <a:buNone/>
            </a:pPr>
            <a:r>
              <a:rPr lang="en-US" sz="900" dirty="0">
                <a:solidFill>
                  <a:schemeClr val="accent4"/>
                </a:solidFill>
              </a:rPr>
              <a:t>RAKUSPA1010神田　2026年9月 現場状況報告</a:t>
            </a:r>
            <a:endParaRPr lang="en-US" sz="9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cover-panel"/>
          <p:cNvSpPr/>
          <p:nvPr/>
        </p:nvSpPr>
        <p:spPr>
          <a:xfrm>
            <a:off x="0" y="0"/>
            <a:ext cx="5669280" cy="6858000"/>
          </a:xfrm>
          <a:prstGeom prst="rect">
            <a:avLst/>
          </a:prstGeom>
          <a:solidFill>
            <a:schemeClr val="accent1"/>
          </a:solidFill>
          <a:ln w="12700">
            <a:solidFill>
              <a:schemeClr val="accent1"/>
            </a:solidFill>
            <a:prstDash val="solid"/>
          </a:ln>
        </p:spPr>
      </p:sp>
      <p:sp>
        <p:nvSpPr>
          <p:cNvPr id="3" name="t-1"/>
          <p:cNvSpPr txBox="1"/>
          <p:nvPr/>
        </p:nvSpPr>
        <p:spPr>
          <a:xfrm>
            <a:off x="640080" y="1737360"/>
            <a:ext cx="4572000" cy="320040"/>
          </a:xfrm>
          <a:prstGeom prst="rect">
            <a:avLst/>
          </a:prstGeom>
          <a:noFill/>
          <a:ln/>
        </p:spPr>
        <p:txBody>
          <a:bodyPr wrap="square" lIns="0" tIns="0" rIns="0" bIns="0" rtlCol="0" anchor="ctr"/>
          <a:lstStyle/>
          <a:p>
            <a:pPr indent="0" marL="0">
              <a:buNone/>
            </a:pPr>
            <a:r>
              <a:rPr lang="en-US" sz="1300" b="1" dirty="0">
                <a:solidFill>
                  <a:schemeClr val="accent4"/>
                </a:solidFill>
              </a:rPr>
              <a:t>RAKUSPA1010神田　飲食部門</a:t>
            </a:r>
            <a:endParaRPr lang="en-US" sz="1300" dirty="0"/>
          </a:p>
        </p:txBody>
      </p:sp>
      <p:sp>
        <p:nvSpPr>
          <p:cNvPr id="4" name="t-2"/>
          <p:cNvSpPr txBox="1"/>
          <p:nvPr/>
        </p:nvSpPr>
        <p:spPr>
          <a:xfrm>
            <a:off x="640080" y="2194560"/>
            <a:ext cx="4754880" cy="1645920"/>
          </a:xfrm>
          <a:prstGeom prst="rect">
            <a:avLst/>
          </a:prstGeom>
          <a:noFill/>
          <a:ln/>
        </p:spPr>
        <p:txBody>
          <a:bodyPr wrap="square" lIns="0" tIns="0" rIns="0" bIns="0" rtlCol="0" anchor="t"/>
          <a:lstStyle/>
          <a:p>
            <a:pPr indent="0" marL="0">
              <a:lnSpc>
                <a:spcPct val="115000"/>
              </a:lnSpc>
              <a:buNone/>
            </a:pPr>
            <a:r>
              <a:rPr lang="en-US" sz="3600" b="1" dirty="0">
                <a:solidFill>
                  <a:schemeClr val="bg1"/>
                </a:solidFill>
              </a:rPr>
              <a:t>2026年9月</a:t>
            </a:r>
            <a:endParaRPr lang="en-US" sz="3600" dirty="0"/>
          </a:p>
          <a:p>
            <a:pPr indent="0" marL="0">
              <a:lnSpc>
                <a:spcPct val="115000"/>
              </a:lnSpc>
              <a:buNone/>
            </a:pPr>
            <a:r>
              <a:rPr lang="en-US" sz="3600" b="1" dirty="0">
                <a:solidFill>
                  <a:schemeClr val="bg1"/>
                </a:solidFill>
              </a:rPr>
              <a:t>現場状況報告</a:t>
            </a:r>
            <a:endParaRPr lang="en-US" sz="3600" dirty="0"/>
          </a:p>
        </p:txBody>
      </p:sp>
      <p:sp>
        <p:nvSpPr>
          <p:cNvPr id="5" name="t-3"/>
          <p:cNvSpPr txBox="1"/>
          <p:nvPr/>
        </p:nvSpPr>
        <p:spPr>
          <a:xfrm>
            <a:off x="640080" y="5943600"/>
            <a:ext cx="4572000" cy="274320"/>
          </a:xfrm>
          <a:prstGeom prst="rect">
            <a:avLst/>
          </a:prstGeom>
          <a:noFill/>
          <a:ln/>
        </p:spPr>
        <p:txBody>
          <a:bodyPr wrap="square" lIns="0" tIns="0" rIns="0" bIns="0" rtlCol="0" anchor="ctr"/>
          <a:lstStyle/>
          <a:p>
            <a:pPr indent="0" marL="0">
              <a:buNone/>
            </a:pPr>
            <a:r>
              <a:rPr lang="en-US" sz="1100" dirty="0">
                <a:solidFill>
                  <a:schemeClr val="accent4"/>
                </a:solidFill>
              </a:rPr>
              <a:t>報告日 2026年10月1日　作成 大平</a:t>
            </a:r>
            <a:endParaRPr lang="en-US" sz="1100" dirty="0"/>
          </a:p>
        </p:txBody>
      </p:sp>
      <p:sp>
        <p:nvSpPr>
          <p:cNvPr id="6" name="t-4"/>
          <p:cNvSpPr txBox="1"/>
          <p:nvPr/>
        </p:nvSpPr>
        <p:spPr>
          <a:xfrm>
            <a:off x="6400800" y="1234440"/>
            <a:ext cx="731520" cy="548640"/>
          </a:xfrm>
          <a:prstGeom prst="rect">
            <a:avLst/>
          </a:prstGeom>
          <a:noFill/>
          <a:ln/>
        </p:spPr>
        <p:txBody>
          <a:bodyPr wrap="square" lIns="0" tIns="0" rIns="0" bIns="0" rtlCol="0" anchor="ctr"/>
          <a:lstStyle/>
          <a:p>
            <a:pPr indent="0" marL="0">
              <a:buNone/>
            </a:pPr>
            <a:r>
              <a:rPr lang="en-US" sz="2400" b="1" dirty="0">
                <a:solidFill>
                  <a:schemeClr val="accent1"/>
                </a:solidFill>
              </a:rPr>
              <a:t>01</a:t>
            </a:r>
            <a:endParaRPr lang="en-US" sz="2400" dirty="0"/>
          </a:p>
        </p:txBody>
      </p:sp>
      <p:sp>
        <p:nvSpPr>
          <p:cNvPr id="7" name="t-5"/>
          <p:cNvSpPr txBox="1"/>
          <p:nvPr/>
        </p:nvSpPr>
        <p:spPr>
          <a:xfrm>
            <a:off x="7223760" y="1188720"/>
            <a:ext cx="4297680" cy="685800"/>
          </a:xfrm>
          <a:prstGeom prst="rect">
            <a:avLst/>
          </a:prstGeom>
          <a:noFill/>
          <a:ln/>
        </p:spPr>
        <p:txBody>
          <a:bodyPr wrap="square" lIns="0" tIns="0" rIns="0" bIns="0" rtlCol="0" anchor="ctr"/>
          <a:lstStyle/>
          <a:p>
            <a:pPr indent="0" marL="0">
              <a:buNone/>
            </a:pPr>
            <a:r>
              <a:rPr lang="en-US" sz="1800" b="1" dirty="0">
                <a:solidFill>
                  <a:schemeClr val="tx1"/>
                </a:solidFill>
              </a:rPr>
              <a:t>採用</a:t>
            </a:r>
            <a:endParaRPr lang="en-US" sz="1800" dirty="0"/>
          </a:p>
          <a:p>
            <a:pPr indent="0" marL="0">
              <a:buNone/>
            </a:pPr>
            <a:r>
              <a:rPr lang="en-US" sz="1200" dirty="0">
                <a:solidFill>
                  <a:schemeClr val="tx2"/>
                </a:solidFill>
              </a:rPr>
              <a:t>18:00〜23:30で2〜3名募集</a:t>
            </a:r>
            <a:endParaRPr lang="en-US" sz="1800" dirty="0"/>
          </a:p>
        </p:txBody>
      </p:sp>
      <p:sp>
        <p:nvSpPr>
          <p:cNvPr id="8" name="rule-6"/>
          <p:cNvSpPr/>
          <p:nvPr/>
        </p:nvSpPr>
        <p:spPr>
          <a:xfrm>
            <a:off x="6400800" y="2011680"/>
            <a:ext cx="5120640" cy="0"/>
          </a:xfrm>
          <a:prstGeom prst="line">
            <a:avLst/>
          </a:prstGeom>
          <a:noFill/>
          <a:ln w="9525">
            <a:solidFill>
              <a:schemeClr val="accent6"/>
            </a:solidFill>
            <a:prstDash val="solid"/>
          </a:ln>
        </p:spPr>
      </p:sp>
      <p:sp>
        <p:nvSpPr>
          <p:cNvPr id="9" name="t-7"/>
          <p:cNvSpPr txBox="1"/>
          <p:nvPr/>
        </p:nvSpPr>
        <p:spPr>
          <a:xfrm>
            <a:off x="6400800" y="2148840"/>
            <a:ext cx="731520" cy="548640"/>
          </a:xfrm>
          <a:prstGeom prst="rect">
            <a:avLst/>
          </a:prstGeom>
          <a:noFill/>
          <a:ln/>
        </p:spPr>
        <p:txBody>
          <a:bodyPr wrap="square" lIns="0" tIns="0" rIns="0" bIns="0" rtlCol="0" anchor="ctr"/>
          <a:lstStyle/>
          <a:p>
            <a:pPr indent="0" marL="0">
              <a:buNone/>
            </a:pPr>
            <a:r>
              <a:rPr lang="en-US" sz="2400" b="1" dirty="0">
                <a:solidFill>
                  <a:schemeClr val="accent1"/>
                </a:solidFill>
              </a:rPr>
              <a:t>02</a:t>
            </a:r>
            <a:endParaRPr lang="en-US" sz="2400" dirty="0"/>
          </a:p>
        </p:txBody>
      </p:sp>
      <p:sp>
        <p:nvSpPr>
          <p:cNvPr id="10" name="t-8"/>
          <p:cNvSpPr txBox="1"/>
          <p:nvPr/>
        </p:nvSpPr>
        <p:spPr>
          <a:xfrm>
            <a:off x="7223760" y="2103120"/>
            <a:ext cx="4297680" cy="685800"/>
          </a:xfrm>
          <a:prstGeom prst="rect">
            <a:avLst/>
          </a:prstGeom>
          <a:noFill/>
          <a:ln/>
        </p:spPr>
        <p:txBody>
          <a:bodyPr wrap="square" lIns="0" tIns="0" rIns="0" bIns="0" rtlCol="0" anchor="ctr"/>
          <a:lstStyle/>
          <a:p>
            <a:pPr indent="0" marL="0">
              <a:buNone/>
            </a:pPr>
            <a:r>
              <a:rPr lang="en-US" sz="1800" b="1" dirty="0">
                <a:solidFill>
                  <a:schemeClr val="tx1"/>
                </a:solidFill>
              </a:rPr>
              <a:t>シフト</a:t>
            </a:r>
            <a:endParaRPr lang="en-US" sz="1800" dirty="0"/>
          </a:p>
          <a:p>
            <a:pPr indent="0" marL="0">
              <a:buNone/>
            </a:pPr>
            <a:r>
              <a:rPr lang="en-US" sz="1200" dirty="0">
                <a:solidFill>
                  <a:schemeClr val="tx2"/>
                </a:solidFill>
              </a:rPr>
              <a:t>週末不足・当日欠勤・戦力の偏り</a:t>
            </a:r>
            <a:endParaRPr lang="en-US" sz="1800" dirty="0"/>
          </a:p>
        </p:txBody>
      </p:sp>
      <p:sp>
        <p:nvSpPr>
          <p:cNvPr id="11" name="rule-9"/>
          <p:cNvSpPr/>
          <p:nvPr/>
        </p:nvSpPr>
        <p:spPr>
          <a:xfrm>
            <a:off x="6400800" y="2926080"/>
            <a:ext cx="5120640" cy="0"/>
          </a:xfrm>
          <a:prstGeom prst="line">
            <a:avLst/>
          </a:prstGeom>
          <a:noFill/>
          <a:ln w="9525">
            <a:solidFill>
              <a:schemeClr val="accent6"/>
            </a:solidFill>
            <a:prstDash val="solid"/>
          </a:ln>
        </p:spPr>
      </p:sp>
      <p:sp>
        <p:nvSpPr>
          <p:cNvPr id="12" name="t-10"/>
          <p:cNvSpPr txBox="1"/>
          <p:nvPr/>
        </p:nvSpPr>
        <p:spPr>
          <a:xfrm>
            <a:off x="6400800" y="3063240"/>
            <a:ext cx="731520" cy="548640"/>
          </a:xfrm>
          <a:prstGeom prst="rect">
            <a:avLst/>
          </a:prstGeom>
          <a:noFill/>
          <a:ln/>
        </p:spPr>
        <p:txBody>
          <a:bodyPr wrap="square" lIns="0" tIns="0" rIns="0" bIns="0" rtlCol="0" anchor="ctr"/>
          <a:lstStyle/>
          <a:p>
            <a:pPr indent="0" marL="0">
              <a:buNone/>
            </a:pPr>
            <a:r>
              <a:rPr lang="en-US" sz="2400" b="1" dirty="0">
                <a:solidFill>
                  <a:schemeClr val="accent1"/>
                </a:solidFill>
              </a:rPr>
              <a:t>03</a:t>
            </a:r>
            <a:endParaRPr lang="en-US" sz="2400" dirty="0"/>
          </a:p>
        </p:txBody>
      </p:sp>
      <p:sp>
        <p:nvSpPr>
          <p:cNvPr id="13" name="t-11"/>
          <p:cNvSpPr txBox="1"/>
          <p:nvPr/>
        </p:nvSpPr>
        <p:spPr>
          <a:xfrm>
            <a:off x="7223760" y="3017520"/>
            <a:ext cx="4297680" cy="685800"/>
          </a:xfrm>
          <a:prstGeom prst="rect">
            <a:avLst/>
          </a:prstGeom>
          <a:noFill/>
          <a:ln/>
        </p:spPr>
        <p:txBody>
          <a:bodyPr wrap="square" lIns="0" tIns="0" rIns="0" bIns="0" rtlCol="0" anchor="ctr"/>
          <a:lstStyle/>
          <a:p>
            <a:pPr indent="0" marL="0">
              <a:buNone/>
            </a:pPr>
            <a:r>
              <a:rPr lang="en-US" sz="1800" b="1" dirty="0">
                <a:solidFill>
                  <a:schemeClr val="tx1"/>
                </a:solidFill>
              </a:rPr>
              <a:t>人間関係</a:t>
            </a:r>
            <a:endParaRPr lang="en-US" sz="1800" dirty="0"/>
          </a:p>
          <a:p>
            <a:pPr indent="0" marL="0">
              <a:buNone/>
            </a:pPr>
            <a:r>
              <a:rPr lang="en-US" sz="1200" dirty="0">
                <a:solidFill>
                  <a:schemeClr val="tx2"/>
                </a:solidFill>
              </a:rPr>
              <a:t>学生とそれ以外の溝</a:t>
            </a:r>
            <a:endParaRPr lang="en-US" sz="1800" dirty="0"/>
          </a:p>
        </p:txBody>
      </p:sp>
      <p:sp>
        <p:nvSpPr>
          <p:cNvPr id="14" name="rule-12"/>
          <p:cNvSpPr/>
          <p:nvPr/>
        </p:nvSpPr>
        <p:spPr>
          <a:xfrm>
            <a:off x="6400800" y="3840480"/>
            <a:ext cx="5120640" cy="0"/>
          </a:xfrm>
          <a:prstGeom prst="line">
            <a:avLst/>
          </a:prstGeom>
          <a:noFill/>
          <a:ln w="9525">
            <a:solidFill>
              <a:schemeClr val="accent6"/>
            </a:solidFill>
            <a:prstDash val="solid"/>
          </a:ln>
        </p:spPr>
      </p:sp>
      <p:sp>
        <p:nvSpPr>
          <p:cNvPr id="15" name="t-13"/>
          <p:cNvSpPr txBox="1"/>
          <p:nvPr/>
        </p:nvSpPr>
        <p:spPr>
          <a:xfrm>
            <a:off x="6400800" y="3977640"/>
            <a:ext cx="731520" cy="548640"/>
          </a:xfrm>
          <a:prstGeom prst="rect">
            <a:avLst/>
          </a:prstGeom>
          <a:noFill/>
          <a:ln/>
        </p:spPr>
        <p:txBody>
          <a:bodyPr wrap="square" lIns="0" tIns="0" rIns="0" bIns="0" rtlCol="0" anchor="ctr"/>
          <a:lstStyle/>
          <a:p>
            <a:pPr indent="0" marL="0">
              <a:buNone/>
            </a:pPr>
            <a:r>
              <a:rPr lang="en-US" sz="2400" b="1" dirty="0">
                <a:solidFill>
                  <a:schemeClr val="accent1"/>
                </a:solidFill>
              </a:rPr>
              <a:t>04</a:t>
            </a:r>
            <a:endParaRPr lang="en-US" sz="2400" dirty="0"/>
          </a:p>
        </p:txBody>
      </p:sp>
      <p:sp>
        <p:nvSpPr>
          <p:cNvPr id="16" name="t-14"/>
          <p:cNvSpPr txBox="1"/>
          <p:nvPr/>
        </p:nvSpPr>
        <p:spPr>
          <a:xfrm>
            <a:off x="7223760" y="3931920"/>
            <a:ext cx="4297680" cy="685800"/>
          </a:xfrm>
          <a:prstGeom prst="rect">
            <a:avLst/>
          </a:prstGeom>
          <a:noFill/>
          <a:ln/>
        </p:spPr>
        <p:txBody>
          <a:bodyPr wrap="square" lIns="0" tIns="0" rIns="0" bIns="0" rtlCol="0" anchor="ctr"/>
          <a:lstStyle/>
          <a:p>
            <a:pPr indent="0" marL="0">
              <a:buNone/>
            </a:pPr>
            <a:r>
              <a:rPr lang="en-US" sz="1800" b="1" dirty="0">
                <a:solidFill>
                  <a:schemeClr val="tx1"/>
                </a:solidFill>
              </a:rPr>
              <a:t>設備</a:t>
            </a:r>
            <a:endParaRPr lang="en-US" sz="1800" dirty="0"/>
          </a:p>
          <a:p>
            <a:pPr indent="0" marL="0">
              <a:buNone/>
            </a:pPr>
            <a:r>
              <a:rPr lang="en-US" sz="1200" dirty="0">
                <a:solidFill>
                  <a:schemeClr val="tx2"/>
                </a:solidFill>
              </a:rPr>
              <a:t>ゆで麺器・コンセント・蛇口</a:t>
            </a:r>
            <a:endParaRPr lang="en-US" sz="1800" dirty="0"/>
          </a:p>
        </p:txBody>
      </p:sp>
      <p:sp>
        <p:nvSpPr>
          <p:cNvPr id="17" name="rule-15"/>
          <p:cNvSpPr/>
          <p:nvPr/>
        </p:nvSpPr>
        <p:spPr>
          <a:xfrm>
            <a:off x="6400800" y="4754880"/>
            <a:ext cx="5120640" cy="0"/>
          </a:xfrm>
          <a:prstGeom prst="line">
            <a:avLst/>
          </a:prstGeom>
          <a:noFill/>
          <a:ln w="9525">
            <a:solidFill>
              <a:schemeClr val="accent6"/>
            </a:solidFill>
            <a:prstDash val="solid"/>
          </a:ln>
        </p:spPr>
      </p:sp>
      <p:sp>
        <p:nvSpPr>
          <p:cNvPr id="18" name="t-16"/>
          <p:cNvSpPr txBox="1"/>
          <p:nvPr/>
        </p:nvSpPr>
        <p:spPr>
          <a:xfrm>
            <a:off x="6400800" y="4892040"/>
            <a:ext cx="731520" cy="548640"/>
          </a:xfrm>
          <a:prstGeom prst="rect">
            <a:avLst/>
          </a:prstGeom>
          <a:noFill/>
          <a:ln/>
        </p:spPr>
        <p:txBody>
          <a:bodyPr wrap="square" lIns="0" tIns="0" rIns="0" bIns="0" rtlCol="0" anchor="ctr"/>
          <a:lstStyle/>
          <a:p>
            <a:pPr indent="0" marL="0">
              <a:buNone/>
            </a:pPr>
            <a:r>
              <a:rPr lang="en-US" sz="2400" b="1" dirty="0">
                <a:solidFill>
                  <a:schemeClr val="accent1"/>
                </a:solidFill>
              </a:rPr>
              <a:t>05</a:t>
            </a:r>
            <a:endParaRPr lang="en-US" sz="2400" dirty="0"/>
          </a:p>
        </p:txBody>
      </p:sp>
      <p:sp>
        <p:nvSpPr>
          <p:cNvPr id="19" name="t-17"/>
          <p:cNvSpPr txBox="1"/>
          <p:nvPr/>
        </p:nvSpPr>
        <p:spPr>
          <a:xfrm>
            <a:off x="7223760" y="4846320"/>
            <a:ext cx="4297680" cy="685800"/>
          </a:xfrm>
          <a:prstGeom prst="rect">
            <a:avLst/>
          </a:prstGeom>
          <a:noFill/>
          <a:ln/>
        </p:spPr>
        <p:txBody>
          <a:bodyPr wrap="square" lIns="0" tIns="0" rIns="0" bIns="0" rtlCol="0" anchor="ctr"/>
          <a:lstStyle/>
          <a:p>
            <a:pPr indent="0" marL="0">
              <a:buNone/>
            </a:pPr>
            <a:r>
              <a:rPr lang="en-US" sz="1800" b="1" dirty="0">
                <a:solidFill>
                  <a:schemeClr val="tx1"/>
                </a:solidFill>
              </a:rPr>
              <a:t>飲食スケジュール</a:t>
            </a:r>
            <a:endParaRPr lang="en-US" sz="1800" dirty="0"/>
          </a:p>
          <a:p>
            <a:pPr indent="0" marL="0">
              <a:buNone/>
            </a:pPr>
            <a:r>
              <a:rPr lang="en-US" sz="1200" dirty="0">
                <a:solidFill>
                  <a:schemeClr val="tx2"/>
                </a:solidFill>
              </a:rPr>
              <a:t>10月下旬〜12月の企画・改定</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00</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今月の要点</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週末の人手不足が</a:t>
            </a:r>
            <a:endParaRPr lang="en-US" sz="1700" dirty="0"/>
          </a:p>
          <a:p>
            <a:pPr algn="l" indent="0" marL="0">
              <a:lnSpc>
                <a:spcPct val="130000"/>
              </a:lnSpc>
              <a:buNone/>
            </a:pPr>
            <a:r>
              <a:rPr lang="en-US" sz="1700" b="1" dirty="0">
                <a:solidFill>
                  <a:schemeClr val="bg1"/>
                </a:solidFill>
              </a:rPr>
              <a:t>最大の課題。</a:t>
            </a:r>
            <a:endParaRPr lang="en-US" sz="1700" dirty="0"/>
          </a:p>
          <a:p>
            <a:pPr algn="l" indent="0" marL="0">
              <a:lnSpc>
                <a:spcPct val="130000"/>
              </a:lnSpc>
              <a:buNone/>
            </a:pPr>
            <a:r>
              <a:rPr lang="en-US" sz="1700" b="1" dirty="0">
                <a:solidFill>
                  <a:schemeClr val="bg1"/>
                </a:solidFill>
              </a:rPr>
              <a:t>ゆで麺器の不調は</a:t>
            </a:r>
            <a:endParaRPr lang="en-US" sz="1700" dirty="0"/>
          </a:p>
          <a:p>
            <a:pPr algn="l" indent="0" marL="0">
              <a:lnSpc>
                <a:spcPct val="130000"/>
              </a:lnSpc>
              <a:buNone/>
            </a:pPr>
            <a:r>
              <a:rPr lang="en-US" sz="1700" b="1" dirty="0">
                <a:solidFill>
                  <a:schemeClr val="bg1"/>
                </a:solidFill>
              </a:rPr>
              <a:t>提供停止の</a:t>
            </a:r>
            <a:endParaRPr lang="en-US" sz="1700" dirty="0"/>
          </a:p>
          <a:p>
            <a:pPr algn="l" indent="0" marL="0">
              <a:lnSpc>
                <a:spcPct val="130000"/>
              </a:lnSpc>
              <a:buNone/>
            </a:pPr>
            <a:r>
              <a:rPr lang="en-US" sz="1700" b="1" dirty="0">
                <a:solidFill>
                  <a:schemeClr val="bg1"/>
                </a:solidFill>
              </a:rPr>
              <a:t>恐れがある。</a:t>
            </a:r>
            <a:endParaRPr lang="en-US" sz="1700" dirty="0"/>
          </a:p>
        </p:txBody>
      </p:sp>
      <p:sp>
        <p:nvSpPr>
          <p:cNvPr id="6" name="t-18"/>
          <p:cNvSpPr txBox="1"/>
          <p:nvPr/>
        </p:nvSpPr>
        <p:spPr>
          <a:xfrm>
            <a:off x="3794760" y="548640"/>
            <a:ext cx="1828800" cy="274320"/>
          </a:xfrm>
          <a:prstGeom prst="rect">
            <a:avLst/>
          </a:prstGeom>
          <a:noFill/>
          <a:ln/>
        </p:spPr>
        <p:txBody>
          <a:bodyPr wrap="square" lIns="0" tIns="0" rIns="0" bIns="0" rtlCol="0" anchor="ctr"/>
          <a:lstStyle/>
          <a:p>
            <a:pPr indent="0" marL="0">
              <a:buNone/>
            </a:pPr>
            <a:r>
              <a:rPr lang="en-US" sz="1100" b="1" dirty="0">
                <a:solidFill>
                  <a:schemeClr val="tx2"/>
                </a:solidFill>
              </a:rPr>
              <a:t>テーマ</a:t>
            </a:r>
            <a:endParaRPr lang="en-US" sz="1100" dirty="0"/>
          </a:p>
        </p:txBody>
      </p:sp>
      <p:sp>
        <p:nvSpPr>
          <p:cNvPr id="7" name="t-19"/>
          <p:cNvSpPr txBox="1"/>
          <p:nvPr/>
        </p:nvSpPr>
        <p:spPr>
          <a:xfrm>
            <a:off x="5943600" y="548640"/>
            <a:ext cx="2743200" cy="274320"/>
          </a:xfrm>
          <a:prstGeom prst="rect">
            <a:avLst/>
          </a:prstGeom>
          <a:noFill/>
          <a:ln/>
        </p:spPr>
        <p:txBody>
          <a:bodyPr wrap="square" lIns="0" tIns="0" rIns="0" bIns="0" rtlCol="0" anchor="ctr"/>
          <a:lstStyle/>
          <a:p>
            <a:pPr indent="0" marL="0">
              <a:buNone/>
            </a:pPr>
            <a:r>
              <a:rPr lang="en-US" sz="1100" b="1" dirty="0">
                <a:solidFill>
                  <a:schemeClr val="tx2"/>
                </a:solidFill>
              </a:rPr>
              <a:t>現状</a:t>
            </a:r>
            <a:endParaRPr lang="en-US" sz="1100" dirty="0"/>
          </a:p>
        </p:txBody>
      </p:sp>
      <p:sp>
        <p:nvSpPr>
          <p:cNvPr id="8" name="t-20"/>
          <p:cNvSpPr txBox="1"/>
          <p:nvPr/>
        </p:nvSpPr>
        <p:spPr>
          <a:xfrm>
            <a:off x="10865815" y="548640"/>
            <a:ext cx="777240" cy="274320"/>
          </a:xfrm>
          <a:prstGeom prst="rect">
            <a:avLst/>
          </a:prstGeom>
          <a:noFill/>
          <a:ln/>
        </p:spPr>
        <p:txBody>
          <a:bodyPr wrap="square" lIns="0" tIns="0" rIns="0" bIns="0" rtlCol="0" anchor="ctr"/>
          <a:lstStyle/>
          <a:p>
            <a:pPr algn="ctr" indent="0" marL="0">
              <a:buNone/>
            </a:pPr>
            <a:r>
              <a:rPr lang="en-US" sz="1100" b="1" dirty="0">
                <a:solidFill>
                  <a:schemeClr val="tx2"/>
                </a:solidFill>
              </a:rPr>
              <a:t>重要度</a:t>
            </a:r>
            <a:endParaRPr lang="en-US" sz="1100" dirty="0"/>
          </a:p>
        </p:txBody>
      </p:sp>
      <p:sp>
        <p:nvSpPr>
          <p:cNvPr id="9" name="row-bg-21"/>
          <p:cNvSpPr/>
          <p:nvPr/>
        </p:nvSpPr>
        <p:spPr>
          <a:xfrm>
            <a:off x="3794760" y="914400"/>
            <a:ext cx="7848295" cy="1143000"/>
          </a:xfrm>
          <a:prstGeom prst="rect">
            <a:avLst/>
          </a:prstGeom>
          <a:solidFill>
            <a:srgbClr val="F6F2EF"/>
          </a:solidFill>
          <a:ln w="12700">
            <a:solidFill>
              <a:srgbClr val="F6F2EF"/>
            </a:solidFill>
            <a:prstDash val="solid"/>
          </a:ln>
        </p:spPr>
      </p:sp>
      <p:sp>
        <p:nvSpPr>
          <p:cNvPr id="10" name="t-22"/>
          <p:cNvSpPr txBox="1"/>
          <p:nvPr/>
        </p:nvSpPr>
        <p:spPr>
          <a:xfrm>
            <a:off x="3977640" y="914400"/>
            <a:ext cx="548640" cy="1143000"/>
          </a:xfrm>
          <a:prstGeom prst="rect">
            <a:avLst/>
          </a:prstGeom>
          <a:noFill/>
          <a:ln/>
        </p:spPr>
        <p:txBody>
          <a:bodyPr wrap="square" lIns="0" tIns="0" rIns="0" bIns="0" rtlCol="0" anchor="ctr"/>
          <a:lstStyle/>
          <a:p>
            <a:pPr indent="0" marL="0">
              <a:buNone/>
            </a:pPr>
            <a:r>
              <a:rPr lang="en-US" sz="2000" b="1" dirty="0">
                <a:solidFill>
                  <a:schemeClr val="accent1"/>
                </a:solidFill>
              </a:rPr>
              <a:t>01</a:t>
            </a:r>
            <a:endParaRPr lang="en-US" sz="2000" dirty="0"/>
          </a:p>
        </p:txBody>
      </p:sp>
      <p:sp>
        <p:nvSpPr>
          <p:cNvPr id="11" name="t-23"/>
          <p:cNvSpPr txBox="1"/>
          <p:nvPr/>
        </p:nvSpPr>
        <p:spPr>
          <a:xfrm>
            <a:off x="4572000" y="914400"/>
            <a:ext cx="1280160" cy="1143000"/>
          </a:xfrm>
          <a:prstGeom prst="rect">
            <a:avLst/>
          </a:prstGeom>
          <a:noFill/>
          <a:ln/>
        </p:spPr>
        <p:txBody>
          <a:bodyPr wrap="square" lIns="0" tIns="0" rIns="0" bIns="0" rtlCol="0" anchor="ctr"/>
          <a:lstStyle/>
          <a:p>
            <a:pPr indent="0" marL="0">
              <a:buNone/>
            </a:pPr>
            <a:r>
              <a:rPr lang="en-US" sz="1700" b="1" dirty="0">
                <a:solidFill>
                  <a:schemeClr val="tx1"/>
                </a:solidFill>
              </a:rPr>
              <a:t>採用</a:t>
            </a:r>
            <a:endParaRPr lang="en-US" sz="1700" dirty="0"/>
          </a:p>
        </p:txBody>
      </p:sp>
      <p:sp>
        <p:nvSpPr>
          <p:cNvPr id="12" name="t-24"/>
          <p:cNvSpPr txBox="1"/>
          <p:nvPr/>
        </p:nvSpPr>
        <p:spPr>
          <a:xfrm>
            <a:off x="5943600" y="914400"/>
            <a:ext cx="4785055" cy="1143000"/>
          </a:xfrm>
          <a:prstGeom prst="rect">
            <a:avLst/>
          </a:prstGeom>
          <a:noFill/>
          <a:ln/>
        </p:spPr>
        <p:txBody>
          <a:bodyPr wrap="square" lIns="0" tIns="0" rIns="0" bIns="0" rtlCol="0" anchor="ctr"/>
          <a:lstStyle/>
          <a:p>
            <a:pPr indent="0" marL="0">
              <a:buNone/>
            </a:pPr>
            <a:r>
              <a:rPr lang="en-US" sz="1400" dirty="0">
                <a:solidFill>
                  <a:schemeClr val="tx1"/>
                </a:solidFill>
              </a:rPr>
              <a:t>18:00〜23:30帯で2〜3名が必要。週末に出勤できる人材が不足</a:t>
            </a:r>
            <a:endParaRPr lang="en-US" sz="1400" dirty="0"/>
          </a:p>
        </p:txBody>
      </p:sp>
      <p:sp>
        <p:nvSpPr>
          <p:cNvPr id="13" name="prio-25"/>
          <p:cNvSpPr/>
          <p:nvPr/>
        </p:nvSpPr>
        <p:spPr>
          <a:xfrm>
            <a:off x="11048695" y="1284732"/>
            <a:ext cx="402336" cy="402336"/>
          </a:xfrm>
          <a:prstGeom prst="ellipse">
            <a:avLst/>
          </a:prstGeom>
          <a:solidFill>
            <a:schemeClr val="accent1"/>
          </a:solidFill>
          <a:ln w="12700">
            <a:solidFill>
              <a:schemeClr val="accent1"/>
            </a:solidFill>
            <a:prstDash val="solid"/>
          </a:ln>
        </p:spPr>
      </p:sp>
      <p:sp>
        <p:nvSpPr>
          <p:cNvPr id="14" name="t-26"/>
          <p:cNvSpPr txBox="1"/>
          <p:nvPr/>
        </p:nvSpPr>
        <p:spPr>
          <a:xfrm>
            <a:off x="11048695" y="1284732"/>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高</a:t>
            </a:r>
            <a:endParaRPr lang="en-US" sz="1200" dirty="0"/>
          </a:p>
        </p:txBody>
      </p:sp>
      <p:sp>
        <p:nvSpPr>
          <p:cNvPr id="15" name="row-bg-27"/>
          <p:cNvSpPr/>
          <p:nvPr/>
        </p:nvSpPr>
        <p:spPr>
          <a:xfrm>
            <a:off x="3794760" y="2212848"/>
            <a:ext cx="7848295" cy="1143000"/>
          </a:xfrm>
          <a:prstGeom prst="rect">
            <a:avLst/>
          </a:prstGeom>
          <a:solidFill>
            <a:schemeClr val="bg1"/>
          </a:solidFill>
          <a:ln w="12700">
            <a:solidFill>
              <a:schemeClr val="bg1"/>
            </a:solidFill>
            <a:prstDash val="solid"/>
          </a:ln>
        </p:spPr>
      </p:sp>
      <p:sp>
        <p:nvSpPr>
          <p:cNvPr id="16" name="t-28"/>
          <p:cNvSpPr txBox="1"/>
          <p:nvPr/>
        </p:nvSpPr>
        <p:spPr>
          <a:xfrm>
            <a:off x="3977640" y="2212848"/>
            <a:ext cx="548640" cy="1143000"/>
          </a:xfrm>
          <a:prstGeom prst="rect">
            <a:avLst/>
          </a:prstGeom>
          <a:noFill/>
          <a:ln/>
        </p:spPr>
        <p:txBody>
          <a:bodyPr wrap="square" lIns="0" tIns="0" rIns="0" bIns="0" rtlCol="0" anchor="ctr"/>
          <a:lstStyle/>
          <a:p>
            <a:pPr indent="0" marL="0">
              <a:buNone/>
            </a:pPr>
            <a:r>
              <a:rPr lang="en-US" sz="2000" b="1" dirty="0">
                <a:solidFill>
                  <a:schemeClr val="accent1"/>
                </a:solidFill>
              </a:rPr>
              <a:t>02</a:t>
            </a:r>
            <a:endParaRPr lang="en-US" sz="2000" dirty="0"/>
          </a:p>
        </p:txBody>
      </p:sp>
      <p:sp>
        <p:nvSpPr>
          <p:cNvPr id="17" name="t-29"/>
          <p:cNvSpPr txBox="1"/>
          <p:nvPr/>
        </p:nvSpPr>
        <p:spPr>
          <a:xfrm>
            <a:off x="4572000" y="2212848"/>
            <a:ext cx="1280160" cy="1143000"/>
          </a:xfrm>
          <a:prstGeom prst="rect">
            <a:avLst/>
          </a:prstGeom>
          <a:noFill/>
          <a:ln/>
        </p:spPr>
        <p:txBody>
          <a:bodyPr wrap="square" lIns="0" tIns="0" rIns="0" bIns="0" rtlCol="0" anchor="ctr"/>
          <a:lstStyle/>
          <a:p>
            <a:pPr indent="0" marL="0">
              <a:buNone/>
            </a:pPr>
            <a:r>
              <a:rPr lang="en-US" sz="1700" b="1" dirty="0">
                <a:solidFill>
                  <a:schemeClr val="tx1"/>
                </a:solidFill>
              </a:rPr>
              <a:t>シフト</a:t>
            </a:r>
            <a:endParaRPr lang="en-US" sz="1700" dirty="0"/>
          </a:p>
        </p:txBody>
      </p:sp>
      <p:sp>
        <p:nvSpPr>
          <p:cNvPr id="18" name="t-30"/>
          <p:cNvSpPr txBox="1"/>
          <p:nvPr/>
        </p:nvSpPr>
        <p:spPr>
          <a:xfrm>
            <a:off x="5943600" y="2212848"/>
            <a:ext cx="4785055" cy="1143000"/>
          </a:xfrm>
          <a:prstGeom prst="rect">
            <a:avLst/>
          </a:prstGeom>
          <a:noFill/>
          <a:ln/>
        </p:spPr>
        <p:txBody>
          <a:bodyPr wrap="square" lIns="0" tIns="0" rIns="0" bIns="0" rtlCol="0" anchor="ctr"/>
          <a:lstStyle/>
          <a:p>
            <a:pPr indent="0" marL="0">
              <a:buNone/>
            </a:pPr>
            <a:r>
              <a:rPr lang="en-US" sz="1400" dirty="0">
                <a:solidFill>
                  <a:schemeClr val="tx1"/>
                </a:solidFill>
              </a:rPr>
              <a:t>週末の不足が毎月悪化。当日の遅刻→欠勤も増え、日による戦力の偏りが大きい</a:t>
            </a:r>
            <a:endParaRPr lang="en-US" sz="1400" dirty="0"/>
          </a:p>
        </p:txBody>
      </p:sp>
      <p:sp>
        <p:nvSpPr>
          <p:cNvPr id="19" name="prio-31"/>
          <p:cNvSpPr/>
          <p:nvPr/>
        </p:nvSpPr>
        <p:spPr>
          <a:xfrm>
            <a:off x="11048695" y="2583180"/>
            <a:ext cx="402336" cy="402336"/>
          </a:xfrm>
          <a:prstGeom prst="ellipse">
            <a:avLst/>
          </a:prstGeom>
          <a:solidFill>
            <a:schemeClr val="accent1"/>
          </a:solidFill>
          <a:ln w="12700">
            <a:solidFill>
              <a:schemeClr val="accent1"/>
            </a:solidFill>
            <a:prstDash val="solid"/>
          </a:ln>
        </p:spPr>
      </p:sp>
      <p:sp>
        <p:nvSpPr>
          <p:cNvPr id="20" name="t-32"/>
          <p:cNvSpPr txBox="1"/>
          <p:nvPr/>
        </p:nvSpPr>
        <p:spPr>
          <a:xfrm>
            <a:off x="11048695" y="2583180"/>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高</a:t>
            </a:r>
            <a:endParaRPr lang="en-US" sz="1200" dirty="0"/>
          </a:p>
        </p:txBody>
      </p:sp>
      <p:sp>
        <p:nvSpPr>
          <p:cNvPr id="21" name="row-bg-33"/>
          <p:cNvSpPr/>
          <p:nvPr/>
        </p:nvSpPr>
        <p:spPr>
          <a:xfrm>
            <a:off x="3794760" y="3511296"/>
            <a:ext cx="7848295" cy="1143000"/>
          </a:xfrm>
          <a:prstGeom prst="rect">
            <a:avLst/>
          </a:prstGeom>
          <a:solidFill>
            <a:srgbClr val="F6F2EF"/>
          </a:solidFill>
          <a:ln w="12700">
            <a:solidFill>
              <a:srgbClr val="F6F2EF"/>
            </a:solidFill>
            <a:prstDash val="solid"/>
          </a:ln>
        </p:spPr>
      </p:sp>
      <p:sp>
        <p:nvSpPr>
          <p:cNvPr id="22" name="t-34"/>
          <p:cNvSpPr txBox="1"/>
          <p:nvPr/>
        </p:nvSpPr>
        <p:spPr>
          <a:xfrm>
            <a:off x="3977640" y="3511296"/>
            <a:ext cx="548640" cy="1143000"/>
          </a:xfrm>
          <a:prstGeom prst="rect">
            <a:avLst/>
          </a:prstGeom>
          <a:noFill/>
          <a:ln/>
        </p:spPr>
        <p:txBody>
          <a:bodyPr wrap="square" lIns="0" tIns="0" rIns="0" bIns="0" rtlCol="0" anchor="ctr"/>
          <a:lstStyle/>
          <a:p>
            <a:pPr indent="0" marL="0">
              <a:buNone/>
            </a:pPr>
            <a:r>
              <a:rPr lang="en-US" sz="2000" b="1" dirty="0">
                <a:solidFill>
                  <a:schemeClr val="accent1"/>
                </a:solidFill>
              </a:rPr>
              <a:t>03</a:t>
            </a:r>
            <a:endParaRPr lang="en-US" sz="2000" dirty="0"/>
          </a:p>
        </p:txBody>
      </p:sp>
      <p:sp>
        <p:nvSpPr>
          <p:cNvPr id="23" name="t-35"/>
          <p:cNvSpPr txBox="1"/>
          <p:nvPr/>
        </p:nvSpPr>
        <p:spPr>
          <a:xfrm>
            <a:off x="4572000" y="3511296"/>
            <a:ext cx="1280160" cy="1143000"/>
          </a:xfrm>
          <a:prstGeom prst="rect">
            <a:avLst/>
          </a:prstGeom>
          <a:noFill/>
          <a:ln/>
        </p:spPr>
        <p:txBody>
          <a:bodyPr wrap="square" lIns="0" tIns="0" rIns="0" bIns="0" rtlCol="0" anchor="ctr"/>
          <a:lstStyle/>
          <a:p>
            <a:pPr indent="0" marL="0">
              <a:buNone/>
            </a:pPr>
            <a:r>
              <a:rPr lang="en-US" sz="1700" b="1" dirty="0">
                <a:solidFill>
                  <a:schemeClr val="tx1"/>
                </a:solidFill>
              </a:rPr>
              <a:t>人間関係</a:t>
            </a:r>
            <a:endParaRPr lang="en-US" sz="1700" dirty="0"/>
          </a:p>
        </p:txBody>
      </p:sp>
      <p:sp>
        <p:nvSpPr>
          <p:cNvPr id="24" name="t-36"/>
          <p:cNvSpPr txBox="1"/>
          <p:nvPr/>
        </p:nvSpPr>
        <p:spPr>
          <a:xfrm>
            <a:off x="5943600" y="3511296"/>
            <a:ext cx="4785055" cy="1143000"/>
          </a:xfrm>
          <a:prstGeom prst="rect">
            <a:avLst/>
          </a:prstGeom>
          <a:noFill/>
          <a:ln/>
        </p:spPr>
        <p:txBody>
          <a:bodyPr wrap="square" lIns="0" tIns="0" rIns="0" bIns="0" rtlCol="0" anchor="ctr"/>
          <a:lstStyle/>
          <a:p>
            <a:pPr indent="0" marL="0">
              <a:buNone/>
            </a:pPr>
            <a:r>
              <a:rPr lang="en-US" sz="1400" dirty="0">
                <a:solidFill>
                  <a:schemeClr val="tx1"/>
                </a:solidFill>
              </a:rPr>
              <a:t>大きなトラブルはないが、学生とそれ以外で溝があり、愚痴が増えている</a:t>
            </a:r>
            <a:endParaRPr lang="en-US" sz="1400" dirty="0"/>
          </a:p>
        </p:txBody>
      </p:sp>
      <p:sp>
        <p:nvSpPr>
          <p:cNvPr id="25" name="prio-37"/>
          <p:cNvSpPr/>
          <p:nvPr/>
        </p:nvSpPr>
        <p:spPr>
          <a:xfrm>
            <a:off x="11048695" y="3881628"/>
            <a:ext cx="402336" cy="402336"/>
          </a:xfrm>
          <a:prstGeom prst="ellipse">
            <a:avLst/>
          </a:prstGeom>
          <a:solidFill>
            <a:schemeClr val="accent5"/>
          </a:solidFill>
          <a:ln w="12700">
            <a:solidFill>
              <a:schemeClr val="accent5"/>
            </a:solidFill>
            <a:prstDash val="solid"/>
          </a:ln>
        </p:spPr>
      </p:sp>
      <p:sp>
        <p:nvSpPr>
          <p:cNvPr id="26" name="t-38"/>
          <p:cNvSpPr txBox="1"/>
          <p:nvPr/>
        </p:nvSpPr>
        <p:spPr>
          <a:xfrm>
            <a:off x="11048695" y="3881628"/>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中</a:t>
            </a:r>
            <a:endParaRPr lang="en-US" sz="1200" dirty="0"/>
          </a:p>
        </p:txBody>
      </p:sp>
      <p:sp>
        <p:nvSpPr>
          <p:cNvPr id="27" name="row-bg-39"/>
          <p:cNvSpPr/>
          <p:nvPr/>
        </p:nvSpPr>
        <p:spPr>
          <a:xfrm>
            <a:off x="3794760" y="4809744"/>
            <a:ext cx="7848295" cy="1143000"/>
          </a:xfrm>
          <a:prstGeom prst="rect">
            <a:avLst/>
          </a:prstGeom>
          <a:solidFill>
            <a:schemeClr val="bg1"/>
          </a:solidFill>
          <a:ln w="12700">
            <a:solidFill>
              <a:schemeClr val="bg1"/>
            </a:solidFill>
            <a:prstDash val="solid"/>
          </a:ln>
        </p:spPr>
      </p:sp>
      <p:sp>
        <p:nvSpPr>
          <p:cNvPr id="28" name="t-40"/>
          <p:cNvSpPr txBox="1"/>
          <p:nvPr/>
        </p:nvSpPr>
        <p:spPr>
          <a:xfrm>
            <a:off x="3977640" y="4809744"/>
            <a:ext cx="548640" cy="1143000"/>
          </a:xfrm>
          <a:prstGeom prst="rect">
            <a:avLst/>
          </a:prstGeom>
          <a:noFill/>
          <a:ln/>
        </p:spPr>
        <p:txBody>
          <a:bodyPr wrap="square" lIns="0" tIns="0" rIns="0" bIns="0" rtlCol="0" anchor="ctr"/>
          <a:lstStyle/>
          <a:p>
            <a:pPr indent="0" marL="0">
              <a:buNone/>
            </a:pPr>
            <a:r>
              <a:rPr lang="en-US" sz="2000" b="1" dirty="0">
                <a:solidFill>
                  <a:schemeClr val="accent1"/>
                </a:solidFill>
              </a:rPr>
              <a:t>04</a:t>
            </a:r>
            <a:endParaRPr lang="en-US" sz="2000" dirty="0"/>
          </a:p>
        </p:txBody>
      </p:sp>
      <p:sp>
        <p:nvSpPr>
          <p:cNvPr id="29" name="t-41"/>
          <p:cNvSpPr txBox="1"/>
          <p:nvPr/>
        </p:nvSpPr>
        <p:spPr>
          <a:xfrm>
            <a:off x="4572000" y="4809744"/>
            <a:ext cx="1280160" cy="1143000"/>
          </a:xfrm>
          <a:prstGeom prst="rect">
            <a:avLst/>
          </a:prstGeom>
          <a:noFill/>
          <a:ln/>
        </p:spPr>
        <p:txBody>
          <a:bodyPr wrap="square" lIns="0" tIns="0" rIns="0" bIns="0" rtlCol="0" anchor="ctr"/>
          <a:lstStyle/>
          <a:p>
            <a:pPr indent="0" marL="0">
              <a:buNone/>
            </a:pPr>
            <a:r>
              <a:rPr lang="en-US" sz="1700" b="1" dirty="0">
                <a:solidFill>
                  <a:schemeClr val="tx1"/>
                </a:solidFill>
              </a:rPr>
              <a:t>設備</a:t>
            </a:r>
            <a:endParaRPr lang="en-US" sz="1700" dirty="0"/>
          </a:p>
        </p:txBody>
      </p:sp>
      <p:sp>
        <p:nvSpPr>
          <p:cNvPr id="30" name="t-42"/>
          <p:cNvSpPr txBox="1"/>
          <p:nvPr/>
        </p:nvSpPr>
        <p:spPr>
          <a:xfrm>
            <a:off x="5943600" y="4809744"/>
            <a:ext cx="4785055" cy="1143000"/>
          </a:xfrm>
          <a:prstGeom prst="rect">
            <a:avLst/>
          </a:prstGeom>
          <a:noFill/>
          <a:ln/>
        </p:spPr>
        <p:txBody>
          <a:bodyPr wrap="square" lIns="0" tIns="0" rIns="0" bIns="0" rtlCol="0" anchor="ctr"/>
          <a:lstStyle/>
          <a:p>
            <a:pPr indent="0" marL="0">
              <a:buNone/>
            </a:pPr>
            <a:r>
              <a:rPr lang="en-US" sz="1400" dirty="0">
                <a:solidFill>
                  <a:schemeClr val="tx1"/>
                </a:solidFill>
              </a:rPr>
              <a:t>ゆで麺器の火力低下、窓側コンセント1カ所の不調、入口付近の蛇口の不具合</a:t>
            </a:r>
            <a:endParaRPr lang="en-US" sz="1400" dirty="0"/>
          </a:p>
        </p:txBody>
      </p:sp>
      <p:sp>
        <p:nvSpPr>
          <p:cNvPr id="31" name="prio-43"/>
          <p:cNvSpPr/>
          <p:nvPr/>
        </p:nvSpPr>
        <p:spPr>
          <a:xfrm>
            <a:off x="11048695" y="5180076"/>
            <a:ext cx="402336" cy="402336"/>
          </a:xfrm>
          <a:prstGeom prst="ellipse">
            <a:avLst/>
          </a:prstGeom>
          <a:solidFill>
            <a:schemeClr val="accent1"/>
          </a:solidFill>
          <a:ln w="12700">
            <a:solidFill>
              <a:schemeClr val="accent1"/>
            </a:solidFill>
            <a:prstDash val="solid"/>
          </a:ln>
        </p:spPr>
      </p:sp>
      <p:sp>
        <p:nvSpPr>
          <p:cNvPr id="32" name="t-44"/>
          <p:cNvSpPr txBox="1"/>
          <p:nvPr/>
        </p:nvSpPr>
        <p:spPr>
          <a:xfrm>
            <a:off x="11048695" y="5180076"/>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高</a:t>
            </a:r>
            <a:endParaRPr lang="en-US" sz="12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01</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採用</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18:00〜23:30で</a:t>
            </a:r>
            <a:endParaRPr lang="en-US" sz="1700" dirty="0"/>
          </a:p>
          <a:p>
            <a:pPr algn="l" indent="0" marL="0">
              <a:lnSpc>
                <a:spcPct val="130000"/>
              </a:lnSpc>
              <a:buNone/>
            </a:pPr>
            <a:r>
              <a:rPr lang="en-US" sz="1700" b="1" dirty="0">
                <a:solidFill>
                  <a:schemeClr val="bg1"/>
                </a:solidFill>
              </a:rPr>
              <a:t>週末に出られる人を</a:t>
            </a:r>
            <a:endParaRPr lang="en-US" sz="1700" dirty="0"/>
          </a:p>
          <a:p>
            <a:pPr algn="l" indent="0" marL="0">
              <a:lnSpc>
                <a:spcPct val="130000"/>
              </a:lnSpc>
              <a:buNone/>
            </a:pPr>
            <a:r>
              <a:rPr lang="en-US" sz="1700" b="1" dirty="0">
                <a:solidFill>
                  <a:schemeClr val="bg1"/>
                </a:solidFill>
              </a:rPr>
              <a:t>2〜3名募集。</a:t>
            </a:r>
            <a:endParaRPr lang="en-US" sz="1700" dirty="0"/>
          </a:p>
        </p:txBody>
      </p:sp>
      <p:sp>
        <p:nvSpPr>
          <p:cNvPr id="6" name="t-45"/>
          <p:cNvSpPr txBox="1"/>
          <p:nvPr/>
        </p:nvSpPr>
        <p:spPr>
          <a:xfrm>
            <a:off x="3794760" y="530352"/>
            <a:ext cx="2286000" cy="274320"/>
          </a:xfrm>
          <a:prstGeom prst="rect">
            <a:avLst/>
          </a:prstGeom>
          <a:noFill/>
          <a:ln/>
        </p:spPr>
        <p:txBody>
          <a:bodyPr wrap="square" lIns="0" tIns="0" rIns="0" bIns="0" rtlCol="0" anchor="ctr"/>
          <a:lstStyle/>
          <a:p>
            <a:pPr indent="0" marL="0">
              <a:buNone/>
            </a:pPr>
            <a:r>
              <a:rPr lang="en-US" sz="1100" b="1" spc="100" kern="0" dirty="0">
                <a:solidFill>
                  <a:schemeClr val="tx2"/>
                </a:solidFill>
              </a:rPr>
              <a:t>募集人数（18:00〜23:30）</a:t>
            </a:r>
            <a:endParaRPr lang="en-US" sz="1100" dirty="0"/>
          </a:p>
        </p:txBody>
      </p:sp>
      <p:sp>
        <p:nvSpPr>
          <p:cNvPr id="7" name="pat-bg-46"/>
          <p:cNvSpPr/>
          <p:nvPr/>
        </p:nvSpPr>
        <p:spPr>
          <a:xfrm>
            <a:off x="3794760" y="914400"/>
            <a:ext cx="7848295" cy="1874520"/>
          </a:xfrm>
          <a:prstGeom prst="rect">
            <a:avLst/>
          </a:prstGeom>
          <a:solidFill>
            <a:srgbClr val="F6F2EF"/>
          </a:solidFill>
          <a:ln w="12700">
            <a:solidFill>
              <a:srgbClr val="F6F2EF"/>
            </a:solidFill>
            <a:prstDash val="solid"/>
          </a:ln>
        </p:spPr>
      </p:sp>
      <p:sp>
        <p:nvSpPr>
          <p:cNvPr id="8" name="t-47"/>
          <p:cNvSpPr txBox="1"/>
          <p:nvPr/>
        </p:nvSpPr>
        <p:spPr>
          <a:xfrm>
            <a:off x="4069080" y="914400"/>
            <a:ext cx="2011680" cy="1874520"/>
          </a:xfrm>
          <a:prstGeom prst="rect">
            <a:avLst/>
          </a:prstGeom>
          <a:noFill/>
          <a:ln/>
        </p:spPr>
        <p:txBody>
          <a:bodyPr wrap="square" lIns="0" tIns="0" rIns="0" bIns="0" rtlCol="0" anchor="ctr"/>
          <a:lstStyle/>
          <a:p>
            <a:pPr indent="0" marL="0">
              <a:buNone/>
            </a:pPr>
            <a:r>
              <a:rPr lang="en-US" sz="2400" b="1" dirty="0">
                <a:solidFill>
                  <a:schemeClr val="accent1"/>
                </a:solidFill>
              </a:rPr>
              <a:t>A案</a:t>
            </a:r>
            <a:endParaRPr lang="en-US" sz="2400" dirty="0"/>
          </a:p>
          <a:p>
            <a:pPr indent="0" marL="0">
              <a:buNone/>
            </a:pPr>
            <a:r>
              <a:rPr lang="en-US" sz="1200" dirty="0">
                <a:solidFill>
                  <a:schemeClr val="tx2"/>
                </a:solidFill>
              </a:rPr>
              <a:t>社保加入希望者が</a:t>
            </a:r>
            <a:endParaRPr lang="en-US" sz="2400" dirty="0"/>
          </a:p>
          <a:p>
            <a:pPr indent="0" marL="0">
              <a:buNone/>
            </a:pPr>
            <a:r>
              <a:rPr lang="en-US" sz="1200" dirty="0">
                <a:solidFill>
                  <a:schemeClr val="tx2"/>
                </a:solidFill>
              </a:rPr>
              <a:t>見つかった場合</a:t>
            </a:r>
            <a:endParaRPr lang="en-US" sz="2400" dirty="0"/>
          </a:p>
        </p:txBody>
      </p:sp>
      <p:sp>
        <p:nvSpPr>
          <p:cNvPr id="9" name="person-48"/>
          <p:cNvSpPr/>
          <p:nvPr/>
        </p:nvSpPr>
        <p:spPr>
          <a:xfrm>
            <a:off x="6126480" y="1280160"/>
            <a:ext cx="1234440" cy="1143000"/>
          </a:xfrm>
          <a:prstGeom prst="rect">
            <a:avLst/>
          </a:prstGeom>
          <a:solidFill>
            <a:schemeClr val="accent1"/>
          </a:solidFill>
          <a:ln w="12700">
            <a:solidFill>
              <a:schemeClr val="accent1"/>
            </a:solidFill>
            <a:prstDash val="solid"/>
          </a:ln>
        </p:spPr>
      </p:sp>
      <p:sp>
        <p:nvSpPr>
          <p:cNvPr id="10" name="t-49"/>
          <p:cNvSpPr txBox="1"/>
          <p:nvPr/>
        </p:nvSpPr>
        <p:spPr>
          <a:xfrm>
            <a:off x="6126480" y="1280160"/>
            <a:ext cx="1234440" cy="1143000"/>
          </a:xfrm>
          <a:prstGeom prst="rect">
            <a:avLst/>
          </a:prstGeom>
          <a:noFill/>
          <a:ln/>
        </p:spPr>
        <p:txBody>
          <a:bodyPr wrap="square" lIns="0" tIns="0" rIns="0" bIns="0" rtlCol="0" anchor="ctr"/>
          <a:lstStyle/>
          <a:p>
            <a:pPr algn="ctr" indent="0" marL="0">
              <a:buNone/>
            </a:pPr>
            <a:r>
              <a:rPr lang="en-US" sz="1400" b="1" dirty="0">
                <a:solidFill>
                  <a:schemeClr val="bg1"/>
                </a:solidFill>
              </a:rPr>
              <a:t>社保加入</a:t>
            </a:r>
            <a:endParaRPr lang="en-US" sz="1400" dirty="0"/>
          </a:p>
          <a:p>
            <a:pPr algn="ctr" indent="0" marL="0">
              <a:buNone/>
            </a:pPr>
            <a:r>
              <a:rPr lang="en-US" sz="1100" dirty="0">
                <a:solidFill>
                  <a:schemeClr val="bg1"/>
                </a:solidFill>
              </a:rPr>
              <a:t>週末含め出勤</a:t>
            </a:r>
            <a:endParaRPr lang="en-US" sz="1400" dirty="0"/>
          </a:p>
        </p:txBody>
      </p:sp>
      <p:sp>
        <p:nvSpPr>
          <p:cNvPr id="11" name="person-50"/>
          <p:cNvSpPr/>
          <p:nvPr/>
        </p:nvSpPr>
        <p:spPr>
          <a:xfrm>
            <a:off x="7498080" y="1280160"/>
            <a:ext cx="1234440" cy="1143000"/>
          </a:xfrm>
          <a:prstGeom prst="rect">
            <a:avLst/>
          </a:prstGeom>
          <a:solidFill>
            <a:schemeClr val="bg1"/>
          </a:solidFill>
          <a:ln w="12700">
            <a:solidFill>
              <a:schemeClr val="accent1"/>
            </a:solidFill>
            <a:prstDash val="solid"/>
          </a:ln>
        </p:spPr>
      </p:sp>
      <p:sp>
        <p:nvSpPr>
          <p:cNvPr id="12" name="t-51"/>
          <p:cNvSpPr txBox="1"/>
          <p:nvPr/>
        </p:nvSpPr>
        <p:spPr>
          <a:xfrm>
            <a:off x="7498080" y="1280160"/>
            <a:ext cx="1234440" cy="1143000"/>
          </a:xfrm>
          <a:prstGeom prst="rect">
            <a:avLst/>
          </a:prstGeom>
          <a:noFill/>
          <a:ln/>
        </p:spPr>
        <p:txBody>
          <a:bodyPr wrap="square" lIns="0" tIns="0" rIns="0" bIns="0" rtlCol="0" anchor="ctr"/>
          <a:lstStyle/>
          <a:p>
            <a:pPr algn="ctr" indent="0" marL="0">
              <a:buNone/>
            </a:pPr>
            <a:r>
              <a:rPr lang="en-US" sz="1400" b="1" dirty="0">
                <a:solidFill>
                  <a:schemeClr val="accent1"/>
                </a:solidFill>
              </a:rPr>
              <a:t>社保未加入</a:t>
            </a:r>
            <a:endParaRPr lang="en-US" sz="1400" dirty="0"/>
          </a:p>
          <a:p>
            <a:pPr algn="ctr" indent="0" marL="0">
              <a:buNone/>
            </a:pPr>
            <a:r>
              <a:rPr lang="en-US" sz="1100" dirty="0">
                <a:solidFill>
                  <a:schemeClr val="accent1"/>
                </a:solidFill>
              </a:rPr>
              <a:t>週末メイン</a:t>
            </a:r>
            <a:endParaRPr lang="en-US" sz="1400" dirty="0"/>
          </a:p>
        </p:txBody>
      </p:sp>
      <p:sp>
        <p:nvSpPr>
          <p:cNvPr id="13" name="t-52"/>
          <p:cNvSpPr txBox="1"/>
          <p:nvPr/>
        </p:nvSpPr>
        <p:spPr>
          <a:xfrm>
            <a:off x="10271455" y="914400"/>
            <a:ext cx="1143000" cy="1874520"/>
          </a:xfrm>
          <a:prstGeom prst="rect">
            <a:avLst/>
          </a:prstGeom>
          <a:noFill/>
          <a:ln/>
        </p:spPr>
        <p:txBody>
          <a:bodyPr wrap="square" lIns="0" tIns="0" rIns="0" bIns="0" rtlCol="0" anchor="ctr"/>
          <a:lstStyle/>
          <a:p>
            <a:pPr algn="r" indent="0" marL="0">
              <a:buNone/>
            </a:pPr>
            <a:r>
              <a:rPr lang="en-US" sz="3600" b="1" dirty="0">
                <a:solidFill>
                  <a:schemeClr val="tx1"/>
                </a:solidFill>
              </a:rPr>
              <a:t>2名</a:t>
            </a:r>
            <a:endParaRPr lang="en-US" sz="3600" dirty="0"/>
          </a:p>
        </p:txBody>
      </p:sp>
      <p:sp>
        <p:nvSpPr>
          <p:cNvPr id="14" name="pat-bg-53"/>
          <p:cNvSpPr/>
          <p:nvPr/>
        </p:nvSpPr>
        <p:spPr>
          <a:xfrm>
            <a:off x="3794760" y="3017520"/>
            <a:ext cx="7848295" cy="1874520"/>
          </a:xfrm>
          <a:prstGeom prst="rect">
            <a:avLst/>
          </a:prstGeom>
          <a:solidFill>
            <a:srgbClr val="F6F2EF"/>
          </a:solidFill>
          <a:ln w="12700">
            <a:solidFill>
              <a:srgbClr val="F6F2EF"/>
            </a:solidFill>
            <a:prstDash val="solid"/>
          </a:ln>
        </p:spPr>
      </p:sp>
      <p:sp>
        <p:nvSpPr>
          <p:cNvPr id="15" name="t-54"/>
          <p:cNvSpPr txBox="1"/>
          <p:nvPr/>
        </p:nvSpPr>
        <p:spPr>
          <a:xfrm>
            <a:off x="4069080" y="3017520"/>
            <a:ext cx="2011680" cy="1874520"/>
          </a:xfrm>
          <a:prstGeom prst="rect">
            <a:avLst/>
          </a:prstGeom>
          <a:noFill/>
          <a:ln/>
        </p:spPr>
        <p:txBody>
          <a:bodyPr wrap="square" lIns="0" tIns="0" rIns="0" bIns="0" rtlCol="0" anchor="ctr"/>
          <a:lstStyle/>
          <a:p>
            <a:pPr indent="0" marL="0">
              <a:buNone/>
            </a:pPr>
            <a:r>
              <a:rPr lang="en-US" sz="2400" b="1" dirty="0">
                <a:solidFill>
                  <a:schemeClr val="accent1"/>
                </a:solidFill>
              </a:rPr>
              <a:t>B案</a:t>
            </a:r>
            <a:endParaRPr lang="en-US" sz="2400" dirty="0"/>
          </a:p>
          <a:p>
            <a:pPr indent="0" marL="0">
              <a:buNone/>
            </a:pPr>
            <a:r>
              <a:rPr lang="en-US" sz="1200" dirty="0">
                <a:solidFill>
                  <a:schemeClr val="tx2"/>
                </a:solidFill>
              </a:rPr>
              <a:t>社保加入希望者が</a:t>
            </a:r>
            <a:endParaRPr lang="en-US" sz="2400" dirty="0"/>
          </a:p>
          <a:p>
            <a:pPr indent="0" marL="0">
              <a:buNone/>
            </a:pPr>
            <a:r>
              <a:rPr lang="en-US" sz="1200" dirty="0">
                <a:solidFill>
                  <a:schemeClr val="tx2"/>
                </a:solidFill>
              </a:rPr>
              <a:t>いない場合</a:t>
            </a:r>
            <a:endParaRPr lang="en-US" sz="2400" dirty="0"/>
          </a:p>
        </p:txBody>
      </p:sp>
      <p:sp>
        <p:nvSpPr>
          <p:cNvPr id="16" name="person-55"/>
          <p:cNvSpPr/>
          <p:nvPr/>
        </p:nvSpPr>
        <p:spPr>
          <a:xfrm>
            <a:off x="6126480" y="3383280"/>
            <a:ext cx="1234440" cy="1143000"/>
          </a:xfrm>
          <a:prstGeom prst="rect">
            <a:avLst/>
          </a:prstGeom>
          <a:solidFill>
            <a:schemeClr val="bg1"/>
          </a:solidFill>
          <a:ln w="12700">
            <a:solidFill>
              <a:schemeClr val="accent1"/>
            </a:solidFill>
            <a:prstDash val="solid"/>
          </a:ln>
        </p:spPr>
      </p:sp>
      <p:sp>
        <p:nvSpPr>
          <p:cNvPr id="17" name="t-56"/>
          <p:cNvSpPr txBox="1"/>
          <p:nvPr/>
        </p:nvSpPr>
        <p:spPr>
          <a:xfrm>
            <a:off x="6126480" y="3383280"/>
            <a:ext cx="1234440" cy="1143000"/>
          </a:xfrm>
          <a:prstGeom prst="rect">
            <a:avLst/>
          </a:prstGeom>
          <a:noFill/>
          <a:ln/>
        </p:spPr>
        <p:txBody>
          <a:bodyPr wrap="square" lIns="0" tIns="0" rIns="0" bIns="0" rtlCol="0" anchor="ctr"/>
          <a:lstStyle/>
          <a:p>
            <a:pPr algn="ctr" indent="0" marL="0">
              <a:buNone/>
            </a:pPr>
            <a:r>
              <a:rPr lang="en-US" sz="1400" b="1" dirty="0">
                <a:solidFill>
                  <a:schemeClr val="accent1"/>
                </a:solidFill>
              </a:rPr>
              <a:t>社保未加入</a:t>
            </a:r>
            <a:endParaRPr lang="en-US" sz="1400" dirty="0"/>
          </a:p>
          <a:p>
            <a:pPr algn="ctr" indent="0" marL="0">
              <a:buNone/>
            </a:pPr>
            <a:r>
              <a:rPr lang="en-US" sz="1100" dirty="0">
                <a:solidFill>
                  <a:schemeClr val="accent1"/>
                </a:solidFill>
              </a:rPr>
              <a:t>週末出勤可</a:t>
            </a:r>
            <a:endParaRPr lang="en-US" sz="1400" dirty="0"/>
          </a:p>
        </p:txBody>
      </p:sp>
      <p:sp>
        <p:nvSpPr>
          <p:cNvPr id="18" name="person-57"/>
          <p:cNvSpPr/>
          <p:nvPr/>
        </p:nvSpPr>
        <p:spPr>
          <a:xfrm>
            <a:off x="7498080" y="3383280"/>
            <a:ext cx="1234440" cy="1143000"/>
          </a:xfrm>
          <a:prstGeom prst="rect">
            <a:avLst/>
          </a:prstGeom>
          <a:solidFill>
            <a:schemeClr val="bg1"/>
          </a:solidFill>
          <a:ln w="12700">
            <a:solidFill>
              <a:schemeClr val="accent1"/>
            </a:solidFill>
            <a:prstDash val="solid"/>
          </a:ln>
        </p:spPr>
      </p:sp>
      <p:sp>
        <p:nvSpPr>
          <p:cNvPr id="19" name="t-58"/>
          <p:cNvSpPr txBox="1"/>
          <p:nvPr/>
        </p:nvSpPr>
        <p:spPr>
          <a:xfrm>
            <a:off x="7498080" y="3383280"/>
            <a:ext cx="1234440" cy="1143000"/>
          </a:xfrm>
          <a:prstGeom prst="rect">
            <a:avLst/>
          </a:prstGeom>
          <a:noFill/>
          <a:ln/>
        </p:spPr>
        <p:txBody>
          <a:bodyPr wrap="square" lIns="0" tIns="0" rIns="0" bIns="0" rtlCol="0" anchor="ctr"/>
          <a:lstStyle/>
          <a:p>
            <a:pPr algn="ctr" indent="0" marL="0">
              <a:buNone/>
            </a:pPr>
            <a:r>
              <a:rPr lang="en-US" sz="1400" b="1" dirty="0">
                <a:solidFill>
                  <a:schemeClr val="accent1"/>
                </a:solidFill>
              </a:rPr>
              <a:t>社保未加入</a:t>
            </a:r>
            <a:endParaRPr lang="en-US" sz="1400" dirty="0"/>
          </a:p>
          <a:p>
            <a:pPr algn="ctr" indent="0" marL="0">
              <a:buNone/>
            </a:pPr>
            <a:r>
              <a:rPr lang="en-US" sz="1100" dirty="0">
                <a:solidFill>
                  <a:schemeClr val="accent1"/>
                </a:solidFill>
              </a:rPr>
              <a:t>週末出勤可</a:t>
            </a:r>
            <a:endParaRPr lang="en-US" sz="1400" dirty="0"/>
          </a:p>
        </p:txBody>
      </p:sp>
      <p:sp>
        <p:nvSpPr>
          <p:cNvPr id="20" name="person-59"/>
          <p:cNvSpPr/>
          <p:nvPr/>
        </p:nvSpPr>
        <p:spPr>
          <a:xfrm>
            <a:off x="8869680" y="3383280"/>
            <a:ext cx="1234440" cy="1143000"/>
          </a:xfrm>
          <a:prstGeom prst="rect">
            <a:avLst/>
          </a:prstGeom>
          <a:solidFill>
            <a:schemeClr val="bg1"/>
          </a:solidFill>
          <a:ln w="12700">
            <a:solidFill>
              <a:schemeClr val="accent1"/>
            </a:solidFill>
            <a:prstDash val="solid"/>
          </a:ln>
        </p:spPr>
      </p:sp>
      <p:sp>
        <p:nvSpPr>
          <p:cNvPr id="21" name="t-60"/>
          <p:cNvSpPr txBox="1"/>
          <p:nvPr/>
        </p:nvSpPr>
        <p:spPr>
          <a:xfrm>
            <a:off x="8869680" y="3383280"/>
            <a:ext cx="1234440" cy="1143000"/>
          </a:xfrm>
          <a:prstGeom prst="rect">
            <a:avLst/>
          </a:prstGeom>
          <a:noFill/>
          <a:ln/>
        </p:spPr>
        <p:txBody>
          <a:bodyPr wrap="square" lIns="0" tIns="0" rIns="0" bIns="0" rtlCol="0" anchor="ctr"/>
          <a:lstStyle/>
          <a:p>
            <a:pPr algn="ctr" indent="0" marL="0">
              <a:buNone/>
            </a:pPr>
            <a:r>
              <a:rPr lang="en-US" sz="1400" b="1" dirty="0">
                <a:solidFill>
                  <a:schemeClr val="accent1"/>
                </a:solidFill>
              </a:rPr>
              <a:t>社保未加入</a:t>
            </a:r>
            <a:endParaRPr lang="en-US" sz="1400" dirty="0"/>
          </a:p>
          <a:p>
            <a:pPr algn="ctr" indent="0" marL="0">
              <a:buNone/>
            </a:pPr>
            <a:r>
              <a:rPr lang="en-US" sz="1100" dirty="0">
                <a:solidFill>
                  <a:schemeClr val="accent1"/>
                </a:solidFill>
              </a:rPr>
              <a:t>週末出勤可</a:t>
            </a:r>
            <a:endParaRPr lang="en-US" sz="1400" dirty="0"/>
          </a:p>
        </p:txBody>
      </p:sp>
      <p:sp>
        <p:nvSpPr>
          <p:cNvPr id="22" name="t-61"/>
          <p:cNvSpPr txBox="1"/>
          <p:nvPr/>
        </p:nvSpPr>
        <p:spPr>
          <a:xfrm>
            <a:off x="10271455" y="3017520"/>
            <a:ext cx="1143000" cy="1874520"/>
          </a:xfrm>
          <a:prstGeom prst="rect">
            <a:avLst/>
          </a:prstGeom>
          <a:noFill/>
          <a:ln/>
        </p:spPr>
        <p:txBody>
          <a:bodyPr wrap="square" lIns="0" tIns="0" rIns="0" bIns="0" rtlCol="0" anchor="ctr"/>
          <a:lstStyle/>
          <a:p>
            <a:pPr algn="r" indent="0" marL="0">
              <a:buNone/>
            </a:pPr>
            <a:r>
              <a:rPr lang="en-US" sz="3600" b="1" dirty="0">
                <a:solidFill>
                  <a:schemeClr val="tx1"/>
                </a:solidFill>
              </a:rPr>
              <a:t>3名</a:t>
            </a:r>
            <a:endParaRPr lang="en-US" sz="3600" dirty="0"/>
          </a:p>
        </p:txBody>
      </p:sp>
      <p:sp>
        <p:nvSpPr>
          <p:cNvPr id="23" name="t-62"/>
          <p:cNvSpPr txBox="1"/>
          <p:nvPr/>
        </p:nvSpPr>
        <p:spPr>
          <a:xfrm>
            <a:off x="3794760" y="5257800"/>
            <a:ext cx="7848295" cy="640080"/>
          </a:xfrm>
          <a:prstGeom prst="rect">
            <a:avLst/>
          </a:prstGeom>
          <a:noFill/>
          <a:ln/>
        </p:spPr>
        <p:txBody>
          <a:bodyPr wrap="square" lIns="0" tIns="0" rIns="0" bIns="0" rtlCol="0" anchor="t"/>
          <a:lstStyle/>
          <a:p>
            <a:pPr indent="0" marL="0">
              <a:buNone/>
            </a:pPr>
            <a:r>
              <a:rPr lang="en-US" sz="1300" dirty="0">
                <a:solidFill>
                  <a:schemeClr val="tx2"/>
                </a:solidFill>
              </a:rPr>
              <a:t>社保加入希望者を1名確保できれば計2名、確保できない場合は社保未加入で3名程度。いずれも週末に出勤できることが条件。</a:t>
            </a:r>
            <a:endParaRPr lang="en-US" sz="13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02</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シフト</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週末の不足が</a:t>
            </a:r>
            <a:endParaRPr lang="en-US" sz="1700" dirty="0"/>
          </a:p>
          <a:p>
            <a:pPr algn="l" indent="0" marL="0">
              <a:lnSpc>
                <a:spcPct val="130000"/>
              </a:lnSpc>
              <a:buNone/>
            </a:pPr>
            <a:r>
              <a:rPr lang="en-US" sz="1700" b="1" dirty="0">
                <a:solidFill>
                  <a:schemeClr val="bg1"/>
                </a:solidFill>
              </a:rPr>
              <a:t>毎月悪化している。</a:t>
            </a:r>
            <a:endParaRPr lang="en-US" sz="1700" dirty="0"/>
          </a:p>
          <a:p>
            <a:pPr algn="l" indent="0" marL="0">
              <a:lnSpc>
                <a:spcPct val="130000"/>
              </a:lnSpc>
              <a:buNone/>
            </a:pPr>
            <a:r>
              <a:rPr lang="en-US" sz="1700" b="1" dirty="0">
                <a:solidFill>
                  <a:schemeClr val="bg1"/>
                </a:solidFill>
              </a:rPr>
              <a:t>当日の欠勤も</a:t>
            </a:r>
            <a:endParaRPr lang="en-US" sz="1700" dirty="0"/>
          </a:p>
          <a:p>
            <a:pPr algn="l" indent="0" marL="0">
              <a:lnSpc>
                <a:spcPct val="130000"/>
              </a:lnSpc>
              <a:buNone/>
            </a:pPr>
            <a:r>
              <a:rPr lang="en-US" sz="1700" b="1" dirty="0">
                <a:solidFill>
                  <a:schemeClr val="bg1"/>
                </a:solidFill>
              </a:rPr>
              <a:t>増えている。</a:t>
            </a:r>
            <a:endParaRPr lang="en-US" sz="1700" dirty="0"/>
          </a:p>
        </p:txBody>
      </p:sp>
      <p:sp>
        <p:nvSpPr>
          <p:cNvPr id="6" name="t-63"/>
          <p:cNvSpPr txBox="1"/>
          <p:nvPr/>
        </p:nvSpPr>
        <p:spPr>
          <a:xfrm>
            <a:off x="3794760" y="530352"/>
            <a:ext cx="2286000" cy="274320"/>
          </a:xfrm>
          <a:prstGeom prst="rect">
            <a:avLst/>
          </a:prstGeom>
          <a:noFill/>
          <a:ln/>
        </p:spPr>
        <p:txBody>
          <a:bodyPr wrap="square" lIns="0" tIns="0" rIns="0" bIns="0" rtlCol="0" anchor="ctr"/>
          <a:lstStyle/>
          <a:p>
            <a:pPr indent="0" marL="0">
              <a:buNone/>
            </a:pPr>
            <a:r>
              <a:rPr lang="en-US" sz="1100" b="1" spc="100" kern="0" dirty="0">
                <a:solidFill>
                  <a:schemeClr val="tx2"/>
                </a:solidFill>
              </a:rPr>
              <a:t>現状</a:t>
            </a:r>
            <a:endParaRPr lang="en-US" sz="1100" dirty="0"/>
          </a:p>
        </p:txBody>
      </p:sp>
      <p:sp>
        <p:nvSpPr>
          <p:cNvPr id="7" name="row-bg-64"/>
          <p:cNvSpPr/>
          <p:nvPr/>
        </p:nvSpPr>
        <p:spPr>
          <a:xfrm>
            <a:off x="3794760" y="914400"/>
            <a:ext cx="7848295" cy="1539240"/>
          </a:xfrm>
          <a:prstGeom prst="rect">
            <a:avLst/>
          </a:prstGeom>
          <a:solidFill>
            <a:srgbClr val="F6F2EF"/>
          </a:solidFill>
          <a:ln w="12700">
            <a:solidFill>
              <a:srgbClr val="F6F2EF"/>
            </a:solidFill>
            <a:prstDash val="solid"/>
          </a:ln>
        </p:spPr>
      </p:sp>
      <p:sp>
        <p:nvSpPr>
          <p:cNvPr id="8" name="t-65"/>
          <p:cNvSpPr txBox="1"/>
          <p:nvPr/>
        </p:nvSpPr>
        <p:spPr>
          <a:xfrm>
            <a:off x="4069080" y="914400"/>
            <a:ext cx="731520" cy="1539240"/>
          </a:xfrm>
          <a:prstGeom prst="rect">
            <a:avLst/>
          </a:prstGeom>
          <a:noFill/>
          <a:ln/>
        </p:spPr>
        <p:txBody>
          <a:bodyPr wrap="square" lIns="0" tIns="0" rIns="0" bIns="0" rtlCol="0" anchor="ctr"/>
          <a:lstStyle/>
          <a:p>
            <a:pPr indent="0" marL="0">
              <a:buNone/>
            </a:pPr>
            <a:r>
              <a:rPr lang="en-US" sz="2800" b="1" dirty="0">
                <a:solidFill>
                  <a:schemeClr val="accent1"/>
                </a:solidFill>
              </a:rPr>
              <a:t>01</a:t>
            </a:r>
            <a:endParaRPr lang="en-US" sz="2800" dirty="0"/>
          </a:p>
        </p:txBody>
      </p:sp>
      <p:sp>
        <p:nvSpPr>
          <p:cNvPr id="9" name="t-66"/>
          <p:cNvSpPr txBox="1"/>
          <p:nvPr/>
        </p:nvSpPr>
        <p:spPr>
          <a:xfrm>
            <a:off x="4937760" y="1143000"/>
            <a:ext cx="5379415" cy="411480"/>
          </a:xfrm>
          <a:prstGeom prst="rect">
            <a:avLst/>
          </a:prstGeom>
          <a:noFill/>
          <a:ln/>
        </p:spPr>
        <p:txBody>
          <a:bodyPr wrap="square" lIns="0" tIns="0" rIns="0" bIns="0" rtlCol="0" anchor="t"/>
          <a:lstStyle/>
          <a:p>
            <a:pPr indent="0" marL="0">
              <a:buNone/>
            </a:pPr>
            <a:r>
              <a:rPr lang="en-US" sz="1900" b="1" dirty="0">
                <a:solidFill>
                  <a:schemeClr val="tx1"/>
                </a:solidFill>
              </a:rPr>
              <a:t>週末の人手不足</a:t>
            </a:r>
            <a:endParaRPr lang="en-US" sz="1900" dirty="0"/>
          </a:p>
        </p:txBody>
      </p:sp>
      <p:sp>
        <p:nvSpPr>
          <p:cNvPr id="10" name="t-67"/>
          <p:cNvSpPr txBox="1"/>
          <p:nvPr/>
        </p:nvSpPr>
        <p:spPr>
          <a:xfrm>
            <a:off x="4937760" y="1600200"/>
            <a:ext cx="6385255" cy="716280"/>
          </a:xfrm>
          <a:prstGeom prst="rect">
            <a:avLst/>
          </a:prstGeom>
          <a:noFill/>
          <a:ln/>
        </p:spPr>
        <p:txBody>
          <a:bodyPr wrap="square" lIns="0" tIns="0" rIns="0" bIns="0" rtlCol="0" anchor="t"/>
          <a:lstStyle/>
          <a:p>
            <a:pPr indent="0" marL="0">
              <a:buNone/>
            </a:pPr>
            <a:r>
              <a:rPr lang="en-US" sz="1400" dirty="0">
                <a:solidFill>
                  <a:schemeClr val="tx2"/>
                </a:solidFill>
              </a:rPr>
              <a:t>週末の不足が毎月ひどくなっている。</a:t>
            </a:r>
            <a:endParaRPr lang="en-US" sz="1400" dirty="0"/>
          </a:p>
        </p:txBody>
      </p:sp>
      <p:sp>
        <p:nvSpPr>
          <p:cNvPr id="11" name="tag-bg-68"/>
          <p:cNvSpPr/>
          <p:nvPr/>
        </p:nvSpPr>
        <p:spPr>
          <a:xfrm>
            <a:off x="10454335" y="1161288"/>
            <a:ext cx="914400" cy="310896"/>
          </a:xfrm>
          <a:prstGeom prst="rect">
            <a:avLst/>
          </a:prstGeom>
          <a:solidFill>
            <a:schemeClr val="accent1"/>
          </a:solidFill>
          <a:ln w="12700">
            <a:solidFill>
              <a:schemeClr val="accent1"/>
            </a:solidFill>
            <a:prstDash val="solid"/>
          </a:ln>
        </p:spPr>
      </p:sp>
      <p:sp>
        <p:nvSpPr>
          <p:cNvPr id="12" name="t-69"/>
          <p:cNvSpPr txBox="1"/>
          <p:nvPr/>
        </p:nvSpPr>
        <p:spPr>
          <a:xfrm>
            <a:off x="10454335" y="1161288"/>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最優先</a:t>
            </a:r>
            <a:endParaRPr lang="en-US" sz="1100" dirty="0"/>
          </a:p>
        </p:txBody>
      </p:sp>
      <p:sp>
        <p:nvSpPr>
          <p:cNvPr id="13" name="row-bg-70"/>
          <p:cNvSpPr/>
          <p:nvPr/>
        </p:nvSpPr>
        <p:spPr>
          <a:xfrm>
            <a:off x="3794760" y="2682240"/>
            <a:ext cx="7848295" cy="1539240"/>
          </a:xfrm>
          <a:prstGeom prst="rect">
            <a:avLst/>
          </a:prstGeom>
          <a:solidFill>
            <a:srgbClr val="F6F2EF"/>
          </a:solidFill>
          <a:ln w="12700">
            <a:solidFill>
              <a:srgbClr val="F6F2EF"/>
            </a:solidFill>
            <a:prstDash val="solid"/>
          </a:ln>
        </p:spPr>
      </p:sp>
      <p:sp>
        <p:nvSpPr>
          <p:cNvPr id="14" name="t-71"/>
          <p:cNvSpPr txBox="1"/>
          <p:nvPr/>
        </p:nvSpPr>
        <p:spPr>
          <a:xfrm>
            <a:off x="4069080" y="2682240"/>
            <a:ext cx="731520" cy="1539240"/>
          </a:xfrm>
          <a:prstGeom prst="rect">
            <a:avLst/>
          </a:prstGeom>
          <a:noFill/>
          <a:ln/>
        </p:spPr>
        <p:txBody>
          <a:bodyPr wrap="square" lIns="0" tIns="0" rIns="0" bIns="0" rtlCol="0" anchor="ctr"/>
          <a:lstStyle/>
          <a:p>
            <a:pPr indent="0" marL="0">
              <a:buNone/>
            </a:pPr>
            <a:r>
              <a:rPr lang="en-US" sz="2800" b="1" dirty="0">
                <a:solidFill>
                  <a:schemeClr val="accent1"/>
                </a:solidFill>
              </a:rPr>
              <a:t>02</a:t>
            </a:r>
            <a:endParaRPr lang="en-US" sz="2800" dirty="0"/>
          </a:p>
        </p:txBody>
      </p:sp>
      <p:sp>
        <p:nvSpPr>
          <p:cNvPr id="15" name="t-72"/>
          <p:cNvSpPr txBox="1"/>
          <p:nvPr/>
        </p:nvSpPr>
        <p:spPr>
          <a:xfrm>
            <a:off x="4937760" y="2910840"/>
            <a:ext cx="5379415" cy="411480"/>
          </a:xfrm>
          <a:prstGeom prst="rect">
            <a:avLst/>
          </a:prstGeom>
          <a:noFill/>
          <a:ln/>
        </p:spPr>
        <p:txBody>
          <a:bodyPr wrap="square" lIns="0" tIns="0" rIns="0" bIns="0" rtlCol="0" anchor="t"/>
          <a:lstStyle/>
          <a:p>
            <a:pPr indent="0" marL="0">
              <a:buNone/>
            </a:pPr>
            <a:r>
              <a:rPr lang="en-US" sz="1900" b="1" dirty="0">
                <a:solidFill>
                  <a:schemeClr val="tx1"/>
                </a:solidFill>
              </a:rPr>
              <a:t>当日の遅刻→欠勤</a:t>
            </a:r>
            <a:endParaRPr lang="en-US" sz="1900" dirty="0"/>
          </a:p>
        </p:txBody>
      </p:sp>
      <p:sp>
        <p:nvSpPr>
          <p:cNvPr id="16" name="t-73"/>
          <p:cNvSpPr txBox="1"/>
          <p:nvPr/>
        </p:nvSpPr>
        <p:spPr>
          <a:xfrm>
            <a:off x="4937760" y="3368040"/>
            <a:ext cx="6385255" cy="716280"/>
          </a:xfrm>
          <a:prstGeom prst="rect">
            <a:avLst/>
          </a:prstGeom>
          <a:noFill/>
          <a:ln/>
        </p:spPr>
        <p:txBody>
          <a:bodyPr wrap="square" lIns="0" tIns="0" rIns="0" bIns="0" rtlCol="0" anchor="t"/>
          <a:lstStyle/>
          <a:p>
            <a:pPr indent="0" marL="0">
              <a:buNone/>
            </a:pPr>
            <a:r>
              <a:rPr lang="en-US" sz="1400" dirty="0">
                <a:solidFill>
                  <a:schemeClr val="tx2"/>
                </a:solidFill>
              </a:rPr>
              <a:t>柴山・杉田・酒井など、当日に「忙しくて遅れる」→「休み」になるケースが増えている。</a:t>
            </a:r>
            <a:endParaRPr lang="en-US" sz="1400" dirty="0"/>
          </a:p>
        </p:txBody>
      </p:sp>
      <p:sp>
        <p:nvSpPr>
          <p:cNvPr id="17" name="row-bg-74"/>
          <p:cNvSpPr/>
          <p:nvPr/>
        </p:nvSpPr>
        <p:spPr>
          <a:xfrm>
            <a:off x="3794760" y="4450080"/>
            <a:ext cx="7848295" cy="1539240"/>
          </a:xfrm>
          <a:prstGeom prst="rect">
            <a:avLst/>
          </a:prstGeom>
          <a:solidFill>
            <a:srgbClr val="F6F2EF"/>
          </a:solidFill>
          <a:ln w="12700">
            <a:solidFill>
              <a:srgbClr val="F6F2EF"/>
            </a:solidFill>
            <a:prstDash val="solid"/>
          </a:ln>
        </p:spPr>
      </p:sp>
      <p:sp>
        <p:nvSpPr>
          <p:cNvPr id="18" name="t-75"/>
          <p:cNvSpPr txBox="1"/>
          <p:nvPr/>
        </p:nvSpPr>
        <p:spPr>
          <a:xfrm>
            <a:off x="4069080" y="4450080"/>
            <a:ext cx="731520" cy="1539240"/>
          </a:xfrm>
          <a:prstGeom prst="rect">
            <a:avLst/>
          </a:prstGeom>
          <a:noFill/>
          <a:ln/>
        </p:spPr>
        <p:txBody>
          <a:bodyPr wrap="square" lIns="0" tIns="0" rIns="0" bIns="0" rtlCol="0" anchor="ctr"/>
          <a:lstStyle/>
          <a:p>
            <a:pPr indent="0" marL="0">
              <a:buNone/>
            </a:pPr>
            <a:r>
              <a:rPr lang="en-US" sz="2800" b="1" dirty="0">
                <a:solidFill>
                  <a:schemeClr val="accent1"/>
                </a:solidFill>
              </a:rPr>
              <a:t>03</a:t>
            </a:r>
            <a:endParaRPr lang="en-US" sz="2800" dirty="0"/>
          </a:p>
        </p:txBody>
      </p:sp>
      <p:sp>
        <p:nvSpPr>
          <p:cNvPr id="19" name="t-76"/>
          <p:cNvSpPr txBox="1"/>
          <p:nvPr/>
        </p:nvSpPr>
        <p:spPr>
          <a:xfrm>
            <a:off x="4937760" y="4678680"/>
            <a:ext cx="5379415" cy="411480"/>
          </a:xfrm>
          <a:prstGeom prst="rect">
            <a:avLst/>
          </a:prstGeom>
          <a:noFill/>
          <a:ln/>
        </p:spPr>
        <p:txBody>
          <a:bodyPr wrap="square" lIns="0" tIns="0" rIns="0" bIns="0" rtlCol="0" anchor="t"/>
          <a:lstStyle/>
          <a:p>
            <a:pPr indent="0" marL="0">
              <a:buNone/>
            </a:pPr>
            <a:r>
              <a:rPr lang="en-US" sz="1900" b="1" dirty="0">
                <a:solidFill>
                  <a:schemeClr val="tx1"/>
                </a:solidFill>
              </a:rPr>
              <a:t>日による戦力の偏り</a:t>
            </a:r>
            <a:endParaRPr lang="en-US" sz="1900" dirty="0"/>
          </a:p>
        </p:txBody>
      </p:sp>
      <p:sp>
        <p:nvSpPr>
          <p:cNvPr id="20" name="t-77"/>
          <p:cNvSpPr txBox="1"/>
          <p:nvPr/>
        </p:nvSpPr>
        <p:spPr>
          <a:xfrm>
            <a:off x="4937760" y="5135880"/>
            <a:ext cx="6385255" cy="716280"/>
          </a:xfrm>
          <a:prstGeom prst="rect">
            <a:avLst/>
          </a:prstGeom>
          <a:noFill/>
          <a:ln/>
        </p:spPr>
        <p:txBody>
          <a:bodyPr wrap="square" lIns="0" tIns="0" rIns="0" bIns="0" rtlCol="0" anchor="t"/>
          <a:lstStyle/>
          <a:p>
            <a:pPr indent="0" marL="0">
              <a:buNone/>
            </a:pPr>
            <a:r>
              <a:rPr lang="en-US" sz="1400" dirty="0">
                <a:solidFill>
                  <a:schemeClr val="tx2"/>
                </a:solidFill>
              </a:rPr>
              <a:t>日によってベテランと新人のバランスが取れていないことが多く、育成を進める必要がある。</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03</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人間関係</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大きなトラブルは</a:t>
            </a:r>
            <a:endParaRPr lang="en-US" sz="1700" dirty="0"/>
          </a:p>
          <a:p>
            <a:pPr algn="l" indent="0" marL="0">
              <a:lnSpc>
                <a:spcPct val="130000"/>
              </a:lnSpc>
              <a:buNone/>
            </a:pPr>
            <a:r>
              <a:rPr lang="en-US" sz="1700" b="1" dirty="0">
                <a:solidFill>
                  <a:schemeClr val="bg1"/>
                </a:solidFill>
              </a:rPr>
              <a:t>ない。</a:t>
            </a:r>
            <a:endParaRPr lang="en-US" sz="1700" dirty="0"/>
          </a:p>
          <a:p>
            <a:pPr algn="l" indent="0" marL="0">
              <a:lnSpc>
                <a:spcPct val="130000"/>
              </a:lnSpc>
              <a:buNone/>
            </a:pPr>
            <a:r>
              <a:rPr lang="en-US" sz="1700" b="1" dirty="0">
                <a:solidFill>
                  <a:schemeClr val="bg1"/>
                </a:solidFill>
              </a:rPr>
              <a:t>ただし学生と</a:t>
            </a:r>
            <a:endParaRPr lang="en-US" sz="1700" dirty="0"/>
          </a:p>
          <a:p>
            <a:pPr algn="l" indent="0" marL="0">
              <a:lnSpc>
                <a:spcPct val="130000"/>
              </a:lnSpc>
              <a:buNone/>
            </a:pPr>
            <a:r>
              <a:rPr lang="en-US" sz="1700" b="1" dirty="0">
                <a:solidFill>
                  <a:schemeClr val="bg1"/>
                </a:solidFill>
              </a:rPr>
              <a:t>それ以外に溝があり、</a:t>
            </a:r>
            <a:endParaRPr lang="en-US" sz="1700" dirty="0"/>
          </a:p>
          <a:p>
            <a:pPr algn="l" indent="0" marL="0">
              <a:lnSpc>
                <a:spcPct val="130000"/>
              </a:lnSpc>
              <a:buNone/>
            </a:pPr>
            <a:r>
              <a:rPr lang="en-US" sz="1700" b="1" dirty="0">
                <a:solidFill>
                  <a:schemeClr val="bg1"/>
                </a:solidFill>
              </a:rPr>
              <a:t>愚痴が増えている。</a:t>
            </a:r>
            <a:endParaRPr lang="en-US" sz="1700" dirty="0"/>
          </a:p>
        </p:txBody>
      </p:sp>
      <p:sp>
        <p:nvSpPr>
          <p:cNvPr id="6" name="t-78"/>
          <p:cNvSpPr txBox="1"/>
          <p:nvPr/>
        </p:nvSpPr>
        <p:spPr>
          <a:xfrm>
            <a:off x="3794760" y="530352"/>
            <a:ext cx="2286000" cy="274320"/>
          </a:xfrm>
          <a:prstGeom prst="rect">
            <a:avLst/>
          </a:prstGeom>
          <a:noFill/>
          <a:ln/>
        </p:spPr>
        <p:txBody>
          <a:bodyPr wrap="square" lIns="0" tIns="0" rIns="0" bIns="0" rtlCol="0" anchor="ctr"/>
          <a:lstStyle/>
          <a:p>
            <a:pPr indent="0" marL="0">
              <a:buNone/>
            </a:pPr>
            <a:r>
              <a:rPr lang="en-US" sz="1100" b="1" spc="100" kern="0" dirty="0">
                <a:solidFill>
                  <a:schemeClr val="tx2"/>
                </a:solidFill>
              </a:rPr>
              <a:t>現状</a:t>
            </a:r>
            <a:endParaRPr lang="en-US" sz="1100" dirty="0"/>
          </a:p>
        </p:txBody>
      </p:sp>
      <p:sp>
        <p:nvSpPr>
          <p:cNvPr id="7" name="row-bg-79"/>
          <p:cNvSpPr/>
          <p:nvPr/>
        </p:nvSpPr>
        <p:spPr>
          <a:xfrm>
            <a:off x="3794760" y="914400"/>
            <a:ext cx="7848295" cy="1539240"/>
          </a:xfrm>
          <a:prstGeom prst="rect">
            <a:avLst/>
          </a:prstGeom>
          <a:solidFill>
            <a:srgbClr val="F6F2EF"/>
          </a:solidFill>
          <a:ln w="12700">
            <a:solidFill>
              <a:srgbClr val="F6F2EF"/>
            </a:solidFill>
            <a:prstDash val="solid"/>
          </a:ln>
        </p:spPr>
      </p:sp>
      <p:sp>
        <p:nvSpPr>
          <p:cNvPr id="8" name="t-80"/>
          <p:cNvSpPr txBox="1"/>
          <p:nvPr/>
        </p:nvSpPr>
        <p:spPr>
          <a:xfrm>
            <a:off x="4069080" y="914400"/>
            <a:ext cx="731520" cy="1539240"/>
          </a:xfrm>
          <a:prstGeom prst="rect">
            <a:avLst/>
          </a:prstGeom>
          <a:noFill/>
          <a:ln/>
        </p:spPr>
        <p:txBody>
          <a:bodyPr wrap="square" lIns="0" tIns="0" rIns="0" bIns="0" rtlCol="0" anchor="ctr"/>
          <a:lstStyle/>
          <a:p>
            <a:pPr indent="0" marL="0">
              <a:buNone/>
            </a:pPr>
            <a:r>
              <a:rPr lang="en-US" sz="2800" b="1" dirty="0">
                <a:solidFill>
                  <a:schemeClr val="accent1"/>
                </a:solidFill>
              </a:rPr>
              <a:t>01</a:t>
            </a:r>
            <a:endParaRPr lang="en-US" sz="2800" dirty="0"/>
          </a:p>
        </p:txBody>
      </p:sp>
      <p:sp>
        <p:nvSpPr>
          <p:cNvPr id="9" name="t-81"/>
          <p:cNvSpPr txBox="1"/>
          <p:nvPr/>
        </p:nvSpPr>
        <p:spPr>
          <a:xfrm>
            <a:off x="4937760" y="1143000"/>
            <a:ext cx="5379415" cy="411480"/>
          </a:xfrm>
          <a:prstGeom prst="rect">
            <a:avLst/>
          </a:prstGeom>
          <a:noFill/>
          <a:ln/>
        </p:spPr>
        <p:txBody>
          <a:bodyPr wrap="square" lIns="0" tIns="0" rIns="0" bIns="0" rtlCol="0" anchor="t"/>
          <a:lstStyle/>
          <a:p>
            <a:pPr indent="0" marL="0">
              <a:buNone/>
            </a:pPr>
            <a:r>
              <a:rPr lang="en-US" sz="1900" b="1" dirty="0">
                <a:solidFill>
                  <a:schemeClr val="tx1"/>
                </a:solidFill>
              </a:rPr>
              <a:t>大きなトラブルはない</a:t>
            </a:r>
            <a:endParaRPr lang="en-US" sz="1900" dirty="0"/>
          </a:p>
        </p:txBody>
      </p:sp>
      <p:sp>
        <p:nvSpPr>
          <p:cNvPr id="10" name="t-82"/>
          <p:cNvSpPr txBox="1"/>
          <p:nvPr/>
        </p:nvSpPr>
        <p:spPr>
          <a:xfrm>
            <a:off x="4937760" y="1600200"/>
            <a:ext cx="6385255" cy="716280"/>
          </a:xfrm>
          <a:prstGeom prst="rect">
            <a:avLst/>
          </a:prstGeom>
          <a:noFill/>
          <a:ln/>
        </p:spPr>
        <p:txBody>
          <a:bodyPr wrap="square" lIns="0" tIns="0" rIns="0" bIns="0" rtlCol="0" anchor="t"/>
          <a:lstStyle/>
          <a:p>
            <a:pPr indent="0" marL="0">
              <a:buNone/>
            </a:pPr>
            <a:r>
              <a:rPr lang="en-US" sz="1400" dirty="0">
                <a:solidFill>
                  <a:schemeClr val="tx2"/>
                </a:solidFill>
              </a:rPr>
              <a:t>人間関係のトラブルは聞いていない（蓮尾さんなど）。</a:t>
            </a:r>
            <a:endParaRPr lang="en-US" sz="1400" dirty="0"/>
          </a:p>
        </p:txBody>
      </p:sp>
      <p:sp>
        <p:nvSpPr>
          <p:cNvPr id="11" name="row-bg-83"/>
          <p:cNvSpPr/>
          <p:nvPr/>
        </p:nvSpPr>
        <p:spPr>
          <a:xfrm>
            <a:off x="3794760" y="2682240"/>
            <a:ext cx="7848295" cy="1539240"/>
          </a:xfrm>
          <a:prstGeom prst="rect">
            <a:avLst/>
          </a:prstGeom>
          <a:solidFill>
            <a:srgbClr val="F6F2EF"/>
          </a:solidFill>
          <a:ln w="12700">
            <a:solidFill>
              <a:srgbClr val="F6F2EF"/>
            </a:solidFill>
            <a:prstDash val="solid"/>
          </a:ln>
        </p:spPr>
      </p:sp>
      <p:sp>
        <p:nvSpPr>
          <p:cNvPr id="12" name="t-84"/>
          <p:cNvSpPr txBox="1"/>
          <p:nvPr/>
        </p:nvSpPr>
        <p:spPr>
          <a:xfrm>
            <a:off x="4069080" y="2682240"/>
            <a:ext cx="731520" cy="1539240"/>
          </a:xfrm>
          <a:prstGeom prst="rect">
            <a:avLst/>
          </a:prstGeom>
          <a:noFill/>
          <a:ln/>
        </p:spPr>
        <p:txBody>
          <a:bodyPr wrap="square" lIns="0" tIns="0" rIns="0" bIns="0" rtlCol="0" anchor="ctr"/>
          <a:lstStyle/>
          <a:p>
            <a:pPr indent="0" marL="0">
              <a:buNone/>
            </a:pPr>
            <a:r>
              <a:rPr lang="en-US" sz="2800" b="1" dirty="0">
                <a:solidFill>
                  <a:schemeClr val="accent1"/>
                </a:solidFill>
              </a:rPr>
              <a:t>02</a:t>
            </a:r>
            <a:endParaRPr lang="en-US" sz="2800" dirty="0"/>
          </a:p>
        </p:txBody>
      </p:sp>
      <p:sp>
        <p:nvSpPr>
          <p:cNvPr id="13" name="t-85"/>
          <p:cNvSpPr txBox="1"/>
          <p:nvPr/>
        </p:nvSpPr>
        <p:spPr>
          <a:xfrm>
            <a:off x="4937760" y="2910840"/>
            <a:ext cx="5379415" cy="411480"/>
          </a:xfrm>
          <a:prstGeom prst="rect">
            <a:avLst/>
          </a:prstGeom>
          <a:noFill/>
          <a:ln/>
        </p:spPr>
        <p:txBody>
          <a:bodyPr wrap="square" lIns="0" tIns="0" rIns="0" bIns="0" rtlCol="0" anchor="t"/>
          <a:lstStyle/>
          <a:p>
            <a:pPr indent="0" marL="0">
              <a:buNone/>
            </a:pPr>
            <a:r>
              <a:rPr lang="en-US" sz="1900" b="1" dirty="0">
                <a:solidFill>
                  <a:schemeClr val="tx1"/>
                </a:solidFill>
              </a:rPr>
              <a:t>学生とそれ以外の溝</a:t>
            </a:r>
            <a:endParaRPr lang="en-US" sz="1900" dirty="0"/>
          </a:p>
        </p:txBody>
      </p:sp>
      <p:sp>
        <p:nvSpPr>
          <p:cNvPr id="14" name="t-86"/>
          <p:cNvSpPr txBox="1"/>
          <p:nvPr/>
        </p:nvSpPr>
        <p:spPr>
          <a:xfrm>
            <a:off x="4937760" y="3368040"/>
            <a:ext cx="6385255" cy="716280"/>
          </a:xfrm>
          <a:prstGeom prst="rect">
            <a:avLst/>
          </a:prstGeom>
          <a:noFill/>
          <a:ln/>
        </p:spPr>
        <p:txBody>
          <a:bodyPr wrap="square" lIns="0" tIns="0" rIns="0" bIns="0" rtlCol="0" anchor="t"/>
          <a:lstStyle/>
          <a:p>
            <a:pPr indent="0" marL="0">
              <a:buNone/>
            </a:pPr>
            <a:r>
              <a:rPr lang="en-US" sz="1400" dirty="0">
                <a:solidFill>
                  <a:schemeClr val="tx2"/>
                </a:solidFill>
              </a:rPr>
              <a:t>全体的に、学生とそれ以外のスタッフの間になんとなく溝がある。</a:t>
            </a:r>
            <a:endParaRPr lang="en-US" sz="1400" dirty="0"/>
          </a:p>
        </p:txBody>
      </p:sp>
      <p:sp>
        <p:nvSpPr>
          <p:cNvPr id="15" name="row-bg-87"/>
          <p:cNvSpPr/>
          <p:nvPr/>
        </p:nvSpPr>
        <p:spPr>
          <a:xfrm>
            <a:off x="3794760" y="4450080"/>
            <a:ext cx="7848295" cy="1539240"/>
          </a:xfrm>
          <a:prstGeom prst="rect">
            <a:avLst/>
          </a:prstGeom>
          <a:solidFill>
            <a:srgbClr val="F6F2EF"/>
          </a:solidFill>
          <a:ln w="12700">
            <a:solidFill>
              <a:srgbClr val="F6F2EF"/>
            </a:solidFill>
            <a:prstDash val="solid"/>
          </a:ln>
        </p:spPr>
      </p:sp>
      <p:sp>
        <p:nvSpPr>
          <p:cNvPr id="16" name="t-88"/>
          <p:cNvSpPr txBox="1"/>
          <p:nvPr/>
        </p:nvSpPr>
        <p:spPr>
          <a:xfrm>
            <a:off x="4069080" y="4450080"/>
            <a:ext cx="731520" cy="1539240"/>
          </a:xfrm>
          <a:prstGeom prst="rect">
            <a:avLst/>
          </a:prstGeom>
          <a:noFill/>
          <a:ln/>
        </p:spPr>
        <p:txBody>
          <a:bodyPr wrap="square" lIns="0" tIns="0" rIns="0" bIns="0" rtlCol="0" anchor="ctr"/>
          <a:lstStyle/>
          <a:p>
            <a:pPr indent="0" marL="0">
              <a:buNone/>
            </a:pPr>
            <a:r>
              <a:rPr lang="en-US" sz="2800" b="1" dirty="0">
                <a:solidFill>
                  <a:schemeClr val="accent1"/>
                </a:solidFill>
              </a:rPr>
              <a:t>03</a:t>
            </a:r>
            <a:endParaRPr lang="en-US" sz="2800" dirty="0"/>
          </a:p>
        </p:txBody>
      </p:sp>
      <p:sp>
        <p:nvSpPr>
          <p:cNvPr id="17" name="t-89"/>
          <p:cNvSpPr txBox="1"/>
          <p:nvPr/>
        </p:nvSpPr>
        <p:spPr>
          <a:xfrm>
            <a:off x="4937760" y="4678680"/>
            <a:ext cx="5379415" cy="411480"/>
          </a:xfrm>
          <a:prstGeom prst="rect">
            <a:avLst/>
          </a:prstGeom>
          <a:noFill/>
          <a:ln/>
        </p:spPr>
        <p:txBody>
          <a:bodyPr wrap="square" lIns="0" tIns="0" rIns="0" bIns="0" rtlCol="0" anchor="t"/>
          <a:lstStyle/>
          <a:p>
            <a:pPr indent="0" marL="0">
              <a:buNone/>
            </a:pPr>
            <a:r>
              <a:rPr lang="en-US" sz="1900" b="1" dirty="0">
                <a:solidFill>
                  <a:schemeClr val="tx1"/>
                </a:solidFill>
              </a:rPr>
              <a:t>愚痴が増えている</a:t>
            </a:r>
            <a:endParaRPr lang="en-US" sz="1900" dirty="0"/>
          </a:p>
        </p:txBody>
      </p:sp>
      <p:sp>
        <p:nvSpPr>
          <p:cNvPr id="18" name="t-90"/>
          <p:cNvSpPr txBox="1"/>
          <p:nvPr/>
        </p:nvSpPr>
        <p:spPr>
          <a:xfrm>
            <a:off x="4937760" y="5135880"/>
            <a:ext cx="6385255" cy="716280"/>
          </a:xfrm>
          <a:prstGeom prst="rect">
            <a:avLst/>
          </a:prstGeom>
          <a:noFill/>
          <a:ln/>
        </p:spPr>
        <p:txBody>
          <a:bodyPr wrap="square" lIns="0" tIns="0" rIns="0" bIns="0" rtlCol="0" anchor="t"/>
          <a:lstStyle/>
          <a:p>
            <a:pPr indent="0" marL="0">
              <a:buNone/>
            </a:pPr>
            <a:r>
              <a:rPr lang="en-US" sz="1400" dirty="0">
                <a:solidFill>
                  <a:schemeClr val="tx2"/>
                </a:solidFill>
              </a:rPr>
              <a:t>萩原・篠原・青山・堀川・高嶋あたりから愚痴を聞くことが増えている。</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04</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設備不具合</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不具合は3カ所。</a:t>
            </a:r>
            <a:endParaRPr lang="en-US" sz="1700" dirty="0"/>
          </a:p>
          <a:p>
            <a:pPr algn="l" indent="0" marL="0">
              <a:lnSpc>
                <a:spcPct val="130000"/>
              </a:lnSpc>
              <a:buNone/>
            </a:pPr>
            <a:r>
              <a:rPr lang="en-US" sz="1700" b="1" dirty="0">
                <a:solidFill>
                  <a:schemeClr val="bg1"/>
                </a:solidFill>
              </a:rPr>
              <a:t>ゆで麺器は</a:t>
            </a:r>
            <a:endParaRPr lang="en-US" sz="1700" dirty="0"/>
          </a:p>
          <a:p>
            <a:pPr algn="l" indent="0" marL="0">
              <a:lnSpc>
                <a:spcPct val="130000"/>
              </a:lnSpc>
              <a:buNone/>
            </a:pPr>
            <a:r>
              <a:rPr lang="en-US" sz="1700" b="1" dirty="0">
                <a:solidFill>
                  <a:schemeClr val="bg1"/>
                </a:solidFill>
              </a:rPr>
              <a:t>提供停止に</a:t>
            </a:r>
            <a:endParaRPr lang="en-US" sz="1700" dirty="0"/>
          </a:p>
          <a:p>
            <a:pPr algn="l" indent="0" marL="0">
              <a:lnSpc>
                <a:spcPct val="130000"/>
              </a:lnSpc>
              <a:buNone/>
            </a:pPr>
            <a:r>
              <a:rPr lang="en-US" sz="1700" b="1" dirty="0">
                <a:solidFill>
                  <a:schemeClr val="bg1"/>
                </a:solidFill>
              </a:rPr>
              <a:t>直結する。</a:t>
            </a:r>
            <a:endParaRPr lang="en-US" sz="1700" dirty="0"/>
          </a:p>
        </p:txBody>
      </p:sp>
      <p:sp>
        <p:nvSpPr>
          <p:cNvPr id="6" name="t-91"/>
          <p:cNvSpPr txBox="1"/>
          <p:nvPr/>
        </p:nvSpPr>
        <p:spPr>
          <a:xfrm>
            <a:off x="3794760" y="530352"/>
            <a:ext cx="2286000" cy="274320"/>
          </a:xfrm>
          <a:prstGeom prst="rect">
            <a:avLst/>
          </a:prstGeom>
          <a:noFill/>
          <a:ln/>
        </p:spPr>
        <p:txBody>
          <a:bodyPr wrap="square" lIns="0" tIns="0" rIns="0" bIns="0" rtlCol="0" anchor="ctr"/>
          <a:lstStyle/>
          <a:p>
            <a:pPr indent="0" marL="0">
              <a:buNone/>
            </a:pPr>
            <a:r>
              <a:rPr lang="en-US" sz="1100" b="1" spc="100" kern="0" dirty="0">
                <a:solidFill>
                  <a:schemeClr val="tx2"/>
                </a:solidFill>
              </a:rPr>
              <a:t>現状</a:t>
            </a:r>
            <a:endParaRPr lang="en-US" sz="1100" dirty="0"/>
          </a:p>
        </p:txBody>
      </p:sp>
      <p:sp>
        <p:nvSpPr>
          <p:cNvPr id="7" name="row-bg-92"/>
          <p:cNvSpPr/>
          <p:nvPr/>
        </p:nvSpPr>
        <p:spPr>
          <a:xfrm>
            <a:off x="3794760" y="914400"/>
            <a:ext cx="7848295" cy="1539240"/>
          </a:xfrm>
          <a:prstGeom prst="rect">
            <a:avLst/>
          </a:prstGeom>
          <a:solidFill>
            <a:srgbClr val="F6F2EF"/>
          </a:solidFill>
          <a:ln w="12700">
            <a:solidFill>
              <a:srgbClr val="F6F2EF"/>
            </a:solidFill>
            <a:prstDash val="solid"/>
          </a:ln>
        </p:spPr>
      </p:sp>
      <p:sp>
        <p:nvSpPr>
          <p:cNvPr id="8" name="t-93"/>
          <p:cNvSpPr txBox="1"/>
          <p:nvPr/>
        </p:nvSpPr>
        <p:spPr>
          <a:xfrm>
            <a:off x="4069080" y="914400"/>
            <a:ext cx="731520" cy="1539240"/>
          </a:xfrm>
          <a:prstGeom prst="rect">
            <a:avLst/>
          </a:prstGeom>
          <a:noFill/>
          <a:ln/>
        </p:spPr>
        <p:txBody>
          <a:bodyPr wrap="square" lIns="0" tIns="0" rIns="0" bIns="0" rtlCol="0" anchor="ctr"/>
          <a:lstStyle/>
          <a:p>
            <a:pPr indent="0" marL="0">
              <a:buNone/>
            </a:pPr>
            <a:r>
              <a:rPr lang="en-US" sz="2800" b="1" dirty="0">
                <a:solidFill>
                  <a:schemeClr val="accent1"/>
                </a:solidFill>
              </a:rPr>
              <a:t>01</a:t>
            </a:r>
            <a:endParaRPr lang="en-US" sz="2800" dirty="0"/>
          </a:p>
        </p:txBody>
      </p:sp>
      <p:sp>
        <p:nvSpPr>
          <p:cNvPr id="9" name="t-94"/>
          <p:cNvSpPr txBox="1"/>
          <p:nvPr/>
        </p:nvSpPr>
        <p:spPr>
          <a:xfrm>
            <a:off x="4937760" y="1143000"/>
            <a:ext cx="5379415" cy="411480"/>
          </a:xfrm>
          <a:prstGeom prst="rect">
            <a:avLst/>
          </a:prstGeom>
          <a:noFill/>
          <a:ln/>
        </p:spPr>
        <p:txBody>
          <a:bodyPr wrap="square" lIns="0" tIns="0" rIns="0" bIns="0" rtlCol="0" anchor="t"/>
          <a:lstStyle/>
          <a:p>
            <a:pPr indent="0" marL="0">
              <a:buNone/>
            </a:pPr>
            <a:r>
              <a:rPr lang="en-US" sz="1900" b="1" dirty="0">
                <a:solidFill>
                  <a:schemeClr val="tx1"/>
                </a:solidFill>
              </a:rPr>
              <a:t>ゆで麺器</a:t>
            </a:r>
            <a:endParaRPr lang="en-US" sz="1900" dirty="0"/>
          </a:p>
        </p:txBody>
      </p:sp>
      <p:sp>
        <p:nvSpPr>
          <p:cNvPr id="10" name="t-95"/>
          <p:cNvSpPr txBox="1"/>
          <p:nvPr/>
        </p:nvSpPr>
        <p:spPr>
          <a:xfrm>
            <a:off x="4937760" y="1600200"/>
            <a:ext cx="6385255" cy="716280"/>
          </a:xfrm>
          <a:prstGeom prst="rect">
            <a:avLst/>
          </a:prstGeom>
          <a:noFill/>
          <a:ln/>
        </p:spPr>
        <p:txBody>
          <a:bodyPr wrap="square" lIns="0" tIns="0" rIns="0" bIns="0" rtlCol="0" anchor="t"/>
          <a:lstStyle/>
          <a:p>
            <a:pPr indent="0" marL="0">
              <a:buNone/>
            </a:pPr>
            <a:r>
              <a:rPr lang="en-US" sz="1400" dirty="0">
                <a:solidFill>
                  <a:schemeClr val="tx2"/>
                </a:solidFill>
              </a:rPr>
              <a:t>急に火力が落ちて、お湯が沸き上がらないことがある。今回のようにコラボが好調で冷凍麺が増えると提供できなくなる。</a:t>
            </a:r>
            <a:endParaRPr lang="en-US" sz="1400" dirty="0"/>
          </a:p>
        </p:txBody>
      </p:sp>
      <p:sp>
        <p:nvSpPr>
          <p:cNvPr id="11" name="tag-bg-96"/>
          <p:cNvSpPr/>
          <p:nvPr/>
        </p:nvSpPr>
        <p:spPr>
          <a:xfrm>
            <a:off x="10454335" y="1161288"/>
            <a:ext cx="914400" cy="310896"/>
          </a:xfrm>
          <a:prstGeom prst="rect">
            <a:avLst/>
          </a:prstGeom>
          <a:solidFill>
            <a:schemeClr val="accent1"/>
          </a:solidFill>
          <a:ln w="12700">
            <a:solidFill>
              <a:schemeClr val="accent1"/>
            </a:solidFill>
            <a:prstDash val="solid"/>
          </a:ln>
        </p:spPr>
      </p:sp>
      <p:sp>
        <p:nvSpPr>
          <p:cNvPr id="12" name="t-97"/>
          <p:cNvSpPr txBox="1"/>
          <p:nvPr/>
        </p:nvSpPr>
        <p:spPr>
          <a:xfrm>
            <a:off x="10454335" y="1161288"/>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最優先</a:t>
            </a:r>
            <a:endParaRPr lang="en-US" sz="1100" dirty="0"/>
          </a:p>
        </p:txBody>
      </p:sp>
      <p:sp>
        <p:nvSpPr>
          <p:cNvPr id="13" name="row-bg-98"/>
          <p:cNvSpPr/>
          <p:nvPr/>
        </p:nvSpPr>
        <p:spPr>
          <a:xfrm>
            <a:off x="3794760" y="2682240"/>
            <a:ext cx="7848295" cy="1539240"/>
          </a:xfrm>
          <a:prstGeom prst="rect">
            <a:avLst/>
          </a:prstGeom>
          <a:solidFill>
            <a:srgbClr val="F6F2EF"/>
          </a:solidFill>
          <a:ln w="12700">
            <a:solidFill>
              <a:srgbClr val="F6F2EF"/>
            </a:solidFill>
            <a:prstDash val="solid"/>
          </a:ln>
        </p:spPr>
      </p:sp>
      <p:sp>
        <p:nvSpPr>
          <p:cNvPr id="14" name="t-99"/>
          <p:cNvSpPr txBox="1"/>
          <p:nvPr/>
        </p:nvSpPr>
        <p:spPr>
          <a:xfrm>
            <a:off x="4069080" y="2682240"/>
            <a:ext cx="731520" cy="1539240"/>
          </a:xfrm>
          <a:prstGeom prst="rect">
            <a:avLst/>
          </a:prstGeom>
          <a:noFill/>
          <a:ln/>
        </p:spPr>
        <p:txBody>
          <a:bodyPr wrap="square" lIns="0" tIns="0" rIns="0" bIns="0" rtlCol="0" anchor="ctr"/>
          <a:lstStyle/>
          <a:p>
            <a:pPr indent="0" marL="0">
              <a:buNone/>
            </a:pPr>
            <a:r>
              <a:rPr lang="en-US" sz="2800" b="1" dirty="0">
                <a:solidFill>
                  <a:schemeClr val="accent1"/>
                </a:solidFill>
              </a:rPr>
              <a:t>02</a:t>
            </a:r>
            <a:endParaRPr lang="en-US" sz="2800" dirty="0"/>
          </a:p>
        </p:txBody>
      </p:sp>
      <p:sp>
        <p:nvSpPr>
          <p:cNvPr id="15" name="t-100"/>
          <p:cNvSpPr txBox="1"/>
          <p:nvPr/>
        </p:nvSpPr>
        <p:spPr>
          <a:xfrm>
            <a:off x="4937760" y="2910840"/>
            <a:ext cx="5379415" cy="411480"/>
          </a:xfrm>
          <a:prstGeom prst="rect">
            <a:avLst/>
          </a:prstGeom>
          <a:noFill/>
          <a:ln/>
        </p:spPr>
        <p:txBody>
          <a:bodyPr wrap="square" lIns="0" tIns="0" rIns="0" bIns="0" rtlCol="0" anchor="t"/>
          <a:lstStyle/>
          <a:p>
            <a:pPr indent="0" marL="0">
              <a:buNone/>
            </a:pPr>
            <a:r>
              <a:rPr lang="en-US" sz="1900" b="1" dirty="0">
                <a:solidFill>
                  <a:schemeClr val="tx1"/>
                </a:solidFill>
              </a:rPr>
              <a:t>キッチン窓側のコンセント（1カ所）</a:t>
            </a:r>
            <a:endParaRPr lang="en-US" sz="1900" dirty="0"/>
          </a:p>
        </p:txBody>
      </p:sp>
      <p:sp>
        <p:nvSpPr>
          <p:cNvPr id="16" name="t-101"/>
          <p:cNvSpPr txBox="1"/>
          <p:nvPr/>
        </p:nvSpPr>
        <p:spPr>
          <a:xfrm>
            <a:off x="4937760" y="3368040"/>
            <a:ext cx="6385255" cy="716280"/>
          </a:xfrm>
          <a:prstGeom prst="rect">
            <a:avLst/>
          </a:prstGeom>
          <a:noFill/>
          <a:ln/>
        </p:spPr>
        <p:txBody>
          <a:bodyPr wrap="square" lIns="0" tIns="0" rIns="0" bIns="0" rtlCol="0" anchor="t"/>
          <a:lstStyle/>
          <a:p>
            <a:pPr indent="0" marL="0">
              <a:buNone/>
            </a:pPr>
            <a:r>
              <a:rPr lang="en-US" sz="1400" dirty="0">
                <a:solidFill>
                  <a:schemeClr val="tx2"/>
                </a:solidFill>
              </a:rPr>
              <a:t>調子が悪く、現在はテープを貼って使わないようにしている（コンセントの数は足りている）。</a:t>
            </a:r>
            <a:endParaRPr lang="en-US" sz="1400" dirty="0"/>
          </a:p>
        </p:txBody>
      </p:sp>
      <p:sp>
        <p:nvSpPr>
          <p:cNvPr id="17" name="row-bg-102"/>
          <p:cNvSpPr/>
          <p:nvPr/>
        </p:nvSpPr>
        <p:spPr>
          <a:xfrm>
            <a:off x="3794760" y="4450080"/>
            <a:ext cx="7848295" cy="1539240"/>
          </a:xfrm>
          <a:prstGeom prst="rect">
            <a:avLst/>
          </a:prstGeom>
          <a:solidFill>
            <a:srgbClr val="F6F2EF"/>
          </a:solidFill>
          <a:ln w="12700">
            <a:solidFill>
              <a:srgbClr val="F6F2EF"/>
            </a:solidFill>
            <a:prstDash val="solid"/>
          </a:ln>
        </p:spPr>
      </p:sp>
      <p:sp>
        <p:nvSpPr>
          <p:cNvPr id="18" name="t-103"/>
          <p:cNvSpPr txBox="1"/>
          <p:nvPr/>
        </p:nvSpPr>
        <p:spPr>
          <a:xfrm>
            <a:off x="4069080" y="4450080"/>
            <a:ext cx="731520" cy="1539240"/>
          </a:xfrm>
          <a:prstGeom prst="rect">
            <a:avLst/>
          </a:prstGeom>
          <a:noFill/>
          <a:ln/>
        </p:spPr>
        <p:txBody>
          <a:bodyPr wrap="square" lIns="0" tIns="0" rIns="0" bIns="0" rtlCol="0" anchor="ctr"/>
          <a:lstStyle/>
          <a:p>
            <a:pPr indent="0" marL="0">
              <a:buNone/>
            </a:pPr>
            <a:r>
              <a:rPr lang="en-US" sz="2800" b="1" dirty="0">
                <a:solidFill>
                  <a:schemeClr val="accent1"/>
                </a:solidFill>
              </a:rPr>
              <a:t>03</a:t>
            </a:r>
            <a:endParaRPr lang="en-US" sz="2800" dirty="0"/>
          </a:p>
        </p:txBody>
      </p:sp>
      <p:sp>
        <p:nvSpPr>
          <p:cNvPr id="19" name="t-104"/>
          <p:cNvSpPr txBox="1"/>
          <p:nvPr/>
        </p:nvSpPr>
        <p:spPr>
          <a:xfrm>
            <a:off x="4937760" y="4678680"/>
            <a:ext cx="5379415" cy="411480"/>
          </a:xfrm>
          <a:prstGeom prst="rect">
            <a:avLst/>
          </a:prstGeom>
          <a:noFill/>
          <a:ln/>
        </p:spPr>
        <p:txBody>
          <a:bodyPr wrap="square" lIns="0" tIns="0" rIns="0" bIns="0" rtlCol="0" anchor="t"/>
          <a:lstStyle/>
          <a:p>
            <a:pPr indent="0" marL="0">
              <a:buNone/>
            </a:pPr>
            <a:r>
              <a:rPr lang="en-US" sz="1900" b="1" dirty="0">
                <a:solidFill>
                  <a:schemeClr val="tx1"/>
                </a:solidFill>
              </a:rPr>
              <a:t>キッチン入ってすぐの蛇口</a:t>
            </a:r>
            <a:endParaRPr lang="en-US" sz="1900" dirty="0"/>
          </a:p>
        </p:txBody>
      </p:sp>
      <p:sp>
        <p:nvSpPr>
          <p:cNvPr id="20" name="t-105"/>
          <p:cNvSpPr txBox="1"/>
          <p:nvPr/>
        </p:nvSpPr>
        <p:spPr>
          <a:xfrm>
            <a:off x="4937760" y="5135880"/>
            <a:ext cx="6385255" cy="716280"/>
          </a:xfrm>
          <a:prstGeom prst="rect">
            <a:avLst/>
          </a:prstGeom>
          <a:noFill/>
          <a:ln/>
        </p:spPr>
        <p:txBody>
          <a:bodyPr wrap="square" lIns="0" tIns="0" rIns="0" bIns="0" rtlCol="0" anchor="t"/>
          <a:lstStyle/>
          <a:p>
            <a:pPr indent="0" marL="0">
              <a:buNone/>
            </a:pPr>
            <a:r>
              <a:rPr lang="en-US" sz="1400" dirty="0">
                <a:solidFill>
                  <a:schemeClr val="tx2"/>
                </a:solidFill>
              </a:rPr>
              <a:t>不具合あり。</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05</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今後の予定</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飲食スケジュール。</a:t>
            </a:r>
            <a:endParaRPr lang="en-US" sz="1700" dirty="0"/>
          </a:p>
          <a:p>
            <a:pPr algn="l" indent="0" marL="0">
              <a:lnSpc>
                <a:spcPct val="130000"/>
              </a:lnSpc>
              <a:buNone/>
            </a:pPr>
            <a:r>
              <a:rPr lang="en-US" sz="1700" b="1" dirty="0">
                <a:solidFill>
                  <a:schemeClr val="bg1"/>
                </a:solidFill>
              </a:rPr>
              <a:t>11月は企画が集中。</a:t>
            </a:r>
            <a:endParaRPr lang="en-US" sz="1700" dirty="0"/>
          </a:p>
          <a:p>
            <a:pPr algn="l" indent="0" marL="0">
              <a:lnSpc>
                <a:spcPct val="130000"/>
              </a:lnSpc>
              <a:buNone/>
            </a:pPr>
            <a:r>
              <a:rPr lang="en-US" sz="1700" b="1" dirty="0">
                <a:solidFill>
                  <a:schemeClr val="bg1"/>
                </a:solidFill>
              </a:rPr>
              <a:t>11/5 麺やこころ、</a:t>
            </a:r>
            <a:endParaRPr lang="en-US" sz="1700" dirty="0"/>
          </a:p>
          <a:p>
            <a:pPr algn="l" indent="0" marL="0">
              <a:lnSpc>
                <a:spcPct val="130000"/>
              </a:lnSpc>
              <a:buNone/>
            </a:pPr>
            <a:r>
              <a:rPr lang="en-US" sz="1700" b="1" dirty="0">
                <a:solidFill>
                  <a:schemeClr val="bg1"/>
                </a:solidFill>
              </a:rPr>
              <a:t>11/12 にじさんじが</a:t>
            </a:r>
            <a:endParaRPr lang="en-US" sz="1700" dirty="0"/>
          </a:p>
          <a:p>
            <a:pPr algn="l" indent="0" marL="0">
              <a:lnSpc>
                <a:spcPct val="130000"/>
              </a:lnSpc>
              <a:buNone/>
            </a:pPr>
            <a:r>
              <a:rPr lang="en-US" sz="1700" b="1" dirty="0">
                <a:solidFill>
                  <a:schemeClr val="bg1"/>
                </a:solidFill>
              </a:rPr>
              <a:t>スタート。</a:t>
            </a:r>
            <a:endParaRPr lang="en-US" sz="1700" dirty="0"/>
          </a:p>
        </p:txBody>
      </p:sp>
      <p:sp>
        <p:nvSpPr>
          <p:cNvPr id="6" name="month-bg-106"/>
          <p:cNvSpPr/>
          <p:nvPr/>
        </p:nvSpPr>
        <p:spPr>
          <a:xfrm>
            <a:off x="6053328" y="548640"/>
            <a:ext cx="820204" cy="347472"/>
          </a:xfrm>
          <a:prstGeom prst="rect">
            <a:avLst/>
          </a:prstGeom>
          <a:solidFill>
            <a:schemeClr val="accent4"/>
          </a:solidFill>
          <a:ln w="12700">
            <a:solidFill>
              <a:schemeClr val="accent4"/>
            </a:solidFill>
            <a:prstDash val="solid"/>
          </a:ln>
        </p:spPr>
      </p:sp>
      <p:sp>
        <p:nvSpPr>
          <p:cNvPr id="7" name="t-107"/>
          <p:cNvSpPr txBox="1"/>
          <p:nvPr/>
        </p:nvSpPr>
        <p:spPr>
          <a:xfrm>
            <a:off x="6035040" y="548640"/>
            <a:ext cx="856780" cy="347472"/>
          </a:xfrm>
          <a:prstGeom prst="rect">
            <a:avLst/>
          </a:prstGeom>
          <a:noFill/>
          <a:ln/>
        </p:spPr>
        <p:txBody>
          <a:bodyPr wrap="square" lIns="0" tIns="0" rIns="0" bIns="0" rtlCol="0" anchor="ctr"/>
          <a:lstStyle/>
          <a:p>
            <a:pPr algn="ctr" indent="0" marL="0">
              <a:buNone/>
            </a:pPr>
            <a:r>
              <a:rPr lang="en-US" sz="1300" b="1" dirty="0">
                <a:solidFill>
                  <a:schemeClr val="accent1"/>
                </a:solidFill>
              </a:rPr>
              <a:t>10月</a:t>
            </a:r>
            <a:endParaRPr lang="en-US" sz="1300" dirty="0"/>
          </a:p>
        </p:txBody>
      </p:sp>
      <p:sp>
        <p:nvSpPr>
          <p:cNvPr id="8" name="month-bg-108"/>
          <p:cNvSpPr/>
          <p:nvPr/>
        </p:nvSpPr>
        <p:spPr>
          <a:xfrm>
            <a:off x="6910108" y="548640"/>
            <a:ext cx="2300097" cy="347472"/>
          </a:xfrm>
          <a:prstGeom prst="rect">
            <a:avLst/>
          </a:prstGeom>
          <a:solidFill>
            <a:schemeClr val="accent1"/>
          </a:solidFill>
          <a:ln w="12700">
            <a:solidFill>
              <a:schemeClr val="accent1"/>
            </a:solidFill>
            <a:prstDash val="solid"/>
          </a:ln>
        </p:spPr>
      </p:sp>
      <p:sp>
        <p:nvSpPr>
          <p:cNvPr id="9" name="t-109"/>
          <p:cNvSpPr txBox="1"/>
          <p:nvPr/>
        </p:nvSpPr>
        <p:spPr>
          <a:xfrm>
            <a:off x="6891820" y="548640"/>
            <a:ext cx="2336673" cy="347472"/>
          </a:xfrm>
          <a:prstGeom prst="rect">
            <a:avLst/>
          </a:prstGeom>
          <a:noFill/>
          <a:ln/>
        </p:spPr>
        <p:txBody>
          <a:bodyPr wrap="square" lIns="0" tIns="0" rIns="0" bIns="0" rtlCol="0" anchor="ctr"/>
          <a:lstStyle/>
          <a:p>
            <a:pPr algn="ctr" indent="0" marL="0">
              <a:buNone/>
            </a:pPr>
            <a:r>
              <a:rPr lang="en-US" sz="1300" b="1" dirty="0">
                <a:solidFill>
                  <a:schemeClr val="bg1"/>
                </a:solidFill>
              </a:rPr>
              <a:t>11月</a:t>
            </a:r>
            <a:endParaRPr lang="en-US" sz="1300" dirty="0"/>
          </a:p>
        </p:txBody>
      </p:sp>
      <p:sp>
        <p:nvSpPr>
          <p:cNvPr id="10" name="month-bg-110"/>
          <p:cNvSpPr/>
          <p:nvPr/>
        </p:nvSpPr>
        <p:spPr>
          <a:xfrm>
            <a:off x="9246781" y="548640"/>
            <a:ext cx="2377986" cy="347472"/>
          </a:xfrm>
          <a:prstGeom prst="rect">
            <a:avLst/>
          </a:prstGeom>
          <a:solidFill>
            <a:schemeClr val="accent4"/>
          </a:solidFill>
          <a:ln w="12700">
            <a:solidFill>
              <a:schemeClr val="accent4"/>
            </a:solidFill>
            <a:prstDash val="solid"/>
          </a:ln>
        </p:spPr>
      </p:sp>
      <p:sp>
        <p:nvSpPr>
          <p:cNvPr id="11" name="t-111"/>
          <p:cNvSpPr txBox="1"/>
          <p:nvPr/>
        </p:nvSpPr>
        <p:spPr>
          <a:xfrm>
            <a:off x="9228493" y="548640"/>
            <a:ext cx="2414562" cy="347472"/>
          </a:xfrm>
          <a:prstGeom prst="rect">
            <a:avLst/>
          </a:prstGeom>
          <a:noFill/>
          <a:ln/>
        </p:spPr>
        <p:txBody>
          <a:bodyPr wrap="square" lIns="0" tIns="0" rIns="0" bIns="0" rtlCol="0" anchor="ctr"/>
          <a:lstStyle/>
          <a:p>
            <a:pPr algn="ctr" indent="0" marL="0">
              <a:buNone/>
            </a:pPr>
            <a:r>
              <a:rPr lang="en-US" sz="1300" b="1" dirty="0">
                <a:solidFill>
                  <a:schemeClr val="accent1"/>
                </a:solidFill>
              </a:rPr>
              <a:t>12月</a:t>
            </a:r>
            <a:endParaRPr lang="en-US" sz="1300" dirty="0"/>
          </a:p>
        </p:txBody>
      </p:sp>
      <p:sp>
        <p:nvSpPr>
          <p:cNvPr id="12" name="t-112"/>
          <p:cNvSpPr txBox="1"/>
          <p:nvPr/>
        </p:nvSpPr>
        <p:spPr>
          <a:xfrm>
            <a:off x="6035040" y="941832"/>
            <a:ext cx="856780" cy="274320"/>
          </a:xfrm>
          <a:prstGeom prst="rect">
            <a:avLst/>
          </a:prstGeom>
          <a:noFill/>
          <a:ln/>
        </p:spPr>
        <p:txBody>
          <a:bodyPr wrap="square" lIns="0" tIns="0" rIns="0" bIns="0" rtlCol="0" anchor="ctr"/>
          <a:lstStyle/>
          <a:p>
            <a:pPr algn="ctr" indent="0" marL="0">
              <a:buNone/>
            </a:pPr>
            <a:r>
              <a:rPr lang="en-US" sz="1000" dirty="0">
                <a:solidFill>
                  <a:schemeClr val="tx2"/>
                </a:solidFill>
              </a:rPr>
              <a:t>下旬</a:t>
            </a:r>
            <a:endParaRPr lang="en-US" sz="1000" dirty="0"/>
          </a:p>
        </p:txBody>
      </p:sp>
      <p:sp>
        <p:nvSpPr>
          <p:cNvPr id="13" name="t-113"/>
          <p:cNvSpPr txBox="1"/>
          <p:nvPr/>
        </p:nvSpPr>
        <p:spPr>
          <a:xfrm>
            <a:off x="6891820" y="941832"/>
            <a:ext cx="778891" cy="274320"/>
          </a:xfrm>
          <a:prstGeom prst="rect">
            <a:avLst/>
          </a:prstGeom>
          <a:noFill/>
          <a:ln/>
        </p:spPr>
        <p:txBody>
          <a:bodyPr wrap="square" lIns="0" tIns="0" rIns="0" bIns="0" rtlCol="0" anchor="ctr"/>
          <a:lstStyle/>
          <a:p>
            <a:pPr algn="ctr" indent="0" marL="0">
              <a:buNone/>
            </a:pPr>
            <a:r>
              <a:rPr lang="en-US" sz="1000" dirty="0">
                <a:solidFill>
                  <a:schemeClr val="tx2"/>
                </a:solidFill>
              </a:rPr>
              <a:t>上旬</a:t>
            </a:r>
            <a:endParaRPr lang="en-US" sz="1000" dirty="0"/>
          </a:p>
        </p:txBody>
      </p:sp>
      <p:sp>
        <p:nvSpPr>
          <p:cNvPr id="14" name="t-114"/>
          <p:cNvSpPr txBox="1"/>
          <p:nvPr/>
        </p:nvSpPr>
        <p:spPr>
          <a:xfrm>
            <a:off x="7670711" y="941832"/>
            <a:ext cx="778891" cy="274320"/>
          </a:xfrm>
          <a:prstGeom prst="rect">
            <a:avLst/>
          </a:prstGeom>
          <a:noFill/>
          <a:ln/>
        </p:spPr>
        <p:txBody>
          <a:bodyPr wrap="square" lIns="0" tIns="0" rIns="0" bIns="0" rtlCol="0" anchor="ctr"/>
          <a:lstStyle/>
          <a:p>
            <a:pPr algn="ctr" indent="0" marL="0">
              <a:buNone/>
            </a:pPr>
            <a:r>
              <a:rPr lang="en-US" sz="1000" dirty="0">
                <a:solidFill>
                  <a:schemeClr val="tx2"/>
                </a:solidFill>
              </a:rPr>
              <a:t>中旬</a:t>
            </a:r>
            <a:endParaRPr lang="en-US" sz="1000" dirty="0"/>
          </a:p>
        </p:txBody>
      </p:sp>
      <p:sp>
        <p:nvSpPr>
          <p:cNvPr id="15" name="t-115"/>
          <p:cNvSpPr txBox="1"/>
          <p:nvPr/>
        </p:nvSpPr>
        <p:spPr>
          <a:xfrm>
            <a:off x="8449602" y="941832"/>
            <a:ext cx="778891" cy="274320"/>
          </a:xfrm>
          <a:prstGeom prst="rect">
            <a:avLst/>
          </a:prstGeom>
          <a:noFill/>
          <a:ln/>
        </p:spPr>
        <p:txBody>
          <a:bodyPr wrap="square" lIns="0" tIns="0" rIns="0" bIns="0" rtlCol="0" anchor="ctr"/>
          <a:lstStyle/>
          <a:p>
            <a:pPr algn="ctr" indent="0" marL="0">
              <a:buNone/>
            </a:pPr>
            <a:r>
              <a:rPr lang="en-US" sz="1000" dirty="0">
                <a:solidFill>
                  <a:schemeClr val="tx2"/>
                </a:solidFill>
              </a:rPr>
              <a:t>下旬</a:t>
            </a:r>
            <a:endParaRPr lang="en-US" sz="1000" dirty="0"/>
          </a:p>
        </p:txBody>
      </p:sp>
      <p:sp>
        <p:nvSpPr>
          <p:cNvPr id="16" name="t-116"/>
          <p:cNvSpPr txBox="1"/>
          <p:nvPr/>
        </p:nvSpPr>
        <p:spPr>
          <a:xfrm>
            <a:off x="9228493" y="941832"/>
            <a:ext cx="778891" cy="274320"/>
          </a:xfrm>
          <a:prstGeom prst="rect">
            <a:avLst/>
          </a:prstGeom>
          <a:noFill/>
          <a:ln/>
        </p:spPr>
        <p:txBody>
          <a:bodyPr wrap="square" lIns="0" tIns="0" rIns="0" bIns="0" rtlCol="0" anchor="ctr"/>
          <a:lstStyle/>
          <a:p>
            <a:pPr algn="ctr" indent="0" marL="0">
              <a:buNone/>
            </a:pPr>
            <a:r>
              <a:rPr lang="en-US" sz="1000" dirty="0">
                <a:solidFill>
                  <a:schemeClr val="tx2"/>
                </a:solidFill>
              </a:rPr>
              <a:t>上旬</a:t>
            </a:r>
            <a:endParaRPr lang="en-US" sz="1000" dirty="0"/>
          </a:p>
        </p:txBody>
      </p:sp>
      <p:sp>
        <p:nvSpPr>
          <p:cNvPr id="17" name="t-117"/>
          <p:cNvSpPr txBox="1"/>
          <p:nvPr/>
        </p:nvSpPr>
        <p:spPr>
          <a:xfrm>
            <a:off x="10007384" y="941832"/>
            <a:ext cx="778891" cy="274320"/>
          </a:xfrm>
          <a:prstGeom prst="rect">
            <a:avLst/>
          </a:prstGeom>
          <a:noFill/>
          <a:ln/>
        </p:spPr>
        <p:txBody>
          <a:bodyPr wrap="square" lIns="0" tIns="0" rIns="0" bIns="0" rtlCol="0" anchor="ctr"/>
          <a:lstStyle/>
          <a:p>
            <a:pPr algn="ctr" indent="0" marL="0">
              <a:buNone/>
            </a:pPr>
            <a:r>
              <a:rPr lang="en-US" sz="1000" dirty="0">
                <a:solidFill>
                  <a:schemeClr val="tx2"/>
                </a:solidFill>
              </a:rPr>
              <a:t>中旬</a:t>
            </a:r>
            <a:endParaRPr lang="en-US" sz="1000" dirty="0"/>
          </a:p>
        </p:txBody>
      </p:sp>
      <p:sp>
        <p:nvSpPr>
          <p:cNvPr id="18" name="t-118"/>
          <p:cNvSpPr txBox="1"/>
          <p:nvPr/>
        </p:nvSpPr>
        <p:spPr>
          <a:xfrm>
            <a:off x="10786275" y="941832"/>
            <a:ext cx="856780" cy="274320"/>
          </a:xfrm>
          <a:prstGeom prst="rect">
            <a:avLst/>
          </a:prstGeom>
          <a:noFill/>
          <a:ln/>
        </p:spPr>
        <p:txBody>
          <a:bodyPr wrap="square" lIns="0" tIns="0" rIns="0" bIns="0" rtlCol="0" anchor="ctr"/>
          <a:lstStyle/>
          <a:p>
            <a:pPr algn="ctr" indent="0" marL="0">
              <a:buNone/>
            </a:pPr>
            <a:r>
              <a:rPr lang="en-US" sz="1000" dirty="0">
                <a:solidFill>
                  <a:schemeClr val="tx2"/>
                </a:solidFill>
              </a:rPr>
              <a:t>下旬</a:t>
            </a:r>
            <a:endParaRPr lang="en-US" sz="1000" dirty="0"/>
          </a:p>
        </p:txBody>
      </p:sp>
      <p:sp>
        <p:nvSpPr>
          <p:cNvPr id="19" name="row-bg-119"/>
          <p:cNvSpPr/>
          <p:nvPr/>
        </p:nvSpPr>
        <p:spPr>
          <a:xfrm>
            <a:off x="3794760" y="1325880"/>
            <a:ext cx="7848295" cy="658368"/>
          </a:xfrm>
          <a:prstGeom prst="rect">
            <a:avLst/>
          </a:prstGeom>
          <a:solidFill>
            <a:srgbClr val="F6F2EF"/>
          </a:solidFill>
          <a:ln w="12700">
            <a:solidFill>
              <a:srgbClr val="F6F2EF"/>
            </a:solidFill>
            <a:prstDash val="solid"/>
          </a:ln>
        </p:spPr>
      </p:sp>
      <p:sp>
        <p:nvSpPr>
          <p:cNvPr id="20" name="row-bg-120"/>
          <p:cNvSpPr/>
          <p:nvPr/>
        </p:nvSpPr>
        <p:spPr>
          <a:xfrm>
            <a:off x="3794760" y="2642616"/>
            <a:ext cx="7848295" cy="658368"/>
          </a:xfrm>
          <a:prstGeom prst="rect">
            <a:avLst/>
          </a:prstGeom>
          <a:solidFill>
            <a:srgbClr val="F6F2EF"/>
          </a:solidFill>
          <a:ln w="12700">
            <a:solidFill>
              <a:srgbClr val="F6F2EF"/>
            </a:solidFill>
            <a:prstDash val="solid"/>
          </a:ln>
        </p:spPr>
      </p:sp>
      <p:sp>
        <p:nvSpPr>
          <p:cNvPr id="21" name="row-bg-121"/>
          <p:cNvSpPr/>
          <p:nvPr/>
        </p:nvSpPr>
        <p:spPr>
          <a:xfrm>
            <a:off x="3794760" y="3959352"/>
            <a:ext cx="7848295" cy="658368"/>
          </a:xfrm>
          <a:prstGeom prst="rect">
            <a:avLst/>
          </a:prstGeom>
          <a:solidFill>
            <a:srgbClr val="F6F2EF"/>
          </a:solidFill>
          <a:ln w="12700">
            <a:solidFill>
              <a:srgbClr val="F6F2EF"/>
            </a:solidFill>
            <a:prstDash val="solid"/>
          </a:ln>
        </p:spPr>
      </p:sp>
      <p:sp>
        <p:nvSpPr>
          <p:cNvPr id="22" name="row-bg-122"/>
          <p:cNvSpPr/>
          <p:nvPr/>
        </p:nvSpPr>
        <p:spPr>
          <a:xfrm>
            <a:off x="3794760" y="5276088"/>
            <a:ext cx="7848295" cy="658368"/>
          </a:xfrm>
          <a:prstGeom prst="rect">
            <a:avLst/>
          </a:prstGeom>
          <a:solidFill>
            <a:srgbClr val="F6F2EF"/>
          </a:solidFill>
          <a:ln w="12700">
            <a:solidFill>
              <a:srgbClr val="F6F2EF"/>
            </a:solidFill>
            <a:prstDash val="solid"/>
          </a:ln>
        </p:spPr>
      </p:sp>
      <p:sp>
        <p:nvSpPr>
          <p:cNvPr id="23" name="grid-123"/>
          <p:cNvSpPr/>
          <p:nvPr/>
        </p:nvSpPr>
        <p:spPr>
          <a:xfrm>
            <a:off x="6035040" y="1325880"/>
            <a:ext cx="0" cy="4608576"/>
          </a:xfrm>
          <a:prstGeom prst="line">
            <a:avLst/>
          </a:prstGeom>
          <a:noFill/>
          <a:ln w="12700">
            <a:solidFill>
              <a:srgbClr val="9A918B"/>
            </a:solidFill>
            <a:prstDash val="solid"/>
          </a:ln>
        </p:spPr>
      </p:sp>
      <p:sp>
        <p:nvSpPr>
          <p:cNvPr id="24" name="grid-124"/>
          <p:cNvSpPr/>
          <p:nvPr/>
        </p:nvSpPr>
        <p:spPr>
          <a:xfrm>
            <a:off x="6891820" y="1325880"/>
            <a:ext cx="0" cy="4608576"/>
          </a:xfrm>
          <a:prstGeom prst="line">
            <a:avLst/>
          </a:prstGeom>
          <a:noFill/>
          <a:ln w="12700">
            <a:solidFill>
              <a:srgbClr val="9A918B"/>
            </a:solidFill>
            <a:prstDash val="solid"/>
          </a:ln>
        </p:spPr>
      </p:sp>
      <p:sp>
        <p:nvSpPr>
          <p:cNvPr id="25" name="grid-125"/>
          <p:cNvSpPr/>
          <p:nvPr/>
        </p:nvSpPr>
        <p:spPr>
          <a:xfrm>
            <a:off x="7670711" y="1325880"/>
            <a:ext cx="0" cy="4608576"/>
          </a:xfrm>
          <a:prstGeom prst="line">
            <a:avLst/>
          </a:prstGeom>
          <a:noFill/>
          <a:ln w="6350">
            <a:solidFill>
              <a:srgbClr val="E3DCD6"/>
            </a:solidFill>
            <a:prstDash val="dash"/>
          </a:ln>
        </p:spPr>
      </p:sp>
      <p:sp>
        <p:nvSpPr>
          <p:cNvPr id="26" name="grid-126"/>
          <p:cNvSpPr/>
          <p:nvPr/>
        </p:nvSpPr>
        <p:spPr>
          <a:xfrm>
            <a:off x="8449602" y="1325880"/>
            <a:ext cx="0" cy="4608576"/>
          </a:xfrm>
          <a:prstGeom prst="line">
            <a:avLst/>
          </a:prstGeom>
          <a:noFill/>
          <a:ln w="6350">
            <a:solidFill>
              <a:srgbClr val="E3DCD6"/>
            </a:solidFill>
            <a:prstDash val="dash"/>
          </a:ln>
        </p:spPr>
      </p:sp>
      <p:sp>
        <p:nvSpPr>
          <p:cNvPr id="27" name="grid-127"/>
          <p:cNvSpPr/>
          <p:nvPr/>
        </p:nvSpPr>
        <p:spPr>
          <a:xfrm>
            <a:off x="9228493" y="1325880"/>
            <a:ext cx="0" cy="4608576"/>
          </a:xfrm>
          <a:prstGeom prst="line">
            <a:avLst/>
          </a:prstGeom>
          <a:noFill/>
          <a:ln w="12700">
            <a:solidFill>
              <a:srgbClr val="9A918B"/>
            </a:solidFill>
            <a:prstDash val="solid"/>
          </a:ln>
        </p:spPr>
      </p:sp>
      <p:sp>
        <p:nvSpPr>
          <p:cNvPr id="28" name="grid-128"/>
          <p:cNvSpPr/>
          <p:nvPr/>
        </p:nvSpPr>
        <p:spPr>
          <a:xfrm>
            <a:off x="10007384" y="1325880"/>
            <a:ext cx="0" cy="4608576"/>
          </a:xfrm>
          <a:prstGeom prst="line">
            <a:avLst/>
          </a:prstGeom>
          <a:noFill/>
          <a:ln w="6350">
            <a:solidFill>
              <a:srgbClr val="E3DCD6"/>
            </a:solidFill>
            <a:prstDash val="dash"/>
          </a:ln>
        </p:spPr>
      </p:sp>
      <p:sp>
        <p:nvSpPr>
          <p:cNvPr id="29" name="grid-129"/>
          <p:cNvSpPr/>
          <p:nvPr/>
        </p:nvSpPr>
        <p:spPr>
          <a:xfrm>
            <a:off x="10786275" y="1325880"/>
            <a:ext cx="0" cy="4608576"/>
          </a:xfrm>
          <a:prstGeom prst="line">
            <a:avLst/>
          </a:prstGeom>
          <a:noFill/>
          <a:ln w="6350">
            <a:solidFill>
              <a:srgbClr val="E3DCD6"/>
            </a:solidFill>
            <a:prstDash val="dash"/>
          </a:ln>
        </p:spPr>
      </p:sp>
      <p:sp>
        <p:nvSpPr>
          <p:cNvPr id="30" name="grid-130"/>
          <p:cNvSpPr/>
          <p:nvPr/>
        </p:nvSpPr>
        <p:spPr>
          <a:xfrm>
            <a:off x="11643055" y="1325880"/>
            <a:ext cx="0" cy="4608576"/>
          </a:xfrm>
          <a:prstGeom prst="line">
            <a:avLst/>
          </a:prstGeom>
          <a:noFill/>
          <a:ln w="12700">
            <a:solidFill>
              <a:srgbClr val="9A918B"/>
            </a:solidFill>
            <a:prstDash val="solid"/>
          </a:ln>
        </p:spPr>
      </p:sp>
      <p:sp>
        <p:nvSpPr>
          <p:cNvPr id="31" name="t-131"/>
          <p:cNvSpPr txBox="1"/>
          <p:nvPr/>
        </p:nvSpPr>
        <p:spPr>
          <a:xfrm>
            <a:off x="3977640" y="1325880"/>
            <a:ext cx="1965960" cy="658368"/>
          </a:xfrm>
          <a:prstGeom prst="rect">
            <a:avLst/>
          </a:prstGeom>
          <a:noFill/>
          <a:ln/>
        </p:spPr>
        <p:txBody>
          <a:bodyPr wrap="square" lIns="0" tIns="0" rIns="0" bIns="0" rtlCol="0" anchor="ctr"/>
          <a:lstStyle/>
          <a:p>
            <a:pPr indent="0" marL="0">
              <a:buNone/>
            </a:pPr>
            <a:r>
              <a:rPr lang="en-US" sz="1400" b="1" dirty="0">
                <a:solidFill>
                  <a:schemeClr val="tx1"/>
                </a:solidFill>
              </a:rPr>
              <a:t>ビールセット</a:t>
            </a:r>
            <a:endParaRPr lang="en-US" sz="1400" dirty="0"/>
          </a:p>
          <a:p>
            <a:pPr indent="0" marL="0">
              <a:buNone/>
            </a:pPr>
            <a:r>
              <a:rPr lang="en-US" sz="1000" dirty="0">
                <a:solidFill>
                  <a:schemeClr val="tx2"/>
                </a:solidFill>
              </a:rPr>
              <a:t>10月下旬〜11月初旬予定</a:t>
            </a:r>
            <a:endParaRPr lang="en-US" sz="1400" dirty="0"/>
          </a:p>
        </p:txBody>
      </p:sp>
      <p:sp>
        <p:nvSpPr>
          <p:cNvPr id="32" name="bar-132"/>
          <p:cNvSpPr/>
          <p:nvPr/>
        </p:nvSpPr>
        <p:spPr>
          <a:xfrm>
            <a:off x="6035040" y="1508760"/>
            <a:ext cx="1168337" cy="292608"/>
          </a:xfrm>
          <a:prstGeom prst="rect">
            <a:avLst/>
          </a:prstGeom>
          <a:solidFill>
            <a:schemeClr val="bg1"/>
          </a:solidFill>
          <a:ln w="15875">
            <a:solidFill>
              <a:schemeClr val="accent1"/>
            </a:solidFill>
            <a:prstDash val="dash"/>
          </a:ln>
        </p:spPr>
      </p:sp>
      <p:sp>
        <p:nvSpPr>
          <p:cNvPr id="33" name="t-133"/>
          <p:cNvSpPr txBox="1"/>
          <p:nvPr/>
        </p:nvSpPr>
        <p:spPr>
          <a:xfrm>
            <a:off x="3977640" y="1984248"/>
            <a:ext cx="1965960" cy="658368"/>
          </a:xfrm>
          <a:prstGeom prst="rect">
            <a:avLst/>
          </a:prstGeom>
          <a:noFill/>
          <a:ln/>
        </p:spPr>
        <p:txBody>
          <a:bodyPr wrap="square" lIns="0" tIns="0" rIns="0" bIns="0" rtlCol="0" anchor="ctr"/>
          <a:lstStyle/>
          <a:p>
            <a:pPr indent="0" marL="0">
              <a:buNone/>
            </a:pPr>
            <a:r>
              <a:rPr lang="en-US" sz="1400" b="1" dirty="0">
                <a:solidFill>
                  <a:schemeClr val="tx1"/>
                </a:solidFill>
              </a:rPr>
              <a:t>角煮カレー販促強化</a:t>
            </a:r>
            <a:endParaRPr lang="en-US" sz="1400" dirty="0"/>
          </a:p>
          <a:p>
            <a:pPr indent="0" marL="0">
              <a:buNone/>
            </a:pPr>
            <a:r>
              <a:rPr lang="en-US" sz="1000" dirty="0">
                <a:solidFill>
                  <a:schemeClr val="tx2"/>
                </a:solidFill>
              </a:rPr>
              <a:t>11月上旬〜</a:t>
            </a:r>
            <a:endParaRPr lang="en-US" sz="1400" dirty="0"/>
          </a:p>
        </p:txBody>
      </p:sp>
      <p:sp>
        <p:nvSpPr>
          <p:cNvPr id="34" name="bar-134"/>
          <p:cNvSpPr/>
          <p:nvPr/>
        </p:nvSpPr>
        <p:spPr>
          <a:xfrm>
            <a:off x="6891820" y="2167128"/>
            <a:ext cx="4751235" cy="292608"/>
          </a:xfrm>
          <a:prstGeom prst="rect">
            <a:avLst/>
          </a:prstGeom>
          <a:solidFill>
            <a:schemeClr val="accent1"/>
          </a:solidFill>
          <a:ln w="6350">
            <a:solidFill>
              <a:schemeClr val="accent1"/>
            </a:solidFill>
            <a:prstDash val="solid"/>
          </a:ln>
        </p:spPr>
      </p:sp>
      <p:sp>
        <p:nvSpPr>
          <p:cNvPr id="35" name="t-135"/>
          <p:cNvSpPr txBox="1"/>
          <p:nvPr/>
        </p:nvSpPr>
        <p:spPr>
          <a:xfrm>
            <a:off x="10820095" y="2167128"/>
            <a:ext cx="749808" cy="292608"/>
          </a:xfrm>
          <a:prstGeom prst="rect">
            <a:avLst/>
          </a:prstGeom>
          <a:noFill/>
          <a:ln/>
        </p:spPr>
        <p:txBody>
          <a:bodyPr wrap="square" lIns="0" tIns="0" rIns="0" bIns="0" rtlCol="0" anchor="ctr"/>
          <a:lstStyle/>
          <a:p>
            <a:pPr algn="r" indent="0" marL="0">
              <a:buNone/>
            </a:pPr>
            <a:r>
              <a:rPr lang="en-US" sz="900" b="1" dirty="0">
                <a:solidFill>
                  <a:schemeClr val="bg1"/>
                </a:solidFill>
              </a:rPr>
              <a:t>継続 →</a:t>
            </a:r>
            <a:endParaRPr lang="en-US" sz="900" dirty="0"/>
          </a:p>
        </p:txBody>
      </p:sp>
      <p:sp>
        <p:nvSpPr>
          <p:cNvPr id="36" name="t-136"/>
          <p:cNvSpPr txBox="1"/>
          <p:nvPr/>
        </p:nvSpPr>
        <p:spPr>
          <a:xfrm>
            <a:off x="3977640" y="2642616"/>
            <a:ext cx="1965960" cy="658368"/>
          </a:xfrm>
          <a:prstGeom prst="rect">
            <a:avLst/>
          </a:prstGeom>
          <a:noFill/>
          <a:ln/>
        </p:spPr>
        <p:txBody>
          <a:bodyPr wrap="square" lIns="0" tIns="0" rIns="0" bIns="0" rtlCol="0" anchor="ctr"/>
          <a:lstStyle/>
          <a:p>
            <a:pPr indent="0" marL="0">
              <a:buNone/>
            </a:pPr>
            <a:r>
              <a:rPr lang="en-US" sz="1400" b="1" dirty="0">
                <a:solidFill>
                  <a:schemeClr val="tx1"/>
                </a:solidFill>
              </a:rPr>
              <a:t>麺やこころ</a:t>
            </a:r>
            <a:endParaRPr lang="en-US" sz="1400" dirty="0"/>
          </a:p>
          <a:p>
            <a:pPr indent="0" marL="0">
              <a:buNone/>
            </a:pPr>
            <a:r>
              <a:rPr lang="en-US" sz="1000" dirty="0">
                <a:solidFill>
                  <a:schemeClr val="tx2"/>
                </a:solidFill>
              </a:rPr>
              <a:t>11/5〜</a:t>
            </a:r>
            <a:endParaRPr lang="en-US" sz="1400" dirty="0"/>
          </a:p>
        </p:txBody>
      </p:sp>
      <p:sp>
        <p:nvSpPr>
          <p:cNvPr id="37" name="bar-137"/>
          <p:cNvSpPr/>
          <p:nvPr/>
        </p:nvSpPr>
        <p:spPr>
          <a:xfrm>
            <a:off x="7203377" y="2825496"/>
            <a:ext cx="4439679" cy="292608"/>
          </a:xfrm>
          <a:prstGeom prst="rect">
            <a:avLst/>
          </a:prstGeom>
          <a:solidFill>
            <a:schemeClr val="accent1"/>
          </a:solidFill>
          <a:ln w="6350">
            <a:solidFill>
              <a:schemeClr val="accent1"/>
            </a:solidFill>
            <a:prstDash val="solid"/>
          </a:ln>
        </p:spPr>
      </p:sp>
      <p:sp>
        <p:nvSpPr>
          <p:cNvPr id="38" name="t-138"/>
          <p:cNvSpPr txBox="1"/>
          <p:nvPr/>
        </p:nvSpPr>
        <p:spPr>
          <a:xfrm>
            <a:off x="10820095" y="2825496"/>
            <a:ext cx="749808" cy="292608"/>
          </a:xfrm>
          <a:prstGeom prst="rect">
            <a:avLst/>
          </a:prstGeom>
          <a:noFill/>
          <a:ln/>
        </p:spPr>
        <p:txBody>
          <a:bodyPr wrap="square" lIns="0" tIns="0" rIns="0" bIns="0" rtlCol="0" anchor="ctr"/>
          <a:lstStyle/>
          <a:p>
            <a:pPr algn="r" indent="0" marL="0">
              <a:buNone/>
            </a:pPr>
            <a:r>
              <a:rPr lang="en-US" sz="900" b="1" dirty="0">
                <a:solidFill>
                  <a:schemeClr val="bg1"/>
                </a:solidFill>
              </a:rPr>
              <a:t>継続 →</a:t>
            </a:r>
            <a:endParaRPr lang="en-US" sz="900" dirty="0"/>
          </a:p>
        </p:txBody>
      </p:sp>
      <p:sp>
        <p:nvSpPr>
          <p:cNvPr id="39" name="t-139"/>
          <p:cNvSpPr txBox="1"/>
          <p:nvPr/>
        </p:nvSpPr>
        <p:spPr>
          <a:xfrm>
            <a:off x="3977640" y="3300984"/>
            <a:ext cx="1965960" cy="658368"/>
          </a:xfrm>
          <a:prstGeom prst="rect">
            <a:avLst/>
          </a:prstGeom>
          <a:noFill/>
          <a:ln/>
        </p:spPr>
        <p:txBody>
          <a:bodyPr wrap="square" lIns="0" tIns="0" rIns="0" bIns="0" rtlCol="0" anchor="ctr"/>
          <a:lstStyle/>
          <a:p>
            <a:pPr indent="0" marL="0">
              <a:buNone/>
            </a:pPr>
            <a:r>
              <a:rPr lang="en-US" sz="1400" b="1" dirty="0">
                <a:solidFill>
                  <a:schemeClr val="tx1"/>
                </a:solidFill>
              </a:rPr>
              <a:t>にじさんじ</a:t>
            </a:r>
            <a:endParaRPr lang="en-US" sz="1400" dirty="0"/>
          </a:p>
          <a:p>
            <a:pPr indent="0" marL="0">
              <a:buNone/>
            </a:pPr>
            <a:r>
              <a:rPr lang="en-US" sz="1000" dirty="0">
                <a:solidFill>
                  <a:schemeClr val="tx2"/>
                </a:solidFill>
              </a:rPr>
              <a:t>11/12〜12/8</a:t>
            </a:r>
            <a:endParaRPr lang="en-US" sz="1400" dirty="0"/>
          </a:p>
        </p:txBody>
      </p:sp>
      <p:sp>
        <p:nvSpPr>
          <p:cNvPr id="40" name="bar-140"/>
          <p:cNvSpPr/>
          <p:nvPr/>
        </p:nvSpPr>
        <p:spPr>
          <a:xfrm>
            <a:off x="7748600" y="3483864"/>
            <a:ext cx="2103006" cy="292608"/>
          </a:xfrm>
          <a:prstGeom prst="rect">
            <a:avLst/>
          </a:prstGeom>
          <a:solidFill>
            <a:schemeClr val="accent1"/>
          </a:solidFill>
          <a:ln w="6350">
            <a:solidFill>
              <a:schemeClr val="accent1"/>
            </a:solidFill>
            <a:prstDash val="solid"/>
          </a:ln>
        </p:spPr>
      </p:sp>
      <p:sp>
        <p:nvSpPr>
          <p:cNvPr id="41" name="t-141"/>
          <p:cNvSpPr txBox="1"/>
          <p:nvPr/>
        </p:nvSpPr>
        <p:spPr>
          <a:xfrm>
            <a:off x="7748600" y="3483864"/>
            <a:ext cx="2103006" cy="292608"/>
          </a:xfrm>
          <a:prstGeom prst="rect">
            <a:avLst/>
          </a:prstGeom>
          <a:noFill/>
          <a:ln/>
        </p:spPr>
        <p:txBody>
          <a:bodyPr wrap="square" lIns="0" tIns="0" rIns="0" bIns="0" rtlCol="0" anchor="ctr"/>
          <a:lstStyle/>
          <a:p>
            <a:pPr algn="ctr" indent="0" marL="0">
              <a:buNone/>
            </a:pPr>
            <a:r>
              <a:rPr lang="en-US" sz="1000" b="1" dirty="0">
                <a:solidFill>
                  <a:schemeClr val="bg1"/>
                </a:solidFill>
              </a:rPr>
              <a:t>11/12〜12/8</a:t>
            </a:r>
            <a:endParaRPr lang="en-US" sz="1000" dirty="0"/>
          </a:p>
        </p:txBody>
      </p:sp>
      <p:sp>
        <p:nvSpPr>
          <p:cNvPr id="42" name="t-142"/>
          <p:cNvSpPr txBox="1"/>
          <p:nvPr/>
        </p:nvSpPr>
        <p:spPr>
          <a:xfrm>
            <a:off x="3977640" y="3959352"/>
            <a:ext cx="1965960" cy="658368"/>
          </a:xfrm>
          <a:prstGeom prst="rect">
            <a:avLst/>
          </a:prstGeom>
          <a:noFill/>
          <a:ln/>
        </p:spPr>
        <p:txBody>
          <a:bodyPr wrap="square" lIns="0" tIns="0" rIns="0" bIns="0" rtlCol="0" anchor="ctr"/>
          <a:lstStyle/>
          <a:p>
            <a:pPr indent="0" marL="0">
              <a:buNone/>
            </a:pPr>
            <a:r>
              <a:rPr lang="en-US" sz="1400" b="1" dirty="0">
                <a:solidFill>
                  <a:schemeClr val="tx1"/>
                </a:solidFill>
              </a:rPr>
              <a:t>冬差込</a:t>
            </a:r>
            <a:endParaRPr lang="en-US" sz="1400" dirty="0"/>
          </a:p>
          <a:p>
            <a:pPr indent="0" marL="0">
              <a:buNone/>
            </a:pPr>
            <a:r>
              <a:rPr lang="en-US" sz="1000" dirty="0">
                <a:solidFill>
                  <a:schemeClr val="tx2"/>
                </a:solidFill>
              </a:rPr>
              <a:t>11月中旬〜</a:t>
            </a:r>
            <a:endParaRPr lang="en-US" sz="1400" dirty="0"/>
          </a:p>
        </p:txBody>
      </p:sp>
      <p:sp>
        <p:nvSpPr>
          <p:cNvPr id="43" name="bar-143"/>
          <p:cNvSpPr/>
          <p:nvPr/>
        </p:nvSpPr>
        <p:spPr>
          <a:xfrm>
            <a:off x="7670711" y="4142232"/>
            <a:ext cx="3972344" cy="292608"/>
          </a:xfrm>
          <a:prstGeom prst="rect">
            <a:avLst/>
          </a:prstGeom>
          <a:solidFill>
            <a:schemeClr val="accent1"/>
          </a:solidFill>
          <a:ln w="6350">
            <a:solidFill>
              <a:schemeClr val="accent1"/>
            </a:solidFill>
            <a:prstDash val="solid"/>
          </a:ln>
        </p:spPr>
      </p:sp>
      <p:sp>
        <p:nvSpPr>
          <p:cNvPr id="44" name="t-144"/>
          <p:cNvSpPr txBox="1"/>
          <p:nvPr/>
        </p:nvSpPr>
        <p:spPr>
          <a:xfrm>
            <a:off x="10820095" y="4142232"/>
            <a:ext cx="749808" cy="292608"/>
          </a:xfrm>
          <a:prstGeom prst="rect">
            <a:avLst/>
          </a:prstGeom>
          <a:noFill/>
          <a:ln/>
        </p:spPr>
        <p:txBody>
          <a:bodyPr wrap="square" lIns="0" tIns="0" rIns="0" bIns="0" rtlCol="0" anchor="ctr"/>
          <a:lstStyle/>
          <a:p>
            <a:pPr algn="r" indent="0" marL="0">
              <a:buNone/>
            </a:pPr>
            <a:r>
              <a:rPr lang="en-US" sz="900" b="1" dirty="0">
                <a:solidFill>
                  <a:schemeClr val="bg1"/>
                </a:solidFill>
              </a:rPr>
              <a:t>継続 →</a:t>
            </a:r>
            <a:endParaRPr lang="en-US" sz="900" dirty="0"/>
          </a:p>
        </p:txBody>
      </p:sp>
      <p:sp>
        <p:nvSpPr>
          <p:cNvPr id="45" name="t-145"/>
          <p:cNvSpPr txBox="1"/>
          <p:nvPr/>
        </p:nvSpPr>
        <p:spPr>
          <a:xfrm>
            <a:off x="3977640" y="4617720"/>
            <a:ext cx="1965960" cy="658368"/>
          </a:xfrm>
          <a:prstGeom prst="rect">
            <a:avLst/>
          </a:prstGeom>
          <a:noFill/>
          <a:ln/>
        </p:spPr>
        <p:txBody>
          <a:bodyPr wrap="square" lIns="0" tIns="0" rIns="0" bIns="0" rtlCol="0" anchor="ctr"/>
          <a:lstStyle/>
          <a:p>
            <a:pPr indent="0" marL="0">
              <a:buNone/>
            </a:pPr>
            <a:r>
              <a:rPr lang="en-US" sz="1400" b="1" dirty="0">
                <a:solidFill>
                  <a:schemeClr val="tx1"/>
                </a:solidFill>
              </a:rPr>
              <a:t>健康促進</a:t>
            </a:r>
            <a:endParaRPr lang="en-US" sz="1400" dirty="0"/>
          </a:p>
          <a:p>
            <a:pPr indent="0" marL="0">
              <a:buNone/>
            </a:pPr>
            <a:r>
              <a:rPr lang="en-US" sz="1000" dirty="0">
                <a:solidFill>
                  <a:schemeClr val="tx2"/>
                </a:solidFill>
              </a:rPr>
              <a:t>11月下旬予定</a:t>
            </a:r>
            <a:endParaRPr lang="en-US" sz="1400" dirty="0"/>
          </a:p>
        </p:txBody>
      </p:sp>
      <p:sp>
        <p:nvSpPr>
          <p:cNvPr id="46" name="bar-146"/>
          <p:cNvSpPr/>
          <p:nvPr/>
        </p:nvSpPr>
        <p:spPr>
          <a:xfrm>
            <a:off x="8449602" y="4800600"/>
            <a:ext cx="778891" cy="292608"/>
          </a:xfrm>
          <a:prstGeom prst="rect">
            <a:avLst/>
          </a:prstGeom>
          <a:solidFill>
            <a:schemeClr val="bg1"/>
          </a:solidFill>
          <a:ln w="15875">
            <a:solidFill>
              <a:schemeClr val="accent1"/>
            </a:solidFill>
            <a:prstDash val="dash"/>
          </a:ln>
        </p:spPr>
      </p:sp>
      <p:sp>
        <p:nvSpPr>
          <p:cNvPr id="47" name="t-147"/>
          <p:cNvSpPr txBox="1"/>
          <p:nvPr/>
        </p:nvSpPr>
        <p:spPr>
          <a:xfrm>
            <a:off x="3977640" y="5276088"/>
            <a:ext cx="1965960" cy="658368"/>
          </a:xfrm>
          <a:prstGeom prst="rect">
            <a:avLst/>
          </a:prstGeom>
          <a:noFill/>
          <a:ln/>
        </p:spPr>
        <p:txBody>
          <a:bodyPr wrap="square" lIns="0" tIns="0" rIns="0" bIns="0" rtlCol="0" anchor="ctr"/>
          <a:lstStyle/>
          <a:p>
            <a:pPr indent="0" marL="0">
              <a:buNone/>
            </a:pPr>
            <a:r>
              <a:rPr lang="en-US" sz="1400" b="1" dirty="0">
                <a:solidFill>
                  <a:schemeClr val="tx1"/>
                </a:solidFill>
              </a:rPr>
              <a:t>GM価格改定</a:t>
            </a:r>
            <a:endParaRPr lang="en-US" sz="1400" dirty="0"/>
          </a:p>
          <a:p>
            <a:pPr indent="0" marL="0">
              <a:buNone/>
            </a:pPr>
            <a:r>
              <a:rPr lang="en-US" sz="1000" dirty="0">
                <a:solidFill>
                  <a:schemeClr val="tx2"/>
                </a:solidFill>
              </a:rPr>
              <a:t>12月中旬〜</a:t>
            </a:r>
            <a:endParaRPr lang="en-US" sz="1400" dirty="0"/>
          </a:p>
        </p:txBody>
      </p:sp>
      <p:sp>
        <p:nvSpPr>
          <p:cNvPr id="48" name="bar-148"/>
          <p:cNvSpPr/>
          <p:nvPr/>
        </p:nvSpPr>
        <p:spPr>
          <a:xfrm>
            <a:off x="10007384" y="5458968"/>
            <a:ext cx="1635671" cy="292608"/>
          </a:xfrm>
          <a:prstGeom prst="rect">
            <a:avLst/>
          </a:prstGeom>
          <a:solidFill>
            <a:schemeClr val="accent1"/>
          </a:solidFill>
          <a:ln w="6350">
            <a:solidFill>
              <a:schemeClr val="accent1"/>
            </a:solidFill>
            <a:prstDash val="solid"/>
          </a:ln>
        </p:spPr>
      </p:sp>
      <p:sp>
        <p:nvSpPr>
          <p:cNvPr id="49" name="t-149"/>
          <p:cNvSpPr txBox="1"/>
          <p:nvPr/>
        </p:nvSpPr>
        <p:spPr>
          <a:xfrm>
            <a:off x="10820095" y="5458968"/>
            <a:ext cx="749808" cy="292608"/>
          </a:xfrm>
          <a:prstGeom prst="rect">
            <a:avLst/>
          </a:prstGeom>
          <a:noFill/>
          <a:ln/>
        </p:spPr>
        <p:txBody>
          <a:bodyPr wrap="square" lIns="0" tIns="0" rIns="0" bIns="0" rtlCol="0" anchor="ctr"/>
          <a:lstStyle/>
          <a:p>
            <a:pPr algn="r" indent="0" marL="0">
              <a:buNone/>
            </a:pPr>
            <a:r>
              <a:rPr lang="en-US" sz="900" b="1" dirty="0">
                <a:solidFill>
                  <a:schemeClr val="bg1"/>
                </a:solidFill>
              </a:rPr>
              <a:t>継続 →</a:t>
            </a:r>
            <a:endParaRPr lang="en-US" sz="900" dirty="0"/>
          </a:p>
        </p:txBody>
      </p:sp>
      <p:sp>
        <p:nvSpPr>
          <p:cNvPr id="50" name="lg-fixed"/>
          <p:cNvSpPr/>
          <p:nvPr/>
        </p:nvSpPr>
        <p:spPr>
          <a:xfrm>
            <a:off x="3794760" y="6181344"/>
            <a:ext cx="411480" cy="182880"/>
          </a:xfrm>
          <a:prstGeom prst="rect">
            <a:avLst/>
          </a:prstGeom>
          <a:solidFill>
            <a:schemeClr val="accent1"/>
          </a:solidFill>
          <a:ln w="12700">
            <a:solidFill>
              <a:schemeClr val="accent1"/>
            </a:solidFill>
            <a:prstDash val="solid"/>
          </a:ln>
        </p:spPr>
      </p:sp>
      <p:sp>
        <p:nvSpPr>
          <p:cNvPr id="51" name="t-150"/>
          <p:cNvSpPr txBox="1"/>
          <p:nvPr/>
        </p:nvSpPr>
        <p:spPr>
          <a:xfrm>
            <a:off x="4297680" y="6117336"/>
            <a:ext cx="1097280" cy="310896"/>
          </a:xfrm>
          <a:prstGeom prst="rect">
            <a:avLst/>
          </a:prstGeom>
          <a:noFill/>
          <a:ln/>
        </p:spPr>
        <p:txBody>
          <a:bodyPr wrap="square" lIns="0" tIns="0" rIns="0" bIns="0" rtlCol="0" anchor="ctr"/>
          <a:lstStyle/>
          <a:p>
            <a:pPr indent="0" marL="0">
              <a:buNone/>
            </a:pPr>
            <a:r>
              <a:rPr lang="en-US" sz="1000" dirty="0">
                <a:solidFill>
                  <a:schemeClr val="tx2"/>
                </a:solidFill>
              </a:rPr>
              <a:t>日程確定</a:t>
            </a:r>
            <a:endParaRPr lang="en-US" sz="1000" dirty="0"/>
          </a:p>
        </p:txBody>
      </p:sp>
      <p:sp>
        <p:nvSpPr>
          <p:cNvPr id="52" name="lg-plan"/>
          <p:cNvSpPr/>
          <p:nvPr/>
        </p:nvSpPr>
        <p:spPr>
          <a:xfrm>
            <a:off x="5394960" y="6181344"/>
            <a:ext cx="411480" cy="182880"/>
          </a:xfrm>
          <a:prstGeom prst="rect">
            <a:avLst/>
          </a:prstGeom>
          <a:solidFill>
            <a:schemeClr val="bg1"/>
          </a:solidFill>
          <a:ln w="15875">
            <a:solidFill>
              <a:schemeClr val="accent1"/>
            </a:solidFill>
            <a:prstDash val="dash"/>
          </a:ln>
        </p:spPr>
      </p:sp>
      <p:sp>
        <p:nvSpPr>
          <p:cNvPr id="53" name="t-151"/>
          <p:cNvSpPr txBox="1"/>
          <p:nvPr/>
        </p:nvSpPr>
        <p:spPr>
          <a:xfrm>
            <a:off x="5897880" y="6117336"/>
            <a:ext cx="1828800" cy="310896"/>
          </a:xfrm>
          <a:prstGeom prst="rect">
            <a:avLst/>
          </a:prstGeom>
          <a:noFill/>
          <a:ln/>
        </p:spPr>
        <p:txBody>
          <a:bodyPr wrap="square" lIns="0" tIns="0" rIns="0" bIns="0" rtlCol="0" anchor="ctr"/>
          <a:lstStyle/>
          <a:p>
            <a:pPr indent="0" marL="0">
              <a:buNone/>
            </a:pPr>
            <a:r>
              <a:rPr lang="en-US" sz="1000" dirty="0">
                <a:solidFill>
                  <a:schemeClr val="tx2"/>
                </a:solidFill>
              </a:rPr>
              <a:t>予定（時期は目安）</a:t>
            </a:r>
            <a:endParaRPr lang="en-US" sz="1000" dirty="0"/>
          </a:p>
        </p:txBody>
      </p:sp>
      <p:sp>
        <p:nvSpPr>
          <p:cNvPr id="54" name="t-152"/>
          <p:cNvSpPr txBox="1"/>
          <p:nvPr/>
        </p:nvSpPr>
        <p:spPr>
          <a:xfrm>
            <a:off x="7726680" y="6117336"/>
            <a:ext cx="2743200" cy="310896"/>
          </a:xfrm>
          <a:prstGeom prst="rect">
            <a:avLst/>
          </a:prstGeom>
          <a:noFill/>
          <a:ln/>
        </p:spPr>
        <p:txBody>
          <a:bodyPr wrap="square" lIns="0" tIns="0" rIns="0" bIns="0" rtlCol="0" anchor="ctr"/>
          <a:lstStyle/>
          <a:p>
            <a:pPr indent="0" marL="0">
              <a:buNone/>
            </a:pPr>
            <a:r>
              <a:rPr lang="en-US" sz="1000" dirty="0">
                <a:solidFill>
                  <a:schemeClr val="tx2"/>
                </a:solidFill>
              </a:rPr>
              <a:t>「継続 →」は終了日未定</a:t>
            </a:r>
            <a:endParaRPr lang="en-US" sz="10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Kanda Terracotta">
  <a:themeElements>
    <a:clrScheme name="Kanda Terracotta">
      <a:dk1>
        <a:srgbClr val="3A3A3A"/>
      </a:dk1>
      <a:lt1>
        <a:srgbClr val="FFFFFF"/>
      </a:lt1>
      <a:dk2>
        <a:srgbClr val="6B6460"/>
      </a:dk2>
      <a:lt2>
        <a:srgbClr val="F6F2EF"/>
      </a:lt2>
      <a:accent1>
        <a:srgbClr val="B5532F"/>
      </a:accent1>
      <a:accent2>
        <a:srgbClr val="C9BFB8"/>
      </a:accent2>
      <a:accent3>
        <a:srgbClr val="2F6B4F"/>
      </a:accent3>
      <a:accent4>
        <a:srgbClr val="FBEDE6"/>
      </a:accent4>
      <a:accent5>
        <a:srgbClr val="9A918B"/>
      </a:accent5>
      <a:accent6>
        <a:srgbClr val="E3DCD6"/>
      </a:accent6>
      <a:hlink>
        <a:srgbClr val="B5532F"/>
      </a:hlink>
      <a:folHlink>
        <a:srgbClr val="6B6460"/>
      </a:folHlink>
    </a:clrScheme>
    <a:fontScheme name="Kanda Terracotta">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RAKUSPA1010神田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2026年9月 現場状況報告</dc:title>
  <dc:subject>PptxGenJS Presentation</dc:subject>
  <dc:creator>RAKUSPA1010神田 飲食部門</dc:creator>
  <cp:lastModifiedBy>RAKUSPA1010神田 飲食部門</cp:lastModifiedBy>
  <cp:revision>1</cp:revision>
  <dcterms:created xsi:type="dcterms:W3CDTF">2026-10-17T04:20:49Z</dcterms:created>
  <dcterms:modified xsi:type="dcterms:W3CDTF">2026-10-17T04:20:49Z</dcterms:modified>
</cp:coreProperties>
</file>