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8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98fdd5bf-ad07-ed1b-b0e1-4ab6a8e57e45}">
          <p14:sldIdLst>
            <p14:sldId id="256"/>
          </p14:sldIdLst>
        </p14:section>
        <p14:section name="売上概況" id="{81baaf6e-c8c4-238e-bf1a-5a2b3193ca56}">
          <p14:sldIdLst>
            <p14:sldId id="257"/>
            <p14:sldId id="258"/>
            <p14:sldId id="259"/>
            <p14:sldId id="260"/>
            <p14:sldId id="261"/>
          </p14:sldIdLst>
        </p14:section>
        <p14:section name="TOP5前年比較" id="{ff2ea9b2-368f-5f4b-6bef-3ebf7d9f56c3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振り返りと次月施策" id="{68c234f3-f598-9c27-068c-548eab5bf9fc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コラボ抜き売上</c:v>
                </c:pt>
              </c:strCache>
            </c:strRef>
          </c:tx>
          <c:spPr>
            <a:solidFill>
              <a:srgbClr val="2F5D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2026年9月</c:v>
                  </c:pt>
                  <c:pt idx="1">
                    <c:v>2025年9月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4899</c:v>
                </c:pt>
                <c:pt idx="1">
                  <c:v>5031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コラボ売上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2026年9月</c:v>
                  </c:pt>
                  <c:pt idx="1">
                    <c:v>2025年9月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3720</c:v>
                </c:pt>
                <c:pt idx="1">
                  <c:v>5411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麺類</c:v>
                  </c:pt>
                  <c:pt idx="1">
                    <c:v>デザート類</c:v>
                  </c:pt>
                  <c:pt idx="2">
                    <c:v>一品料理</c:v>
                  </c:pt>
                  <c:pt idx="3">
                    <c:v>ソフトドリンク</c:v>
                  </c:pt>
                  <c:pt idx="4">
                    <c:v>ご飯類</c:v>
                  </c:pt>
                  <c:pt idx="5">
                    <c:v>アルコール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710.9</c:v>
                </c:pt>
                <c:pt idx="1">
                  <c:v>163.8</c:v>
                </c:pt>
                <c:pt idx="2">
                  <c:v>738.6</c:v>
                </c:pt>
                <c:pt idx="3">
                  <c:v>513.6</c:v>
                </c:pt>
                <c:pt idx="4">
                  <c:v>1935</c:v>
                </c:pt>
                <c:pt idx="5">
                  <c:v>897.8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2F5D5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麺類</c:v>
                  </c:pt>
                  <c:pt idx="1">
                    <c:v>デザート類</c:v>
                  </c:pt>
                  <c:pt idx="2">
                    <c:v>一品料理</c:v>
                  </c:pt>
                  <c:pt idx="3">
                    <c:v>ソフトドリンク</c:v>
                  </c:pt>
                  <c:pt idx="4">
                    <c:v>ご飯類</c:v>
                  </c:pt>
                  <c:pt idx="5">
                    <c:v>アルコール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900.9</c:v>
                </c:pt>
                <c:pt idx="1">
                  <c:v>209.4</c:v>
                </c:pt>
                <c:pt idx="2">
                  <c:v>788.5</c:v>
                </c:pt>
                <c:pt idx="3">
                  <c:v>526.9</c:v>
                </c:pt>
                <c:pt idx="4">
                  <c:v>1730.8</c:v>
                </c:pt>
                <c:pt idx="5">
                  <c:v>742.3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59595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8C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マルエフ</c:v>
                  </c:pt>
                  <c:pt idx="1">
                    <c:v>2. パイントグラス</c:v>
                  </c:pt>
                  <c:pt idx="2">
                    <c:v>3. タパス付 1010JUGビール</c:v>
                  </c:pt>
                  <c:pt idx="3">
                    <c:v>4. 熟選</c:v>
                  </c:pt>
                  <c:pt idx="4">
                    <c:v>5. 黒生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108.016</c:v>
                </c:pt>
                <c:pt idx="1">
                  <c:v>162.416</c:v>
                </c:pt>
                <c:pt idx="2">
                  <c:v>0</c:v>
                </c:pt>
                <c:pt idx="3">
                  <c:v>69.934</c:v>
                </c:pt>
                <c:pt idx="4">
                  <c:v>44.291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2F5D50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マルエフ</c:v>
                  </c:pt>
                  <c:pt idx="1">
                    <c:v>2. パイントグラス</c:v>
                  </c:pt>
                  <c:pt idx="2">
                    <c:v>3. タパス付 1010JUGビール</c:v>
                  </c:pt>
                  <c:pt idx="3">
                    <c:v>4. 熟選</c:v>
                  </c:pt>
                  <c:pt idx="4">
                    <c:v>5. 黒生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115.879</c:v>
                </c:pt>
                <c:pt idx="1">
                  <c:v>104.983</c:v>
                </c:pt>
                <c:pt idx="2">
                  <c:v>63.621</c:v>
                </c:pt>
                <c:pt idx="3">
                  <c:v>60.646</c:v>
                </c:pt>
                <c:pt idx="4">
                  <c:v>45.107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800" u="none">
                  <a:solidFill>
                    <a:srgbClr val="59595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リポスパ</c:v>
                  </c:pt>
                  <c:pt idx="1">
                    <c:v>2. リポスパコーラ</c:v>
                  </c:pt>
                  <c:pt idx="2">
                    <c:v>3. メロンソーダフロート</c:v>
                  </c:pt>
                  <c:pt idx="3">
                    <c:v>4. コーラフロート</c:v>
                  </c:pt>
                  <c:pt idx="4">
                    <c:v>5. 黒ウーロン茶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247.893</c:v>
                </c:pt>
                <c:pt idx="1">
                  <c:v>0</c:v>
                </c:pt>
                <c:pt idx="2">
                  <c:v>28.608</c:v>
                </c:pt>
                <c:pt idx="3">
                  <c:v>18.24</c:v>
                </c:pt>
                <c:pt idx="4">
                  <c:v>21.952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2F5D50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リポスパ</c:v>
                  </c:pt>
                  <c:pt idx="1">
                    <c:v>2. リポスパコーラ</c:v>
                  </c:pt>
                  <c:pt idx="2">
                    <c:v>3. メロンソーダフロート</c:v>
                  </c:pt>
                  <c:pt idx="3">
                    <c:v>4. コーラフロート</c:v>
                  </c:pt>
                  <c:pt idx="4">
                    <c:v>5. 黒ウーロン茶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253.367</c:v>
                </c:pt>
                <c:pt idx="1">
                  <c:v>55.054</c:v>
                </c:pt>
                <c:pt idx="2">
                  <c:v>31.68</c:v>
                </c:pt>
                <c:pt idx="3">
                  <c:v>18.24</c:v>
                </c:pt>
                <c:pt idx="4">
                  <c:v>17.88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800" u="none">
                  <a:solidFill>
                    <a:srgbClr val="59595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ソフトクリーム</c:v>
                  </c:pt>
                  <c:pt idx="1">
                    <c:v>2. チョコバナナパフェ</c:v>
                  </c:pt>
                  <c:pt idx="2">
                    <c:v>3. 白玉黒蜜きなこパフェ</c:v>
                  </c:pt>
                  <c:pt idx="3">
                    <c:v>4. 白玉抹茶パフェ</c:v>
                  </c:pt>
                  <c:pt idx="4">
                    <c:v>5. Todaysデザート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14.19</c:v>
                </c:pt>
                <c:pt idx="1">
                  <c:v>31.376</c:v>
                </c:pt>
                <c:pt idx="2">
                  <c:v>26.818</c:v>
                </c:pt>
                <c:pt idx="3">
                  <c:v>23.32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2F5D50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ソフトクリーム</c:v>
                  </c:pt>
                  <c:pt idx="1">
                    <c:v>2. チョコバナナパフェ</c:v>
                  </c:pt>
                  <c:pt idx="2">
                    <c:v>3. 白玉黒蜜きなこパフェ</c:v>
                  </c:pt>
                  <c:pt idx="3">
                    <c:v>4. 白玉抹茶パフェ</c:v>
                  </c:pt>
                  <c:pt idx="4">
                    <c:v>5. Todaysデザート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58.05</c:v>
                </c:pt>
                <c:pt idx="1">
                  <c:v>23.639</c:v>
                </c:pt>
                <c:pt idx="2">
                  <c:v>22.79</c:v>
                </c:pt>
                <c:pt idx="3">
                  <c:v>20.14</c:v>
                </c:pt>
                <c:pt idx="4">
                  <c:v>17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800" u="none">
                  <a:solidFill>
                    <a:srgbClr val="59595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釜玉チーズカレーうどん</c:v>
                  </c:pt>
                  <c:pt idx="1">
                    <c:v>2. 濃厚カルボナーラパスタ</c:v>
                  </c:pt>
                  <c:pt idx="2">
                    <c:v>3. 神田家ラーメン ライスセット</c:v>
                  </c:pt>
                  <c:pt idx="3">
                    <c:v>4. 神田家ラーメン</c:v>
                  </c:pt>
                  <c:pt idx="4">
                    <c:v>5. 肉うどん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195.023</c:v>
                </c:pt>
                <c:pt idx="1">
                  <c:v>89.599</c:v>
                </c:pt>
                <c:pt idx="2">
                  <c:v>0</c:v>
                </c:pt>
                <c:pt idx="3">
                  <c:v>0</c:v>
                </c:pt>
                <c:pt idx="4">
                  <c:v>53.507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2F5D50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釜玉チーズカレーうどん</c:v>
                  </c:pt>
                  <c:pt idx="1">
                    <c:v>2. 濃厚カルボナーラパスタ</c:v>
                  </c:pt>
                  <c:pt idx="2">
                    <c:v>3. 神田家ラーメン ライスセット</c:v>
                  </c:pt>
                  <c:pt idx="3">
                    <c:v>4. 神田家ラーメン</c:v>
                  </c:pt>
                  <c:pt idx="4">
                    <c:v>5. 肉うどん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242.005</c:v>
                </c:pt>
                <c:pt idx="1">
                  <c:v>84.452</c:v>
                </c:pt>
                <c:pt idx="2">
                  <c:v>57.23</c:v>
                </c:pt>
                <c:pt idx="3">
                  <c:v>55.854</c:v>
                </c:pt>
                <c:pt idx="4">
                  <c:v>54.863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800" u="none">
                  <a:solidFill>
                    <a:srgbClr val="59595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近江牛サウナカリー</c:v>
                  </c:pt>
                  <c:pt idx="1">
                    <c:v>2. プレミアムロースカツカレー</c:v>
                  </c:pt>
                  <c:pt idx="2">
                    <c:v>3. 大盛）ロースカツカレー</c:v>
                  </c:pt>
                  <c:pt idx="3">
                    <c:v>4. サーモンアボカドボウルライス</c:v>
                  </c:pt>
                  <c:pt idx="4">
                    <c:v>5. ローストビーフボウルライス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562.673</c:v>
                </c:pt>
                <c:pt idx="1">
                  <c:v>409.313</c:v>
                </c:pt>
                <c:pt idx="2">
                  <c:v>0</c:v>
                </c:pt>
                <c:pt idx="3">
                  <c:v>100.097</c:v>
                </c:pt>
                <c:pt idx="4">
                  <c:v>109.849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2F5D50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近江牛サウナカリー</c:v>
                  </c:pt>
                  <c:pt idx="1">
                    <c:v>2. プレミアムロースカツカレー</c:v>
                  </c:pt>
                  <c:pt idx="2">
                    <c:v>3. 大盛）ロースカツカレー</c:v>
                  </c:pt>
                  <c:pt idx="3">
                    <c:v>4. サーモンアボカドボウルライス</c:v>
                  </c:pt>
                  <c:pt idx="4">
                    <c:v>5. ローストビーフボウルライス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388.628</c:v>
                </c:pt>
                <c:pt idx="1">
                  <c:v>326.974</c:v>
                </c:pt>
                <c:pt idx="2">
                  <c:v>121.766</c:v>
                </c:pt>
                <c:pt idx="3">
                  <c:v>115.178</c:v>
                </c:pt>
                <c:pt idx="4">
                  <c:v>103.484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800" u="none">
                  <a:solidFill>
                    <a:srgbClr val="59595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揚げ物盛り合わせ</c:v>
                  </c:pt>
                  <c:pt idx="1">
                    <c:v>2. 唐揚げ軍団 リポコーラセット</c:v>
                  </c:pt>
                  <c:pt idx="2">
                    <c:v>3. マルゲリータ</c:v>
                  </c:pt>
                  <c:pt idx="3">
                    <c:v>4. ポテトフライ</c:v>
                  </c:pt>
                  <c:pt idx="4">
                    <c:v>5. ピザポテト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99.329</c:v>
                </c:pt>
                <c:pt idx="1">
                  <c:v>0</c:v>
                </c:pt>
                <c:pt idx="2">
                  <c:v>45.822</c:v>
                </c:pt>
                <c:pt idx="3">
                  <c:v>46.368</c:v>
                </c:pt>
                <c:pt idx="4">
                  <c:v>32.86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>
              <a:srgbClr val="2F5D50"/>
            </a:solidFill>
            <a:effectLst/>
          </c:spPr>
          <c:invertIfNegative val="0"/>
          <c:dLbls>
            <c:numFmt formatCode="#,##0;-#,##0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9595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1. 揚げ物盛り合わせ</c:v>
                  </c:pt>
                  <c:pt idx="1">
                    <c:v>2. 唐揚げ軍団 リポコーラセット</c:v>
                  </c:pt>
                  <c:pt idx="2">
                    <c:v>3. マルゲリータ</c:v>
                  </c:pt>
                  <c:pt idx="3">
                    <c:v>4. ポテトフライ</c:v>
                  </c:pt>
                  <c:pt idx="4">
                    <c:v>5. ピザポテト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108.757</c:v>
                </c:pt>
                <c:pt idx="1">
                  <c:v>50.533</c:v>
                </c:pt>
                <c:pt idx="2">
                  <c:v>41.074</c:v>
                </c:pt>
                <c:pt idx="3">
                  <c:v>39.648</c:v>
                </c:pt>
                <c:pt idx="4">
                  <c:v>34.237</c:v>
                </c:pt>
              </c:numCache>
            </c:numRef>
          </c:val>
        </c:ser>
        <c:dLbls>
          <c:numFmt formatCode="#,##0;-#,##0;" sourceLinked="0"/>
          <c:txPr>
            <a:bodyPr/>
            <a:lstStyle/>
            <a:p>
              <a:pPr>
                <a:defRPr b="0" i="0" strike="noStrike" sz="800" u="none">
                  <a:solidFill>
                    <a:srgbClr val="59595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2026年9月の飲食部門の社員会議資料です。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全体売上は82.5%ですが、減少額1,823千円のうち1,691千円はコラボ売上の減少分です。コラボを除くと97.4%、入館者数97.5%とほぼ連動しており、店舗としての売上力は維持できています。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月一番お伝えしたいポイントです。全体売上は82.5%ですが、コラボを抜いた売上は4,899千円、前年比97.4%。入館者数97.5%とほぼ同じで、店舗の売上力は前年並みです。減少額の92.8%はコラボ売上の減少（68.7%）によるもの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コラボ抜きの内訳です。麺類が+190千円と最も伸び、デザートも128%。一方でご飯類が▲204千円、アルコールが▲155千円と落ち込みました。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営業数値の一覧です。飲食売上は予算100.0%ですが、前年比は82.5%。飲食客数・客単価は集計方法の確認が必要なため参考値です。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原価率は42.6%で前年から8ポイント悪化。売上が落ちたのに仕入が下がっていません。人件費はモバイルオーダーのシステム変更対応で人員を厚くした影響で、前年比116.7%となりました。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ここからはカテゴリ別に、今年のTOP5と前年の比較を見ていきます。6カテゴリ中、麺類・デザート・一品・ソフトドリンクの4つが前年超え。ご飯類とアルコールが前年割れです。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アルコールは82.7%。マルエフは107%で首位に浮上。前年1位のパイントグラスは162千円から105千円へ、前年3位のコインメックビール（94千円）は今年は売上なし。新商品のタパス付1010JUGビールが64千円で3位。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ソフトドリンクは102.6%。リポスパは前年並みを維持。新商品リポスパコーラが121杯・55千円でいきなり2位。メロンソーダフロートも111%と好調です。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デザートは127.9%。ソフトクリームが売上4.1倍で首位に。パフェ3品は前年比75〜86%とやや減少しているので、ソフトクリームからパフェへの誘導が次の課題です。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麺類は126.7%。釜玉チーズカレーうどんが247食・124%で首位。神田家ラーメンはライスセットと単品の2品で合計113千円とTOP5に2品ランクイン。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ご飯類は89.4%。看板の近江牛サウナカリーが462食から315食に減り▲174千円。プレミアムロースカツカレーも80%。10月のカレーグランプリ版リニューアルで巻き返します。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一品料理は106.8%。揚げ物盛り合わせが109%で首位キープ。唐揚げ軍団が51千円で2位。ポテトフライ・マルゲリータはやや減少。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良かった点と課題の整理です。コラボを除けば店舗の売上は前年並み。課題はご飯類・アルコールの回復と、コストのコントロールです。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10月はコラボ抜き売上の前年超えを目標にします。ビールLセットと近江牛サウナカリーのリニューアルが2本柱。コスト面は仕入の適正化とシフトコントロールを徹底します。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8229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94760"/>
            <a:ext cx="8229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/>
        </p:nvSpPr>
        <p:spPr>
          <a:xfrm>
            <a:off x="640080" y="647395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RAKUSPA1010神田　飲食部門　2026年9月 社員会議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1"/>
          <p:cNvSpPr txBox="1"/>
          <p:nvPr/>
        </p:nvSpPr>
        <p:spPr>
          <a:xfrm>
            <a:off x="64008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RAKUSPA1010神田　飲食部門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103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2026年9月 社員会議資料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794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飲食売上実績・コラボ抜き売上・カテゴリ別TOP5・コスト・10月の施策</a:t>
            </a:r>
            <a:endParaRPr lang="en-US" sz="1600" dirty="0"/>
          </a:p>
        </p:txBody>
      </p:sp>
      <p:sp>
        <p:nvSpPr>
          <p:cNvPr id="5" name="rule-2"/>
          <p:cNvSpPr/>
          <p:nvPr/>
        </p:nvSpPr>
        <p:spPr>
          <a:xfrm>
            <a:off x="640080" y="5577840"/>
            <a:ext cx="1091153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" name="t-3"/>
          <p:cNvSpPr txBox="1"/>
          <p:nvPr/>
        </p:nvSpPr>
        <p:spPr>
          <a:xfrm>
            <a:off x="640080" y="5715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報告日　2026年10月1日</a:t>
            </a:r>
            <a:endParaRPr lang="en-US" sz="1100" dirty="0"/>
          </a:p>
        </p:txBody>
      </p:sp>
      <p:sp>
        <p:nvSpPr>
          <p:cNvPr id="7" name="t-4"/>
          <p:cNvSpPr txBox="1"/>
          <p:nvPr/>
        </p:nvSpPr>
        <p:spPr>
          <a:xfrm>
            <a:off x="4297680" y="5715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作成　大平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01　サマリー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全体は前年比82.5%。ただしコラボを除くと97.4%と前年並み</a:t>
            </a:r>
            <a:endParaRPr lang="en-US" sz="2400" dirty="0"/>
          </a:p>
        </p:txBody>
      </p:sp>
      <p:sp>
        <p:nvSpPr>
          <p:cNvPr id="4" name="t-5"/>
          <p:cNvSpPr txBox="1"/>
          <p:nvPr/>
        </p:nvSpPr>
        <p:spPr>
          <a:xfrm>
            <a:off x="640080" y="1600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飲食売上（全体）</a:t>
            </a:r>
            <a:endParaRPr lang="en-US" sz="1200" dirty="0"/>
          </a:p>
        </p:txBody>
      </p:sp>
      <p:sp>
        <p:nvSpPr>
          <p:cNvPr id="5" name="t-6"/>
          <p:cNvSpPr txBox="1"/>
          <p:nvPr/>
        </p:nvSpPr>
        <p:spPr>
          <a:xfrm>
            <a:off x="640080" y="1920240"/>
            <a:ext cx="23621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8,619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千円</a:t>
            </a:r>
            <a:endParaRPr lang="en-US" sz="3400" dirty="0"/>
          </a:p>
        </p:txBody>
      </p:sp>
      <p:sp>
        <p:nvSpPr>
          <p:cNvPr id="6" name="t-7"/>
          <p:cNvSpPr txBox="1"/>
          <p:nvPr/>
        </p:nvSpPr>
        <p:spPr>
          <a:xfrm>
            <a:off x="640080" y="2651760"/>
            <a:ext cx="23621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前年比 </a:t>
            </a:r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82.5%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　▲1,823千円</a:t>
            </a:r>
            <a:endParaRPr lang="en-US" sz="1300" dirty="0"/>
          </a:p>
        </p:txBody>
      </p:sp>
      <p:sp>
        <p:nvSpPr>
          <p:cNvPr id="7" name="vrule-8"/>
          <p:cNvSpPr/>
          <p:nvPr/>
        </p:nvSpPr>
        <p:spPr>
          <a:xfrm>
            <a:off x="3367964" y="1600200"/>
            <a:ext cx="0" cy="160020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" name="t-9"/>
          <p:cNvSpPr txBox="1"/>
          <p:nvPr/>
        </p:nvSpPr>
        <p:spPr>
          <a:xfrm>
            <a:off x="3642284" y="1600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コラボ抜き飲食売上</a:t>
            </a:r>
            <a:endParaRPr lang="en-US" sz="1200" dirty="0"/>
          </a:p>
        </p:txBody>
      </p:sp>
      <p:sp>
        <p:nvSpPr>
          <p:cNvPr id="9" name="t-10"/>
          <p:cNvSpPr txBox="1"/>
          <p:nvPr/>
        </p:nvSpPr>
        <p:spPr>
          <a:xfrm>
            <a:off x="3642284" y="1920240"/>
            <a:ext cx="23621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4,899</a:t>
            </a:r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 千円</a:t>
            </a:r>
            <a:endParaRPr lang="en-US" sz="3400" dirty="0"/>
          </a:p>
        </p:txBody>
      </p:sp>
      <p:sp>
        <p:nvSpPr>
          <p:cNvPr id="10" name="t-11"/>
          <p:cNvSpPr txBox="1"/>
          <p:nvPr/>
        </p:nvSpPr>
        <p:spPr>
          <a:xfrm>
            <a:off x="3642284" y="2651760"/>
            <a:ext cx="23621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前年比 </a:t>
            </a:r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97.4%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　▲132千円</a:t>
            </a:r>
            <a:endParaRPr lang="en-US" sz="1300" dirty="0"/>
          </a:p>
        </p:txBody>
      </p:sp>
      <p:sp>
        <p:nvSpPr>
          <p:cNvPr id="11" name="vrule-12"/>
          <p:cNvSpPr/>
          <p:nvPr/>
        </p:nvSpPr>
        <p:spPr>
          <a:xfrm>
            <a:off x="6095848" y="1600200"/>
            <a:ext cx="0" cy="160020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t-13"/>
          <p:cNvSpPr txBox="1"/>
          <p:nvPr/>
        </p:nvSpPr>
        <p:spPr>
          <a:xfrm>
            <a:off x="6370168" y="1600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コラボ飲食売上</a:t>
            </a:r>
            <a:endParaRPr lang="en-US" sz="1200" dirty="0"/>
          </a:p>
        </p:txBody>
      </p:sp>
      <p:sp>
        <p:nvSpPr>
          <p:cNvPr id="13" name="t-14"/>
          <p:cNvSpPr txBox="1"/>
          <p:nvPr/>
        </p:nvSpPr>
        <p:spPr>
          <a:xfrm>
            <a:off x="6370168" y="1920240"/>
            <a:ext cx="23621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3,720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千円</a:t>
            </a:r>
            <a:endParaRPr lang="en-US" sz="3400" dirty="0"/>
          </a:p>
        </p:txBody>
      </p:sp>
      <p:sp>
        <p:nvSpPr>
          <p:cNvPr id="14" name="t-15"/>
          <p:cNvSpPr txBox="1"/>
          <p:nvPr/>
        </p:nvSpPr>
        <p:spPr>
          <a:xfrm>
            <a:off x="6370168" y="2651760"/>
            <a:ext cx="23621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前年比 </a:t>
            </a:r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68.7%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　▲1,691千円</a:t>
            </a:r>
            <a:endParaRPr lang="en-US" sz="1300" dirty="0"/>
          </a:p>
        </p:txBody>
      </p:sp>
      <p:sp>
        <p:nvSpPr>
          <p:cNvPr id="15" name="vrule-16"/>
          <p:cNvSpPr/>
          <p:nvPr/>
        </p:nvSpPr>
        <p:spPr>
          <a:xfrm>
            <a:off x="8823731" y="1600200"/>
            <a:ext cx="0" cy="160020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6" name="t-17"/>
          <p:cNvSpPr txBox="1"/>
          <p:nvPr/>
        </p:nvSpPr>
        <p:spPr>
          <a:xfrm>
            <a:off x="9098051" y="1600200"/>
            <a:ext cx="2362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入館者数</a:t>
            </a:r>
            <a:endParaRPr lang="en-US" sz="1200" dirty="0"/>
          </a:p>
        </p:txBody>
      </p:sp>
      <p:sp>
        <p:nvSpPr>
          <p:cNvPr id="17" name="t-18"/>
          <p:cNvSpPr txBox="1"/>
          <p:nvPr/>
        </p:nvSpPr>
        <p:spPr>
          <a:xfrm>
            <a:off x="9098051" y="1920240"/>
            <a:ext cx="23621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24,895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人</a:t>
            </a:r>
            <a:endParaRPr lang="en-US" sz="3400" dirty="0"/>
          </a:p>
        </p:txBody>
      </p:sp>
      <p:sp>
        <p:nvSpPr>
          <p:cNvPr id="18" name="t-19"/>
          <p:cNvSpPr txBox="1"/>
          <p:nvPr/>
        </p:nvSpPr>
        <p:spPr>
          <a:xfrm>
            <a:off x="9098051" y="2651760"/>
            <a:ext cx="23621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前年比 </a:t>
            </a:r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97.5%</a:t>
            </a:r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　▲647人</a:t>
            </a:r>
            <a:endParaRPr lang="en-US" sz="1300" dirty="0"/>
          </a:p>
        </p:txBody>
      </p:sp>
      <p:sp>
        <p:nvSpPr>
          <p:cNvPr id="19" name="rule-20"/>
          <p:cNvSpPr/>
          <p:nvPr/>
        </p:nvSpPr>
        <p:spPr>
          <a:xfrm>
            <a:off x="640080" y="3520440"/>
            <a:ext cx="1091153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-21"/>
          <p:cNvSpPr txBox="1"/>
          <p:nvPr/>
        </p:nvSpPr>
        <p:spPr>
          <a:xfrm>
            <a:off x="640080" y="3749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売上</a:t>
            </a:r>
            <a:endParaRPr lang="en-US" sz="1400" dirty="0"/>
          </a:p>
        </p:txBody>
      </p:sp>
      <p:sp>
        <p:nvSpPr>
          <p:cNvPr id="21" name="t-22"/>
          <p:cNvSpPr txBox="1"/>
          <p:nvPr/>
        </p:nvSpPr>
        <p:spPr>
          <a:xfrm>
            <a:off x="1828800" y="3749040"/>
            <a:ext cx="9722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全体の減少▲1,823千円のうち、▲1,691千円（92.8%）がコラボ売上の減少。コラボ抜き売上は入館者数（97.5%）とほぼ同じ動きで、店舗の売上力は前年並みを維持。</a:t>
            </a:r>
            <a:endParaRPr lang="en-US" sz="1400" dirty="0"/>
          </a:p>
        </p:txBody>
      </p:sp>
      <p:sp>
        <p:nvSpPr>
          <p:cNvPr id="22" name="t-23"/>
          <p:cNvSpPr txBox="1"/>
          <p:nvPr/>
        </p:nvSpPr>
        <p:spPr>
          <a:xfrm>
            <a:off x="640080" y="4480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商品</a:t>
            </a:r>
            <a:endParaRPr lang="en-US" sz="1400" dirty="0"/>
          </a:p>
        </p:txBody>
      </p:sp>
      <p:sp>
        <p:nvSpPr>
          <p:cNvPr id="23" name="t-24"/>
          <p:cNvSpPr txBox="1"/>
          <p:nvPr/>
        </p:nvSpPr>
        <p:spPr>
          <a:xfrm>
            <a:off x="1828800" y="4480560"/>
            <a:ext cx="9722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麺類127%・デザート128%・一品107%が伸長。一方でご飯類89%・アルコール83%が前年を下回った。</a:t>
            </a:r>
            <a:endParaRPr lang="en-US" sz="1400" dirty="0"/>
          </a:p>
        </p:txBody>
      </p:sp>
      <p:sp>
        <p:nvSpPr>
          <p:cNvPr id="24" name="t-25"/>
          <p:cNvSpPr txBox="1"/>
          <p:nvPr/>
        </p:nvSpPr>
        <p:spPr>
          <a:xfrm>
            <a:off x="640080" y="5212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コスト</a:t>
            </a:r>
            <a:endParaRPr lang="en-US" sz="1400" dirty="0"/>
          </a:p>
        </p:txBody>
      </p:sp>
      <p:sp>
        <p:nvSpPr>
          <p:cNvPr id="25" name="t-26"/>
          <p:cNvSpPr txBox="1"/>
          <p:nvPr/>
        </p:nvSpPr>
        <p:spPr>
          <a:xfrm>
            <a:off x="1828800" y="5212080"/>
            <a:ext cx="97228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原価率42.6%（前年+8.0pt）、人件費率33.0%（+9.6pt）で、FLコストは75.6%（+17.6pt）。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02　コラボ抜き売上の比較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コラボ抜き売上は前年比97.4%。減収の9割以上はコラボ要因</a:t>
            </a:r>
            <a:endParaRPr lang="en-US" sz="2400" dirty="0"/>
          </a:p>
        </p:txBody>
      </p:sp>
      <p:sp>
        <p:nvSpPr>
          <p:cNvPr id="4" name="t-27"/>
          <p:cNvSpPr txBox="1"/>
          <p:nvPr/>
        </p:nvSpPr>
        <p:spPr>
          <a:xfrm>
            <a:off x="640080" y="1600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コラボ抜き飲食売上</a:t>
            </a:r>
            <a:endParaRPr lang="en-US" sz="1400" dirty="0"/>
          </a:p>
        </p:txBody>
      </p:sp>
      <p:sp>
        <p:nvSpPr>
          <p:cNvPr id="5" name="t-28"/>
          <p:cNvSpPr txBox="1"/>
          <p:nvPr/>
        </p:nvSpPr>
        <p:spPr>
          <a:xfrm>
            <a:off x="640080" y="19202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97.4</a:t>
            </a:r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%</a:t>
            </a:r>
            <a:endParaRPr lang="en-US" sz="6000" dirty="0"/>
          </a:p>
        </p:txBody>
      </p:sp>
      <p:sp>
        <p:nvSpPr>
          <p:cNvPr id="6" name="t-29"/>
          <p:cNvSpPr txBox="1"/>
          <p:nvPr/>
        </p:nvSpPr>
        <p:spPr>
          <a:xfrm>
            <a:off x="64008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前年比（4,899千円／前年5,031千円）</a:t>
            </a:r>
            <a:endParaRPr lang="en-US" sz="1300" dirty="0"/>
          </a:p>
        </p:txBody>
      </p:sp>
      <p:graphicFrame>
        <p:nvGraphicFramePr>
          <p:cNvPr id="4" name="table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144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今年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飲食売上（全体）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8,619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10,442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82.5%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コラボ抜き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4,899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5,031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97.4%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コラボ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3,720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5,411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68.7%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入館者数（人）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24,895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25,542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97.5%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-31"/>
          <p:cNvSpPr txBox="1"/>
          <p:nvPr/>
        </p:nvSpPr>
        <p:spPr>
          <a:xfrm>
            <a:off x="640080" y="5532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単位：千円（入館者数を除く）</a:t>
            </a:r>
            <a:endParaRPr lang="en-US" sz="1000" dirty="0"/>
          </a:p>
        </p:txBody>
      </p:sp>
      <p:sp>
        <p:nvSpPr>
          <p:cNvPr id="9" name="t-32"/>
          <p:cNvSpPr txBox="1"/>
          <p:nvPr/>
        </p:nvSpPr>
        <p:spPr>
          <a:xfrm>
            <a:off x="5760720" y="16002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飲食売上の内訳（千円）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669280" y="1965960"/>
          <a:ext cx="58978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rule-33"/>
          <p:cNvSpPr/>
          <p:nvPr/>
        </p:nvSpPr>
        <p:spPr>
          <a:xfrm>
            <a:off x="5760720" y="5257800"/>
            <a:ext cx="576072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t-34"/>
          <p:cNvSpPr txBox="1"/>
          <p:nvPr/>
        </p:nvSpPr>
        <p:spPr>
          <a:xfrm>
            <a:off x="5760720" y="534924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減少額▲1,823千円のうち　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コラボ要因 ▲1,691千円（92.8%）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03　コラボ抜き カテゴリ別売上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麺類・デザートが伸長し、ご飯類・アルコールの減少をカバー</a:t>
            </a:r>
            <a:endParaRPr lang="en-US" sz="2400" dirty="0"/>
          </a:p>
        </p:txBody>
      </p:sp>
      <p:sp>
        <p:nvSpPr>
          <p:cNvPr id="4" name="t-35"/>
          <p:cNvSpPr txBox="1"/>
          <p:nvPr/>
        </p:nvSpPr>
        <p:spPr>
          <a:xfrm>
            <a:off x="640080" y="1508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カテゴリ別売上（千円）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-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600200"/>
          <a:ext cx="3779215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097280"/>
                <a:gridCol w="107899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カテゴリ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前年差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麺類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126.7%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+190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デザート類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127.8%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+46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一品料理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106.8%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+50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ソフトドリンク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102.6%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+13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ご飯類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89.4%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▲204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アルコール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82.7%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▲156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-37"/>
          <p:cNvSpPr txBox="1"/>
          <p:nvPr/>
        </p:nvSpPr>
        <p:spPr>
          <a:xfrm>
            <a:off x="77724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前年差：千円</a:t>
            </a:r>
            <a:endParaRPr lang="en-US" sz="1000" dirty="0"/>
          </a:p>
        </p:txBody>
      </p:sp>
      <p:sp>
        <p:nvSpPr>
          <p:cNvPr id="8" name="t-38"/>
          <p:cNvSpPr txBox="1"/>
          <p:nvPr/>
        </p:nvSpPr>
        <p:spPr>
          <a:xfrm>
            <a:off x="7772400" y="512064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ご飯類の減少は、近江牛サウナカリー（▲174千円）とプレミアムロースカツカレー（▲82千円）の出数減が主な要因。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04　営業数値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営業数値一覧：飲食売上は予算どおり、前年比は82.5%</a:t>
            </a:r>
            <a:endParaRPr lang="en-US" sz="2400" dirty="0"/>
          </a:p>
        </p:txBody>
      </p:sp>
      <p:graphicFrame>
        <p:nvGraphicFramePr>
          <p:cNvPr id="6" name="table-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1188720"/>
                <a:gridCol w="1234440"/>
                <a:gridCol w="1188720"/>
                <a:gridCol w="1188720"/>
                <a:gridCol w="126461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項目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予算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実績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前年実績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予算比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前年差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入館者数（人）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25,680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24,895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25,542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96.9%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97.5%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▲647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飲食売上高（千円）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8,618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8,619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10,442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100.0%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82.5%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▲1,823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コラボ抜き飲食売上高（千円）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4,899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5,031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97.4%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▲132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コラボ飲食売上高（千円）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3,720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68.7%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▲1,691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飲食客数（人）※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15,851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98.6%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▲233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飲食客単価（円）※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336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409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103.2%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84.7%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▲63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販売点数（点）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9,466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21,384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44.3%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▲11,918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40"/>
          <p:cNvSpPr txBox="1"/>
          <p:nvPr/>
        </p:nvSpPr>
        <p:spPr>
          <a:xfrm>
            <a:off x="640080" y="54406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※ 飲食客数（15,851人）が販売点数（9,466点）を上回っており、集計方法の確認が必要なため、飲食客数・客単価は参考値とする。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05　コスト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FLコストは75.6%。売上減に対し原価・人件費が下がらず</a:t>
            </a:r>
            <a:endParaRPr lang="en-US" sz="2400" dirty="0"/>
          </a:p>
        </p:txBody>
      </p:sp>
      <p:sp>
        <p:nvSpPr>
          <p:cNvPr id="4" name="t-41"/>
          <p:cNvSpPr txBox="1"/>
          <p:nvPr/>
        </p:nvSpPr>
        <p:spPr>
          <a:xfrm>
            <a:off x="640080" y="1600200"/>
            <a:ext cx="3271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原価率（Fコスト）</a:t>
            </a:r>
            <a:endParaRPr lang="en-US" sz="1200" dirty="0"/>
          </a:p>
        </p:txBody>
      </p:sp>
      <p:sp>
        <p:nvSpPr>
          <p:cNvPr id="5" name="t-42"/>
          <p:cNvSpPr txBox="1"/>
          <p:nvPr/>
        </p:nvSpPr>
        <p:spPr>
          <a:xfrm>
            <a:off x="640080" y="1920240"/>
            <a:ext cx="327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42.6%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　+8.0pt</a:t>
            </a:r>
            <a:endParaRPr lang="en-US" sz="3600" dirty="0"/>
          </a:p>
        </p:txBody>
      </p:sp>
      <p:sp>
        <p:nvSpPr>
          <p:cNvPr id="6" name="t-43"/>
          <p:cNvSpPr txBox="1"/>
          <p:nvPr/>
        </p:nvSpPr>
        <p:spPr>
          <a:xfrm>
            <a:off x="640080" y="2651760"/>
            <a:ext cx="3271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前年34.7%　予算33.4%</a:t>
            </a:r>
            <a:endParaRPr lang="en-US" sz="1100" dirty="0"/>
          </a:p>
        </p:txBody>
      </p:sp>
      <p:sp>
        <p:nvSpPr>
          <p:cNvPr id="7" name="vrule-44"/>
          <p:cNvSpPr/>
          <p:nvPr/>
        </p:nvSpPr>
        <p:spPr>
          <a:xfrm>
            <a:off x="4277258" y="1600200"/>
            <a:ext cx="0" cy="146304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" name="t-45"/>
          <p:cNvSpPr txBox="1"/>
          <p:nvPr/>
        </p:nvSpPr>
        <p:spPr>
          <a:xfrm>
            <a:off x="4551578" y="1600200"/>
            <a:ext cx="3271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人件費率（Lコスト）</a:t>
            </a:r>
            <a:endParaRPr lang="en-US" sz="1200" dirty="0"/>
          </a:p>
        </p:txBody>
      </p:sp>
      <p:sp>
        <p:nvSpPr>
          <p:cNvPr id="9" name="t-46"/>
          <p:cNvSpPr txBox="1"/>
          <p:nvPr/>
        </p:nvSpPr>
        <p:spPr>
          <a:xfrm>
            <a:off x="4551578" y="1920240"/>
            <a:ext cx="327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33.0%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　+9.6pt</a:t>
            </a:r>
            <a:endParaRPr lang="en-US" sz="3600" dirty="0"/>
          </a:p>
        </p:txBody>
      </p:sp>
      <p:sp>
        <p:nvSpPr>
          <p:cNvPr id="10" name="t-47"/>
          <p:cNvSpPr txBox="1"/>
          <p:nvPr/>
        </p:nvSpPr>
        <p:spPr>
          <a:xfrm>
            <a:off x="4551578" y="2651760"/>
            <a:ext cx="3271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前年23.3%</a:t>
            </a:r>
            <a:endParaRPr lang="en-US" sz="1100" dirty="0"/>
          </a:p>
        </p:txBody>
      </p:sp>
      <p:sp>
        <p:nvSpPr>
          <p:cNvPr id="11" name="vrule-48"/>
          <p:cNvSpPr/>
          <p:nvPr/>
        </p:nvSpPr>
        <p:spPr>
          <a:xfrm>
            <a:off x="7914437" y="1600200"/>
            <a:ext cx="0" cy="146304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t-49"/>
          <p:cNvSpPr txBox="1"/>
          <p:nvPr/>
        </p:nvSpPr>
        <p:spPr>
          <a:xfrm>
            <a:off x="8188757" y="1600200"/>
            <a:ext cx="3271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FLコスト</a:t>
            </a:r>
            <a:endParaRPr lang="en-US" sz="1200" dirty="0"/>
          </a:p>
        </p:txBody>
      </p:sp>
      <p:sp>
        <p:nvSpPr>
          <p:cNvPr id="13" name="t-50"/>
          <p:cNvSpPr txBox="1"/>
          <p:nvPr/>
        </p:nvSpPr>
        <p:spPr>
          <a:xfrm>
            <a:off x="8188757" y="1920240"/>
            <a:ext cx="327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75.6%</a:t>
            </a:r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　+17.6pt</a:t>
            </a:r>
            <a:endParaRPr lang="en-US" sz="3600" dirty="0"/>
          </a:p>
        </p:txBody>
      </p:sp>
      <p:sp>
        <p:nvSpPr>
          <p:cNvPr id="14" name="t-51"/>
          <p:cNvSpPr txBox="1"/>
          <p:nvPr/>
        </p:nvSpPr>
        <p:spPr>
          <a:xfrm>
            <a:off x="8188757" y="2651760"/>
            <a:ext cx="3271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前年58.0%</a:t>
            </a:r>
            <a:endParaRPr lang="en-US" sz="1100" dirty="0"/>
          </a:p>
        </p:txBody>
      </p:sp>
      <p:graphicFrame>
        <p:nvGraphicFramePr>
          <p:cNvPr id="7" name="table-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29000"/>
          <a:ext cx="6035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60120"/>
                <a:gridCol w="960120"/>
                <a:gridCol w="960120"/>
                <a:gridCol w="9601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今年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前年差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飲食売上高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8,619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10,442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3"/>
                          </a:solidFill>
                        </a:rPr>
                        <a:t>82.5%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▲1,823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飲食標準原価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3,675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3,620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101.5%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+56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飲食人件費（キッチン）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2,844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2,438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116.7%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+406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-53"/>
          <p:cNvSpPr txBox="1"/>
          <p:nvPr/>
        </p:nvSpPr>
        <p:spPr>
          <a:xfrm>
            <a:off x="640080" y="5120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単位：千円</a:t>
            </a:r>
            <a:endParaRPr lang="en-US" sz="1000" dirty="0"/>
          </a:p>
        </p:txBody>
      </p:sp>
      <p:sp>
        <p:nvSpPr>
          <p:cNvPr id="17" name="t-54"/>
          <p:cNvSpPr txBox="1"/>
          <p:nvPr/>
        </p:nvSpPr>
        <p:spPr>
          <a:xfrm>
            <a:off x="7223760" y="3429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要因</a:t>
            </a:r>
            <a:endParaRPr lang="en-US" sz="1300" dirty="0"/>
          </a:p>
        </p:txBody>
      </p:sp>
      <p:sp>
        <p:nvSpPr>
          <p:cNvPr id="18" name="t-55"/>
          <p:cNvSpPr txBox="1"/>
          <p:nvPr/>
        </p:nvSpPr>
        <p:spPr>
          <a:xfrm>
            <a:off x="7223760" y="379476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原価：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コラボ売上が68.7%に減ったが仕入量は追随せず。日本食研+170千円・ブライス+137千円の仕入増が影響。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人件費：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モバイルオーダーのシステム変更に伴い、人員を多く配置したため上振れ。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　カテゴリ別 TOP5 前年比較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6カテゴリ中4カテゴリが前年超え。新商品がTOP5の顔ぶれを変えた</a:t>
            </a:r>
            <a:endParaRPr lang="en-US" sz="2400" dirty="0"/>
          </a:p>
        </p:txBody>
      </p:sp>
      <p:graphicFrame>
        <p:nvGraphicFramePr>
          <p:cNvPr id="8" name="table-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1153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554480"/>
                <a:gridCol w="1234440"/>
                <a:gridCol w="1234440"/>
                <a:gridCol w="1005840"/>
                <a:gridCol w="2468880"/>
                <a:gridCol w="249905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カテゴリ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売上（千円）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前年（千円）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1位の商品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新たにTOP5入り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ホール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アルコール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742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898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82.7%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マルエフ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タパス付 1010JUGビール、黒生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ホール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ソフトドリンク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527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102.6%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リポスパ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リポスパコーラ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ホール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デザート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164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127.9%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ソフトクリーム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Todaysデザート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キッチン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麺類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126.7%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釜玉チーズカレーうどん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神田家ラーメン ライスセット、神田家ラーメン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キッチン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ご飯類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1,731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1,935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89.4%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近江牛サウナカリー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大盛）ロースカツカレー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キッチン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一品料理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739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106.8%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揚げ物盛り合わせ</a:t>
                      </a:r>
                      <a:endParaRPr lang="en-US" sz="13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唐揚げ軍団 リポコーラセット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57"/>
          <p:cNvSpPr txBox="1"/>
          <p:nvPr/>
        </p:nvSpPr>
        <p:spPr>
          <a:xfrm>
            <a:off x="640080" y="57150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※ 新たにTOP5入り：前年TOP5圏外または前年実績なしの商品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06-1　ホール｜アルコール　売上742千円（前年比82.7%）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アルコール：マルエフが首位に。生ビール（パイント）とコインメックが減少</a:t>
            </a:r>
            <a:endParaRPr lang="en-US" sz="2400" dirty="0"/>
          </a:p>
        </p:txBody>
      </p:sp>
      <p:graphicFrame>
        <p:nvGraphicFramePr>
          <p:cNvPr id="9" name="table-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377440"/>
                <a:gridCol w="594360"/>
                <a:gridCol w="1005840"/>
                <a:gridCol w="914400"/>
                <a:gridCol w="868680"/>
                <a:gridCol w="7772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商品名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数量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売上（円）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前年売上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マルエフ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115,879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108,016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107.3%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パイントグラス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104,983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162,416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64.6%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タパス付 1010JUGビール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63,621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新規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熟選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60,646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69,934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86.7%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黒生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45,107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44,291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101.8%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59"/>
          <p:cNvSpPr txBox="1"/>
          <p:nvPr/>
        </p:nvSpPr>
        <p:spPr>
          <a:xfrm>
            <a:off x="6400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ポイント</a:t>
            </a:r>
            <a:endParaRPr lang="en-US" sz="1200" dirty="0"/>
          </a:p>
        </p:txBody>
      </p:sp>
      <p:sp>
        <p:nvSpPr>
          <p:cNvPr id="6" name="t-60"/>
          <p:cNvSpPr txBox="1"/>
          <p:nvPr/>
        </p:nvSpPr>
        <p:spPr>
          <a:xfrm>
            <a:off x="640080" y="5148072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マルエフは107%で首位に浮上。前年1位のパイントグラスは64.6%、前年3位のコインメックビール（94千円）は今年は売上なし。新商品のタパス付1010JUGビールが3位に入った。</a:t>
            </a:r>
            <a:endParaRPr lang="en-US" sz="1200" dirty="0"/>
          </a:p>
        </p:txBody>
      </p:sp>
      <p:sp>
        <p:nvSpPr>
          <p:cNvPr id="7" name="t-61"/>
          <p:cNvSpPr txBox="1"/>
          <p:nvPr/>
        </p:nvSpPr>
        <p:spPr>
          <a:xfrm>
            <a:off x="8092440" y="155448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売上の前年比較（千円）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001000" y="1828800"/>
          <a:ext cx="355061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rule-62"/>
          <p:cNvSpPr/>
          <p:nvPr/>
        </p:nvSpPr>
        <p:spPr>
          <a:xfrm>
            <a:off x="8092440" y="4846320"/>
            <a:ext cx="345917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t-63"/>
          <p:cNvSpPr txBox="1"/>
          <p:nvPr/>
        </p:nvSpPr>
        <p:spPr>
          <a:xfrm>
            <a:off x="8092440" y="49377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前年TOP5から外れた商品</a:t>
            </a:r>
            <a:endParaRPr lang="en-US" sz="1100" dirty="0"/>
          </a:p>
        </p:txBody>
      </p:sp>
      <p:sp>
        <p:nvSpPr>
          <p:cNvPr id="11" name="t-64"/>
          <p:cNvSpPr txBox="1"/>
          <p:nvPr/>
        </p:nvSpPr>
        <p:spPr>
          <a:xfrm>
            <a:off x="8092440" y="5239512"/>
            <a:ext cx="34591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前年3位　コインメックビール（94,374円）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前年4位　1010JUGビール（75,330円）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06-2　ホール｜ソフトドリンク　売上527千円（前年比102.6%）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ソフトドリンク：リポスパが前年並みで1位。新商品リポスパコーラが2位</a:t>
            </a:r>
            <a:endParaRPr lang="en-US" sz="2400" dirty="0"/>
          </a:p>
        </p:txBody>
      </p:sp>
      <p:graphicFrame>
        <p:nvGraphicFramePr>
          <p:cNvPr id="10" name="table-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377440"/>
                <a:gridCol w="594360"/>
                <a:gridCol w="1005840"/>
                <a:gridCol w="914400"/>
                <a:gridCol w="868680"/>
                <a:gridCol w="7772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商品名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数量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売上（円）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前年売上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リポスパ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253,367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247,893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102.2%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リポスパコーラ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55,054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新規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メロンソーダフロート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31,680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28,608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110.7%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コーラフロート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18,240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18,240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100.0%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黒ウーロン茶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17,880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21,952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81.5%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66"/>
          <p:cNvSpPr txBox="1"/>
          <p:nvPr/>
        </p:nvSpPr>
        <p:spPr>
          <a:xfrm>
            <a:off x="6400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ポイント</a:t>
            </a:r>
            <a:endParaRPr lang="en-US" sz="1200" dirty="0"/>
          </a:p>
        </p:txBody>
      </p:sp>
      <p:sp>
        <p:nvSpPr>
          <p:cNvPr id="6" name="t-67"/>
          <p:cNvSpPr txBox="1"/>
          <p:nvPr/>
        </p:nvSpPr>
        <p:spPr>
          <a:xfrm>
            <a:off x="640080" y="5148072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リポスパは648杯・253千円で前年並み。新商品リポスパコーラが121杯・55千円で2位に入った。メロンソーダフロートも111%と好調。</a:t>
            </a:r>
            <a:endParaRPr lang="en-US" sz="1200" dirty="0"/>
          </a:p>
        </p:txBody>
      </p:sp>
      <p:sp>
        <p:nvSpPr>
          <p:cNvPr id="7" name="t-68"/>
          <p:cNvSpPr txBox="1"/>
          <p:nvPr/>
        </p:nvSpPr>
        <p:spPr>
          <a:xfrm>
            <a:off x="8092440" y="155448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売上の前年比較（千円）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001000" y="1828800"/>
          <a:ext cx="355061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rule-69"/>
          <p:cNvSpPr/>
          <p:nvPr/>
        </p:nvSpPr>
        <p:spPr>
          <a:xfrm>
            <a:off x="8092440" y="4846320"/>
            <a:ext cx="345917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t-70"/>
          <p:cNvSpPr txBox="1"/>
          <p:nvPr/>
        </p:nvSpPr>
        <p:spPr>
          <a:xfrm>
            <a:off x="8092440" y="49377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前年TOP5から外れた商品</a:t>
            </a:r>
            <a:endParaRPr lang="en-US" sz="1100" dirty="0"/>
          </a:p>
        </p:txBody>
      </p:sp>
      <p:sp>
        <p:nvSpPr>
          <p:cNvPr id="11" name="t-71"/>
          <p:cNvSpPr txBox="1"/>
          <p:nvPr/>
        </p:nvSpPr>
        <p:spPr>
          <a:xfrm>
            <a:off x="8092440" y="5239512"/>
            <a:ext cx="34591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前年3位　おためしリポスパ（26,754円）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06-3　ホール｜デザート　売上209千円（前年比127.9%）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デザート：ソフトクリームが前年の4.1倍で首位に</a:t>
            </a:r>
            <a:endParaRPr lang="en-US" sz="2400" dirty="0"/>
          </a:p>
        </p:txBody>
      </p:sp>
      <p:graphicFrame>
        <p:nvGraphicFramePr>
          <p:cNvPr id="11" name="table-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377440"/>
                <a:gridCol w="594360"/>
                <a:gridCol w="1005840"/>
                <a:gridCol w="914400"/>
                <a:gridCol w="868680"/>
                <a:gridCol w="7772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商品名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数量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売上（円）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前年売上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ソフトクリーム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58,050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14,190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409.1%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チョコバナナパフェ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23,639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31,376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75.3%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白玉黒蜜きなこパフェ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22,790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26,818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85.0%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白玉抹茶パフェ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20,140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23,320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86.4%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Todaysデザート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新規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73"/>
          <p:cNvSpPr txBox="1"/>
          <p:nvPr/>
        </p:nvSpPr>
        <p:spPr>
          <a:xfrm>
            <a:off x="6400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ポイント</a:t>
            </a:r>
            <a:endParaRPr lang="en-US" sz="1200" dirty="0"/>
          </a:p>
        </p:txBody>
      </p:sp>
      <p:sp>
        <p:nvSpPr>
          <p:cNvPr id="6" name="t-74"/>
          <p:cNvSpPr txBox="1"/>
          <p:nvPr/>
        </p:nvSpPr>
        <p:spPr>
          <a:xfrm>
            <a:off x="640080" y="5148072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ソフトクリームが33個→135個、売上14千円→58千円で4位から首位へ。パフェ3品は前年比75〜86%とやや減少しており、ソフトクリームからパフェへの誘導が次の課題。</a:t>
            </a:r>
            <a:endParaRPr lang="en-US" sz="1200" dirty="0"/>
          </a:p>
        </p:txBody>
      </p:sp>
      <p:sp>
        <p:nvSpPr>
          <p:cNvPr id="7" name="t-75"/>
          <p:cNvSpPr txBox="1"/>
          <p:nvPr/>
        </p:nvSpPr>
        <p:spPr>
          <a:xfrm>
            <a:off x="8092440" y="155448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売上の前年比較（千円）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001000" y="1828800"/>
          <a:ext cx="355061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rule-76"/>
          <p:cNvSpPr/>
          <p:nvPr/>
        </p:nvSpPr>
        <p:spPr>
          <a:xfrm>
            <a:off x="8092440" y="4846320"/>
            <a:ext cx="345917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t-77"/>
          <p:cNvSpPr txBox="1"/>
          <p:nvPr/>
        </p:nvSpPr>
        <p:spPr>
          <a:xfrm>
            <a:off x="8092440" y="49377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前年TOP5から外れた商品</a:t>
            </a:r>
            <a:endParaRPr lang="en-US" sz="1100" dirty="0"/>
          </a:p>
        </p:txBody>
      </p:sp>
      <p:sp>
        <p:nvSpPr>
          <p:cNvPr id="11" name="t-78"/>
          <p:cNvSpPr txBox="1"/>
          <p:nvPr/>
        </p:nvSpPr>
        <p:spPr>
          <a:xfrm>
            <a:off x="8092440" y="5239512"/>
            <a:ext cx="34591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前年5位　ストロベリーパフェ（10,600円）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06-4　キッチン｜麺類　売上901千円（前年比126.7%）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麺類：釜玉チーズカレーうどん124%。神田家ラーメンも好発進</a:t>
            </a:r>
            <a:endParaRPr lang="en-US" sz="2400" dirty="0"/>
          </a:p>
        </p:txBody>
      </p:sp>
      <p:graphicFrame>
        <p:nvGraphicFramePr>
          <p:cNvPr id="12" name="table-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377440"/>
                <a:gridCol w="594360"/>
                <a:gridCol w="1005840"/>
                <a:gridCol w="914400"/>
                <a:gridCol w="868680"/>
                <a:gridCol w="7772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商品名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数量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売上（円）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前年売上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釜玉チーズカレーうどん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247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242,005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195,023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124.1%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濃厚カルボナーラパスタ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84,452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89,599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94.3%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神田家ラーメン ライスセット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57,230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新規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神田家ラーメン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55,854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新規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肉うどん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54,863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53,507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102.5%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80"/>
          <p:cNvSpPr txBox="1"/>
          <p:nvPr/>
        </p:nvSpPr>
        <p:spPr>
          <a:xfrm>
            <a:off x="6400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ポイント</a:t>
            </a:r>
            <a:endParaRPr lang="en-US" sz="1200" dirty="0"/>
          </a:p>
        </p:txBody>
      </p:sp>
      <p:sp>
        <p:nvSpPr>
          <p:cNvPr id="6" name="t-81"/>
          <p:cNvSpPr txBox="1"/>
          <p:nvPr/>
        </p:nvSpPr>
        <p:spPr>
          <a:xfrm>
            <a:off x="640080" y="5148072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釜玉チーズカレーうどんが247食・124%で首位。新メニューの神田家ラーメンはライスセットと単品の2品で合計113千円を上乗せ。</a:t>
            </a:r>
            <a:endParaRPr lang="en-US" sz="1200" dirty="0"/>
          </a:p>
        </p:txBody>
      </p:sp>
      <p:sp>
        <p:nvSpPr>
          <p:cNvPr id="7" name="t-82"/>
          <p:cNvSpPr txBox="1"/>
          <p:nvPr/>
        </p:nvSpPr>
        <p:spPr>
          <a:xfrm>
            <a:off x="8092440" y="155448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売上の前年比較（千円）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001000" y="1828800"/>
          <a:ext cx="355061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rule-83"/>
          <p:cNvSpPr/>
          <p:nvPr/>
        </p:nvSpPr>
        <p:spPr>
          <a:xfrm>
            <a:off x="8092440" y="4846320"/>
            <a:ext cx="345917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t-84"/>
          <p:cNvSpPr txBox="1"/>
          <p:nvPr/>
        </p:nvSpPr>
        <p:spPr>
          <a:xfrm>
            <a:off x="8092440" y="49377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前年TOP5から外れた商品</a:t>
            </a:r>
            <a:endParaRPr lang="en-US" sz="1100" dirty="0"/>
          </a:p>
        </p:txBody>
      </p:sp>
      <p:sp>
        <p:nvSpPr>
          <p:cNvPr id="11" name="t-85"/>
          <p:cNvSpPr txBox="1"/>
          <p:nvPr/>
        </p:nvSpPr>
        <p:spPr>
          <a:xfrm>
            <a:off x="8092440" y="5239512"/>
            <a:ext cx="34591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前年4位　麺活）特製油そば［濃］（51,601円）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前年5位　カルボナーラうどん（45,668円）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06-5　キッチン｜ご飯類　売上1,731千円（前年比89.4%）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ご飯類：近江牛サウナカリーが69.1%（▲174千円）で最大の減少要因</a:t>
            </a:r>
            <a:endParaRPr lang="en-US" sz="2400" dirty="0"/>
          </a:p>
        </p:txBody>
      </p:sp>
      <p:graphicFrame>
        <p:nvGraphicFramePr>
          <p:cNvPr id="13" name="table-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377440"/>
                <a:gridCol w="594360"/>
                <a:gridCol w="1005840"/>
                <a:gridCol w="914400"/>
                <a:gridCol w="868680"/>
                <a:gridCol w="7772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商品名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数量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売上（円）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前年売上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近江牛サウナカリー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388,628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562,673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69.1%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プレミアムロースカツカレー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237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326,974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409,313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79.9%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大盛）ロースカツカレー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121,766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新規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サーモンアボカドボウルライス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115,178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100,097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115.1%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ローストビーフボウルライス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103,484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109,849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94.2%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87"/>
          <p:cNvSpPr txBox="1"/>
          <p:nvPr/>
        </p:nvSpPr>
        <p:spPr>
          <a:xfrm>
            <a:off x="6400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ポイント</a:t>
            </a:r>
            <a:endParaRPr lang="en-US" sz="1200" dirty="0"/>
          </a:p>
        </p:txBody>
      </p:sp>
      <p:sp>
        <p:nvSpPr>
          <p:cNvPr id="6" name="t-88"/>
          <p:cNvSpPr txBox="1"/>
          <p:nvPr/>
        </p:nvSpPr>
        <p:spPr>
          <a:xfrm>
            <a:off x="640080" y="5148072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近江牛サウナカリーが462食→315食、プレミアムロースカツカレーも79.9%。大盛は今年別集計で122千円。10月のリニューアルで巻き返しを図る。</a:t>
            </a:r>
            <a:endParaRPr lang="en-US" sz="1200" dirty="0"/>
          </a:p>
        </p:txBody>
      </p:sp>
      <p:sp>
        <p:nvSpPr>
          <p:cNvPr id="7" name="t-89"/>
          <p:cNvSpPr txBox="1"/>
          <p:nvPr/>
        </p:nvSpPr>
        <p:spPr>
          <a:xfrm>
            <a:off x="8092440" y="155448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売上の前年比較（千円）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001000" y="1828800"/>
          <a:ext cx="355061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rule-90"/>
          <p:cNvSpPr/>
          <p:nvPr/>
        </p:nvSpPr>
        <p:spPr>
          <a:xfrm>
            <a:off x="8092440" y="4846320"/>
            <a:ext cx="345917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t-91"/>
          <p:cNvSpPr txBox="1"/>
          <p:nvPr/>
        </p:nvSpPr>
        <p:spPr>
          <a:xfrm>
            <a:off x="8092440" y="49377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前年TOP5から外れた商品</a:t>
            </a:r>
            <a:endParaRPr lang="en-US" sz="1100" dirty="0"/>
          </a:p>
        </p:txBody>
      </p:sp>
      <p:sp>
        <p:nvSpPr>
          <p:cNvPr id="11" name="t-92"/>
          <p:cNvSpPr txBox="1"/>
          <p:nvPr/>
        </p:nvSpPr>
        <p:spPr>
          <a:xfrm>
            <a:off x="8092440" y="5239512"/>
            <a:ext cx="34591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前年4位　バターチキンカレー（106,921円）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06-6　キッチン｜一品料理　売上789千円（前年比106.8%）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一品料理：揚げ物盛り合わせが首位キープ。新セット「唐揚げ軍団」が2位</a:t>
            </a:r>
            <a:endParaRPr lang="en-US" sz="2400" dirty="0"/>
          </a:p>
        </p:txBody>
      </p:sp>
      <p:graphicFrame>
        <p:nvGraphicFramePr>
          <p:cNvPr id="14" name="table-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70408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377440"/>
                <a:gridCol w="594360"/>
                <a:gridCol w="1005840"/>
                <a:gridCol w="914400"/>
                <a:gridCol w="868680"/>
                <a:gridCol w="7772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商品名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数量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売上（円）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前年売上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前年比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前年順位</a:t>
                      </a:r>
                      <a:endParaRPr lang="en-US" sz="11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揚げ物盛り合わせ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108,757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99,329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109.5%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唐揚げ軍団 リポコーラセット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50,533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新規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マルゲリータ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41,074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45,822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89.6%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ポテトフライ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83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39,648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46,368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</a:rPr>
                        <a:t>85.5%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ピザポテト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34,237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32,860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104.2%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5位</a:t>
                      </a:r>
                      <a:endParaRPr lang="en-US" sz="1200" dirty="0"/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-94"/>
          <p:cNvSpPr txBox="1"/>
          <p:nvPr/>
        </p:nvSpPr>
        <p:spPr>
          <a:xfrm>
            <a:off x="6400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ポイント</a:t>
            </a:r>
            <a:endParaRPr lang="en-US" sz="1200" dirty="0"/>
          </a:p>
        </p:txBody>
      </p:sp>
      <p:sp>
        <p:nvSpPr>
          <p:cNvPr id="6" name="t-95"/>
          <p:cNvSpPr txBox="1"/>
          <p:nvPr/>
        </p:nvSpPr>
        <p:spPr>
          <a:xfrm>
            <a:off x="640080" y="5148072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揚げ物盛り合わせが109%で首位キープ。新セットの唐揚げ軍団リポコーラセットが51千円で2位。ポテトフライ・マルゲリータは前年比86〜90%。</a:t>
            </a:r>
            <a:endParaRPr lang="en-US" sz="1200" dirty="0"/>
          </a:p>
        </p:txBody>
      </p:sp>
      <p:sp>
        <p:nvSpPr>
          <p:cNvPr id="7" name="t-96"/>
          <p:cNvSpPr txBox="1"/>
          <p:nvPr/>
        </p:nvSpPr>
        <p:spPr>
          <a:xfrm>
            <a:off x="8092440" y="155448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売上の前年比較（千円）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8001000" y="1828800"/>
          <a:ext cx="355061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rule-97"/>
          <p:cNvSpPr/>
          <p:nvPr/>
        </p:nvSpPr>
        <p:spPr>
          <a:xfrm>
            <a:off x="8092440" y="4846320"/>
            <a:ext cx="345917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t-98"/>
          <p:cNvSpPr txBox="1"/>
          <p:nvPr/>
        </p:nvSpPr>
        <p:spPr>
          <a:xfrm>
            <a:off x="8092440" y="493776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前年TOP5から外れた商品</a:t>
            </a:r>
            <a:endParaRPr lang="en-US" sz="1100" dirty="0"/>
          </a:p>
        </p:txBody>
      </p:sp>
      <p:sp>
        <p:nvSpPr>
          <p:cNvPr id="11" name="t-99"/>
          <p:cNvSpPr txBox="1"/>
          <p:nvPr/>
        </p:nvSpPr>
        <p:spPr>
          <a:xfrm>
            <a:off x="8092440" y="5239512"/>
            <a:ext cx="34591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前年4位　たこやき（34,980円）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07　9月の振り返り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店舗の売上力は前年並み。課題はご飯類・アルコールとコスト</a:t>
            </a:r>
            <a:endParaRPr lang="en-US" sz="2400" dirty="0"/>
          </a:p>
        </p:txBody>
      </p:sp>
      <p:sp>
        <p:nvSpPr>
          <p:cNvPr id="4" name="t-100"/>
          <p:cNvSpPr txBox="1"/>
          <p:nvPr/>
        </p:nvSpPr>
        <p:spPr>
          <a:xfrm>
            <a:off x="640080" y="1600200"/>
            <a:ext cx="5181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良かった点</a:t>
            </a:r>
            <a:endParaRPr lang="en-US" sz="1600" dirty="0"/>
          </a:p>
        </p:txBody>
      </p:sp>
      <p:sp>
        <p:nvSpPr>
          <p:cNvPr id="5" name="rule-101"/>
          <p:cNvSpPr/>
          <p:nvPr/>
        </p:nvSpPr>
        <p:spPr>
          <a:xfrm>
            <a:off x="640080" y="2057400"/>
            <a:ext cx="5181448" cy="0"/>
          </a:xfrm>
          <a:prstGeom prst="line">
            <a:avLst/>
          </a:prstGeom>
          <a:noFill/>
          <a:ln w="19050">
            <a:solidFill>
              <a:srgbClr val="2F5D50"/>
            </a:solidFill>
            <a:prstDash val="solid"/>
          </a:ln>
        </p:spPr>
      </p:sp>
      <p:sp>
        <p:nvSpPr>
          <p:cNvPr id="6" name="t-102"/>
          <p:cNvSpPr txBox="1"/>
          <p:nvPr/>
        </p:nvSpPr>
        <p:spPr>
          <a:xfrm>
            <a:off x="640080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-103"/>
          <p:cNvSpPr txBox="1"/>
          <p:nvPr/>
        </p:nvSpPr>
        <p:spPr>
          <a:xfrm>
            <a:off x="1051560" y="2240280"/>
            <a:ext cx="476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コラボ抜き売上97.4%で、入館者数（97.5%）並みを維持</a:t>
            </a:r>
            <a:endParaRPr lang="en-US" sz="1400" dirty="0"/>
          </a:p>
        </p:txBody>
      </p:sp>
      <p:sp>
        <p:nvSpPr>
          <p:cNvPr id="8" name="rule-104"/>
          <p:cNvSpPr/>
          <p:nvPr/>
        </p:nvSpPr>
        <p:spPr>
          <a:xfrm>
            <a:off x="640080" y="3017520"/>
            <a:ext cx="518144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9" name="t-105"/>
          <p:cNvSpPr txBox="1"/>
          <p:nvPr/>
        </p:nvSpPr>
        <p:spPr>
          <a:xfrm>
            <a:off x="64008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-106"/>
          <p:cNvSpPr txBox="1"/>
          <p:nvPr/>
        </p:nvSpPr>
        <p:spPr>
          <a:xfrm>
            <a:off x="1051560" y="3108960"/>
            <a:ext cx="476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麺類127%：釜玉チーズカレーうどん247食、神田家ラーメンが好発進</a:t>
            </a:r>
            <a:endParaRPr lang="en-US" sz="1400" dirty="0"/>
          </a:p>
        </p:txBody>
      </p:sp>
      <p:sp>
        <p:nvSpPr>
          <p:cNvPr id="11" name="rule-107"/>
          <p:cNvSpPr/>
          <p:nvPr/>
        </p:nvSpPr>
        <p:spPr>
          <a:xfrm>
            <a:off x="640080" y="3886200"/>
            <a:ext cx="518144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t-108"/>
          <p:cNvSpPr txBox="1"/>
          <p:nvPr/>
        </p:nvSpPr>
        <p:spPr>
          <a:xfrm>
            <a:off x="640080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-109"/>
          <p:cNvSpPr txBox="1"/>
          <p:nvPr/>
        </p:nvSpPr>
        <p:spPr>
          <a:xfrm>
            <a:off x="1051560" y="3977640"/>
            <a:ext cx="476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デザート128%：ソフトクリームが135個（前年33個）</a:t>
            </a:r>
            <a:endParaRPr lang="en-US" sz="1400" dirty="0"/>
          </a:p>
        </p:txBody>
      </p:sp>
      <p:sp>
        <p:nvSpPr>
          <p:cNvPr id="14" name="rule-110"/>
          <p:cNvSpPr/>
          <p:nvPr/>
        </p:nvSpPr>
        <p:spPr>
          <a:xfrm>
            <a:off x="640080" y="4754880"/>
            <a:ext cx="518144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t-111"/>
          <p:cNvSpPr txBox="1"/>
          <p:nvPr/>
        </p:nvSpPr>
        <p:spPr>
          <a:xfrm>
            <a:off x="64008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-112"/>
          <p:cNvSpPr txBox="1"/>
          <p:nvPr/>
        </p:nvSpPr>
        <p:spPr>
          <a:xfrm>
            <a:off x="1051560" y="4846320"/>
            <a:ext cx="476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ちょい飲みセット好調：セット27食＋ドリンク80杯で約60千円</a:t>
            </a:r>
            <a:endParaRPr lang="en-US" sz="1400" dirty="0"/>
          </a:p>
        </p:txBody>
      </p:sp>
      <p:sp>
        <p:nvSpPr>
          <p:cNvPr id="17" name="t-113"/>
          <p:cNvSpPr txBox="1"/>
          <p:nvPr/>
        </p:nvSpPr>
        <p:spPr>
          <a:xfrm>
            <a:off x="6370168" y="1600200"/>
            <a:ext cx="5181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課題</a:t>
            </a:r>
            <a:endParaRPr lang="en-US" sz="1600" dirty="0"/>
          </a:p>
        </p:txBody>
      </p:sp>
      <p:sp>
        <p:nvSpPr>
          <p:cNvPr id="18" name="rule-114"/>
          <p:cNvSpPr/>
          <p:nvPr/>
        </p:nvSpPr>
        <p:spPr>
          <a:xfrm>
            <a:off x="6370168" y="2057400"/>
            <a:ext cx="5181448" cy="0"/>
          </a:xfrm>
          <a:prstGeom prst="line">
            <a:avLst/>
          </a:prstGeom>
          <a:noFill/>
          <a:ln w="19050">
            <a:solidFill>
              <a:srgbClr val="B23A3A"/>
            </a:solidFill>
            <a:prstDash val="solid"/>
          </a:ln>
        </p:spPr>
      </p:sp>
      <p:sp>
        <p:nvSpPr>
          <p:cNvPr id="19" name="t-115"/>
          <p:cNvSpPr txBox="1"/>
          <p:nvPr/>
        </p:nvSpPr>
        <p:spPr>
          <a:xfrm>
            <a:off x="6370168" y="2240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</a:t>
            </a:r>
            <a:endParaRPr lang="en-US" sz="1400" dirty="0"/>
          </a:p>
        </p:txBody>
      </p:sp>
      <p:sp>
        <p:nvSpPr>
          <p:cNvPr id="20" name="t-116"/>
          <p:cNvSpPr txBox="1"/>
          <p:nvPr/>
        </p:nvSpPr>
        <p:spPr>
          <a:xfrm>
            <a:off x="6781648" y="2240280"/>
            <a:ext cx="476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コラボ売上68.7%（▲1,691千円）で全体売上は82.5%</a:t>
            </a:r>
            <a:endParaRPr lang="en-US" sz="1400" dirty="0"/>
          </a:p>
        </p:txBody>
      </p:sp>
      <p:sp>
        <p:nvSpPr>
          <p:cNvPr id="21" name="rule-117"/>
          <p:cNvSpPr/>
          <p:nvPr/>
        </p:nvSpPr>
        <p:spPr>
          <a:xfrm>
            <a:off x="6370168" y="3017520"/>
            <a:ext cx="518144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-118"/>
          <p:cNvSpPr txBox="1"/>
          <p:nvPr/>
        </p:nvSpPr>
        <p:spPr>
          <a:xfrm>
            <a:off x="6370168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-119"/>
          <p:cNvSpPr txBox="1"/>
          <p:nvPr/>
        </p:nvSpPr>
        <p:spPr>
          <a:xfrm>
            <a:off x="6781648" y="3108960"/>
            <a:ext cx="476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ご飯類89%：近江牛サウナカリー・ロースカツカレーの出数減</a:t>
            </a:r>
            <a:endParaRPr lang="en-US" sz="1400" dirty="0"/>
          </a:p>
        </p:txBody>
      </p:sp>
      <p:sp>
        <p:nvSpPr>
          <p:cNvPr id="24" name="rule-120"/>
          <p:cNvSpPr/>
          <p:nvPr/>
        </p:nvSpPr>
        <p:spPr>
          <a:xfrm>
            <a:off x="6370168" y="3886200"/>
            <a:ext cx="518144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t-121"/>
          <p:cNvSpPr txBox="1"/>
          <p:nvPr/>
        </p:nvSpPr>
        <p:spPr>
          <a:xfrm>
            <a:off x="6370168" y="3977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3</a:t>
            </a:r>
            <a:endParaRPr lang="en-US" sz="1400" dirty="0"/>
          </a:p>
        </p:txBody>
      </p:sp>
      <p:sp>
        <p:nvSpPr>
          <p:cNvPr id="26" name="t-122"/>
          <p:cNvSpPr txBox="1"/>
          <p:nvPr/>
        </p:nvSpPr>
        <p:spPr>
          <a:xfrm>
            <a:off x="6781648" y="3977640"/>
            <a:ext cx="476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アルコール83%：パイントグラス・コインメックビールの減少</a:t>
            </a:r>
            <a:endParaRPr lang="en-US" sz="1400" dirty="0"/>
          </a:p>
        </p:txBody>
      </p:sp>
      <p:sp>
        <p:nvSpPr>
          <p:cNvPr id="27" name="rule-123"/>
          <p:cNvSpPr/>
          <p:nvPr/>
        </p:nvSpPr>
        <p:spPr>
          <a:xfrm>
            <a:off x="6370168" y="4754880"/>
            <a:ext cx="5181448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8" name="t-124"/>
          <p:cNvSpPr txBox="1"/>
          <p:nvPr/>
        </p:nvSpPr>
        <p:spPr>
          <a:xfrm>
            <a:off x="6370168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4</a:t>
            </a:r>
            <a:endParaRPr lang="en-US" sz="1400" dirty="0"/>
          </a:p>
        </p:txBody>
      </p:sp>
      <p:sp>
        <p:nvSpPr>
          <p:cNvPr id="29" name="t-125"/>
          <p:cNvSpPr txBox="1"/>
          <p:nvPr/>
        </p:nvSpPr>
        <p:spPr>
          <a:xfrm>
            <a:off x="6781648" y="4846320"/>
            <a:ext cx="47699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原価率42.6%・人件費率33.0%でFLコスト75.6%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20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08　10月の対策・目標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21792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10月の目標：コラボ抜き売上の前年超え（100%以上）</a:t>
            </a:r>
            <a:endParaRPr lang="en-US" sz="2400" dirty="0"/>
          </a:p>
        </p:txBody>
      </p:sp>
      <p:graphicFrame>
        <p:nvGraphicFramePr>
          <p:cNvPr id="16" name="table-1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11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44849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項目</a:t>
                      </a:r>
                      <a:endParaRPr lang="en-US" sz="11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対策・取り組み</a:t>
                      </a:r>
                      <a:endParaRPr lang="en-US" sz="11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売上</a:t>
                      </a:r>
                      <a:endParaRPr lang="en-US" sz="13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ビールLセット販売開始。ちょい飲みセットと併せて訴求し、アルコール（今月83%）の回復につなげる。</a:t>
                      </a:r>
                      <a:endParaRPr lang="en-US" sz="1300" dirty="0"/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カレーグランプリ出場の近江牛サウナカリーをリニューアルし、ご飯類を立て直す。好調の麺類・デザートは継続訴求。</a:t>
                      </a:r>
                      <a:endParaRPr lang="en-US" sz="13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原価</a:t>
                      </a:r>
                      <a:endParaRPr lang="en-US" sz="13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仕入量を売上見込みに合わせて適正化し、日本食研・ブライス品など前月増加分の過剰発注を抑える。</a:t>
                      </a:r>
                      <a:endParaRPr lang="en-US" sz="1300" dirty="0"/>
                    </a:p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近江牛サウナカリーのリニューアルは原価設計を事前に確認し、原価率を予算33.4%に近づける。</a:t>
                      </a:r>
                      <a:endParaRPr lang="en-US" sz="13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人件費</a:t>
                      </a:r>
                      <a:endParaRPr lang="en-US" sz="13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モバイルオーダーの稼働が安定するまで人件費がやや上がる可能性あり。時給一律50円アップも加わるため、シフトコントロールを徹底する。</a:t>
                      </a:r>
                      <a:endParaRPr lang="en-US" sz="13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その他</a:t>
                      </a:r>
                      <a:endParaRPr lang="en-US" sz="13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モバイルオーダーの本格運用を開始。飲食客数・客単価の集計方法を確認し、正しい数値で管理する。</a:t>
                      </a:r>
                      <a:endParaRPr lang="en-US" sz="1300" dirty="0"/>
                    </a:p>
                  </a:txBody>
                  <a:tcPr marL="91440" marR="91440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da Monthly">
  <a:themeElements>
    <a:clrScheme name="Kanda Monthly">
      <a:dk1>
        <a:srgbClr val="262626"/>
      </a:dk1>
      <a:lt1>
        <a:srgbClr val="FFFFFF"/>
      </a:lt1>
      <a:dk2>
        <a:srgbClr val="595959"/>
      </a:dk2>
      <a:lt2>
        <a:srgbClr val="F3F5F4"/>
      </a:lt2>
      <a:accent1>
        <a:srgbClr val="2F5D50"/>
      </a:accent1>
      <a:accent2>
        <a:srgbClr val="BFBFBF"/>
      </a:accent2>
      <a:accent3>
        <a:srgbClr val="B23A3A"/>
      </a:accent3>
      <a:accent4>
        <a:srgbClr val="E6EEEB"/>
      </a:accent4>
      <a:accent5>
        <a:srgbClr val="8C8C8C"/>
      </a:accent5>
      <a:accent6>
        <a:srgbClr val="D9D9D9"/>
      </a:accent6>
      <a:hlink>
        <a:srgbClr val="2F5D50"/>
      </a:hlink>
      <a:folHlink>
        <a:srgbClr val="595959"/>
      </a:folHlink>
    </a:clrScheme>
    <a:fontScheme name="Kanda Monthly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RAKUSPA1010神田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2026年9月 社員会議資料</dc:title>
  <dc:subject>PptxGenJS Presentation</dc:subject>
  <dc:creator>RAKUSPA1010神田 飲食部門</dc:creator>
  <cp:lastModifiedBy>RAKUSPA1010神田 飲食部門</cp:lastModifiedBy>
  <cp:revision>1</cp:revision>
  <dcterms:created xsi:type="dcterms:W3CDTF">2026-10-09T11:37:22Z</dcterms:created>
  <dcterms:modified xsi:type="dcterms:W3CDTF">2026-10-09T11:37:22Z</dcterms:modified>
</cp:coreProperties>
</file>