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表紙" id="{37fcfc10-f069-72f4-d242-9606b96f97dd}">
          <p14:sldIdLst>
            <p14:sldId id="256"/>
          </p14:sldIdLst>
        </p14:section>
        <p14:section name="サマリー" id="{73681c52-9926-aff0-8c75-bc12f16ebb92}">
          <p14:sldIdLst>
            <p14:sldId id="257"/>
          </p14:sldIdLst>
        </p14:section>
        <p14:section name="コラボ抜き売上" id="{eb6e683b-8e3b-f388-e925-6149e291e17c}">
          <p14:sldIdLst>
            <p14:sldId id="258"/>
            <p14:sldId id="259"/>
          </p14:sldIdLst>
        </p14:section>
        <p14:section name="営業数値・コスト" id="{afe6e2ed-a5ad-d102-ca1d-c2c08212f209}">
          <p14:sldIdLst>
            <p14:sldId id="260"/>
            <p14:sldId id="261"/>
          </p14:sldIdLst>
        </p14:section>
        <p14:section name="TOP5前年比較" id="{6700cafb-389a-bc08-bb87-8000bfb440a0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振り返りと次月施策" id="{da04f97e-a226-60d0-7a66-04a0bf80f789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コラボ抜き売上</c:v>
                </c:pt>
              </c:strCache>
            </c:strRef>
          </c:tx>
          <c:spPr>
            <a:solidFill>
              <a:srgbClr val="0F8B8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B2B3A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2026年9月</c:v>
                  </c:pt>
                  <c:pt idx="1">
                    <c:v>2025年9月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4899</c:v>
                </c:pt>
                <c:pt idx="1">
                  <c:v>5031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コラボ売上</c:v>
                </c:pt>
              </c:strCache>
            </c:strRef>
          </c:tx>
          <c:spPr>
            <a:solidFill>
              <a:srgbClr val="DCE2E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B2B3A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2026年9月</c:v>
                  </c:pt>
                  <c:pt idx="1">
                    <c:v>2025年9月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3720</c:v>
                </c:pt>
                <c:pt idx="1">
                  <c:v>5411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1B2B3A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B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B3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2025年9月</c:v>
                </c:pt>
              </c:strCache>
            </c:strRef>
          </c:tx>
          <c:spPr>
            <a:solidFill>
              <a:srgbClr val="A9B4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B6B7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麺類</c:v>
                  </c:pt>
                  <c:pt idx="1">
                    <c:v>デザート類</c:v>
                  </c:pt>
                  <c:pt idx="2">
                    <c:v>一品料理</c:v>
                  </c:pt>
                  <c:pt idx="3">
                    <c:v>ソフトドリンク</c:v>
                  </c:pt>
                  <c:pt idx="4">
                    <c:v>ご飯類</c:v>
                  </c:pt>
                  <c:pt idx="5">
                    <c:v>アルコール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710.9</c:v>
                </c:pt>
                <c:pt idx="1">
                  <c:v>163.8</c:v>
                </c:pt>
                <c:pt idx="2">
                  <c:v>738.6</c:v>
                </c:pt>
                <c:pt idx="3">
                  <c:v>513.6</c:v>
                </c:pt>
                <c:pt idx="4">
                  <c:v>1935</c:v>
                </c:pt>
                <c:pt idx="5">
                  <c:v>897.8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2026年9月</c:v>
                </c:pt>
              </c:strCache>
            </c:strRef>
          </c:tx>
          <c:spPr>
            <a:solidFill>
              <a:srgbClr val="0F8B8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B6B7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麺類</c:v>
                  </c:pt>
                  <c:pt idx="1">
                    <c:v>デザート類</c:v>
                  </c:pt>
                  <c:pt idx="2">
                    <c:v>一品料理</c:v>
                  </c:pt>
                  <c:pt idx="3">
                    <c:v>ソフトドリンク</c:v>
                  </c:pt>
                  <c:pt idx="4">
                    <c:v>ご飯類</c:v>
                  </c:pt>
                  <c:pt idx="5">
                    <c:v>アルコール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900.9</c:v>
                </c:pt>
                <c:pt idx="1">
                  <c:v>209.4</c:v>
                </c:pt>
                <c:pt idx="2">
                  <c:v>788.5</c:v>
                </c:pt>
                <c:pt idx="3">
                  <c:v>526.9</c:v>
                </c:pt>
                <c:pt idx="4">
                  <c:v>1730.8</c:v>
                </c:pt>
                <c:pt idx="5">
                  <c:v>742.3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5B6B7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-1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B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2E7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B2B3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2026年9月の飲食部門の社員会議資料です。今月は全体売上が前年を大きく下回りましたが、コラボを除いた売上は97.4%と健闘しています。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全体売上は82.5%ですが、減少額1,823千円のうち1,691千円はコラボ売上の減少分です。コラボを除くと97.4%、入館者数97.5%とほぼ連動しており、店舗としての売上力は維持できています。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月一番お伝えしたいポイントです。全体売上は82.5%ですが、コラボを抜いた売上は4,899千円、前年比97.4%。入館者数97.5%とほぼ同じで、来館者1人あたりの店舗売上力は前年並みです。減少額の92.8%はコラボ売上の減少（68.7%）によるもの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コラボ抜きの内訳です。麺類が+190千円と最も伸び、デザートも128%。一方でご飯類が▲204千円、アルコールが▲155千円と落ち込みました。ご飯類の減少は看板の近江牛サウナカリーとロースカツカレーの出数減が主な要因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営業数値の一覧です。飲食売上は予算はちょうど達成（100.0%）ですが、前年比は82.5%。コラボ抜き売上の行を強調しています。飲食客数・客単価は集計方法の確認が必要なため参考値です。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原価率は42.6%で前年から8ポイント悪化。売上が落ちたのに仕入が下がっていません。人件費はモバイルオーダーのシステム変更対応で人員を厚くした影響で、前年比116.7%となりました。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ここからはカテゴリ別に、今年のTOP5と前年の比較を見ていきます。6カテゴリ中、麺類・デザート・一品・ソフトドリンクの4つが前年超え。ご飯類とアルコールが前年割れです。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ルコールは82.7%。マルエフは107%で首位に浮上しました。一方、前年1位のパイントグラスは162千円から105千円へ、前年3位のコインメックビール（94千円）は今年は売上なし。新商品のタパス付1010JUGビールが64千円で3位に入っ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ソフトドリンクは102.6%。リポスパは648杯・253千円で前年並みを維持。新商品リポスパコーラが121杯・55千円でいきなり2位。メロンソーダフロートも111%と好調です。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デザートは127.9%。ソフトクリームが33個から135個、売上4.1倍で首位に。パフェ3品は前年比75〜86%とやや減少しているので、ソフトクリームからパフェへの誘導が次の課題です。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麺類は126.7%。釜玉チーズカレーうどんが247食・124%で圧倒的な首位。新メニューの神田家ラーメンはライスセットと単品の2品で合計113千円とTOP5に2品ランクイン。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ご飯類は89.4%。看板の近江牛サウナカリーが462食から315食に減り▲174千円。プレミアムロースカツカレーも80%。大盛は今年別集計で122千円あります。10月のカレーグランプリ版リニューアルで巻き返します。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一品料理は106.8%。揚げ物盛り合わせが109%で首位キープ。新しいリポコーラセットの唐揚げ軍団が51千円で2位。ポテトフライ・マルゲリータは前年比86〜90%とやや減少。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良かった点と課題の整理です。コラボを除けば店舗の売上は前年並み。課題はご飯類・アルコールの回復と、コストのコントロールです。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10月はコラボ抜き売上の前年超えを目標にします。ビールLセットと近江牛サウナカリーのリニューアルが2本柱。コスト面は仕入の適正化とシフトコントロールを徹底します。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48840"/>
            <a:ext cx="86868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686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RAKUSPA1010神田　2026年9月 社員会議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IGHLIGH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RAKUSPA1010神田　2026年9月 社員会議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6002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RAKUSPA1010神田　飲食部門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4884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2026年9月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社員会議資料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033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飲食売上実績・コラボ抜き売上分析・コスト・次月施策</a:t>
            </a:r>
            <a:endParaRPr lang="en-US" sz="1800" dirty="0"/>
          </a:p>
        </p:txBody>
      </p:sp>
      <p:sp>
        <p:nvSpPr>
          <p:cNvPr id="5" name="meta"/>
          <p:cNvSpPr txBox="1"/>
          <p:nvPr/>
        </p:nvSpPr>
        <p:spPr>
          <a:xfrm>
            <a:off x="54864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報告日 2026年10月1日　／　作成 大平</a:t>
            </a:r>
            <a:endParaRPr lang="en-US" sz="1200" dirty="0"/>
          </a:p>
        </p:txBody>
      </p:sp>
      <p:sp>
        <p:nvSpPr>
          <p:cNvPr id="6" name="cover-circle"/>
          <p:cNvSpPr/>
          <p:nvPr/>
        </p:nvSpPr>
        <p:spPr>
          <a:xfrm>
            <a:off x="8732520" y="1737360"/>
            <a:ext cx="2926080" cy="2926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over-stat"/>
          <p:cNvSpPr txBox="1"/>
          <p:nvPr/>
        </p:nvSpPr>
        <p:spPr>
          <a:xfrm>
            <a:off x="8732520" y="1737360"/>
            <a:ext cx="2926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コラボ抜き売上</a:t>
            </a:r>
            <a:endParaRPr lang="en-US" sz="1400" dirty="0"/>
          </a:p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97.4%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前年比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9月サマリー：売上減の9割超はコラボ要因</a:t>
            </a:r>
            <a:endParaRPr lang="en-US" sz="3000" dirty="0"/>
          </a:p>
        </p:txBody>
      </p:sp>
      <p:sp>
        <p:nvSpPr>
          <p:cNvPr id="3" name="kpi-card-0"/>
          <p:cNvSpPr/>
          <p:nvPr/>
        </p:nvSpPr>
        <p:spPr>
          <a:xfrm>
            <a:off x="548640" y="137160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B3A">
                <a:alpha val="10000"/>
              </a:srgbClr>
            </a:outerShdw>
          </a:effectLst>
        </p:spPr>
      </p:sp>
      <p:sp>
        <p:nvSpPr>
          <p:cNvPr id="4" name="kpi-label-0"/>
          <p:cNvSpPr txBox="1"/>
          <p:nvPr/>
        </p:nvSpPr>
        <p:spPr>
          <a:xfrm>
            <a:off x="777240" y="157276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飲食売上（全体）</a:t>
            </a:r>
            <a:endParaRPr lang="en-US" sz="1300" dirty="0"/>
          </a:p>
        </p:txBody>
      </p:sp>
      <p:sp>
        <p:nvSpPr>
          <p:cNvPr id="5" name="kpi-val-0"/>
          <p:cNvSpPr txBox="1"/>
          <p:nvPr/>
        </p:nvSpPr>
        <p:spPr>
          <a:xfrm>
            <a:off x="777240" y="19659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8,619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千円</a:t>
            </a:r>
            <a:endParaRPr lang="en-US" sz="3600" dirty="0"/>
          </a:p>
        </p:txBody>
      </p:sp>
      <p:sp>
        <p:nvSpPr>
          <p:cNvPr id="6" name="kpi-yoy-0"/>
          <p:cNvSpPr txBox="1"/>
          <p:nvPr/>
        </p:nvSpPr>
        <p:spPr>
          <a:xfrm>
            <a:off x="777240" y="27432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前年比 </a:t>
            </a:r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82.5%</a:t>
            </a:r>
            <a:endParaRPr lang="en-US" sz="1200" dirty="0"/>
          </a:p>
        </p:txBody>
      </p:sp>
      <p:sp>
        <p:nvSpPr>
          <p:cNvPr id="7" name="kpi-diff-0"/>
          <p:cNvSpPr txBox="1"/>
          <p:nvPr/>
        </p:nvSpPr>
        <p:spPr>
          <a:xfrm>
            <a:off x="777240" y="31089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▲1,823千円</a:t>
            </a:r>
            <a:endParaRPr lang="en-US" sz="1200" dirty="0"/>
          </a:p>
        </p:txBody>
      </p:sp>
      <p:sp>
        <p:nvSpPr>
          <p:cNvPr id="8" name="kpi-card-1"/>
          <p:cNvSpPr/>
          <p:nvPr/>
        </p:nvSpPr>
        <p:spPr>
          <a:xfrm>
            <a:off x="3337560" y="137160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1B2B3A">
                <a:alpha val="10000"/>
              </a:srgbClr>
            </a:outerShdw>
          </a:effectLst>
        </p:spPr>
      </p:sp>
      <p:sp>
        <p:nvSpPr>
          <p:cNvPr id="9" name="kpi-label-1"/>
          <p:cNvSpPr txBox="1"/>
          <p:nvPr/>
        </p:nvSpPr>
        <p:spPr>
          <a:xfrm>
            <a:off x="3566160" y="157276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コラボ抜き飲食売上</a:t>
            </a:r>
            <a:endParaRPr lang="en-US" sz="1300" dirty="0"/>
          </a:p>
        </p:txBody>
      </p:sp>
      <p:sp>
        <p:nvSpPr>
          <p:cNvPr id="10" name="kpi-val-1"/>
          <p:cNvSpPr txBox="1"/>
          <p:nvPr/>
        </p:nvSpPr>
        <p:spPr>
          <a:xfrm>
            <a:off x="3566160" y="19659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4,899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 千円</a:t>
            </a:r>
            <a:endParaRPr lang="en-US" sz="3600" dirty="0"/>
          </a:p>
        </p:txBody>
      </p:sp>
      <p:sp>
        <p:nvSpPr>
          <p:cNvPr id="11" name="kpi-yoy-1"/>
          <p:cNvSpPr txBox="1"/>
          <p:nvPr/>
        </p:nvSpPr>
        <p:spPr>
          <a:xfrm>
            <a:off x="3566160" y="27432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前年比 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97.4%</a:t>
            </a:r>
            <a:endParaRPr lang="en-US" sz="1200" dirty="0"/>
          </a:p>
        </p:txBody>
      </p:sp>
      <p:sp>
        <p:nvSpPr>
          <p:cNvPr id="12" name="kpi-diff-1"/>
          <p:cNvSpPr txBox="1"/>
          <p:nvPr/>
        </p:nvSpPr>
        <p:spPr>
          <a:xfrm>
            <a:off x="3566160" y="31089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▲132千円</a:t>
            </a:r>
            <a:endParaRPr lang="en-US" sz="1200" dirty="0"/>
          </a:p>
        </p:txBody>
      </p:sp>
      <p:sp>
        <p:nvSpPr>
          <p:cNvPr id="13" name="kpi-card-2"/>
          <p:cNvSpPr/>
          <p:nvPr/>
        </p:nvSpPr>
        <p:spPr>
          <a:xfrm>
            <a:off x="6126480" y="137160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B3A">
                <a:alpha val="10000"/>
              </a:srgbClr>
            </a:outerShdw>
          </a:effectLst>
        </p:spPr>
      </p:sp>
      <p:sp>
        <p:nvSpPr>
          <p:cNvPr id="14" name="kpi-label-2"/>
          <p:cNvSpPr txBox="1"/>
          <p:nvPr/>
        </p:nvSpPr>
        <p:spPr>
          <a:xfrm>
            <a:off x="6355080" y="157276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コラボ飲食売上</a:t>
            </a:r>
            <a:endParaRPr lang="en-US" sz="1300" dirty="0"/>
          </a:p>
        </p:txBody>
      </p:sp>
      <p:sp>
        <p:nvSpPr>
          <p:cNvPr id="15" name="kpi-val-2"/>
          <p:cNvSpPr txBox="1"/>
          <p:nvPr/>
        </p:nvSpPr>
        <p:spPr>
          <a:xfrm>
            <a:off x="6355080" y="19659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3,720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千円</a:t>
            </a:r>
            <a:endParaRPr lang="en-US" sz="3600" dirty="0"/>
          </a:p>
        </p:txBody>
      </p:sp>
      <p:sp>
        <p:nvSpPr>
          <p:cNvPr id="16" name="kpi-yoy-2"/>
          <p:cNvSpPr txBox="1"/>
          <p:nvPr/>
        </p:nvSpPr>
        <p:spPr>
          <a:xfrm>
            <a:off x="6355080" y="27432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前年比 </a:t>
            </a:r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68.7%</a:t>
            </a:r>
            <a:endParaRPr lang="en-US" sz="1200" dirty="0"/>
          </a:p>
        </p:txBody>
      </p:sp>
      <p:sp>
        <p:nvSpPr>
          <p:cNvPr id="17" name="kpi-diff-2"/>
          <p:cNvSpPr txBox="1"/>
          <p:nvPr/>
        </p:nvSpPr>
        <p:spPr>
          <a:xfrm>
            <a:off x="6355080" y="31089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▲1,691千円</a:t>
            </a:r>
            <a:endParaRPr lang="en-US" sz="1200" dirty="0"/>
          </a:p>
        </p:txBody>
      </p:sp>
      <p:sp>
        <p:nvSpPr>
          <p:cNvPr id="18" name="kpi-card-3"/>
          <p:cNvSpPr/>
          <p:nvPr/>
        </p:nvSpPr>
        <p:spPr>
          <a:xfrm>
            <a:off x="8915400" y="137160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B3A">
                <a:alpha val="10000"/>
              </a:srgbClr>
            </a:outerShdw>
          </a:effectLst>
        </p:spPr>
      </p:sp>
      <p:sp>
        <p:nvSpPr>
          <p:cNvPr id="19" name="kpi-label-3"/>
          <p:cNvSpPr txBox="1"/>
          <p:nvPr/>
        </p:nvSpPr>
        <p:spPr>
          <a:xfrm>
            <a:off x="9144000" y="157276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入館者数</a:t>
            </a:r>
            <a:endParaRPr lang="en-US" sz="1300" dirty="0"/>
          </a:p>
        </p:txBody>
      </p:sp>
      <p:sp>
        <p:nvSpPr>
          <p:cNvPr id="20" name="kpi-val-3"/>
          <p:cNvSpPr txBox="1"/>
          <p:nvPr/>
        </p:nvSpPr>
        <p:spPr>
          <a:xfrm>
            <a:off x="9144000" y="19659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24,895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人</a:t>
            </a:r>
            <a:endParaRPr lang="en-US" sz="3600" dirty="0"/>
          </a:p>
        </p:txBody>
      </p:sp>
      <p:sp>
        <p:nvSpPr>
          <p:cNvPr id="21" name="kpi-yoy-3"/>
          <p:cNvSpPr txBox="1"/>
          <p:nvPr/>
        </p:nvSpPr>
        <p:spPr>
          <a:xfrm>
            <a:off x="9144000" y="27432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前年比 </a:t>
            </a:r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97.5%</a:t>
            </a:r>
            <a:endParaRPr lang="en-US" sz="1200" dirty="0"/>
          </a:p>
        </p:txBody>
      </p:sp>
      <p:sp>
        <p:nvSpPr>
          <p:cNvPr id="22" name="kpi-diff-3"/>
          <p:cNvSpPr txBox="1"/>
          <p:nvPr/>
        </p:nvSpPr>
        <p:spPr>
          <a:xfrm>
            <a:off x="9144000" y="31089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▲647人</a:t>
            </a:r>
            <a:endParaRPr lang="en-US" sz="1200" dirty="0"/>
          </a:p>
        </p:txBody>
      </p:sp>
      <p:sp>
        <p:nvSpPr>
          <p:cNvPr id="23" name="point-card-0"/>
          <p:cNvSpPr/>
          <p:nvPr/>
        </p:nvSpPr>
        <p:spPr>
          <a:xfrm>
            <a:off x="548640" y="3977640"/>
            <a:ext cx="3515258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point-pill-0-bg"/>
          <p:cNvSpPr/>
          <p:nvPr/>
        </p:nvSpPr>
        <p:spPr>
          <a:xfrm>
            <a:off x="777240" y="4206240"/>
            <a:ext cx="100584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point-pill-0"/>
          <p:cNvSpPr txBox="1"/>
          <p:nvPr/>
        </p:nvSpPr>
        <p:spPr>
          <a:xfrm>
            <a:off x="777240" y="42062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売上</a:t>
            </a:r>
            <a:endParaRPr lang="en-US" sz="1200" dirty="0"/>
          </a:p>
        </p:txBody>
      </p:sp>
      <p:sp>
        <p:nvSpPr>
          <p:cNvPr id="26" name="point-text-0"/>
          <p:cNvSpPr txBox="1"/>
          <p:nvPr/>
        </p:nvSpPr>
        <p:spPr>
          <a:xfrm>
            <a:off x="777240" y="4663440"/>
            <a:ext cx="30580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全体▲1,823千円のうち▲1,691千円（92.8%）がコラボ売上の減少。店舗の地力は前年並みを維持。</a:t>
            </a:r>
            <a:endParaRPr lang="en-US" sz="1400" dirty="0"/>
          </a:p>
        </p:txBody>
      </p:sp>
      <p:sp>
        <p:nvSpPr>
          <p:cNvPr id="27" name="point-card-1"/>
          <p:cNvSpPr/>
          <p:nvPr/>
        </p:nvSpPr>
        <p:spPr>
          <a:xfrm>
            <a:off x="4338218" y="3977640"/>
            <a:ext cx="3515258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8" name="point-pill-1-bg"/>
          <p:cNvSpPr/>
          <p:nvPr/>
        </p:nvSpPr>
        <p:spPr>
          <a:xfrm>
            <a:off x="4566818" y="4206240"/>
            <a:ext cx="1005840" cy="310896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9" name="point-pill-1"/>
          <p:cNvSpPr txBox="1"/>
          <p:nvPr/>
        </p:nvSpPr>
        <p:spPr>
          <a:xfrm>
            <a:off x="4566818" y="42062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商品</a:t>
            </a:r>
            <a:endParaRPr lang="en-US" sz="1200" dirty="0"/>
          </a:p>
        </p:txBody>
      </p:sp>
      <p:sp>
        <p:nvSpPr>
          <p:cNvPr id="30" name="point-text-1"/>
          <p:cNvSpPr txBox="1"/>
          <p:nvPr/>
        </p:nvSpPr>
        <p:spPr>
          <a:xfrm>
            <a:off x="4566818" y="4663440"/>
            <a:ext cx="30580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麺類127%・デザート128%・一品107%が伸長。ご飯類89%・アルコール83%が課題。</a:t>
            </a:r>
            <a:endParaRPr lang="en-US" sz="1400" dirty="0"/>
          </a:p>
        </p:txBody>
      </p:sp>
      <p:sp>
        <p:nvSpPr>
          <p:cNvPr id="31" name="point-card-2"/>
          <p:cNvSpPr/>
          <p:nvPr/>
        </p:nvSpPr>
        <p:spPr>
          <a:xfrm>
            <a:off x="8127797" y="3977640"/>
            <a:ext cx="3515258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2" name="point-pill-2-bg"/>
          <p:cNvSpPr/>
          <p:nvPr/>
        </p:nvSpPr>
        <p:spPr>
          <a:xfrm>
            <a:off x="8356397" y="4206240"/>
            <a:ext cx="1005840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3" name="point-pill-2"/>
          <p:cNvSpPr txBox="1"/>
          <p:nvPr/>
        </p:nvSpPr>
        <p:spPr>
          <a:xfrm>
            <a:off x="8356397" y="42062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コスト</a:t>
            </a:r>
            <a:endParaRPr lang="en-US" sz="1200" dirty="0"/>
          </a:p>
        </p:txBody>
      </p:sp>
      <p:sp>
        <p:nvSpPr>
          <p:cNvPr id="34" name="point-text-2"/>
          <p:cNvSpPr txBox="1"/>
          <p:nvPr/>
        </p:nvSpPr>
        <p:spPr>
          <a:xfrm>
            <a:off x="8356397" y="4663440"/>
            <a:ext cx="30580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原価率42.6%（前年+8.0pt）、人件費率33.0%（+9.6pt）。FL75.6%と大幅悪化。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コラボ抜き売上は前年比97.4%　入館者数並みを確保</a:t>
            </a:r>
            <a:endParaRPr lang="en-US" sz="3000" dirty="0"/>
          </a:p>
        </p:txBody>
      </p:sp>
      <p:sp>
        <p:nvSpPr>
          <p:cNvPr id="3" name="focus-pill-bg"/>
          <p:cNvSpPr/>
          <p:nvPr/>
        </p:nvSpPr>
        <p:spPr>
          <a:xfrm>
            <a:off x="548640" y="1417320"/>
            <a:ext cx="2377440" cy="310896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focus-pill"/>
          <p:cNvSpPr txBox="1"/>
          <p:nvPr/>
        </p:nvSpPr>
        <p:spPr>
          <a:xfrm>
            <a:off x="548640" y="14173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★ 今月の注目ポイント</a:t>
            </a:r>
            <a:endParaRPr lang="en-US" sz="1200" dirty="0"/>
          </a:p>
        </p:txBody>
      </p:sp>
      <p:sp>
        <p:nvSpPr>
          <p:cNvPr id="5" name="big-label"/>
          <p:cNvSpPr txBox="1"/>
          <p:nvPr/>
        </p:nvSpPr>
        <p:spPr>
          <a:xfrm>
            <a:off x="548640" y="1920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コラボ抜き飲食売上 前年比</a:t>
            </a:r>
            <a:endParaRPr lang="en-US" sz="1600" dirty="0"/>
          </a:p>
        </p:txBody>
      </p:sp>
      <p:sp>
        <p:nvSpPr>
          <p:cNvPr id="6" name="big-stat"/>
          <p:cNvSpPr txBox="1"/>
          <p:nvPr/>
        </p:nvSpPr>
        <p:spPr>
          <a:xfrm>
            <a:off x="548640" y="228600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chemeClr val="accent1"/>
                </a:solidFill>
              </a:rPr>
              <a:t>97.4%</a:t>
            </a:r>
            <a:endParaRPr lang="en-US" sz="8800" dirty="0"/>
          </a:p>
        </p:txBody>
      </p:sp>
      <p:sp>
        <p:nvSpPr>
          <p:cNvPr id="7" name="big-sub"/>
          <p:cNvSpPr txBox="1"/>
          <p:nvPr/>
        </p:nvSpPr>
        <p:spPr>
          <a:xfrm>
            <a:off x="548640" y="36118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4,899千円（前年5,031千円／▲132千円）</a:t>
            </a:r>
            <a:endParaRPr lang="en-US" sz="1500" dirty="0"/>
          </a:p>
        </p:txBody>
      </p:sp>
      <p:sp>
        <p:nvSpPr>
          <p:cNvPr id="8" name="cmp-bg-0"/>
          <p:cNvSpPr/>
          <p:nvPr/>
        </p:nvSpPr>
        <p:spPr>
          <a:xfrm>
            <a:off x="548640" y="4251960"/>
            <a:ext cx="4937760" cy="411480"/>
          </a:xfrm>
          <a:prstGeom prst="roundRect">
            <a:avLst>
              <a:gd name="adj" fmla="val 1777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cmp-label-0"/>
          <p:cNvSpPr txBox="1"/>
          <p:nvPr/>
        </p:nvSpPr>
        <p:spPr>
          <a:xfrm>
            <a:off x="731520" y="42519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飲食売上（全体）</a:t>
            </a:r>
            <a:endParaRPr lang="en-US" sz="1300" dirty="0"/>
          </a:p>
        </p:txBody>
      </p:sp>
      <p:sp>
        <p:nvSpPr>
          <p:cNvPr id="10" name="cmp-yoy-0"/>
          <p:cNvSpPr txBox="1"/>
          <p:nvPr/>
        </p:nvSpPr>
        <p:spPr>
          <a:xfrm>
            <a:off x="2926080" y="42519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82.5%</a:t>
            </a:r>
            <a:endParaRPr lang="en-US" sz="1500" dirty="0"/>
          </a:p>
        </p:txBody>
      </p:sp>
      <p:sp>
        <p:nvSpPr>
          <p:cNvPr id="11" name="cmp-diff-0"/>
          <p:cNvSpPr txBox="1"/>
          <p:nvPr/>
        </p:nvSpPr>
        <p:spPr>
          <a:xfrm>
            <a:off x="4114800" y="425196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▲1,823</a:t>
            </a:r>
            <a:endParaRPr lang="en-US" sz="1200" dirty="0"/>
          </a:p>
        </p:txBody>
      </p:sp>
      <p:sp>
        <p:nvSpPr>
          <p:cNvPr id="12" name="cmp-bg-1"/>
          <p:cNvSpPr/>
          <p:nvPr/>
        </p:nvSpPr>
        <p:spPr>
          <a:xfrm>
            <a:off x="548640" y="4754880"/>
            <a:ext cx="4937760" cy="411480"/>
          </a:xfrm>
          <a:prstGeom prst="roundRect">
            <a:avLst>
              <a:gd name="adj" fmla="val 1777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cmp-label-1"/>
          <p:cNvSpPr txBox="1"/>
          <p:nvPr/>
        </p:nvSpPr>
        <p:spPr>
          <a:xfrm>
            <a:off x="731520" y="4754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コラボ売上</a:t>
            </a:r>
            <a:endParaRPr lang="en-US" sz="1300" dirty="0"/>
          </a:p>
        </p:txBody>
      </p:sp>
      <p:sp>
        <p:nvSpPr>
          <p:cNvPr id="14" name="cmp-yoy-1"/>
          <p:cNvSpPr txBox="1"/>
          <p:nvPr/>
        </p:nvSpPr>
        <p:spPr>
          <a:xfrm>
            <a:off x="2926080" y="47548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68.7%</a:t>
            </a:r>
            <a:endParaRPr lang="en-US" sz="1500" dirty="0"/>
          </a:p>
        </p:txBody>
      </p:sp>
      <p:sp>
        <p:nvSpPr>
          <p:cNvPr id="15" name="cmp-diff-1"/>
          <p:cNvSpPr txBox="1"/>
          <p:nvPr/>
        </p:nvSpPr>
        <p:spPr>
          <a:xfrm>
            <a:off x="4114800" y="475488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▲1,691</a:t>
            </a:r>
            <a:endParaRPr lang="en-US" sz="1200" dirty="0"/>
          </a:p>
        </p:txBody>
      </p:sp>
      <p:sp>
        <p:nvSpPr>
          <p:cNvPr id="16" name="cmp-bg-2"/>
          <p:cNvSpPr/>
          <p:nvPr/>
        </p:nvSpPr>
        <p:spPr>
          <a:xfrm>
            <a:off x="548640" y="5257800"/>
            <a:ext cx="4937760" cy="411480"/>
          </a:xfrm>
          <a:prstGeom prst="roundRect">
            <a:avLst>
              <a:gd name="adj" fmla="val 1777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cmp-label-2"/>
          <p:cNvSpPr txBox="1"/>
          <p:nvPr/>
        </p:nvSpPr>
        <p:spPr>
          <a:xfrm>
            <a:off x="731520" y="5257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入館者数</a:t>
            </a:r>
            <a:endParaRPr lang="en-US" sz="1300" dirty="0"/>
          </a:p>
        </p:txBody>
      </p:sp>
      <p:sp>
        <p:nvSpPr>
          <p:cNvPr id="18" name="cmp-yoy-2"/>
          <p:cNvSpPr txBox="1"/>
          <p:nvPr/>
        </p:nvSpPr>
        <p:spPr>
          <a:xfrm>
            <a:off x="2926080" y="5257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97.5%</a:t>
            </a:r>
            <a:endParaRPr lang="en-US" sz="1500" dirty="0"/>
          </a:p>
        </p:txBody>
      </p:sp>
      <p:sp>
        <p:nvSpPr>
          <p:cNvPr id="19" name="cmp-diff-2"/>
          <p:cNvSpPr txBox="1"/>
          <p:nvPr/>
        </p:nvSpPr>
        <p:spPr>
          <a:xfrm>
            <a:off x="4114800" y="52578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▲647人</a:t>
            </a:r>
            <a:endParaRPr lang="en-US" sz="1200" dirty="0"/>
          </a:p>
        </p:txBody>
      </p:sp>
      <p:sp>
        <p:nvSpPr>
          <p:cNvPr id="20" name="chart-card"/>
          <p:cNvSpPr/>
          <p:nvPr/>
        </p:nvSpPr>
        <p:spPr>
          <a:xfrm>
            <a:off x="5989320" y="1417320"/>
            <a:ext cx="5650992" cy="4663440"/>
          </a:xfrm>
          <a:prstGeom prst="roundRect">
            <a:avLst>
              <a:gd name="adj" fmla="val 2353"/>
            </a:avLst>
          </a:prstGeom>
          <a:solidFill>
            <a:schemeClr val="bg1"/>
          </a:solidFill>
          <a:ln w="9525">
            <a:solidFill>
              <a:schemeClr val="bg1"/>
            </a:solidFill>
            <a:prstDash val="solid"/>
          </a:ln>
        </p:spPr>
      </p:sp>
      <p:sp>
        <p:nvSpPr>
          <p:cNvPr id="21" name="chart-title"/>
          <p:cNvSpPr txBox="1"/>
          <p:nvPr/>
        </p:nvSpPr>
        <p:spPr>
          <a:xfrm>
            <a:off x="6263640" y="16002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飲食売上の内訳（千円）</a:t>
            </a:r>
            <a:endParaRPr lang="en-US" sz="14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6172200" y="1965960"/>
          <a:ext cx="530352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chart-note"/>
          <p:cNvSpPr txBox="1"/>
          <p:nvPr/>
        </p:nvSpPr>
        <p:spPr>
          <a:xfrm>
            <a:off x="6263640" y="5120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売上減少 ▲1,823千円 のうち </a:t>
            </a:r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92.8% がコラボ要因</a:t>
            </a:r>
            <a:endParaRPr lang="en-US" sz="1400" dirty="0"/>
          </a:p>
        </p:txBody>
      </p:sp>
      <p:sp>
        <p:nvSpPr>
          <p:cNvPr id="24" name="chart-note2"/>
          <p:cNvSpPr txBox="1"/>
          <p:nvPr/>
        </p:nvSpPr>
        <p:spPr>
          <a:xfrm>
            <a:off x="6263640" y="54864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コラボ抜き売上は入館者数（97.5%）とほぼ同水準で推移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コラボ抜きカテゴリ別：麺類・デザートが牽引</a:t>
            </a:r>
            <a:endParaRPr lang="en-US" sz="3000" dirty="0"/>
          </a:p>
        </p:txBody>
      </p:sp>
      <p:sp>
        <p:nvSpPr>
          <p:cNvPr id="3" name="chart-card"/>
          <p:cNvSpPr/>
          <p:nvPr/>
        </p:nvSpPr>
        <p:spPr>
          <a:xfrm>
            <a:off x="548640" y="1325880"/>
            <a:ext cx="6949440" cy="48006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B3A">
                <a:alpha val="10000"/>
              </a:srgbClr>
            </a:outerShdw>
          </a:effectLst>
        </p:spPr>
      </p:sp>
      <p:sp>
        <p:nvSpPr>
          <p:cNvPr id="4" name="chart-title"/>
          <p:cNvSpPr txBox="1"/>
          <p:nvPr/>
        </p:nvSpPr>
        <p:spPr>
          <a:xfrm>
            <a:off x="822960" y="14813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カテゴリ別売上 前年比較（千円）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85800" y="1828800"/>
          <a:ext cx="66751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yoy-title"/>
          <p:cNvSpPr txBox="1"/>
          <p:nvPr/>
        </p:nvSpPr>
        <p:spPr>
          <a:xfrm>
            <a:off x="7818120" y="1371600"/>
            <a:ext cx="38249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前年比（前年差 千円）</a:t>
            </a:r>
            <a:endParaRPr lang="en-US" sz="1400" dirty="0"/>
          </a:p>
        </p:txBody>
      </p:sp>
      <p:sp>
        <p:nvSpPr>
          <p:cNvPr id="7" name="yoy-bg-0"/>
          <p:cNvSpPr/>
          <p:nvPr/>
        </p:nvSpPr>
        <p:spPr>
          <a:xfrm>
            <a:off x="7818120" y="1783080"/>
            <a:ext cx="3824935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yoy-cat-0"/>
          <p:cNvSpPr txBox="1"/>
          <p:nvPr/>
        </p:nvSpPr>
        <p:spPr>
          <a:xfrm>
            <a:off x="8001000" y="178308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麺類</a:t>
            </a:r>
            <a:endParaRPr lang="en-US" sz="1300" dirty="0"/>
          </a:p>
        </p:txBody>
      </p:sp>
      <p:sp>
        <p:nvSpPr>
          <p:cNvPr id="9" name="yoy-val-0"/>
          <p:cNvSpPr txBox="1"/>
          <p:nvPr/>
        </p:nvSpPr>
        <p:spPr>
          <a:xfrm>
            <a:off x="9509760" y="1783080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126.7%</a:t>
            </a:r>
            <a:endParaRPr lang="en-US" sz="1500" dirty="0"/>
          </a:p>
        </p:txBody>
      </p:sp>
      <p:sp>
        <p:nvSpPr>
          <p:cNvPr id="10" name="yoy-diff-0"/>
          <p:cNvSpPr txBox="1"/>
          <p:nvPr/>
        </p:nvSpPr>
        <p:spPr>
          <a:xfrm>
            <a:off x="10561320" y="1783080"/>
            <a:ext cx="8988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+190</a:t>
            </a:r>
            <a:endParaRPr lang="en-US" sz="1200" dirty="0"/>
          </a:p>
        </p:txBody>
      </p:sp>
      <p:sp>
        <p:nvSpPr>
          <p:cNvPr id="11" name="yoy-bg-1"/>
          <p:cNvSpPr/>
          <p:nvPr/>
        </p:nvSpPr>
        <p:spPr>
          <a:xfrm>
            <a:off x="7818120" y="2350008"/>
            <a:ext cx="3824935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yoy-cat-1"/>
          <p:cNvSpPr txBox="1"/>
          <p:nvPr/>
        </p:nvSpPr>
        <p:spPr>
          <a:xfrm>
            <a:off x="8001000" y="2350008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デザート類</a:t>
            </a:r>
            <a:endParaRPr lang="en-US" sz="1300" dirty="0"/>
          </a:p>
        </p:txBody>
      </p:sp>
      <p:sp>
        <p:nvSpPr>
          <p:cNvPr id="13" name="yoy-val-1"/>
          <p:cNvSpPr txBox="1"/>
          <p:nvPr/>
        </p:nvSpPr>
        <p:spPr>
          <a:xfrm>
            <a:off x="9509760" y="2350008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127.9%</a:t>
            </a:r>
            <a:endParaRPr lang="en-US" sz="1500" dirty="0"/>
          </a:p>
        </p:txBody>
      </p:sp>
      <p:sp>
        <p:nvSpPr>
          <p:cNvPr id="14" name="yoy-diff-1"/>
          <p:cNvSpPr txBox="1"/>
          <p:nvPr/>
        </p:nvSpPr>
        <p:spPr>
          <a:xfrm>
            <a:off x="10561320" y="2350008"/>
            <a:ext cx="8988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+46</a:t>
            </a:r>
            <a:endParaRPr lang="en-US" sz="1200" dirty="0"/>
          </a:p>
        </p:txBody>
      </p:sp>
      <p:sp>
        <p:nvSpPr>
          <p:cNvPr id="15" name="yoy-bg-2"/>
          <p:cNvSpPr/>
          <p:nvPr/>
        </p:nvSpPr>
        <p:spPr>
          <a:xfrm>
            <a:off x="7818120" y="2916936"/>
            <a:ext cx="3824935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yoy-cat-2"/>
          <p:cNvSpPr txBox="1"/>
          <p:nvPr/>
        </p:nvSpPr>
        <p:spPr>
          <a:xfrm>
            <a:off x="8001000" y="2916936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一品料理</a:t>
            </a:r>
            <a:endParaRPr lang="en-US" sz="1300" dirty="0"/>
          </a:p>
        </p:txBody>
      </p:sp>
      <p:sp>
        <p:nvSpPr>
          <p:cNvPr id="17" name="yoy-val-2"/>
          <p:cNvSpPr txBox="1"/>
          <p:nvPr/>
        </p:nvSpPr>
        <p:spPr>
          <a:xfrm>
            <a:off x="9509760" y="2916936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106.8%</a:t>
            </a:r>
            <a:endParaRPr lang="en-US" sz="1500" dirty="0"/>
          </a:p>
        </p:txBody>
      </p:sp>
      <p:sp>
        <p:nvSpPr>
          <p:cNvPr id="18" name="yoy-diff-2"/>
          <p:cNvSpPr txBox="1"/>
          <p:nvPr/>
        </p:nvSpPr>
        <p:spPr>
          <a:xfrm>
            <a:off x="10561320" y="2916936"/>
            <a:ext cx="8988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+50</a:t>
            </a:r>
            <a:endParaRPr lang="en-US" sz="1200" dirty="0"/>
          </a:p>
        </p:txBody>
      </p:sp>
      <p:sp>
        <p:nvSpPr>
          <p:cNvPr id="19" name="yoy-bg-3"/>
          <p:cNvSpPr/>
          <p:nvPr/>
        </p:nvSpPr>
        <p:spPr>
          <a:xfrm>
            <a:off x="7818120" y="3483864"/>
            <a:ext cx="3824935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yoy-cat-3"/>
          <p:cNvSpPr txBox="1"/>
          <p:nvPr/>
        </p:nvSpPr>
        <p:spPr>
          <a:xfrm>
            <a:off x="8001000" y="3483864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ソフトドリンク</a:t>
            </a:r>
            <a:endParaRPr lang="en-US" sz="1300" dirty="0"/>
          </a:p>
        </p:txBody>
      </p:sp>
      <p:sp>
        <p:nvSpPr>
          <p:cNvPr id="21" name="yoy-val-3"/>
          <p:cNvSpPr txBox="1"/>
          <p:nvPr/>
        </p:nvSpPr>
        <p:spPr>
          <a:xfrm>
            <a:off x="9509760" y="3483864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102.6%</a:t>
            </a:r>
            <a:endParaRPr lang="en-US" sz="1500" dirty="0"/>
          </a:p>
        </p:txBody>
      </p:sp>
      <p:sp>
        <p:nvSpPr>
          <p:cNvPr id="22" name="yoy-diff-3"/>
          <p:cNvSpPr txBox="1"/>
          <p:nvPr/>
        </p:nvSpPr>
        <p:spPr>
          <a:xfrm>
            <a:off x="10561320" y="3483864"/>
            <a:ext cx="8988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+13</a:t>
            </a:r>
            <a:endParaRPr lang="en-US" sz="1200" dirty="0"/>
          </a:p>
        </p:txBody>
      </p:sp>
      <p:sp>
        <p:nvSpPr>
          <p:cNvPr id="23" name="yoy-bg-4"/>
          <p:cNvSpPr/>
          <p:nvPr/>
        </p:nvSpPr>
        <p:spPr>
          <a:xfrm>
            <a:off x="7818120" y="4050792"/>
            <a:ext cx="3824935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yoy-cat-4"/>
          <p:cNvSpPr txBox="1"/>
          <p:nvPr/>
        </p:nvSpPr>
        <p:spPr>
          <a:xfrm>
            <a:off x="8001000" y="40507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ご飯類</a:t>
            </a:r>
            <a:endParaRPr lang="en-US" sz="1300" dirty="0"/>
          </a:p>
        </p:txBody>
      </p:sp>
      <p:sp>
        <p:nvSpPr>
          <p:cNvPr id="25" name="yoy-val-4"/>
          <p:cNvSpPr txBox="1"/>
          <p:nvPr/>
        </p:nvSpPr>
        <p:spPr>
          <a:xfrm>
            <a:off x="9509760" y="4050792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89.4%</a:t>
            </a:r>
            <a:endParaRPr lang="en-US" sz="1500" dirty="0"/>
          </a:p>
        </p:txBody>
      </p:sp>
      <p:sp>
        <p:nvSpPr>
          <p:cNvPr id="26" name="yoy-diff-4"/>
          <p:cNvSpPr txBox="1"/>
          <p:nvPr/>
        </p:nvSpPr>
        <p:spPr>
          <a:xfrm>
            <a:off x="10561320" y="4050792"/>
            <a:ext cx="8988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▲204</a:t>
            </a:r>
            <a:endParaRPr lang="en-US" sz="1200" dirty="0"/>
          </a:p>
        </p:txBody>
      </p:sp>
      <p:sp>
        <p:nvSpPr>
          <p:cNvPr id="27" name="yoy-bg-5"/>
          <p:cNvSpPr/>
          <p:nvPr/>
        </p:nvSpPr>
        <p:spPr>
          <a:xfrm>
            <a:off x="7818120" y="4617720"/>
            <a:ext cx="3824935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yoy-cat-5"/>
          <p:cNvSpPr txBox="1"/>
          <p:nvPr/>
        </p:nvSpPr>
        <p:spPr>
          <a:xfrm>
            <a:off x="8001000" y="461772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アルコール</a:t>
            </a:r>
            <a:endParaRPr lang="en-US" sz="1300" dirty="0"/>
          </a:p>
        </p:txBody>
      </p:sp>
      <p:sp>
        <p:nvSpPr>
          <p:cNvPr id="29" name="yoy-val-5"/>
          <p:cNvSpPr txBox="1"/>
          <p:nvPr/>
        </p:nvSpPr>
        <p:spPr>
          <a:xfrm>
            <a:off x="9509760" y="4617720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82.7%</a:t>
            </a:r>
            <a:endParaRPr lang="en-US" sz="1500" dirty="0"/>
          </a:p>
        </p:txBody>
      </p:sp>
      <p:sp>
        <p:nvSpPr>
          <p:cNvPr id="30" name="yoy-diff-5"/>
          <p:cNvSpPr txBox="1"/>
          <p:nvPr/>
        </p:nvSpPr>
        <p:spPr>
          <a:xfrm>
            <a:off x="10561320" y="4617720"/>
            <a:ext cx="8988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▲155</a:t>
            </a:r>
            <a:endParaRPr lang="en-US" sz="1200" dirty="0"/>
          </a:p>
        </p:txBody>
      </p:sp>
      <p:sp>
        <p:nvSpPr>
          <p:cNvPr id="31" name="yoy-note"/>
          <p:cNvSpPr txBox="1"/>
          <p:nvPr/>
        </p:nvSpPr>
        <p:spPr>
          <a:xfrm>
            <a:off x="7818120" y="5257800"/>
            <a:ext cx="38249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ご飯類の減少は近江牛サウナカリー（▲174千円）とロースカツカレー（▲82千円）が主因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営業数値一覧</a:t>
            </a:r>
            <a:endParaRPr lang="en-US" sz="3000" dirty="0"/>
          </a:p>
        </p:txBody>
      </p:sp>
      <p:graphicFrame>
        <p:nvGraphicFramePr>
          <p:cNvPr id="6" name="kpi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34440"/>
                <a:gridCol w="1234440"/>
                <a:gridCol w="1280160"/>
                <a:gridCol w="1234440"/>
                <a:gridCol w="1234440"/>
                <a:gridCol w="1310335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項目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予算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実績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前年実績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予算比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前年比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前年差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入館者数（人）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25,680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24,895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25,542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96.9%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97.5%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▲647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飲食売上高（千円）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8,618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8,619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10,442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100.0%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</a:rPr>
                        <a:t>82.5%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▲1,823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コラボ抜き飲食売上高（千円）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4,899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5,031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97.4%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▲132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コラボ飲食売上高（千円）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3,720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5,411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</a:rPr>
                        <a:t>68.7%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▲1,691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飲食客数（人）※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15,851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16,084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98.6%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▲233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飲食客単価（円）※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336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346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409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103.2%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</a:rPr>
                        <a:t>84.7%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▲63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販売点数（点）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9,466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21,384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</a:rPr>
                        <a:t>44.3%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▲11,918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able-note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※ 飲食客数15,851人が販売点数9,466点を上回っており、集計方法に確認が必要なため飲食客数・客単価は参考値扱い。販売点数も前年はセレクト等の計上方法が異なる可能性あり。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コスト：FLコスト75.6%と大幅に悪化</a:t>
            </a:r>
            <a:endParaRPr lang="en-US" sz="3000" dirty="0"/>
          </a:p>
        </p:txBody>
      </p:sp>
      <p:sp>
        <p:nvSpPr>
          <p:cNvPr id="3" name="cost-card-0"/>
          <p:cNvSpPr/>
          <p:nvPr/>
        </p:nvSpPr>
        <p:spPr>
          <a:xfrm>
            <a:off x="548640" y="1325880"/>
            <a:ext cx="351525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B3A">
                <a:alpha val="10000"/>
              </a:srgbClr>
            </a:outerShdw>
          </a:effectLst>
        </p:spPr>
      </p:sp>
      <p:sp>
        <p:nvSpPr>
          <p:cNvPr id="4" name="cost-label-0"/>
          <p:cNvSpPr txBox="1"/>
          <p:nvPr/>
        </p:nvSpPr>
        <p:spPr>
          <a:xfrm>
            <a:off x="822960" y="155448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原価率（Fコスト）</a:t>
            </a:r>
            <a:endParaRPr lang="en-US" sz="1400" dirty="0"/>
          </a:p>
        </p:txBody>
      </p:sp>
      <p:sp>
        <p:nvSpPr>
          <p:cNvPr id="5" name="cost-val-0"/>
          <p:cNvSpPr txBox="1"/>
          <p:nvPr/>
        </p:nvSpPr>
        <p:spPr>
          <a:xfrm>
            <a:off x="822960" y="192024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42.6%</a:t>
            </a:r>
            <a:endParaRPr lang="en-US" sz="4400" dirty="0"/>
          </a:p>
        </p:txBody>
      </p:sp>
      <p:sp>
        <p:nvSpPr>
          <p:cNvPr id="6" name="cost-diff-0-bg"/>
          <p:cNvSpPr/>
          <p:nvPr/>
        </p:nvSpPr>
        <p:spPr>
          <a:xfrm>
            <a:off x="2148840" y="2770632"/>
            <a:ext cx="1143000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cost-diff-0"/>
          <p:cNvSpPr txBox="1"/>
          <p:nvPr/>
        </p:nvSpPr>
        <p:spPr>
          <a:xfrm>
            <a:off x="2148840" y="277063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+8.0pt</a:t>
            </a:r>
            <a:endParaRPr lang="en-US" sz="1200" dirty="0"/>
          </a:p>
        </p:txBody>
      </p:sp>
      <p:sp>
        <p:nvSpPr>
          <p:cNvPr id="8" name="cost-prev-0"/>
          <p:cNvSpPr txBox="1"/>
          <p:nvPr/>
        </p:nvSpPr>
        <p:spPr>
          <a:xfrm>
            <a:off x="822960" y="278892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前年 34.7%</a:t>
            </a:r>
            <a:endParaRPr lang="en-US" sz="1200" dirty="0"/>
          </a:p>
        </p:txBody>
      </p:sp>
      <p:sp>
        <p:nvSpPr>
          <p:cNvPr id="9" name="cost-sub-0"/>
          <p:cNvSpPr txBox="1"/>
          <p:nvPr/>
        </p:nvSpPr>
        <p:spPr>
          <a:xfrm>
            <a:off x="822960" y="310896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原価 3,675千円（前年比101.5%）／予算33.4%</a:t>
            </a:r>
            <a:endParaRPr lang="en-US" sz="1100" dirty="0"/>
          </a:p>
        </p:txBody>
      </p:sp>
      <p:sp>
        <p:nvSpPr>
          <p:cNvPr id="10" name="cost-card-1"/>
          <p:cNvSpPr/>
          <p:nvPr/>
        </p:nvSpPr>
        <p:spPr>
          <a:xfrm>
            <a:off x="4338218" y="1325880"/>
            <a:ext cx="351525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B3A">
                <a:alpha val="10000"/>
              </a:srgbClr>
            </a:outerShdw>
          </a:effectLst>
        </p:spPr>
      </p:sp>
      <p:sp>
        <p:nvSpPr>
          <p:cNvPr id="11" name="cost-label-1"/>
          <p:cNvSpPr txBox="1"/>
          <p:nvPr/>
        </p:nvSpPr>
        <p:spPr>
          <a:xfrm>
            <a:off x="4612538" y="155448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人件費率（Lコスト）</a:t>
            </a:r>
            <a:endParaRPr lang="en-US" sz="1400" dirty="0"/>
          </a:p>
        </p:txBody>
      </p:sp>
      <p:sp>
        <p:nvSpPr>
          <p:cNvPr id="12" name="cost-val-1"/>
          <p:cNvSpPr txBox="1"/>
          <p:nvPr/>
        </p:nvSpPr>
        <p:spPr>
          <a:xfrm>
            <a:off x="4612538" y="192024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33.0%</a:t>
            </a:r>
            <a:endParaRPr lang="en-US" sz="4400" dirty="0"/>
          </a:p>
        </p:txBody>
      </p:sp>
      <p:sp>
        <p:nvSpPr>
          <p:cNvPr id="13" name="cost-diff-1-bg"/>
          <p:cNvSpPr/>
          <p:nvPr/>
        </p:nvSpPr>
        <p:spPr>
          <a:xfrm>
            <a:off x="5938418" y="2770632"/>
            <a:ext cx="1143000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cost-diff-1"/>
          <p:cNvSpPr txBox="1"/>
          <p:nvPr/>
        </p:nvSpPr>
        <p:spPr>
          <a:xfrm>
            <a:off x="5938418" y="277063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+9.6pt</a:t>
            </a:r>
            <a:endParaRPr lang="en-US" sz="1200" dirty="0"/>
          </a:p>
        </p:txBody>
      </p:sp>
      <p:sp>
        <p:nvSpPr>
          <p:cNvPr id="15" name="cost-prev-1"/>
          <p:cNvSpPr txBox="1"/>
          <p:nvPr/>
        </p:nvSpPr>
        <p:spPr>
          <a:xfrm>
            <a:off x="4612538" y="278892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前年 23.3%</a:t>
            </a:r>
            <a:endParaRPr lang="en-US" sz="1200" dirty="0"/>
          </a:p>
        </p:txBody>
      </p:sp>
      <p:sp>
        <p:nvSpPr>
          <p:cNvPr id="16" name="cost-sub-1"/>
          <p:cNvSpPr txBox="1"/>
          <p:nvPr/>
        </p:nvSpPr>
        <p:spPr>
          <a:xfrm>
            <a:off x="4612538" y="310896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人件費 2,844千円（前年比116.7%・+406千円）</a:t>
            </a:r>
            <a:endParaRPr lang="en-US" sz="1100" dirty="0"/>
          </a:p>
        </p:txBody>
      </p:sp>
      <p:sp>
        <p:nvSpPr>
          <p:cNvPr id="17" name="cost-card-2"/>
          <p:cNvSpPr/>
          <p:nvPr/>
        </p:nvSpPr>
        <p:spPr>
          <a:xfrm>
            <a:off x="8127797" y="1325880"/>
            <a:ext cx="3515258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B3A">
                <a:alpha val="10000"/>
              </a:srgbClr>
            </a:outerShdw>
          </a:effectLst>
        </p:spPr>
      </p:sp>
      <p:sp>
        <p:nvSpPr>
          <p:cNvPr id="18" name="cost-label-2"/>
          <p:cNvSpPr txBox="1"/>
          <p:nvPr/>
        </p:nvSpPr>
        <p:spPr>
          <a:xfrm>
            <a:off x="8402117" y="155448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FLコスト</a:t>
            </a:r>
            <a:endParaRPr lang="en-US" sz="1400" dirty="0"/>
          </a:p>
        </p:txBody>
      </p:sp>
      <p:sp>
        <p:nvSpPr>
          <p:cNvPr id="19" name="cost-val-2"/>
          <p:cNvSpPr txBox="1"/>
          <p:nvPr/>
        </p:nvSpPr>
        <p:spPr>
          <a:xfrm>
            <a:off x="8402117" y="192024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75.6%</a:t>
            </a:r>
            <a:endParaRPr lang="en-US" sz="4400" dirty="0"/>
          </a:p>
        </p:txBody>
      </p:sp>
      <p:sp>
        <p:nvSpPr>
          <p:cNvPr id="20" name="cost-diff-2-bg"/>
          <p:cNvSpPr/>
          <p:nvPr/>
        </p:nvSpPr>
        <p:spPr>
          <a:xfrm>
            <a:off x="9727997" y="2770632"/>
            <a:ext cx="1143000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cost-diff-2"/>
          <p:cNvSpPr txBox="1"/>
          <p:nvPr/>
        </p:nvSpPr>
        <p:spPr>
          <a:xfrm>
            <a:off x="9727997" y="277063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+17.6pt</a:t>
            </a:r>
            <a:endParaRPr lang="en-US" sz="1200" dirty="0"/>
          </a:p>
        </p:txBody>
      </p:sp>
      <p:sp>
        <p:nvSpPr>
          <p:cNvPr id="22" name="cost-prev-2"/>
          <p:cNvSpPr txBox="1"/>
          <p:nvPr/>
        </p:nvSpPr>
        <p:spPr>
          <a:xfrm>
            <a:off x="8402117" y="278892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前年 58.0%</a:t>
            </a:r>
            <a:endParaRPr lang="en-US" sz="1200" dirty="0"/>
          </a:p>
        </p:txBody>
      </p:sp>
      <p:sp>
        <p:nvSpPr>
          <p:cNvPr id="23" name="cost-sub-2"/>
          <p:cNvSpPr txBox="1"/>
          <p:nvPr/>
        </p:nvSpPr>
        <p:spPr>
          <a:xfrm>
            <a:off x="8402117" y="310896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売上減に対し原価・人件費が下がらず</a:t>
            </a:r>
            <a:endParaRPr lang="en-US" sz="1100" dirty="0"/>
          </a:p>
        </p:txBody>
      </p:sp>
      <p:sp>
        <p:nvSpPr>
          <p:cNvPr id="24" name="reason-bg-0"/>
          <p:cNvSpPr/>
          <p:nvPr/>
        </p:nvSpPr>
        <p:spPr>
          <a:xfrm>
            <a:off x="548640" y="4023360"/>
            <a:ext cx="11094415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reason-pill-0-bg"/>
          <p:cNvSpPr/>
          <p:nvPr/>
        </p:nvSpPr>
        <p:spPr>
          <a:xfrm>
            <a:off x="822960" y="4279392"/>
            <a:ext cx="1005840" cy="310896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6" name="reason-pill-0"/>
          <p:cNvSpPr txBox="1"/>
          <p:nvPr/>
        </p:nvSpPr>
        <p:spPr>
          <a:xfrm>
            <a:off x="822960" y="42793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原価</a:t>
            </a:r>
            <a:endParaRPr lang="en-US" sz="1200" dirty="0"/>
          </a:p>
        </p:txBody>
      </p:sp>
      <p:sp>
        <p:nvSpPr>
          <p:cNvPr id="27" name="reason-text-0"/>
          <p:cNvSpPr txBox="1"/>
          <p:nvPr/>
        </p:nvSpPr>
        <p:spPr>
          <a:xfrm>
            <a:off x="2057400" y="4023360"/>
            <a:ext cx="93570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コラボ売上減（68.7%）に仕入量が追随せず。日本食研 +170千円・ブライス +137千円の仕入増が影響。</a:t>
            </a:r>
            <a:endParaRPr lang="en-US" sz="1400" dirty="0"/>
          </a:p>
        </p:txBody>
      </p:sp>
      <p:sp>
        <p:nvSpPr>
          <p:cNvPr id="28" name="reason-bg-1"/>
          <p:cNvSpPr/>
          <p:nvPr/>
        </p:nvSpPr>
        <p:spPr>
          <a:xfrm>
            <a:off x="548640" y="5029200"/>
            <a:ext cx="11094415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reason-pill-1-bg"/>
          <p:cNvSpPr/>
          <p:nvPr/>
        </p:nvSpPr>
        <p:spPr>
          <a:xfrm>
            <a:off x="822960" y="5285232"/>
            <a:ext cx="1005840" cy="310896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reason-pill-1"/>
          <p:cNvSpPr txBox="1"/>
          <p:nvPr/>
        </p:nvSpPr>
        <p:spPr>
          <a:xfrm>
            <a:off x="822960" y="528523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人件費</a:t>
            </a:r>
            <a:endParaRPr lang="en-US" sz="1200" dirty="0"/>
          </a:p>
        </p:txBody>
      </p:sp>
      <p:sp>
        <p:nvSpPr>
          <p:cNvPr id="31" name="reason-text-1"/>
          <p:cNvSpPr txBox="1"/>
          <p:nvPr/>
        </p:nvSpPr>
        <p:spPr>
          <a:xfrm>
            <a:off x="2057400" y="5029200"/>
            <a:ext cx="93570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モバイルオーダーのシステム変更に伴い人員を多く配置したため上振れ。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カテゴリ別 TOP5 前年比較</a:t>
            </a:r>
            <a:endParaRPr lang="en-US" sz="3000" dirty="0"/>
          </a:p>
        </p:txBody>
      </p:sp>
      <p:sp>
        <p:nvSpPr>
          <p:cNvPr id="3" name="divider-sub"/>
          <p:cNvSpPr txBox="1"/>
          <p:nvPr/>
        </p:nvSpPr>
        <p:spPr>
          <a:xfrm>
            <a:off x="548640" y="10972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6カテゴリ中4カテゴリが前年超え。新商品・リニューアル品がTOP5の顔ぶれを変えた</a:t>
            </a:r>
            <a:endParaRPr lang="en-US" sz="1500" dirty="0"/>
          </a:p>
        </p:txBody>
      </p:sp>
      <p:sp>
        <p:nvSpPr>
          <p:cNvPr id="4" name="tile-bg-0"/>
          <p:cNvSpPr/>
          <p:nvPr/>
        </p:nvSpPr>
        <p:spPr>
          <a:xfrm>
            <a:off x="548640" y="1783080"/>
            <a:ext cx="3515258" cy="2194560"/>
          </a:xfrm>
          <a:prstGeom prst="roundRect">
            <a:avLst>
              <a:gd name="adj" fmla="val 58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ile-area-0"/>
          <p:cNvSpPr txBox="1"/>
          <p:nvPr/>
        </p:nvSpPr>
        <p:spPr>
          <a:xfrm>
            <a:off x="822960" y="20116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ホール</a:t>
            </a:r>
            <a:endParaRPr lang="en-US" sz="1100" dirty="0"/>
          </a:p>
        </p:txBody>
      </p:sp>
      <p:sp>
        <p:nvSpPr>
          <p:cNvPr id="6" name="tile-cat-0"/>
          <p:cNvSpPr txBox="1"/>
          <p:nvPr/>
        </p:nvSpPr>
        <p:spPr>
          <a:xfrm>
            <a:off x="822960" y="2258568"/>
            <a:ext cx="1732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アルコール</a:t>
            </a:r>
            <a:endParaRPr lang="en-US" sz="1800" dirty="0"/>
          </a:p>
        </p:txBody>
      </p:sp>
      <p:sp>
        <p:nvSpPr>
          <p:cNvPr id="7" name="tile-yoy-0"/>
          <p:cNvSpPr txBox="1"/>
          <p:nvPr/>
        </p:nvSpPr>
        <p:spPr>
          <a:xfrm>
            <a:off x="2280818" y="205740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82.7%</a:t>
            </a:r>
            <a:endParaRPr lang="en-US" sz="2800" dirty="0"/>
          </a:p>
        </p:txBody>
      </p:sp>
      <p:sp>
        <p:nvSpPr>
          <p:cNvPr id="8" name="tile-amt-0"/>
          <p:cNvSpPr txBox="1"/>
          <p:nvPr/>
        </p:nvSpPr>
        <p:spPr>
          <a:xfrm>
            <a:off x="822960" y="274320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742千円（前年 898千円）</a:t>
            </a:r>
            <a:endParaRPr lang="en-US" sz="1200" dirty="0"/>
          </a:p>
        </p:txBody>
      </p:sp>
      <p:sp>
        <p:nvSpPr>
          <p:cNvPr id="9" name="tile-no1-bg-0"/>
          <p:cNvSpPr/>
          <p:nvPr/>
        </p:nvSpPr>
        <p:spPr>
          <a:xfrm>
            <a:off x="822960" y="3154680"/>
            <a:ext cx="2966618" cy="566928"/>
          </a:xfrm>
          <a:prstGeom prst="roundRect">
            <a:avLst>
              <a:gd name="adj" fmla="val 1290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tile-crown-0"/>
          <p:cNvSpPr/>
          <p:nvPr/>
        </p:nvSpPr>
        <p:spPr>
          <a:xfrm>
            <a:off x="932688" y="3264408"/>
            <a:ext cx="347472" cy="347472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ile-crown-t-0"/>
          <p:cNvSpPr txBox="1"/>
          <p:nvPr/>
        </p:nvSpPr>
        <p:spPr>
          <a:xfrm>
            <a:off x="932688" y="32644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tile-no1-0"/>
          <p:cNvSpPr txBox="1"/>
          <p:nvPr/>
        </p:nvSpPr>
        <p:spPr>
          <a:xfrm>
            <a:off x="1389888" y="3154680"/>
            <a:ext cx="22808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マルエフ</a:t>
            </a:r>
            <a:endParaRPr lang="en-US" sz="1300" dirty="0"/>
          </a:p>
        </p:txBody>
      </p:sp>
      <p:sp>
        <p:nvSpPr>
          <p:cNvPr id="13" name="tile-bg-1"/>
          <p:cNvSpPr/>
          <p:nvPr/>
        </p:nvSpPr>
        <p:spPr>
          <a:xfrm>
            <a:off x="4338218" y="1783080"/>
            <a:ext cx="3515258" cy="2194560"/>
          </a:xfrm>
          <a:prstGeom prst="roundRect">
            <a:avLst>
              <a:gd name="adj" fmla="val 58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ile-area-1"/>
          <p:cNvSpPr txBox="1"/>
          <p:nvPr/>
        </p:nvSpPr>
        <p:spPr>
          <a:xfrm>
            <a:off x="4612538" y="20116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ホール</a:t>
            </a:r>
            <a:endParaRPr lang="en-US" sz="1100" dirty="0"/>
          </a:p>
        </p:txBody>
      </p:sp>
      <p:sp>
        <p:nvSpPr>
          <p:cNvPr id="15" name="tile-cat-1"/>
          <p:cNvSpPr txBox="1"/>
          <p:nvPr/>
        </p:nvSpPr>
        <p:spPr>
          <a:xfrm>
            <a:off x="4612538" y="2258568"/>
            <a:ext cx="1732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ソフトドリンク</a:t>
            </a:r>
            <a:endParaRPr lang="en-US" sz="1800" dirty="0"/>
          </a:p>
        </p:txBody>
      </p:sp>
      <p:sp>
        <p:nvSpPr>
          <p:cNvPr id="16" name="tile-yoy-1"/>
          <p:cNvSpPr txBox="1"/>
          <p:nvPr/>
        </p:nvSpPr>
        <p:spPr>
          <a:xfrm>
            <a:off x="6070397" y="205740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102.6%</a:t>
            </a:r>
            <a:endParaRPr lang="en-US" sz="2800" dirty="0"/>
          </a:p>
        </p:txBody>
      </p:sp>
      <p:sp>
        <p:nvSpPr>
          <p:cNvPr id="17" name="tile-amt-1"/>
          <p:cNvSpPr txBox="1"/>
          <p:nvPr/>
        </p:nvSpPr>
        <p:spPr>
          <a:xfrm>
            <a:off x="4612538" y="274320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527千円（前年 514千円）</a:t>
            </a:r>
            <a:endParaRPr lang="en-US" sz="1200" dirty="0"/>
          </a:p>
        </p:txBody>
      </p:sp>
      <p:sp>
        <p:nvSpPr>
          <p:cNvPr id="18" name="tile-no1-bg-1"/>
          <p:cNvSpPr/>
          <p:nvPr/>
        </p:nvSpPr>
        <p:spPr>
          <a:xfrm>
            <a:off x="4612538" y="3154680"/>
            <a:ext cx="2966618" cy="566928"/>
          </a:xfrm>
          <a:prstGeom prst="roundRect">
            <a:avLst>
              <a:gd name="adj" fmla="val 1290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tile-crown-1"/>
          <p:cNvSpPr/>
          <p:nvPr/>
        </p:nvSpPr>
        <p:spPr>
          <a:xfrm>
            <a:off x="4722266" y="3264408"/>
            <a:ext cx="347472" cy="347472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0" name="tile-crown-t-1"/>
          <p:cNvSpPr txBox="1"/>
          <p:nvPr/>
        </p:nvSpPr>
        <p:spPr>
          <a:xfrm>
            <a:off x="4722266" y="32644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</a:t>
            </a:r>
            <a:endParaRPr lang="en-US" sz="1200" dirty="0"/>
          </a:p>
        </p:txBody>
      </p:sp>
      <p:sp>
        <p:nvSpPr>
          <p:cNvPr id="21" name="tile-no1-1"/>
          <p:cNvSpPr txBox="1"/>
          <p:nvPr/>
        </p:nvSpPr>
        <p:spPr>
          <a:xfrm>
            <a:off x="5179466" y="3154680"/>
            <a:ext cx="22808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リポスパ</a:t>
            </a:r>
            <a:endParaRPr lang="en-US" sz="1300" dirty="0"/>
          </a:p>
        </p:txBody>
      </p:sp>
      <p:sp>
        <p:nvSpPr>
          <p:cNvPr id="22" name="tile-bg-2"/>
          <p:cNvSpPr/>
          <p:nvPr/>
        </p:nvSpPr>
        <p:spPr>
          <a:xfrm>
            <a:off x="8127797" y="1783080"/>
            <a:ext cx="3515258" cy="2194560"/>
          </a:xfrm>
          <a:prstGeom prst="roundRect">
            <a:avLst>
              <a:gd name="adj" fmla="val 58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tile-area-2"/>
          <p:cNvSpPr txBox="1"/>
          <p:nvPr/>
        </p:nvSpPr>
        <p:spPr>
          <a:xfrm>
            <a:off x="8402117" y="20116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ホール</a:t>
            </a:r>
            <a:endParaRPr lang="en-US" sz="1100" dirty="0"/>
          </a:p>
        </p:txBody>
      </p:sp>
      <p:sp>
        <p:nvSpPr>
          <p:cNvPr id="24" name="tile-cat-2"/>
          <p:cNvSpPr txBox="1"/>
          <p:nvPr/>
        </p:nvSpPr>
        <p:spPr>
          <a:xfrm>
            <a:off x="8402117" y="2258568"/>
            <a:ext cx="1732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デザート</a:t>
            </a:r>
            <a:endParaRPr lang="en-US" sz="1800" dirty="0"/>
          </a:p>
        </p:txBody>
      </p:sp>
      <p:sp>
        <p:nvSpPr>
          <p:cNvPr id="25" name="tile-yoy-2"/>
          <p:cNvSpPr txBox="1"/>
          <p:nvPr/>
        </p:nvSpPr>
        <p:spPr>
          <a:xfrm>
            <a:off x="9859975" y="205740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127.9%</a:t>
            </a:r>
            <a:endParaRPr lang="en-US" sz="2800" dirty="0"/>
          </a:p>
        </p:txBody>
      </p:sp>
      <p:sp>
        <p:nvSpPr>
          <p:cNvPr id="26" name="tile-amt-2"/>
          <p:cNvSpPr txBox="1"/>
          <p:nvPr/>
        </p:nvSpPr>
        <p:spPr>
          <a:xfrm>
            <a:off x="8402117" y="274320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209千円（前年 164千円）</a:t>
            </a:r>
            <a:endParaRPr lang="en-US" sz="1200" dirty="0"/>
          </a:p>
        </p:txBody>
      </p:sp>
      <p:sp>
        <p:nvSpPr>
          <p:cNvPr id="27" name="tile-no1-bg-2"/>
          <p:cNvSpPr/>
          <p:nvPr/>
        </p:nvSpPr>
        <p:spPr>
          <a:xfrm>
            <a:off x="8402117" y="3154680"/>
            <a:ext cx="2966618" cy="566928"/>
          </a:xfrm>
          <a:prstGeom prst="roundRect">
            <a:avLst>
              <a:gd name="adj" fmla="val 1290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8" name="tile-crown-2"/>
          <p:cNvSpPr/>
          <p:nvPr/>
        </p:nvSpPr>
        <p:spPr>
          <a:xfrm>
            <a:off x="8511845" y="3264408"/>
            <a:ext cx="347472" cy="347472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9" name="tile-crown-t-2"/>
          <p:cNvSpPr txBox="1"/>
          <p:nvPr/>
        </p:nvSpPr>
        <p:spPr>
          <a:xfrm>
            <a:off x="8511845" y="32644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</a:t>
            </a:r>
            <a:endParaRPr lang="en-US" sz="1200" dirty="0"/>
          </a:p>
        </p:txBody>
      </p:sp>
      <p:sp>
        <p:nvSpPr>
          <p:cNvPr id="30" name="tile-no1-2"/>
          <p:cNvSpPr txBox="1"/>
          <p:nvPr/>
        </p:nvSpPr>
        <p:spPr>
          <a:xfrm>
            <a:off x="8969045" y="3154680"/>
            <a:ext cx="22808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ソフトクリーム</a:t>
            </a:r>
            <a:endParaRPr lang="en-US" sz="1300" dirty="0"/>
          </a:p>
        </p:txBody>
      </p:sp>
      <p:sp>
        <p:nvSpPr>
          <p:cNvPr id="31" name="tile-bg-3"/>
          <p:cNvSpPr/>
          <p:nvPr/>
        </p:nvSpPr>
        <p:spPr>
          <a:xfrm>
            <a:off x="548640" y="4251960"/>
            <a:ext cx="3515258" cy="2194560"/>
          </a:xfrm>
          <a:prstGeom prst="roundRect">
            <a:avLst>
              <a:gd name="adj" fmla="val 58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2" name="tile-area-3"/>
          <p:cNvSpPr txBox="1"/>
          <p:nvPr/>
        </p:nvSpPr>
        <p:spPr>
          <a:xfrm>
            <a:off x="822960" y="4480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キッチン</a:t>
            </a:r>
            <a:endParaRPr lang="en-US" sz="1100" dirty="0"/>
          </a:p>
        </p:txBody>
      </p:sp>
      <p:sp>
        <p:nvSpPr>
          <p:cNvPr id="33" name="tile-cat-3"/>
          <p:cNvSpPr txBox="1"/>
          <p:nvPr/>
        </p:nvSpPr>
        <p:spPr>
          <a:xfrm>
            <a:off x="822960" y="4727448"/>
            <a:ext cx="1732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麺類</a:t>
            </a:r>
            <a:endParaRPr lang="en-US" sz="1800" dirty="0"/>
          </a:p>
        </p:txBody>
      </p:sp>
      <p:sp>
        <p:nvSpPr>
          <p:cNvPr id="34" name="tile-yoy-3"/>
          <p:cNvSpPr txBox="1"/>
          <p:nvPr/>
        </p:nvSpPr>
        <p:spPr>
          <a:xfrm>
            <a:off x="2280818" y="452628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126.7%</a:t>
            </a:r>
            <a:endParaRPr lang="en-US" sz="2800" dirty="0"/>
          </a:p>
        </p:txBody>
      </p:sp>
      <p:sp>
        <p:nvSpPr>
          <p:cNvPr id="35" name="tile-amt-3"/>
          <p:cNvSpPr txBox="1"/>
          <p:nvPr/>
        </p:nvSpPr>
        <p:spPr>
          <a:xfrm>
            <a:off x="822960" y="521208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901千円（前年 711千円）</a:t>
            </a:r>
            <a:endParaRPr lang="en-US" sz="1200" dirty="0"/>
          </a:p>
        </p:txBody>
      </p:sp>
      <p:sp>
        <p:nvSpPr>
          <p:cNvPr id="36" name="tile-no1-bg-3"/>
          <p:cNvSpPr/>
          <p:nvPr/>
        </p:nvSpPr>
        <p:spPr>
          <a:xfrm>
            <a:off x="822960" y="5623560"/>
            <a:ext cx="2966618" cy="566928"/>
          </a:xfrm>
          <a:prstGeom prst="roundRect">
            <a:avLst>
              <a:gd name="adj" fmla="val 1290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7" name="tile-crown-3"/>
          <p:cNvSpPr/>
          <p:nvPr/>
        </p:nvSpPr>
        <p:spPr>
          <a:xfrm>
            <a:off x="932688" y="5733288"/>
            <a:ext cx="347472" cy="347472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8" name="tile-crown-t-3"/>
          <p:cNvSpPr txBox="1"/>
          <p:nvPr/>
        </p:nvSpPr>
        <p:spPr>
          <a:xfrm>
            <a:off x="932688" y="5733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</a:t>
            </a:r>
            <a:endParaRPr lang="en-US" sz="1200" dirty="0"/>
          </a:p>
        </p:txBody>
      </p:sp>
      <p:sp>
        <p:nvSpPr>
          <p:cNvPr id="39" name="tile-no1-3"/>
          <p:cNvSpPr txBox="1"/>
          <p:nvPr/>
        </p:nvSpPr>
        <p:spPr>
          <a:xfrm>
            <a:off x="1389888" y="5623560"/>
            <a:ext cx="22808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釜玉チーズカレーうどん</a:t>
            </a:r>
            <a:endParaRPr lang="en-US" sz="1300" dirty="0"/>
          </a:p>
        </p:txBody>
      </p:sp>
      <p:sp>
        <p:nvSpPr>
          <p:cNvPr id="40" name="tile-bg-4"/>
          <p:cNvSpPr/>
          <p:nvPr/>
        </p:nvSpPr>
        <p:spPr>
          <a:xfrm>
            <a:off x="4338218" y="4251960"/>
            <a:ext cx="3515258" cy="2194560"/>
          </a:xfrm>
          <a:prstGeom prst="roundRect">
            <a:avLst>
              <a:gd name="adj" fmla="val 58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1" name="tile-area-4"/>
          <p:cNvSpPr txBox="1"/>
          <p:nvPr/>
        </p:nvSpPr>
        <p:spPr>
          <a:xfrm>
            <a:off x="4612538" y="4480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キッチン</a:t>
            </a:r>
            <a:endParaRPr lang="en-US" sz="1100" dirty="0"/>
          </a:p>
        </p:txBody>
      </p:sp>
      <p:sp>
        <p:nvSpPr>
          <p:cNvPr id="42" name="tile-cat-4"/>
          <p:cNvSpPr txBox="1"/>
          <p:nvPr/>
        </p:nvSpPr>
        <p:spPr>
          <a:xfrm>
            <a:off x="4612538" y="4727448"/>
            <a:ext cx="1732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ご飯類</a:t>
            </a:r>
            <a:endParaRPr lang="en-US" sz="1800" dirty="0"/>
          </a:p>
        </p:txBody>
      </p:sp>
      <p:sp>
        <p:nvSpPr>
          <p:cNvPr id="43" name="tile-yoy-4"/>
          <p:cNvSpPr txBox="1"/>
          <p:nvPr/>
        </p:nvSpPr>
        <p:spPr>
          <a:xfrm>
            <a:off x="6070397" y="452628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89.4%</a:t>
            </a:r>
            <a:endParaRPr lang="en-US" sz="2800" dirty="0"/>
          </a:p>
        </p:txBody>
      </p:sp>
      <p:sp>
        <p:nvSpPr>
          <p:cNvPr id="44" name="tile-amt-4"/>
          <p:cNvSpPr txBox="1"/>
          <p:nvPr/>
        </p:nvSpPr>
        <p:spPr>
          <a:xfrm>
            <a:off x="4612538" y="521208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1,731千円（前年 1,935千円）</a:t>
            </a:r>
            <a:endParaRPr lang="en-US" sz="1200" dirty="0"/>
          </a:p>
        </p:txBody>
      </p:sp>
      <p:sp>
        <p:nvSpPr>
          <p:cNvPr id="45" name="tile-no1-bg-4"/>
          <p:cNvSpPr/>
          <p:nvPr/>
        </p:nvSpPr>
        <p:spPr>
          <a:xfrm>
            <a:off x="4612538" y="5623560"/>
            <a:ext cx="2966618" cy="566928"/>
          </a:xfrm>
          <a:prstGeom prst="roundRect">
            <a:avLst>
              <a:gd name="adj" fmla="val 1290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6" name="tile-crown-4"/>
          <p:cNvSpPr/>
          <p:nvPr/>
        </p:nvSpPr>
        <p:spPr>
          <a:xfrm>
            <a:off x="4722266" y="5733288"/>
            <a:ext cx="347472" cy="347472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7" name="tile-crown-t-4"/>
          <p:cNvSpPr txBox="1"/>
          <p:nvPr/>
        </p:nvSpPr>
        <p:spPr>
          <a:xfrm>
            <a:off x="4722266" y="5733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</a:t>
            </a:r>
            <a:endParaRPr lang="en-US" sz="1200" dirty="0"/>
          </a:p>
        </p:txBody>
      </p:sp>
      <p:sp>
        <p:nvSpPr>
          <p:cNvPr id="48" name="tile-no1-4"/>
          <p:cNvSpPr txBox="1"/>
          <p:nvPr/>
        </p:nvSpPr>
        <p:spPr>
          <a:xfrm>
            <a:off x="5179466" y="5623560"/>
            <a:ext cx="22808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近江牛サウナカリー</a:t>
            </a:r>
            <a:endParaRPr lang="en-US" sz="1300" dirty="0"/>
          </a:p>
        </p:txBody>
      </p:sp>
      <p:sp>
        <p:nvSpPr>
          <p:cNvPr id="49" name="tile-bg-5"/>
          <p:cNvSpPr/>
          <p:nvPr/>
        </p:nvSpPr>
        <p:spPr>
          <a:xfrm>
            <a:off x="8127797" y="4251960"/>
            <a:ext cx="3515258" cy="2194560"/>
          </a:xfrm>
          <a:prstGeom prst="roundRect">
            <a:avLst>
              <a:gd name="adj" fmla="val 58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0" name="tile-area-5"/>
          <p:cNvSpPr txBox="1"/>
          <p:nvPr/>
        </p:nvSpPr>
        <p:spPr>
          <a:xfrm>
            <a:off x="8402117" y="4480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キッチン</a:t>
            </a:r>
            <a:endParaRPr lang="en-US" sz="1100" dirty="0"/>
          </a:p>
        </p:txBody>
      </p:sp>
      <p:sp>
        <p:nvSpPr>
          <p:cNvPr id="51" name="tile-cat-5"/>
          <p:cNvSpPr txBox="1"/>
          <p:nvPr/>
        </p:nvSpPr>
        <p:spPr>
          <a:xfrm>
            <a:off x="8402117" y="4727448"/>
            <a:ext cx="1732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一品料理</a:t>
            </a:r>
            <a:endParaRPr lang="en-US" sz="1800" dirty="0"/>
          </a:p>
        </p:txBody>
      </p:sp>
      <p:sp>
        <p:nvSpPr>
          <p:cNvPr id="52" name="tile-yoy-5"/>
          <p:cNvSpPr txBox="1"/>
          <p:nvPr/>
        </p:nvSpPr>
        <p:spPr>
          <a:xfrm>
            <a:off x="9859975" y="452628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106.8%</a:t>
            </a:r>
            <a:endParaRPr lang="en-US" sz="2800" dirty="0"/>
          </a:p>
        </p:txBody>
      </p:sp>
      <p:sp>
        <p:nvSpPr>
          <p:cNvPr id="53" name="tile-amt-5"/>
          <p:cNvSpPr txBox="1"/>
          <p:nvPr/>
        </p:nvSpPr>
        <p:spPr>
          <a:xfrm>
            <a:off x="8402117" y="521208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789千円（前年 739千円）</a:t>
            </a:r>
            <a:endParaRPr lang="en-US" sz="1200" dirty="0"/>
          </a:p>
        </p:txBody>
      </p:sp>
      <p:sp>
        <p:nvSpPr>
          <p:cNvPr id="54" name="tile-no1-bg-5"/>
          <p:cNvSpPr/>
          <p:nvPr/>
        </p:nvSpPr>
        <p:spPr>
          <a:xfrm>
            <a:off x="8402117" y="5623560"/>
            <a:ext cx="2966618" cy="566928"/>
          </a:xfrm>
          <a:prstGeom prst="roundRect">
            <a:avLst>
              <a:gd name="adj" fmla="val 1290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5" name="tile-crown-5"/>
          <p:cNvSpPr/>
          <p:nvPr/>
        </p:nvSpPr>
        <p:spPr>
          <a:xfrm>
            <a:off x="8511845" y="5733288"/>
            <a:ext cx="347472" cy="347472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6" name="tile-crown-t-5"/>
          <p:cNvSpPr txBox="1"/>
          <p:nvPr/>
        </p:nvSpPr>
        <p:spPr>
          <a:xfrm>
            <a:off x="8511845" y="5733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</a:t>
            </a:r>
            <a:endParaRPr lang="en-US" sz="1200" dirty="0"/>
          </a:p>
        </p:txBody>
      </p:sp>
      <p:sp>
        <p:nvSpPr>
          <p:cNvPr id="57" name="tile-no1-5"/>
          <p:cNvSpPr txBox="1"/>
          <p:nvPr/>
        </p:nvSpPr>
        <p:spPr>
          <a:xfrm>
            <a:off x="8969045" y="5623560"/>
            <a:ext cx="22808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揚げ物盛り合わせ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アルコール｜TOP5 前年比較</a:t>
            </a:r>
            <a:endParaRPr lang="en-US" sz="3000" dirty="0"/>
          </a:p>
        </p:txBody>
      </p:sp>
      <p:sp>
        <p:nvSpPr>
          <p:cNvPr id="3" name="msg-bg"/>
          <p:cNvSpPr/>
          <p:nvPr/>
        </p:nvSpPr>
        <p:spPr>
          <a:xfrm>
            <a:off x="548640" y="1188720"/>
            <a:ext cx="11094415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msg-pill-bg"/>
          <p:cNvSpPr/>
          <p:nvPr/>
        </p:nvSpPr>
        <p:spPr>
          <a:xfrm>
            <a:off x="685800" y="1284732"/>
            <a:ext cx="868680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msg-pill"/>
          <p:cNvSpPr txBox="1"/>
          <p:nvPr/>
        </p:nvSpPr>
        <p:spPr>
          <a:xfrm>
            <a:off x="685800" y="128473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POINT</a:t>
            </a:r>
            <a:endParaRPr lang="en-US" sz="1200" dirty="0"/>
          </a:p>
        </p:txBody>
      </p:sp>
      <p:sp>
        <p:nvSpPr>
          <p:cNvPr id="6" name="msg-text"/>
          <p:cNvSpPr txBox="1"/>
          <p:nvPr/>
        </p:nvSpPr>
        <p:spPr>
          <a:xfrm>
            <a:off x="1691640" y="1188720"/>
            <a:ext cx="98142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マルエフが首位に浮上。パイントグラス（64.6%）とコインメックビール（前年94千円→0）の減少が響く</a:t>
            </a:r>
            <a:endParaRPr lang="en-US" sz="1400" dirty="0"/>
          </a:p>
        </p:txBody>
      </p:sp>
      <p:sp>
        <p:nvSpPr>
          <p:cNvPr id="7" name="rank-panel"/>
          <p:cNvSpPr/>
          <p:nvPr/>
        </p:nvSpPr>
        <p:spPr>
          <a:xfrm>
            <a:off x="548640" y="1920240"/>
            <a:ext cx="7635240" cy="425196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B3A">
                <a:alpha val="10000"/>
              </a:srgbClr>
            </a:outerShdw>
          </a:effectLst>
        </p:spPr>
      </p:sp>
      <p:sp>
        <p:nvSpPr>
          <p:cNvPr id="8" name="hdr-順位"/>
          <p:cNvSpPr txBox="1"/>
          <p:nvPr/>
        </p:nvSpPr>
        <p:spPr>
          <a:xfrm>
            <a:off x="777240" y="20848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順位</a:t>
            </a:r>
            <a:endParaRPr lang="en-US" sz="1000" dirty="0"/>
          </a:p>
        </p:txBody>
      </p:sp>
      <p:sp>
        <p:nvSpPr>
          <p:cNvPr id="9" name="hdr-2026年9月 商品名"/>
          <p:cNvSpPr txBox="1"/>
          <p:nvPr/>
        </p:nvSpPr>
        <p:spPr>
          <a:xfrm>
            <a:off x="1371600" y="20848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2026年9月 商品名</a:t>
            </a:r>
            <a:endParaRPr lang="en-US" sz="1000" dirty="0"/>
          </a:p>
        </p:txBody>
      </p:sp>
      <p:sp>
        <p:nvSpPr>
          <p:cNvPr id="10" name="lg-cur"/>
          <p:cNvSpPr/>
          <p:nvPr/>
        </p:nvSpPr>
        <p:spPr>
          <a:xfrm>
            <a:off x="4069080" y="2167128"/>
            <a:ext cx="128016" cy="12801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lg-cur-t"/>
          <p:cNvSpPr txBox="1"/>
          <p:nvPr/>
        </p:nvSpPr>
        <p:spPr>
          <a:xfrm>
            <a:off x="4251960" y="20848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今年</a:t>
            </a:r>
            <a:endParaRPr lang="en-US" sz="1000" dirty="0"/>
          </a:p>
        </p:txBody>
      </p:sp>
      <p:sp>
        <p:nvSpPr>
          <p:cNvPr id="12" name="lg-prev"/>
          <p:cNvSpPr/>
          <p:nvPr/>
        </p:nvSpPr>
        <p:spPr>
          <a:xfrm>
            <a:off x="4800600" y="2167128"/>
            <a:ext cx="128016" cy="128016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lg-prev-t"/>
          <p:cNvSpPr txBox="1"/>
          <p:nvPr/>
        </p:nvSpPr>
        <p:spPr>
          <a:xfrm>
            <a:off x="4983480" y="20848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前年</a:t>
            </a:r>
            <a:endParaRPr lang="en-US" sz="1000" dirty="0"/>
          </a:p>
        </p:txBody>
      </p:sp>
      <p:sp>
        <p:nvSpPr>
          <p:cNvPr id="14" name="hdr-前年比"/>
          <p:cNvSpPr txBox="1"/>
          <p:nvPr/>
        </p:nvSpPr>
        <p:spPr>
          <a:xfrm>
            <a:off x="6537960" y="20848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前年比</a:t>
            </a:r>
            <a:endParaRPr lang="en-US" sz="1000" dirty="0"/>
          </a:p>
        </p:txBody>
      </p:sp>
      <p:sp>
        <p:nvSpPr>
          <p:cNvPr id="15" name="hdr-順位"/>
          <p:cNvSpPr txBox="1"/>
          <p:nvPr/>
        </p:nvSpPr>
        <p:spPr>
          <a:xfrm>
            <a:off x="7452360" y="20848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順位</a:t>
            </a:r>
            <a:endParaRPr lang="en-US" sz="1000" dirty="0"/>
          </a:p>
        </p:txBody>
      </p:sp>
      <p:sp>
        <p:nvSpPr>
          <p:cNvPr id="16" name="rk-bg-0"/>
          <p:cNvSpPr/>
          <p:nvPr/>
        </p:nvSpPr>
        <p:spPr>
          <a:xfrm>
            <a:off x="777240" y="254203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rk-0"/>
          <p:cNvSpPr txBox="1"/>
          <p:nvPr/>
        </p:nvSpPr>
        <p:spPr>
          <a:xfrm>
            <a:off x="777240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18" name="nm-0"/>
          <p:cNvSpPr txBox="1"/>
          <p:nvPr/>
        </p:nvSpPr>
        <p:spPr>
          <a:xfrm>
            <a:off x="1371600" y="2478024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マルエフ</a:t>
            </a:r>
            <a:endParaRPr lang="en-US" sz="1400" dirty="0"/>
          </a:p>
        </p:txBody>
      </p:sp>
      <p:sp>
        <p:nvSpPr>
          <p:cNvPr id="19" name="qty-0"/>
          <p:cNvSpPr txBox="1"/>
          <p:nvPr/>
        </p:nvSpPr>
        <p:spPr>
          <a:xfrm>
            <a:off x="1371600" y="2825496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149個（前年 139個）</a:t>
            </a:r>
            <a:endParaRPr lang="en-US" sz="1100" dirty="0"/>
          </a:p>
        </p:txBody>
      </p:sp>
      <p:sp>
        <p:nvSpPr>
          <p:cNvPr id="20" name="bar-cur-0"/>
          <p:cNvSpPr/>
          <p:nvPr/>
        </p:nvSpPr>
        <p:spPr>
          <a:xfrm>
            <a:off x="4069080" y="2532888"/>
            <a:ext cx="1141695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amt-cur-0"/>
          <p:cNvSpPr txBox="1"/>
          <p:nvPr/>
        </p:nvSpPr>
        <p:spPr>
          <a:xfrm>
            <a:off x="5265639" y="251460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115,879</a:t>
            </a:r>
            <a:endParaRPr lang="en-US" sz="1200" dirty="0"/>
          </a:p>
        </p:txBody>
      </p:sp>
      <p:sp>
        <p:nvSpPr>
          <p:cNvPr id="22" name="bar-prev-0"/>
          <p:cNvSpPr/>
          <p:nvPr/>
        </p:nvSpPr>
        <p:spPr>
          <a:xfrm>
            <a:off x="4069080" y="2843784"/>
            <a:ext cx="1064225" cy="14630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amt-prev-0"/>
          <p:cNvSpPr txBox="1"/>
          <p:nvPr/>
        </p:nvSpPr>
        <p:spPr>
          <a:xfrm>
            <a:off x="5188169" y="279806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108,016</a:t>
            </a:r>
            <a:endParaRPr lang="en-US" sz="1000" dirty="0"/>
          </a:p>
        </p:txBody>
      </p:sp>
      <p:sp>
        <p:nvSpPr>
          <p:cNvPr id="24" name="yoy-bg-0"/>
          <p:cNvSpPr/>
          <p:nvPr/>
        </p:nvSpPr>
        <p:spPr>
          <a:xfrm>
            <a:off x="6537960" y="2606040"/>
            <a:ext cx="82296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yoy-0"/>
          <p:cNvSpPr txBox="1"/>
          <p:nvPr/>
        </p:nvSpPr>
        <p:spPr>
          <a:xfrm>
            <a:off x="6537960" y="260604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107.3%</a:t>
            </a:r>
            <a:endParaRPr lang="en-US" sz="1100" dirty="0"/>
          </a:p>
        </p:txBody>
      </p:sp>
      <p:sp>
        <p:nvSpPr>
          <p:cNvPr id="26" name="mv-0"/>
          <p:cNvSpPr txBox="1"/>
          <p:nvPr/>
        </p:nvSpPr>
        <p:spPr>
          <a:xfrm>
            <a:off x="7452360" y="2496312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↑1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前年2位</a:t>
            </a:r>
            <a:endParaRPr lang="en-US" sz="1400" dirty="0"/>
          </a:p>
        </p:txBody>
      </p:sp>
      <p:sp>
        <p:nvSpPr>
          <p:cNvPr id="27" name="row-sep-1"/>
          <p:cNvSpPr/>
          <p:nvPr/>
        </p:nvSpPr>
        <p:spPr>
          <a:xfrm>
            <a:off x="777240" y="3145536"/>
            <a:ext cx="71780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8" name="rk-bg-1"/>
          <p:cNvSpPr/>
          <p:nvPr/>
        </p:nvSpPr>
        <p:spPr>
          <a:xfrm>
            <a:off x="777240" y="3300984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rk-1"/>
          <p:cNvSpPr txBox="1"/>
          <p:nvPr/>
        </p:nvSpPr>
        <p:spPr>
          <a:xfrm>
            <a:off x="777240" y="33009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30" name="nm-1"/>
          <p:cNvSpPr txBox="1"/>
          <p:nvPr/>
        </p:nvSpPr>
        <p:spPr>
          <a:xfrm>
            <a:off x="1371600" y="3236976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パイントグラス</a:t>
            </a:r>
            <a:endParaRPr lang="en-US" sz="1400" dirty="0"/>
          </a:p>
        </p:txBody>
      </p:sp>
      <p:sp>
        <p:nvSpPr>
          <p:cNvPr id="31" name="qty-1"/>
          <p:cNvSpPr txBox="1"/>
          <p:nvPr/>
        </p:nvSpPr>
        <p:spPr>
          <a:xfrm>
            <a:off x="1371600" y="3584448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135個（前年 209個）</a:t>
            </a:r>
            <a:endParaRPr lang="en-US" sz="1100" dirty="0"/>
          </a:p>
        </p:txBody>
      </p:sp>
      <p:sp>
        <p:nvSpPr>
          <p:cNvPr id="32" name="bar-cur-1"/>
          <p:cNvSpPr/>
          <p:nvPr/>
        </p:nvSpPr>
        <p:spPr>
          <a:xfrm>
            <a:off x="4069080" y="3291840"/>
            <a:ext cx="1034343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amt-cur-1"/>
          <p:cNvSpPr txBox="1"/>
          <p:nvPr/>
        </p:nvSpPr>
        <p:spPr>
          <a:xfrm>
            <a:off x="5158287" y="327355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104,983</a:t>
            </a:r>
            <a:endParaRPr lang="en-US" sz="1200" dirty="0"/>
          </a:p>
        </p:txBody>
      </p:sp>
      <p:sp>
        <p:nvSpPr>
          <p:cNvPr id="34" name="bar-prev-1"/>
          <p:cNvSpPr/>
          <p:nvPr/>
        </p:nvSpPr>
        <p:spPr>
          <a:xfrm>
            <a:off x="4069080" y="3602736"/>
            <a:ext cx="1600200" cy="14630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5" name="amt-prev-1"/>
          <p:cNvSpPr txBox="1"/>
          <p:nvPr/>
        </p:nvSpPr>
        <p:spPr>
          <a:xfrm>
            <a:off x="5724144" y="3557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162,416</a:t>
            </a:r>
            <a:endParaRPr lang="en-US" sz="1000" dirty="0"/>
          </a:p>
        </p:txBody>
      </p:sp>
      <p:sp>
        <p:nvSpPr>
          <p:cNvPr id="36" name="yoy-bg-1"/>
          <p:cNvSpPr/>
          <p:nvPr/>
        </p:nvSpPr>
        <p:spPr>
          <a:xfrm>
            <a:off x="6537960" y="3364992"/>
            <a:ext cx="82296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7" name="yoy-1"/>
          <p:cNvSpPr txBox="1"/>
          <p:nvPr/>
        </p:nvSpPr>
        <p:spPr>
          <a:xfrm>
            <a:off x="6537960" y="3364992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64.6%</a:t>
            </a:r>
            <a:endParaRPr lang="en-US" sz="1100" dirty="0"/>
          </a:p>
        </p:txBody>
      </p:sp>
      <p:sp>
        <p:nvSpPr>
          <p:cNvPr id="38" name="mv-1"/>
          <p:cNvSpPr txBox="1"/>
          <p:nvPr/>
        </p:nvSpPr>
        <p:spPr>
          <a:xfrm>
            <a:off x="7452360" y="3255264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↓1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前年1位</a:t>
            </a:r>
            <a:endParaRPr lang="en-US" sz="1400" dirty="0"/>
          </a:p>
        </p:txBody>
      </p:sp>
      <p:sp>
        <p:nvSpPr>
          <p:cNvPr id="39" name="row-sep-2"/>
          <p:cNvSpPr/>
          <p:nvPr/>
        </p:nvSpPr>
        <p:spPr>
          <a:xfrm>
            <a:off x="777240" y="3904488"/>
            <a:ext cx="71780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40" name="rk-bg-2"/>
          <p:cNvSpPr/>
          <p:nvPr/>
        </p:nvSpPr>
        <p:spPr>
          <a:xfrm>
            <a:off x="777240" y="4059936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1" name="rk-2"/>
          <p:cNvSpPr txBox="1"/>
          <p:nvPr/>
        </p:nvSpPr>
        <p:spPr>
          <a:xfrm>
            <a:off x="77724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42" name="nm-2"/>
          <p:cNvSpPr txBox="1"/>
          <p:nvPr/>
        </p:nvSpPr>
        <p:spPr>
          <a:xfrm>
            <a:off x="1371600" y="399592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タパス付 1010JUGビール</a:t>
            </a:r>
            <a:endParaRPr lang="en-US" sz="1400" dirty="0"/>
          </a:p>
        </p:txBody>
      </p:sp>
      <p:sp>
        <p:nvSpPr>
          <p:cNvPr id="43" name="qty-2"/>
          <p:cNvSpPr txBox="1"/>
          <p:nvPr/>
        </p:nvSpPr>
        <p:spPr>
          <a:xfrm>
            <a:off x="1371600" y="434340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63個（前年 実績なし）</a:t>
            </a:r>
            <a:endParaRPr lang="en-US" sz="1100" dirty="0"/>
          </a:p>
        </p:txBody>
      </p:sp>
      <p:sp>
        <p:nvSpPr>
          <p:cNvPr id="44" name="bar-cur-2"/>
          <p:cNvSpPr/>
          <p:nvPr/>
        </p:nvSpPr>
        <p:spPr>
          <a:xfrm>
            <a:off x="4069080" y="4050792"/>
            <a:ext cx="626824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5" name="amt-cur-2"/>
          <p:cNvSpPr txBox="1"/>
          <p:nvPr/>
        </p:nvSpPr>
        <p:spPr>
          <a:xfrm>
            <a:off x="4750768" y="403250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63,621</a:t>
            </a:r>
            <a:endParaRPr lang="en-US" sz="1200" dirty="0"/>
          </a:p>
        </p:txBody>
      </p:sp>
      <p:sp>
        <p:nvSpPr>
          <p:cNvPr id="46" name="yoy-bg-2"/>
          <p:cNvSpPr/>
          <p:nvPr/>
        </p:nvSpPr>
        <p:spPr>
          <a:xfrm>
            <a:off x="6537960" y="4123944"/>
            <a:ext cx="822960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7" name="yoy-2"/>
          <p:cNvSpPr txBox="1"/>
          <p:nvPr/>
        </p:nvSpPr>
        <p:spPr>
          <a:xfrm>
            <a:off x="6537960" y="4123944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NEW</a:t>
            </a:r>
            <a:endParaRPr lang="en-US" sz="1100" dirty="0"/>
          </a:p>
        </p:txBody>
      </p:sp>
      <p:sp>
        <p:nvSpPr>
          <p:cNvPr id="48" name="mv-2"/>
          <p:cNvSpPr txBox="1"/>
          <p:nvPr/>
        </p:nvSpPr>
        <p:spPr>
          <a:xfrm>
            <a:off x="7452360" y="40142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★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初登場</a:t>
            </a:r>
            <a:endParaRPr lang="en-US" sz="1400" dirty="0"/>
          </a:p>
        </p:txBody>
      </p:sp>
      <p:sp>
        <p:nvSpPr>
          <p:cNvPr id="49" name="row-sep-3"/>
          <p:cNvSpPr/>
          <p:nvPr/>
        </p:nvSpPr>
        <p:spPr>
          <a:xfrm>
            <a:off x="777240" y="4663440"/>
            <a:ext cx="71780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0" name="rk-bg-3"/>
          <p:cNvSpPr/>
          <p:nvPr/>
        </p:nvSpPr>
        <p:spPr>
          <a:xfrm>
            <a:off x="777240" y="4818888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1" name="rk-3"/>
          <p:cNvSpPr txBox="1"/>
          <p:nvPr/>
        </p:nvSpPr>
        <p:spPr>
          <a:xfrm>
            <a:off x="777240" y="4818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2" name="nm-3"/>
          <p:cNvSpPr txBox="1"/>
          <p:nvPr/>
        </p:nvSpPr>
        <p:spPr>
          <a:xfrm>
            <a:off x="1371600" y="475488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熟選</a:t>
            </a:r>
            <a:endParaRPr lang="en-US" sz="1400" dirty="0"/>
          </a:p>
        </p:txBody>
      </p:sp>
      <p:sp>
        <p:nvSpPr>
          <p:cNvPr id="53" name="qty-3"/>
          <p:cNvSpPr txBox="1"/>
          <p:nvPr/>
        </p:nvSpPr>
        <p:spPr>
          <a:xfrm>
            <a:off x="1371600" y="510235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78個（前年 90個）</a:t>
            </a:r>
            <a:endParaRPr lang="en-US" sz="1100" dirty="0"/>
          </a:p>
        </p:txBody>
      </p:sp>
      <p:sp>
        <p:nvSpPr>
          <p:cNvPr id="54" name="bar-cur-3"/>
          <p:cNvSpPr/>
          <p:nvPr/>
        </p:nvSpPr>
        <p:spPr>
          <a:xfrm>
            <a:off x="4069080" y="4809744"/>
            <a:ext cx="597513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5" name="amt-cur-3"/>
          <p:cNvSpPr txBox="1"/>
          <p:nvPr/>
        </p:nvSpPr>
        <p:spPr>
          <a:xfrm>
            <a:off x="4721457" y="479145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60,646</a:t>
            </a:r>
            <a:endParaRPr lang="en-US" sz="1200" dirty="0"/>
          </a:p>
        </p:txBody>
      </p:sp>
      <p:sp>
        <p:nvSpPr>
          <p:cNvPr id="56" name="bar-prev-3"/>
          <p:cNvSpPr/>
          <p:nvPr/>
        </p:nvSpPr>
        <p:spPr>
          <a:xfrm>
            <a:off x="4069080" y="5120640"/>
            <a:ext cx="689023" cy="14630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7" name="amt-prev-3"/>
          <p:cNvSpPr txBox="1"/>
          <p:nvPr/>
        </p:nvSpPr>
        <p:spPr>
          <a:xfrm>
            <a:off x="4812967" y="507492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69,934</a:t>
            </a:r>
            <a:endParaRPr lang="en-US" sz="1000" dirty="0"/>
          </a:p>
        </p:txBody>
      </p:sp>
      <p:sp>
        <p:nvSpPr>
          <p:cNvPr id="58" name="yoy-bg-3"/>
          <p:cNvSpPr/>
          <p:nvPr/>
        </p:nvSpPr>
        <p:spPr>
          <a:xfrm>
            <a:off x="6537960" y="4882896"/>
            <a:ext cx="82296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9" name="yoy-3"/>
          <p:cNvSpPr txBox="1"/>
          <p:nvPr/>
        </p:nvSpPr>
        <p:spPr>
          <a:xfrm>
            <a:off x="6537960" y="4882896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86.7%</a:t>
            </a:r>
            <a:endParaRPr lang="en-US" sz="1100" dirty="0"/>
          </a:p>
        </p:txBody>
      </p:sp>
      <p:sp>
        <p:nvSpPr>
          <p:cNvPr id="60" name="mv-3"/>
          <p:cNvSpPr txBox="1"/>
          <p:nvPr/>
        </p:nvSpPr>
        <p:spPr>
          <a:xfrm>
            <a:off x="7452360" y="4773168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↑1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前年5位</a:t>
            </a:r>
            <a:endParaRPr lang="en-US" sz="1400" dirty="0"/>
          </a:p>
        </p:txBody>
      </p:sp>
      <p:sp>
        <p:nvSpPr>
          <p:cNvPr id="61" name="row-sep-4"/>
          <p:cNvSpPr/>
          <p:nvPr/>
        </p:nvSpPr>
        <p:spPr>
          <a:xfrm>
            <a:off x="777240" y="5422392"/>
            <a:ext cx="71780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62" name="rk-bg-4"/>
          <p:cNvSpPr/>
          <p:nvPr/>
        </p:nvSpPr>
        <p:spPr>
          <a:xfrm>
            <a:off x="777240" y="557784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3" name="rk-4"/>
          <p:cNvSpPr txBox="1"/>
          <p:nvPr/>
        </p:nvSpPr>
        <p:spPr>
          <a:xfrm>
            <a:off x="777240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64" name="nm-4"/>
          <p:cNvSpPr txBox="1"/>
          <p:nvPr/>
        </p:nvSpPr>
        <p:spPr>
          <a:xfrm>
            <a:off x="1371600" y="551383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黒生</a:t>
            </a:r>
            <a:endParaRPr lang="en-US" sz="1400" dirty="0"/>
          </a:p>
        </p:txBody>
      </p:sp>
      <p:sp>
        <p:nvSpPr>
          <p:cNvPr id="65" name="qty-4"/>
          <p:cNvSpPr txBox="1"/>
          <p:nvPr/>
        </p:nvSpPr>
        <p:spPr>
          <a:xfrm>
            <a:off x="1371600" y="586130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58個（前年 57個）</a:t>
            </a:r>
            <a:endParaRPr lang="en-US" sz="1100" dirty="0"/>
          </a:p>
        </p:txBody>
      </p:sp>
      <p:sp>
        <p:nvSpPr>
          <p:cNvPr id="66" name="bar-cur-4"/>
          <p:cNvSpPr/>
          <p:nvPr/>
        </p:nvSpPr>
        <p:spPr>
          <a:xfrm>
            <a:off x="4069080" y="5568696"/>
            <a:ext cx="444416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7" name="amt-cur-4"/>
          <p:cNvSpPr txBox="1"/>
          <p:nvPr/>
        </p:nvSpPr>
        <p:spPr>
          <a:xfrm>
            <a:off x="4568360" y="55504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45,107</a:t>
            </a:r>
            <a:endParaRPr lang="en-US" sz="1200" dirty="0"/>
          </a:p>
        </p:txBody>
      </p:sp>
      <p:sp>
        <p:nvSpPr>
          <p:cNvPr id="68" name="bar-prev-4"/>
          <p:cNvSpPr/>
          <p:nvPr/>
        </p:nvSpPr>
        <p:spPr>
          <a:xfrm>
            <a:off x="4069080" y="5879592"/>
            <a:ext cx="436376" cy="14630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9" name="amt-prev-4"/>
          <p:cNvSpPr txBox="1"/>
          <p:nvPr/>
        </p:nvSpPr>
        <p:spPr>
          <a:xfrm>
            <a:off x="4560320" y="583387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44,291</a:t>
            </a:r>
            <a:endParaRPr lang="en-US" sz="1000" dirty="0"/>
          </a:p>
        </p:txBody>
      </p:sp>
      <p:sp>
        <p:nvSpPr>
          <p:cNvPr id="70" name="yoy-bg-4"/>
          <p:cNvSpPr/>
          <p:nvPr/>
        </p:nvSpPr>
        <p:spPr>
          <a:xfrm>
            <a:off x="6537960" y="5641848"/>
            <a:ext cx="82296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1" name="yoy-4"/>
          <p:cNvSpPr txBox="1"/>
          <p:nvPr/>
        </p:nvSpPr>
        <p:spPr>
          <a:xfrm>
            <a:off x="6537960" y="5641848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101.8%</a:t>
            </a:r>
            <a:endParaRPr lang="en-US" sz="1100" dirty="0"/>
          </a:p>
        </p:txBody>
      </p:sp>
      <p:sp>
        <p:nvSpPr>
          <p:cNvPr id="72" name="mv-4"/>
          <p:cNvSpPr txBox="1"/>
          <p:nvPr/>
        </p:nvSpPr>
        <p:spPr>
          <a:xfrm>
            <a:off x="7452360" y="553212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↑2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前年7位</a:t>
            </a:r>
            <a:endParaRPr lang="en-US" sz="1400" dirty="0"/>
          </a:p>
        </p:txBody>
      </p:sp>
      <p:sp>
        <p:nvSpPr>
          <p:cNvPr id="73" name="side-panel"/>
          <p:cNvSpPr/>
          <p:nvPr/>
        </p:nvSpPr>
        <p:spPr>
          <a:xfrm>
            <a:off x="8458200" y="1920240"/>
            <a:ext cx="3184855" cy="4251960"/>
          </a:xfrm>
          <a:prstGeom prst="roundRect">
            <a:avLst>
              <a:gd name="adj" fmla="val 344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B3A">
                <a:alpha val="10000"/>
              </a:srgbClr>
            </a:outerShdw>
          </a:effectLst>
        </p:spPr>
      </p:sp>
      <p:sp>
        <p:nvSpPr>
          <p:cNvPr id="74" name="side-label"/>
          <p:cNvSpPr txBox="1"/>
          <p:nvPr/>
        </p:nvSpPr>
        <p:spPr>
          <a:xfrm>
            <a:off x="8686800" y="2103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アルコール 売上合計</a:t>
            </a:r>
            <a:endParaRPr lang="en-US" sz="1100" dirty="0"/>
          </a:p>
        </p:txBody>
      </p:sp>
      <p:sp>
        <p:nvSpPr>
          <p:cNvPr id="75" name="side-total"/>
          <p:cNvSpPr txBox="1"/>
          <p:nvPr/>
        </p:nvSpPr>
        <p:spPr>
          <a:xfrm>
            <a:off x="8686800" y="2377440"/>
            <a:ext cx="2727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742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 千円</a:t>
            </a:r>
            <a:endParaRPr lang="en-US" sz="2800" dirty="0"/>
          </a:p>
        </p:txBody>
      </p:sp>
      <p:sp>
        <p:nvSpPr>
          <p:cNvPr id="76" name="side-yoy"/>
          <p:cNvSpPr txBox="1"/>
          <p:nvPr/>
        </p:nvSpPr>
        <p:spPr>
          <a:xfrm>
            <a:off x="8686800" y="2907792"/>
            <a:ext cx="2727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前年比 </a:t>
            </a:r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82.7%</a:t>
            </a:r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（前年 898千円）</a:t>
            </a:r>
            <a:endParaRPr lang="en-US" sz="1100" dirty="0"/>
          </a:p>
        </p:txBody>
      </p:sp>
      <p:sp>
        <p:nvSpPr>
          <p:cNvPr id="77" name="side-ptitle"/>
          <p:cNvSpPr txBox="1"/>
          <p:nvPr/>
        </p:nvSpPr>
        <p:spPr>
          <a:xfrm>
            <a:off x="8686800" y="34747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2025年9月のTOP5</a:t>
            </a:r>
            <a:endParaRPr lang="en-US" sz="1200" dirty="0"/>
          </a:p>
        </p:txBody>
      </p:sp>
      <p:sp>
        <p:nvSpPr>
          <p:cNvPr id="78" name="p-rk-0"/>
          <p:cNvSpPr txBox="1"/>
          <p:nvPr/>
        </p:nvSpPr>
        <p:spPr>
          <a:xfrm>
            <a:off x="8686800" y="37947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1</a:t>
            </a:r>
            <a:endParaRPr lang="en-US" sz="1200" dirty="0"/>
          </a:p>
        </p:txBody>
      </p:sp>
      <p:sp>
        <p:nvSpPr>
          <p:cNvPr id="79" name="p-nm-0"/>
          <p:cNvSpPr txBox="1"/>
          <p:nvPr/>
        </p:nvSpPr>
        <p:spPr>
          <a:xfrm>
            <a:off x="8961120" y="3794760"/>
            <a:ext cx="1813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パイントグラス</a:t>
            </a:r>
            <a:endParaRPr lang="en-US" sz="1000" dirty="0"/>
          </a:p>
        </p:txBody>
      </p:sp>
      <p:sp>
        <p:nvSpPr>
          <p:cNvPr id="80" name="p-amt-0"/>
          <p:cNvSpPr txBox="1"/>
          <p:nvPr/>
        </p:nvSpPr>
        <p:spPr>
          <a:xfrm>
            <a:off x="10774375" y="37947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162,416</a:t>
            </a:r>
            <a:endParaRPr lang="en-US" sz="1000" dirty="0"/>
          </a:p>
        </p:txBody>
      </p:sp>
      <p:sp>
        <p:nvSpPr>
          <p:cNvPr id="81" name="p-rk-1"/>
          <p:cNvSpPr txBox="1"/>
          <p:nvPr/>
        </p:nvSpPr>
        <p:spPr>
          <a:xfrm>
            <a:off x="8686800" y="419709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82" name="p-nm-1"/>
          <p:cNvSpPr txBox="1"/>
          <p:nvPr/>
        </p:nvSpPr>
        <p:spPr>
          <a:xfrm>
            <a:off x="8961120" y="4197096"/>
            <a:ext cx="1813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マルエフ</a:t>
            </a:r>
            <a:endParaRPr lang="en-US" sz="1000" dirty="0"/>
          </a:p>
        </p:txBody>
      </p:sp>
      <p:sp>
        <p:nvSpPr>
          <p:cNvPr id="83" name="p-amt-1"/>
          <p:cNvSpPr txBox="1"/>
          <p:nvPr/>
        </p:nvSpPr>
        <p:spPr>
          <a:xfrm>
            <a:off x="10774375" y="419709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108,016</a:t>
            </a:r>
            <a:endParaRPr lang="en-US" sz="1000" dirty="0"/>
          </a:p>
        </p:txBody>
      </p:sp>
      <p:sp>
        <p:nvSpPr>
          <p:cNvPr id="84" name="p-rk-2"/>
          <p:cNvSpPr txBox="1"/>
          <p:nvPr/>
        </p:nvSpPr>
        <p:spPr>
          <a:xfrm>
            <a:off x="8686800" y="4599432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3</a:t>
            </a:r>
            <a:endParaRPr lang="en-US" sz="1200" dirty="0"/>
          </a:p>
        </p:txBody>
      </p:sp>
      <p:sp>
        <p:nvSpPr>
          <p:cNvPr id="85" name="p-nm-2"/>
          <p:cNvSpPr txBox="1"/>
          <p:nvPr/>
        </p:nvSpPr>
        <p:spPr>
          <a:xfrm>
            <a:off x="8961120" y="4599432"/>
            <a:ext cx="1813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コインメックビール</a:t>
            </a:r>
            <a:endParaRPr lang="en-US" sz="1000" dirty="0"/>
          </a:p>
        </p:txBody>
      </p:sp>
      <p:sp>
        <p:nvSpPr>
          <p:cNvPr id="86" name="p-amt-2"/>
          <p:cNvSpPr txBox="1"/>
          <p:nvPr/>
        </p:nvSpPr>
        <p:spPr>
          <a:xfrm>
            <a:off x="10774375" y="459943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94,374</a:t>
            </a:r>
            <a:endParaRPr lang="en-US" sz="1000" dirty="0"/>
          </a:p>
        </p:txBody>
      </p:sp>
      <p:sp>
        <p:nvSpPr>
          <p:cNvPr id="87" name="p-rk-3"/>
          <p:cNvSpPr txBox="1"/>
          <p:nvPr/>
        </p:nvSpPr>
        <p:spPr>
          <a:xfrm>
            <a:off x="8686800" y="500176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4</a:t>
            </a:r>
            <a:endParaRPr lang="en-US" sz="1200" dirty="0"/>
          </a:p>
        </p:txBody>
      </p:sp>
      <p:sp>
        <p:nvSpPr>
          <p:cNvPr id="88" name="p-nm-3"/>
          <p:cNvSpPr txBox="1"/>
          <p:nvPr/>
        </p:nvSpPr>
        <p:spPr>
          <a:xfrm>
            <a:off x="8961120" y="5001768"/>
            <a:ext cx="1813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1010JUGビール</a:t>
            </a:r>
            <a:endParaRPr lang="en-US" sz="1000" dirty="0"/>
          </a:p>
        </p:txBody>
      </p:sp>
      <p:sp>
        <p:nvSpPr>
          <p:cNvPr id="89" name="p-amt-3"/>
          <p:cNvSpPr txBox="1"/>
          <p:nvPr/>
        </p:nvSpPr>
        <p:spPr>
          <a:xfrm>
            <a:off x="10774375" y="50017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75,330</a:t>
            </a:r>
            <a:endParaRPr lang="en-US" sz="1000" dirty="0"/>
          </a:p>
        </p:txBody>
      </p:sp>
      <p:sp>
        <p:nvSpPr>
          <p:cNvPr id="90" name="p-rk-4"/>
          <p:cNvSpPr txBox="1"/>
          <p:nvPr/>
        </p:nvSpPr>
        <p:spPr>
          <a:xfrm>
            <a:off x="8686800" y="540410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5</a:t>
            </a:r>
            <a:endParaRPr lang="en-US" sz="1200" dirty="0"/>
          </a:p>
        </p:txBody>
      </p:sp>
      <p:sp>
        <p:nvSpPr>
          <p:cNvPr id="91" name="p-nm-4"/>
          <p:cNvSpPr txBox="1"/>
          <p:nvPr/>
        </p:nvSpPr>
        <p:spPr>
          <a:xfrm>
            <a:off x="8961120" y="5404104"/>
            <a:ext cx="1813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熟選ビール</a:t>
            </a:r>
            <a:endParaRPr lang="en-US" sz="1000" dirty="0"/>
          </a:p>
        </p:txBody>
      </p:sp>
      <p:sp>
        <p:nvSpPr>
          <p:cNvPr id="92" name="p-amt-4"/>
          <p:cNvSpPr txBox="1"/>
          <p:nvPr/>
        </p:nvSpPr>
        <p:spPr>
          <a:xfrm>
            <a:off x="10774375" y="540410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69,934</a:t>
            </a:r>
            <a:endParaRPr lang="en-US" sz="1000" dirty="0"/>
          </a:p>
        </p:txBody>
      </p:sp>
      <p:sp>
        <p:nvSpPr>
          <p:cNvPr id="93" name="side-legend"/>
          <p:cNvSpPr txBox="1"/>
          <p:nvPr/>
        </p:nvSpPr>
        <p:spPr>
          <a:xfrm>
            <a:off x="8686800" y="5852160"/>
            <a:ext cx="2727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2"/>
                </a:solidFill>
              </a:rPr>
              <a:t>グレー表示＝今年TOP5圏外</a:t>
            </a:r>
            <a:endParaRPr lang="en-US" sz="900" dirty="0"/>
          </a:p>
        </p:txBody>
      </p:sp>
      <p:sp>
        <p:nvSpPr>
          <p:cNvPr id="94" name="src-note"/>
          <p:cNvSpPr txBox="1"/>
          <p:nvPr/>
        </p:nvSpPr>
        <p:spPr>
          <a:xfrm>
            <a:off x="6613855" y="6446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金額：円（税抜）　前年比・順位は2025年9月実績との比較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ソフトドリンク｜TOP5 前年比較</a:t>
            </a:r>
            <a:endParaRPr lang="en-US" sz="3000" dirty="0"/>
          </a:p>
        </p:txBody>
      </p:sp>
      <p:sp>
        <p:nvSpPr>
          <p:cNvPr id="3" name="msg-bg"/>
          <p:cNvSpPr/>
          <p:nvPr/>
        </p:nvSpPr>
        <p:spPr>
          <a:xfrm>
            <a:off x="548640" y="1188720"/>
            <a:ext cx="11094415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msg-pill-bg"/>
          <p:cNvSpPr/>
          <p:nvPr/>
        </p:nvSpPr>
        <p:spPr>
          <a:xfrm>
            <a:off x="685800" y="1284732"/>
            <a:ext cx="86868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msg-pill"/>
          <p:cNvSpPr txBox="1"/>
          <p:nvPr/>
        </p:nvSpPr>
        <p:spPr>
          <a:xfrm>
            <a:off x="685800" y="128473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POINT</a:t>
            </a:r>
            <a:endParaRPr lang="en-US" sz="1200" dirty="0"/>
          </a:p>
        </p:txBody>
      </p:sp>
      <p:sp>
        <p:nvSpPr>
          <p:cNvPr id="6" name="msg-text"/>
          <p:cNvSpPr txBox="1"/>
          <p:nvPr/>
        </p:nvSpPr>
        <p:spPr>
          <a:xfrm>
            <a:off x="1691640" y="1188720"/>
            <a:ext cx="98142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リポスパが不動の1位（102%）。新商品リポスパコーラが55千円で2位に初登場</a:t>
            </a:r>
            <a:endParaRPr lang="en-US" sz="1400" dirty="0"/>
          </a:p>
        </p:txBody>
      </p:sp>
      <p:sp>
        <p:nvSpPr>
          <p:cNvPr id="7" name="rank-panel"/>
          <p:cNvSpPr/>
          <p:nvPr/>
        </p:nvSpPr>
        <p:spPr>
          <a:xfrm>
            <a:off x="548640" y="1920240"/>
            <a:ext cx="7635240" cy="425196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B3A">
                <a:alpha val="10000"/>
              </a:srgbClr>
            </a:outerShdw>
          </a:effectLst>
        </p:spPr>
      </p:sp>
      <p:sp>
        <p:nvSpPr>
          <p:cNvPr id="8" name="hdr-順位"/>
          <p:cNvSpPr txBox="1"/>
          <p:nvPr/>
        </p:nvSpPr>
        <p:spPr>
          <a:xfrm>
            <a:off x="777240" y="20848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順位</a:t>
            </a:r>
            <a:endParaRPr lang="en-US" sz="1000" dirty="0"/>
          </a:p>
        </p:txBody>
      </p:sp>
      <p:sp>
        <p:nvSpPr>
          <p:cNvPr id="9" name="hdr-2026年9月 商品名"/>
          <p:cNvSpPr txBox="1"/>
          <p:nvPr/>
        </p:nvSpPr>
        <p:spPr>
          <a:xfrm>
            <a:off x="1371600" y="20848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2026年9月 商品名</a:t>
            </a:r>
            <a:endParaRPr lang="en-US" sz="1000" dirty="0"/>
          </a:p>
        </p:txBody>
      </p:sp>
      <p:sp>
        <p:nvSpPr>
          <p:cNvPr id="10" name="lg-cur"/>
          <p:cNvSpPr/>
          <p:nvPr/>
        </p:nvSpPr>
        <p:spPr>
          <a:xfrm>
            <a:off x="4069080" y="2167128"/>
            <a:ext cx="128016" cy="12801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lg-cur-t"/>
          <p:cNvSpPr txBox="1"/>
          <p:nvPr/>
        </p:nvSpPr>
        <p:spPr>
          <a:xfrm>
            <a:off x="4251960" y="20848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今年</a:t>
            </a:r>
            <a:endParaRPr lang="en-US" sz="1000" dirty="0"/>
          </a:p>
        </p:txBody>
      </p:sp>
      <p:sp>
        <p:nvSpPr>
          <p:cNvPr id="12" name="lg-prev"/>
          <p:cNvSpPr/>
          <p:nvPr/>
        </p:nvSpPr>
        <p:spPr>
          <a:xfrm>
            <a:off x="4800600" y="2167128"/>
            <a:ext cx="128016" cy="128016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lg-prev-t"/>
          <p:cNvSpPr txBox="1"/>
          <p:nvPr/>
        </p:nvSpPr>
        <p:spPr>
          <a:xfrm>
            <a:off x="4983480" y="20848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前年</a:t>
            </a:r>
            <a:endParaRPr lang="en-US" sz="1000" dirty="0"/>
          </a:p>
        </p:txBody>
      </p:sp>
      <p:sp>
        <p:nvSpPr>
          <p:cNvPr id="14" name="hdr-前年比"/>
          <p:cNvSpPr txBox="1"/>
          <p:nvPr/>
        </p:nvSpPr>
        <p:spPr>
          <a:xfrm>
            <a:off x="6537960" y="20848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前年比</a:t>
            </a:r>
            <a:endParaRPr lang="en-US" sz="1000" dirty="0"/>
          </a:p>
        </p:txBody>
      </p:sp>
      <p:sp>
        <p:nvSpPr>
          <p:cNvPr id="15" name="hdr-順位"/>
          <p:cNvSpPr txBox="1"/>
          <p:nvPr/>
        </p:nvSpPr>
        <p:spPr>
          <a:xfrm>
            <a:off x="7452360" y="20848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順位</a:t>
            </a:r>
            <a:endParaRPr lang="en-US" sz="1000" dirty="0"/>
          </a:p>
        </p:txBody>
      </p:sp>
      <p:sp>
        <p:nvSpPr>
          <p:cNvPr id="16" name="rk-bg-0"/>
          <p:cNvSpPr/>
          <p:nvPr/>
        </p:nvSpPr>
        <p:spPr>
          <a:xfrm>
            <a:off x="777240" y="254203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rk-0"/>
          <p:cNvSpPr txBox="1"/>
          <p:nvPr/>
        </p:nvSpPr>
        <p:spPr>
          <a:xfrm>
            <a:off x="777240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18" name="nm-0"/>
          <p:cNvSpPr txBox="1"/>
          <p:nvPr/>
        </p:nvSpPr>
        <p:spPr>
          <a:xfrm>
            <a:off x="1371600" y="2478024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リポスパ</a:t>
            </a:r>
            <a:endParaRPr lang="en-US" sz="1400" dirty="0"/>
          </a:p>
        </p:txBody>
      </p:sp>
      <p:sp>
        <p:nvSpPr>
          <p:cNvPr id="19" name="qty-0"/>
          <p:cNvSpPr txBox="1"/>
          <p:nvPr/>
        </p:nvSpPr>
        <p:spPr>
          <a:xfrm>
            <a:off x="1371600" y="2825496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648個（前年 636個）</a:t>
            </a:r>
            <a:endParaRPr lang="en-US" sz="1100" dirty="0"/>
          </a:p>
        </p:txBody>
      </p:sp>
      <p:sp>
        <p:nvSpPr>
          <p:cNvPr id="20" name="bar-cur-0"/>
          <p:cNvSpPr/>
          <p:nvPr/>
        </p:nvSpPr>
        <p:spPr>
          <a:xfrm>
            <a:off x="4069080" y="2532888"/>
            <a:ext cx="1600200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amt-cur-0"/>
          <p:cNvSpPr txBox="1"/>
          <p:nvPr/>
        </p:nvSpPr>
        <p:spPr>
          <a:xfrm>
            <a:off x="5724144" y="251460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253,367</a:t>
            </a:r>
            <a:endParaRPr lang="en-US" sz="1200" dirty="0"/>
          </a:p>
        </p:txBody>
      </p:sp>
      <p:sp>
        <p:nvSpPr>
          <p:cNvPr id="22" name="bar-prev-0"/>
          <p:cNvSpPr/>
          <p:nvPr/>
        </p:nvSpPr>
        <p:spPr>
          <a:xfrm>
            <a:off x="4069080" y="2843784"/>
            <a:ext cx="1565628" cy="14630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amt-prev-0"/>
          <p:cNvSpPr txBox="1"/>
          <p:nvPr/>
        </p:nvSpPr>
        <p:spPr>
          <a:xfrm>
            <a:off x="5689572" y="279806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247,893</a:t>
            </a:r>
            <a:endParaRPr lang="en-US" sz="1000" dirty="0"/>
          </a:p>
        </p:txBody>
      </p:sp>
      <p:sp>
        <p:nvSpPr>
          <p:cNvPr id="24" name="yoy-bg-0"/>
          <p:cNvSpPr/>
          <p:nvPr/>
        </p:nvSpPr>
        <p:spPr>
          <a:xfrm>
            <a:off x="6537960" y="2606040"/>
            <a:ext cx="82296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yoy-0"/>
          <p:cNvSpPr txBox="1"/>
          <p:nvPr/>
        </p:nvSpPr>
        <p:spPr>
          <a:xfrm>
            <a:off x="6537960" y="260604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102.2%</a:t>
            </a:r>
            <a:endParaRPr lang="en-US" sz="1100" dirty="0"/>
          </a:p>
        </p:txBody>
      </p:sp>
      <p:sp>
        <p:nvSpPr>
          <p:cNvPr id="26" name="mv-0"/>
          <p:cNvSpPr txBox="1"/>
          <p:nvPr/>
        </p:nvSpPr>
        <p:spPr>
          <a:xfrm>
            <a:off x="7452360" y="2496312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前年1位</a:t>
            </a:r>
            <a:endParaRPr lang="en-US" sz="1400" dirty="0"/>
          </a:p>
        </p:txBody>
      </p:sp>
      <p:sp>
        <p:nvSpPr>
          <p:cNvPr id="27" name="row-sep-1"/>
          <p:cNvSpPr/>
          <p:nvPr/>
        </p:nvSpPr>
        <p:spPr>
          <a:xfrm>
            <a:off x="777240" y="3145536"/>
            <a:ext cx="71780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8" name="rk-bg-1"/>
          <p:cNvSpPr/>
          <p:nvPr/>
        </p:nvSpPr>
        <p:spPr>
          <a:xfrm>
            <a:off x="777240" y="3300984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rk-1"/>
          <p:cNvSpPr txBox="1"/>
          <p:nvPr/>
        </p:nvSpPr>
        <p:spPr>
          <a:xfrm>
            <a:off x="777240" y="33009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30" name="nm-1"/>
          <p:cNvSpPr txBox="1"/>
          <p:nvPr/>
        </p:nvSpPr>
        <p:spPr>
          <a:xfrm>
            <a:off x="1371600" y="3236976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リポスパコーラ</a:t>
            </a:r>
            <a:endParaRPr lang="en-US" sz="1400" dirty="0"/>
          </a:p>
        </p:txBody>
      </p:sp>
      <p:sp>
        <p:nvSpPr>
          <p:cNvPr id="31" name="qty-1"/>
          <p:cNvSpPr txBox="1"/>
          <p:nvPr/>
        </p:nvSpPr>
        <p:spPr>
          <a:xfrm>
            <a:off x="1371600" y="3584448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121個（前年 実績なし）</a:t>
            </a:r>
            <a:endParaRPr lang="en-US" sz="1100" dirty="0"/>
          </a:p>
        </p:txBody>
      </p:sp>
      <p:sp>
        <p:nvSpPr>
          <p:cNvPr id="32" name="bar-cur-1"/>
          <p:cNvSpPr/>
          <p:nvPr/>
        </p:nvSpPr>
        <p:spPr>
          <a:xfrm>
            <a:off x="4069080" y="3291840"/>
            <a:ext cx="347707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amt-cur-1"/>
          <p:cNvSpPr txBox="1"/>
          <p:nvPr/>
        </p:nvSpPr>
        <p:spPr>
          <a:xfrm>
            <a:off x="4471651" y="327355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55,054</a:t>
            </a:r>
            <a:endParaRPr lang="en-US" sz="1200" dirty="0"/>
          </a:p>
        </p:txBody>
      </p:sp>
      <p:sp>
        <p:nvSpPr>
          <p:cNvPr id="34" name="yoy-bg-1"/>
          <p:cNvSpPr/>
          <p:nvPr/>
        </p:nvSpPr>
        <p:spPr>
          <a:xfrm>
            <a:off x="6537960" y="3364992"/>
            <a:ext cx="822960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5" name="yoy-1"/>
          <p:cNvSpPr txBox="1"/>
          <p:nvPr/>
        </p:nvSpPr>
        <p:spPr>
          <a:xfrm>
            <a:off x="6537960" y="3364992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NEW</a:t>
            </a:r>
            <a:endParaRPr lang="en-US" sz="1100" dirty="0"/>
          </a:p>
        </p:txBody>
      </p:sp>
      <p:sp>
        <p:nvSpPr>
          <p:cNvPr id="36" name="mv-1"/>
          <p:cNvSpPr txBox="1"/>
          <p:nvPr/>
        </p:nvSpPr>
        <p:spPr>
          <a:xfrm>
            <a:off x="7452360" y="3255264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★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初登場</a:t>
            </a:r>
            <a:endParaRPr lang="en-US" sz="1400" dirty="0"/>
          </a:p>
        </p:txBody>
      </p:sp>
      <p:sp>
        <p:nvSpPr>
          <p:cNvPr id="37" name="row-sep-2"/>
          <p:cNvSpPr/>
          <p:nvPr/>
        </p:nvSpPr>
        <p:spPr>
          <a:xfrm>
            <a:off x="777240" y="3904488"/>
            <a:ext cx="71780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8" name="rk-bg-2"/>
          <p:cNvSpPr/>
          <p:nvPr/>
        </p:nvSpPr>
        <p:spPr>
          <a:xfrm>
            <a:off x="777240" y="4059936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9" name="rk-2"/>
          <p:cNvSpPr txBox="1"/>
          <p:nvPr/>
        </p:nvSpPr>
        <p:spPr>
          <a:xfrm>
            <a:off x="77724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40" name="nm-2"/>
          <p:cNvSpPr txBox="1"/>
          <p:nvPr/>
        </p:nvSpPr>
        <p:spPr>
          <a:xfrm>
            <a:off x="1371600" y="399592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メロンソーダフロート</a:t>
            </a:r>
            <a:endParaRPr lang="en-US" sz="1400" dirty="0"/>
          </a:p>
        </p:txBody>
      </p:sp>
      <p:sp>
        <p:nvSpPr>
          <p:cNvPr id="41" name="qty-2"/>
          <p:cNvSpPr txBox="1"/>
          <p:nvPr/>
        </p:nvSpPr>
        <p:spPr>
          <a:xfrm>
            <a:off x="1371600" y="434340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66個（前年 60個）</a:t>
            </a:r>
            <a:endParaRPr lang="en-US" sz="1100" dirty="0"/>
          </a:p>
        </p:txBody>
      </p:sp>
      <p:sp>
        <p:nvSpPr>
          <p:cNvPr id="42" name="bar-cur-2"/>
          <p:cNvSpPr/>
          <p:nvPr/>
        </p:nvSpPr>
        <p:spPr>
          <a:xfrm>
            <a:off x="4069080" y="4050792"/>
            <a:ext cx="200083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3" name="amt-cur-2"/>
          <p:cNvSpPr txBox="1"/>
          <p:nvPr/>
        </p:nvSpPr>
        <p:spPr>
          <a:xfrm>
            <a:off x="4324027" y="403250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31,680</a:t>
            </a:r>
            <a:endParaRPr lang="en-US" sz="1200" dirty="0"/>
          </a:p>
        </p:txBody>
      </p:sp>
      <p:sp>
        <p:nvSpPr>
          <p:cNvPr id="44" name="bar-prev-2"/>
          <p:cNvSpPr/>
          <p:nvPr/>
        </p:nvSpPr>
        <p:spPr>
          <a:xfrm>
            <a:off x="4069080" y="4361688"/>
            <a:ext cx="180681" cy="14630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5" name="amt-prev-2"/>
          <p:cNvSpPr txBox="1"/>
          <p:nvPr/>
        </p:nvSpPr>
        <p:spPr>
          <a:xfrm>
            <a:off x="4304625" y="431596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28,608</a:t>
            </a:r>
            <a:endParaRPr lang="en-US" sz="1000" dirty="0"/>
          </a:p>
        </p:txBody>
      </p:sp>
      <p:sp>
        <p:nvSpPr>
          <p:cNvPr id="46" name="yoy-bg-2"/>
          <p:cNvSpPr/>
          <p:nvPr/>
        </p:nvSpPr>
        <p:spPr>
          <a:xfrm>
            <a:off x="6537960" y="4123944"/>
            <a:ext cx="82296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7" name="yoy-2"/>
          <p:cNvSpPr txBox="1"/>
          <p:nvPr/>
        </p:nvSpPr>
        <p:spPr>
          <a:xfrm>
            <a:off x="6537960" y="4123944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110.7%</a:t>
            </a:r>
            <a:endParaRPr lang="en-US" sz="1100" dirty="0"/>
          </a:p>
        </p:txBody>
      </p:sp>
      <p:sp>
        <p:nvSpPr>
          <p:cNvPr id="48" name="mv-2"/>
          <p:cNvSpPr txBox="1"/>
          <p:nvPr/>
        </p:nvSpPr>
        <p:spPr>
          <a:xfrm>
            <a:off x="7452360" y="40142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↓1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前年2位</a:t>
            </a:r>
            <a:endParaRPr lang="en-US" sz="1400" dirty="0"/>
          </a:p>
        </p:txBody>
      </p:sp>
      <p:sp>
        <p:nvSpPr>
          <p:cNvPr id="49" name="row-sep-3"/>
          <p:cNvSpPr/>
          <p:nvPr/>
        </p:nvSpPr>
        <p:spPr>
          <a:xfrm>
            <a:off x="777240" y="4663440"/>
            <a:ext cx="71780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0" name="rk-bg-3"/>
          <p:cNvSpPr/>
          <p:nvPr/>
        </p:nvSpPr>
        <p:spPr>
          <a:xfrm>
            <a:off x="777240" y="4818888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1" name="rk-3"/>
          <p:cNvSpPr txBox="1"/>
          <p:nvPr/>
        </p:nvSpPr>
        <p:spPr>
          <a:xfrm>
            <a:off x="777240" y="4818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2" name="nm-3"/>
          <p:cNvSpPr txBox="1"/>
          <p:nvPr/>
        </p:nvSpPr>
        <p:spPr>
          <a:xfrm>
            <a:off x="1371600" y="475488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コーラフロート</a:t>
            </a:r>
            <a:endParaRPr lang="en-US" sz="1400" dirty="0"/>
          </a:p>
        </p:txBody>
      </p:sp>
      <p:sp>
        <p:nvSpPr>
          <p:cNvPr id="53" name="qty-3"/>
          <p:cNvSpPr txBox="1"/>
          <p:nvPr/>
        </p:nvSpPr>
        <p:spPr>
          <a:xfrm>
            <a:off x="1371600" y="510235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38個（前年 38個）</a:t>
            </a:r>
            <a:endParaRPr lang="en-US" sz="1100" dirty="0"/>
          </a:p>
        </p:txBody>
      </p:sp>
      <p:sp>
        <p:nvSpPr>
          <p:cNvPr id="54" name="bar-cur-3"/>
          <p:cNvSpPr/>
          <p:nvPr/>
        </p:nvSpPr>
        <p:spPr>
          <a:xfrm>
            <a:off x="4069080" y="4809744"/>
            <a:ext cx="115199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5" name="amt-cur-3"/>
          <p:cNvSpPr txBox="1"/>
          <p:nvPr/>
        </p:nvSpPr>
        <p:spPr>
          <a:xfrm>
            <a:off x="4239143" y="479145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18,240</a:t>
            </a:r>
            <a:endParaRPr lang="en-US" sz="1200" dirty="0"/>
          </a:p>
        </p:txBody>
      </p:sp>
      <p:sp>
        <p:nvSpPr>
          <p:cNvPr id="56" name="bar-prev-3"/>
          <p:cNvSpPr/>
          <p:nvPr/>
        </p:nvSpPr>
        <p:spPr>
          <a:xfrm>
            <a:off x="4069080" y="5120640"/>
            <a:ext cx="115199" cy="14630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7" name="amt-prev-3"/>
          <p:cNvSpPr txBox="1"/>
          <p:nvPr/>
        </p:nvSpPr>
        <p:spPr>
          <a:xfrm>
            <a:off x="4239143" y="507492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18,240</a:t>
            </a:r>
            <a:endParaRPr lang="en-US" sz="1000" dirty="0"/>
          </a:p>
        </p:txBody>
      </p:sp>
      <p:sp>
        <p:nvSpPr>
          <p:cNvPr id="58" name="yoy-bg-3"/>
          <p:cNvSpPr/>
          <p:nvPr/>
        </p:nvSpPr>
        <p:spPr>
          <a:xfrm>
            <a:off x="6537960" y="4882896"/>
            <a:ext cx="82296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9" name="yoy-3"/>
          <p:cNvSpPr txBox="1"/>
          <p:nvPr/>
        </p:nvSpPr>
        <p:spPr>
          <a:xfrm>
            <a:off x="6537960" y="4882896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100.0%</a:t>
            </a:r>
            <a:endParaRPr lang="en-US" sz="1100" dirty="0"/>
          </a:p>
        </p:txBody>
      </p:sp>
      <p:sp>
        <p:nvSpPr>
          <p:cNvPr id="60" name="mv-3"/>
          <p:cNvSpPr txBox="1"/>
          <p:nvPr/>
        </p:nvSpPr>
        <p:spPr>
          <a:xfrm>
            <a:off x="7452360" y="4773168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↑1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前年5位</a:t>
            </a:r>
            <a:endParaRPr lang="en-US" sz="1400" dirty="0"/>
          </a:p>
        </p:txBody>
      </p:sp>
      <p:sp>
        <p:nvSpPr>
          <p:cNvPr id="61" name="row-sep-4"/>
          <p:cNvSpPr/>
          <p:nvPr/>
        </p:nvSpPr>
        <p:spPr>
          <a:xfrm>
            <a:off x="777240" y="5422392"/>
            <a:ext cx="71780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62" name="rk-bg-4"/>
          <p:cNvSpPr/>
          <p:nvPr/>
        </p:nvSpPr>
        <p:spPr>
          <a:xfrm>
            <a:off x="777240" y="557784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3" name="rk-4"/>
          <p:cNvSpPr txBox="1"/>
          <p:nvPr/>
        </p:nvSpPr>
        <p:spPr>
          <a:xfrm>
            <a:off x="777240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64" name="nm-4"/>
          <p:cNvSpPr txBox="1"/>
          <p:nvPr/>
        </p:nvSpPr>
        <p:spPr>
          <a:xfrm>
            <a:off x="1371600" y="551383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黒ウーロン茶</a:t>
            </a:r>
            <a:endParaRPr lang="en-US" sz="1400" dirty="0"/>
          </a:p>
        </p:txBody>
      </p:sp>
      <p:sp>
        <p:nvSpPr>
          <p:cNvPr id="65" name="qty-4"/>
          <p:cNvSpPr txBox="1"/>
          <p:nvPr/>
        </p:nvSpPr>
        <p:spPr>
          <a:xfrm>
            <a:off x="1371600" y="586130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69個（前年 80個）</a:t>
            </a:r>
            <a:endParaRPr lang="en-US" sz="1100" dirty="0"/>
          </a:p>
        </p:txBody>
      </p:sp>
      <p:sp>
        <p:nvSpPr>
          <p:cNvPr id="66" name="bar-cur-4"/>
          <p:cNvSpPr/>
          <p:nvPr/>
        </p:nvSpPr>
        <p:spPr>
          <a:xfrm>
            <a:off x="4069080" y="5568696"/>
            <a:ext cx="112925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7" name="amt-cur-4"/>
          <p:cNvSpPr txBox="1"/>
          <p:nvPr/>
        </p:nvSpPr>
        <p:spPr>
          <a:xfrm>
            <a:off x="4236869" y="55504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17,880</a:t>
            </a:r>
            <a:endParaRPr lang="en-US" sz="1200" dirty="0"/>
          </a:p>
        </p:txBody>
      </p:sp>
      <p:sp>
        <p:nvSpPr>
          <p:cNvPr id="68" name="bar-prev-4"/>
          <p:cNvSpPr/>
          <p:nvPr/>
        </p:nvSpPr>
        <p:spPr>
          <a:xfrm>
            <a:off x="4069080" y="5879592"/>
            <a:ext cx="138643" cy="14630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9" name="amt-prev-4"/>
          <p:cNvSpPr txBox="1"/>
          <p:nvPr/>
        </p:nvSpPr>
        <p:spPr>
          <a:xfrm>
            <a:off x="4262587" y="583387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21,952</a:t>
            </a:r>
            <a:endParaRPr lang="en-US" sz="1000" dirty="0"/>
          </a:p>
        </p:txBody>
      </p:sp>
      <p:sp>
        <p:nvSpPr>
          <p:cNvPr id="70" name="yoy-bg-4"/>
          <p:cNvSpPr/>
          <p:nvPr/>
        </p:nvSpPr>
        <p:spPr>
          <a:xfrm>
            <a:off x="6537960" y="5641848"/>
            <a:ext cx="82296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1" name="yoy-4"/>
          <p:cNvSpPr txBox="1"/>
          <p:nvPr/>
        </p:nvSpPr>
        <p:spPr>
          <a:xfrm>
            <a:off x="6537960" y="5641848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81.5%</a:t>
            </a:r>
            <a:endParaRPr lang="en-US" sz="1100" dirty="0"/>
          </a:p>
        </p:txBody>
      </p:sp>
      <p:sp>
        <p:nvSpPr>
          <p:cNvPr id="72" name="mv-4"/>
          <p:cNvSpPr txBox="1"/>
          <p:nvPr/>
        </p:nvSpPr>
        <p:spPr>
          <a:xfrm>
            <a:off x="7452360" y="553212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↓1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前年4位</a:t>
            </a:r>
            <a:endParaRPr lang="en-US" sz="1400" dirty="0"/>
          </a:p>
        </p:txBody>
      </p:sp>
      <p:sp>
        <p:nvSpPr>
          <p:cNvPr id="73" name="side-panel"/>
          <p:cNvSpPr/>
          <p:nvPr/>
        </p:nvSpPr>
        <p:spPr>
          <a:xfrm>
            <a:off x="8458200" y="1920240"/>
            <a:ext cx="3184855" cy="4251960"/>
          </a:xfrm>
          <a:prstGeom prst="roundRect">
            <a:avLst>
              <a:gd name="adj" fmla="val 344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B3A">
                <a:alpha val="10000"/>
              </a:srgbClr>
            </a:outerShdw>
          </a:effectLst>
        </p:spPr>
      </p:sp>
      <p:sp>
        <p:nvSpPr>
          <p:cNvPr id="74" name="side-label"/>
          <p:cNvSpPr txBox="1"/>
          <p:nvPr/>
        </p:nvSpPr>
        <p:spPr>
          <a:xfrm>
            <a:off x="8686800" y="2103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ソフトドリンク 売上合計</a:t>
            </a:r>
            <a:endParaRPr lang="en-US" sz="1100" dirty="0"/>
          </a:p>
        </p:txBody>
      </p:sp>
      <p:sp>
        <p:nvSpPr>
          <p:cNvPr id="75" name="side-total"/>
          <p:cNvSpPr txBox="1"/>
          <p:nvPr/>
        </p:nvSpPr>
        <p:spPr>
          <a:xfrm>
            <a:off x="8686800" y="2377440"/>
            <a:ext cx="2727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527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 千円</a:t>
            </a:r>
            <a:endParaRPr lang="en-US" sz="2800" dirty="0"/>
          </a:p>
        </p:txBody>
      </p:sp>
      <p:sp>
        <p:nvSpPr>
          <p:cNvPr id="76" name="side-yoy"/>
          <p:cNvSpPr txBox="1"/>
          <p:nvPr/>
        </p:nvSpPr>
        <p:spPr>
          <a:xfrm>
            <a:off x="8686800" y="2907792"/>
            <a:ext cx="2727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前年比 </a:t>
            </a:r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102.6%</a:t>
            </a:r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（前年 514千円）</a:t>
            </a:r>
            <a:endParaRPr lang="en-US" sz="1100" dirty="0"/>
          </a:p>
        </p:txBody>
      </p:sp>
      <p:sp>
        <p:nvSpPr>
          <p:cNvPr id="77" name="side-ptitle"/>
          <p:cNvSpPr txBox="1"/>
          <p:nvPr/>
        </p:nvSpPr>
        <p:spPr>
          <a:xfrm>
            <a:off x="8686800" y="34747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2025年9月のTOP5</a:t>
            </a:r>
            <a:endParaRPr lang="en-US" sz="1200" dirty="0"/>
          </a:p>
        </p:txBody>
      </p:sp>
      <p:sp>
        <p:nvSpPr>
          <p:cNvPr id="78" name="p-rk-0"/>
          <p:cNvSpPr txBox="1"/>
          <p:nvPr/>
        </p:nvSpPr>
        <p:spPr>
          <a:xfrm>
            <a:off x="8686800" y="37947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1</a:t>
            </a:r>
            <a:endParaRPr lang="en-US" sz="1200" dirty="0"/>
          </a:p>
        </p:txBody>
      </p:sp>
      <p:sp>
        <p:nvSpPr>
          <p:cNvPr id="79" name="p-nm-0"/>
          <p:cNvSpPr txBox="1"/>
          <p:nvPr/>
        </p:nvSpPr>
        <p:spPr>
          <a:xfrm>
            <a:off x="8961120" y="3794760"/>
            <a:ext cx="1813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リポスパ</a:t>
            </a:r>
            <a:endParaRPr lang="en-US" sz="1000" dirty="0"/>
          </a:p>
        </p:txBody>
      </p:sp>
      <p:sp>
        <p:nvSpPr>
          <p:cNvPr id="80" name="p-amt-0"/>
          <p:cNvSpPr txBox="1"/>
          <p:nvPr/>
        </p:nvSpPr>
        <p:spPr>
          <a:xfrm>
            <a:off x="10774375" y="37947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247,893</a:t>
            </a:r>
            <a:endParaRPr lang="en-US" sz="1000" dirty="0"/>
          </a:p>
        </p:txBody>
      </p:sp>
      <p:sp>
        <p:nvSpPr>
          <p:cNvPr id="81" name="p-rk-1"/>
          <p:cNvSpPr txBox="1"/>
          <p:nvPr/>
        </p:nvSpPr>
        <p:spPr>
          <a:xfrm>
            <a:off x="8686800" y="419709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82" name="p-nm-1"/>
          <p:cNvSpPr txBox="1"/>
          <p:nvPr/>
        </p:nvSpPr>
        <p:spPr>
          <a:xfrm>
            <a:off x="8961120" y="4197096"/>
            <a:ext cx="1813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メロンソーダフロート</a:t>
            </a:r>
            <a:endParaRPr lang="en-US" sz="1000" dirty="0"/>
          </a:p>
        </p:txBody>
      </p:sp>
      <p:sp>
        <p:nvSpPr>
          <p:cNvPr id="83" name="p-amt-1"/>
          <p:cNvSpPr txBox="1"/>
          <p:nvPr/>
        </p:nvSpPr>
        <p:spPr>
          <a:xfrm>
            <a:off x="10774375" y="419709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28,608</a:t>
            </a:r>
            <a:endParaRPr lang="en-US" sz="1000" dirty="0"/>
          </a:p>
        </p:txBody>
      </p:sp>
      <p:sp>
        <p:nvSpPr>
          <p:cNvPr id="84" name="p-rk-2"/>
          <p:cNvSpPr txBox="1"/>
          <p:nvPr/>
        </p:nvSpPr>
        <p:spPr>
          <a:xfrm>
            <a:off x="8686800" y="4599432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3</a:t>
            </a:r>
            <a:endParaRPr lang="en-US" sz="1200" dirty="0"/>
          </a:p>
        </p:txBody>
      </p:sp>
      <p:sp>
        <p:nvSpPr>
          <p:cNvPr id="85" name="p-nm-2"/>
          <p:cNvSpPr txBox="1"/>
          <p:nvPr/>
        </p:nvSpPr>
        <p:spPr>
          <a:xfrm>
            <a:off x="8961120" y="4599432"/>
            <a:ext cx="1813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おためしリポスパ</a:t>
            </a:r>
            <a:endParaRPr lang="en-US" sz="1000" dirty="0"/>
          </a:p>
        </p:txBody>
      </p:sp>
      <p:sp>
        <p:nvSpPr>
          <p:cNvPr id="86" name="p-amt-2"/>
          <p:cNvSpPr txBox="1"/>
          <p:nvPr/>
        </p:nvSpPr>
        <p:spPr>
          <a:xfrm>
            <a:off x="10774375" y="459943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26,754</a:t>
            </a:r>
            <a:endParaRPr lang="en-US" sz="1000" dirty="0"/>
          </a:p>
        </p:txBody>
      </p:sp>
      <p:sp>
        <p:nvSpPr>
          <p:cNvPr id="87" name="p-rk-3"/>
          <p:cNvSpPr txBox="1"/>
          <p:nvPr/>
        </p:nvSpPr>
        <p:spPr>
          <a:xfrm>
            <a:off x="8686800" y="500176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4</a:t>
            </a:r>
            <a:endParaRPr lang="en-US" sz="1200" dirty="0"/>
          </a:p>
        </p:txBody>
      </p:sp>
      <p:sp>
        <p:nvSpPr>
          <p:cNvPr id="88" name="p-nm-3"/>
          <p:cNvSpPr txBox="1"/>
          <p:nvPr/>
        </p:nvSpPr>
        <p:spPr>
          <a:xfrm>
            <a:off x="8961120" y="5001768"/>
            <a:ext cx="1813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黒ウーロン茶</a:t>
            </a:r>
            <a:endParaRPr lang="en-US" sz="1000" dirty="0"/>
          </a:p>
        </p:txBody>
      </p:sp>
      <p:sp>
        <p:nvSpPr>
          <p:cNvPr id="89" name="p-amt-3"/>
          <p:cNvSpPr txBox="1"/>
          <p:nvPr/>
        </p:nvSpPr>
        <p:spPr>
          <a:xfrm>
            <a:off x="10774375" y="50017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21,952</a:t>
            </a:r>
            <a:endParaRPr lang="en-US" sz="1000" dirty="0"/>
          </a:p>
        </p:txBody>
      </p:sp>
      <p:sp>
        <p:nvSpPr>
          <p:cNvPr id="90" name="p-rk-4"/>
          <p:cNvSpPr txBox="1"/>
          <p:nvPr/>
        </p:nvSpPr>
        <p:spPr>
          <a:xfrm>
            <a:off x="8686800" y="540410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5</a:t>
            </a:r>
            <a:endParaRPr lang="en-US" sz="1200" dirty="0"/>
          </a:p>
        </p:txBody>
      </p:sp>
      <p:sp>
        <p:nvSpPr>
          <p:cNvPr id="91" name="p-nm-4"/>
          <p:cNvSpPr txBox="1"/>
          <p:nvPr/>
        </p:nvSpPr>
        <p:spPr>
          <a:xfrm>
            <a:off x="8961120" y="5404104"/>
            <a:ext cx="1813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コーラフロート</a:t>
            </a:r>
            <a:endParaRPr lang="en-US" sz="1000" dirty="0"/>
          </a:p>
        </p:txBody>
      </p:sp>
      <p:sp>
        <p:nvSpPr>
          <p:cNvPr id="92" name="p-amt-4"/>
          <p:cNvSpPr txBox="1"/>
          <p:nvPr/>
        </p:nvSpPr>
        <p:spPr>
          <a:xfrm>
            <a:off x="10774375" y="540410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18,240</a:t>
            </a:r>
            <a:endParaRPr lang="en-US" sz="1000" dirty="0"/>
          </a:p>
        </p:txBody>
      </p:sp>
      <p:sp>
        <p:nvSpPr>
          <p:cNvPr id="93" name="side-legend"/>
          <p:cNvSpPr txBox="1"/>
          <p:nvPr/>
        </p:nvSpPr>
        <p:spPr>
          <a:xfrm>
            <a:off x="8686800" y="5852160"/>
            <a:ext cx="2727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2"/>
                </a:solidFill>
              </a:rPr>
              <a:t>グレー表示＝今年TOP5圏外</a:t>
            </a:r>
            <a:endParaRPr lang="en-US" sz="900" dirty="0"/>
          </a:p>
        </p:txBody>
      </p:sp>
      <p:sp>
        <p:nvSpPr>
          <p:cNvPr id="94" name="src-note"/>
          <p:cNvSpPr txBox="1"/>
          <p:nvPr/>
        </p:nvSpPr>
        <p:spPr>
          <a:xfrm>
            <a:off x="6613855" y="6446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金額：円（税抜）　前年比・順位は2025年9月実績との比較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デザート｜TOP5 前年比較</a:t>
            </a:r>
            <a:endParaRPr lang="en-US" sz="3000" dirty="0"/>
          </a:p>
        </p:txBody>
      </p:sp>
      <p:sp>
        <p:nvSpPr>
          <p:cNvPr id="3" name="msg-bg"/>
          <p:cNvSpPr/>
          <p:nvPr/>
        </p:nvSpPr>
        <p:spPr>
          <a:xfrm>
            <a:off x="548640" y="1188720"/>
            <a:ext cx="11094415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msg-pill-bg"/>
          <p:cNvSpPr/>
          <p:nvPr/>
        </p:nvSpPr>
        <p:spPr>
          <a:xfrm>
            <a:off x="685800" y="1284732"/>
            <a:ext cx="86868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msg-pill"/>
          <p:cNvSpPr txBox="1"/>
          <p:nvPr/>
        </p:nvSpPr>
        <p:spPr>
          <a:xfrm>
            <a:off x="685800" y="128473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POINT</a:t>
            </a:r>
            <a:endParaRPr lang="en-US" sz="1200" dirty="0"/>
          </a:p>
        </p:txBody>
      </p:sp>
      <p:sp>
        <p:nvSpPr>
          <p:cNvPr id="6" name="msg-text"/>
          <p:cNvSpPr txBox="1"/>
          <p:nvPr/>
        </p:nvSpPr>
        <p:spPr>
          <a:xfrm>
            <a:off x="1691640" y="1188720"/>
            <a:ext cx="98142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ソフトクリームが前年の4.1倍（14千円→58千円）で4位から首位へ大躍進</a:t>
            </a:r>
            <a:endParaRPr lang="en-US" sz="1400" dirty="0"/>
          </a:p>
        </p:txBody>
      </p:sp>
      <p:sp>
        <p:nvSpPr>
          <p:cNvPr id="7" name="rank-panel"/>
          <p:cNvSpPr/>
          <p:nvPr/>
        </p:nvSpPr>
        <p:spPr>
          <a:xfrm>
            <a:off x="548640" y="1920240"/>
            <a:ext cx="7635240" cy="425196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B3A">
                <a:alpha val="10000"/>
              </a:srgbClr>
            </a:outerShdw>
          </a:effectLst>
        </p:spPr>
      </p:sp>
      <p:sp>
        <p:nvSpPr>
          <p:cNvPr id="8" name="hdr-順位"/>
          <p:cNvSpPr txBox="1"/>
          <p:nvPr/>
        </p:nvSpPr>
        <p:spPr>
          <a:xfrm>
            <a:off x="777240" y="20848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順位</a:t>
            </a:r>
            <a:endParaRPr lang="en-US" sz="1000" dirty="0"/>
          </a:p>
        </p:txBody>
      </p:sp>
      <p:sp>
        <p:nvSpPr>
          <p:cNvPr id="9" name="hdr-2026年9月 商品名"/>
          <p:cNvSpPr txBox="1"/>
          <p:nvPr/>
        </p:nvSpPr>
        <p:spPr>
          <a:xfrm>
            <a:off x="1371600" y="20848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2026年9月 商品名</a:t>
            </a:r>
            <a:endParaRPr lang="en-US" sz="1000" dirty="0"/>
          </a:p>
        </p:txBody>
      </p:sp>
      <p:sp>
        <p:nvSpPr>
          <p:cNvPr id="10" name="lg-cur"/>
          <p:cNvSpPr/>
          <p:nvPr/>
        </p:nvSpPr>
        <p:spPr>
          <a:xfrm>
            <a:off x="4069080" y="2167128"/>
            <a:ext cx="128016" cy="12801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lg-cur-t"/>
          <p:cNvSpPr txBox="1"/>
          <p:nvPr/>
        </p:nvSpPr>
        <p:spPr>
          <a:xfrm>
            <a:off x="4251960" y="20848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今年</a:t>
            </a:r>
            <a:endParaRPr lang="en-US" sz="1000" dirty="0"/>
          </a:p>
        </p:txBody>
      </p:sp>
      <p:sp>
        <p:nvSpPr>
          <p:cNvPr id="12" name="lg-prev"/>
          <p:cNvSpPr/>
          <p:nvPr/>
        </p:nvSpPr>
        <p:spPr>
          <a:xfrm>
            <a:off x="4800600" y="2167128"/>
            <a:ext cx="128016" cy="128016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lg-prev-t"/>
          <p:cNvSpPr txBox="1"/>
          <p:nvPr/>
        </p:nvSpPr>
        <p:spPr>
          <a:xfrm>
            <a:off x="4983480" y="20848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前年</a:t>
            </a:r>
            <a:endParaRPr lang="en-US" sz="1000" dirty="0"/>
          </a:p>
        </p:txBody>
      </p:sp>
      <p:sp>
        <p:nvSpPr>
          <p:cNvPr id="14" name="hdr-前年比"/>
          <p:cNvSpPr txBox="1"/>
          <p:nvPr/>
        </p:nvSpPr>
        <p:spPr>
          <a:xfrm>
            <a:off x="6537960" y="20848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前年比</a:t>
            </a:r>
            <a:endParaRPr lang="en-US" sz="1000" dirty="0"/>
          </a:p>
        </p:txBody>
      </p:sp>
      <p:sp>
        <p:nvSpPr>
          <p:cNvPr id="15" name="hdr-順位"/>
          <p:cNvSpPr txBox="1"/>
          <p:nvPr/>
        </p:nvSpPr>
        <p:spPr>
          <a:xfrm>
            <a:off x="7452360" y="20848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順位</a:t>
            </a:r>
            <a:endParaRPr lang="en-US" sz="1000" dirty="0"/>
          </a:p>
        </p:txBody>
      </p:sp>
      <p:sp>
        <p:nvSpPr>
          <p:cNvPr id="16" name="rk-bg-0"/>
          <p:cNvSpPr/>
          <p:nvPr/>
        </p:nvSpPr>
        <p:spPr>
          <a:xfrm>
            <a:off x="777240" y="254203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rk-0"/>
          <p:cNvSpPr txBox="1"/>
          <p:nvPr/>
        </p:nvSpPr>
        <p:spPr>
          <a:xfrm>
            <a:off x="777240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18" name="nm-0"/>
          <p:cNvSpPr txBox="1"/>
          <p:nvPr/>
        </p:nvSpPr>
        <p:spPr>
          <a:xfrm>
            <a:off x="1371600" y="2478024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ソフトクリーム</a:t>
            </a:r>
            <a:endParaRPr lang="en-US" sz="1400" dirty="0"/>
          </a:p>
        </p:txBody>
      </p:sp>
      <p:sp>
        <p:nvSpPr>
          <p:cNvPr id="19" name="qty-0"/>
          <p:cNvSpPr txBox="1"/>
          <p:nvPr/>
        </p:nvSpPr>
        <p:spPr>
          <a:xfrm>
            <a:off x="1371600" y="2825496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135個（前年 33個）</a:t>
            </a:r>
            <a:endParaRPr lang="en-US" sz="1100" dirty="0"/>
          </a:p>
        </p:txBody>
      </p:sp>
      <p:sp>
        <p:nvSpPr>
          <p:cNvPr id="20" name="bar-cur-0"/>
          <p:cNvSpPr/>
          <p:nvPr/>
        </p:nvSpPr>
        <p:spPr>
          <a:xfrm>
            <a:off x="4069080" y="2532888"/>
            <a:ext cx="1600200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amt-cur-0"/>
          <p:cNvSpPr txBox="1"/>
          <p:nvPr/>
        </p:nvSpPr>
        <p:spPr>
          <a:xfrm>
            <a:off x="5724144" y="251460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58,050</a:t>
            </a:r>
            <a:endParaRPr lang="en-US" sz="1200" dirty="0"/>
          </a:p>
        </p:txBody>
      </p:sp>
      <p:sp>
        <p:nvSpPr>
          <p:cNvPr id="22" name="bar-prev-0"/>
          <p:cNvSpPr/>
          <p:nvPr/>
        </p:nvSpPr>
        <p:spPr>
          <a:xfrm>
            <a:off x="4069080" y="2843784"/>
            <a:ext cx="391160" cy="14630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amt-prev-0"/>
          <p:cNvSpPr txBox="1"/>
          <p:nvPr/>
        </p:nvSpPr>
        <p:spPr>
          <a:xfrm>
            <a:off x="4515104" y="279806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14,190</a:t>
            </a:r>
            <a:endParaRPr lang="en-US" sz="1000" dirty="0"/>
          </a:p>
        </p:txBody>
      </p:sp>
      <p:sp>
        <p:nvSpPr>
          <p:cNvPr id="24" name="yoy-bg-0"/>
          <p:cNvSpPr/>
          <p:nvPr/>
        </p:nvSpPr>
        <p:spPr>
          <a:xfrm>
            <a:off x="6537960" y="2606040"/>
            <a:ext cx="82296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yoy-0"/>
          <p:cNvSpPr txBox="1"/>
          <p:nvPr/>
        </p:nvSpPr>
        <p:spPr>
          <a:xfrm>
            <a:off x="6537960" y="260604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409.1%</a:t>
            </a:r>
            <a:endParaRPr lang="en-US" sz="1100" dirty="0"/>
          </a:p>
        </p:txBody>
      </p:sp>
      <p:sp>
        <p:nvSpPr>
          <p:cNvPr id="26" name="mv-0"/>
          <p:cNvSpPr txBox="1"/>
          <p:nvPr/>
        </p:nvSpPr>
        <p:spPr>
          <a:xfrm>
            <a:off x="7452360" y="2496312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↑3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前年4位</a:t>
            </a:r>
            <a:endParaRPr lang="en-US" sz="1400" dirty="0"/>
          </a:p>
        </p:txBody>
      </p:sp>
      <p:sp>
        <p:nvSpPr>
          <p:cNvPr id="27" name="row-sep-1"/>
          <p:cNvSpPr/>
          <p:nvPr/>
        </p:nvSpPr>
        <p:spPr>
          <a:xfrm>
            <a:off x="777240" y="3145536"/>
            <a:ext cx="71780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8" name="rk-bg-1"/>
          <p:cNvSpPr/>
          <p:nvPr/>
        </p:nvSpPr>
        <p:spPr>
          <a:xfrm>
            <a:off x="777240" y="3300984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rk-1"/>
          <p:cNvSpPr txBox="1"/>
          <p:nvPr/>
        </p:nvSpPr>
        <p:spPr>
          <a:xfrm>
            <a:off x="777240" y="33009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30" name="nm-1"/>
          <p:cNvSpPr txBox="1"/>
          <p:nvPr/>
        </p:nvSpPr>
        <p:spPr>
          <a:xfrm>
            <a:off x="1371600" y="3236976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チョコバナナパフェ</a:t>
            </a:r>
            <a:endParaRPr lang="en-US" sz="1400" dirty="0"/>
          </a:p>
        </p:txBody>
      </p:sp>
      <p:sp>
        <p:nvSpPr>
          <p:cNvPr id="31" name="qty-1"/>
          <p:cNvSpPr txBox="1"/>
          <p:nvPr/>
        </p:nvSpPr>
        <p:spPr>
          <a:xfrm>
            <a:off x="1371600" y="3584448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45個（前年 60個）</a:t>
            </a:r>
            <a:endParaRPr lang="en-US" sz="1100" dirty="0"/>
          </a:p>
        </p:txBody>
      </p:sp>
      <p:sp>
        <p:nvSpPr>
          <p:cNvPr id="32" name="bar-cur-1"/>
          <p:cNvSpPr/>
          <p:nvPr/>
        </p:nvSpPr>
        <p:spPr>
          <a:xfrm>
            <a:off x="4069080" y="3291840"/>
            <a:ext cx="651630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amt-cur-1"/>
          <p:cNvSpPr txBox="1"/>
          <p:nvPr/>
        </p:nvSpPr>
        <p:spPr>
          <a:xfrm>
            <a:off x="4775574" y="327355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23,639</a:t>
            </a:r>
            <a:endParaRPr lang="en-US" sz="1200" dirty="0"/>
          </a:p>
        </p:txBody>
      </p:sp>
      <p:sp>
        <p:nvSpPr>
          <p:cNvPr id="34" name="bar-prev-1"/>
          <p:cNvSpPr/>
          <p:nvPr/>
        </p:nvSpPr>
        <p:spPr>
          <a:xfrm>
            <a:off x="4069080" y="3602736"/>
            <a:ext cx="864907" cy="14630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5" name="amt-prev-1"/>
          <p:cNvSpPr txBox="1"/>
          <p:nvPr/>
        </p:nvSpPr>
        <p:spPr>
          <a:xfrm>
            <a:off x="4988851" y="3557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31,376</a:t>
            </a:r>
            <a:endParaRPr lang="en-US" sz="1000" dirty="0"/>
          </a:p>
        </p:txBody>
      </p:sp>
      <p:sp>
        <p:nvSpPr>
          <p:cNvPr id="36" name="yoy-bg-1"/>
          <p:cNvSpPr/>
          <p:nvPr/>
        </p:nvSpPr>
        <p:spPr>
          <a:xfrm>
            <a:off x="6537960" y="3364992"/>
            <a:ext cx="82296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7" name="yoy-1"/>
          <p:cNvSpPr txBox="1"/>
          <p:nvPr/>
        </p:nvSpPr>
        <p:spPr>
          <a:xfrm>
            <a:off x="6537960" y="3364992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75.3%</a:t>
            </a:r>
            <a:endParaRPr lang="en-US" sz="1100" dirty="0"/>
          </a:p>
        </p:txBody>
      </p:sp>
      <p:sp>
        <p:nvSpPr>
          <p:cNvPr id="38" name="mv-1"/>
          <p:cNvSpPr txBox="1"/>
          <p:nvPr/>
        </p:nvSpPr>
        <p:spPr>
          <a:xfrm>
            <a:off x="7452360" y="3255264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↓1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前年1位</a:t>
            </a:r>
            <a:endParaRPr lang="en-US" sz="1400" dirty="0"/>
          </a:p>
        </p:txBody>
      </p:sp>
      <p:sp>
        <p:nvSpPr>
          <p:cNvPr id="39" name="row-sep-2"/>
          <p:cNvSpPr/>
          <p:nvPr/>
        </p:nvSpPr>
        <p:spPr>
          <a:xfrm>
            <a:off x="777240" y="3904488"/>
            <a:ext cx="71780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40" name="rk-bg-2"/>
          <p:cNvSpPr/>
          <p:nvPr/>
        </p:nvSpPr>
        <p:spPr>
          <a:xfrm>
            <a:off x="777240" y="4059936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1" name="rk-2"/>
          <p:cNvSpPr txBox="1"/>
          <p:nvPr/>
        </p:nvSpPr>
        <p:spPr>
          <a:xfrm>
            <a:off x="77724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42" name="nm-2"/>
          <p:cNvSpPr txBox="1"/>
          <p:nvPr/>
        </p:nvSpPr>
        <p:spPr>
          <a:xfrm>
            <a:off x="1371600" y="399592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白玉黒蜜きなこパフェ</a:t>
            </a:r>
            <a:endParaRPr lang="en-US" sz="1400" dirty="0"/>
          </a:p>
        </p:txBody>
      </p:sp>
      <p:sp>
        <p:nvSpPr>
          <p:cNvPr id="43" name="qty-2"/>
          <p:cNvSpPr txBox="1"/>
          <p:nvPr/>
        </p:nvSpPr>
        <p:spPr>
          <a:xfrm>
            <a:off x="1371600" y="434340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43個（前年 51個）</a:t>
            </a:r>
            <a:endParaRPr lang="en-US" sz="1100" dirty="0"/>
          </a:p>
        </p:txBody>
      </p:sp>
      <p:sp>
        <p:nvSpPr>
          <p:cNvPr id="44" name="bar-cur-2"/>
          <p:cNvSpPr/>
          <p:nvPr/>
        </p:nvSpPr>
        <p:spPr>
          <a:xfrm>
            <a:off x="4069080" y="4050792"/>
            <a:ext cx="628227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5" name="amt-cur-2"/>
          <p:cNvSpPr txBox="1"/>
          <p:nvPr/>
        </p:nvSpPr>
        <p:spPr>
          <a:xfrm>
            <a:off x="4752171" y="403250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22,790</a:t>
            </a:r>
            <a:endParaRPr lang="en-US" sz="1200" dirty="0"/>
          </a:p>
        </p:txBody>
      </p:sp>
      <p:sp>
        <p:nvSpPr>
          <p:cNvPr id="46" name="bar-prev-2"/>
          <p:cNvSpPr/>
          <p:nvPr/>
        </p:nvSpPr>
        <p:spPr>
          <a:xfrm>
            <a:off x="4069080" y="4361688"/>
            <a:ext cx="739262" cy="14630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7" name="amt-prev-2"/>
          <p:cNvSpPr txBox="1"/>
          <p:nvPr/>
        </p:nvSpPr>
        <p:spPr>
          <a:xfrm>
            <a:off x="4863206" y="431596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26,818</a:t>
            </a:r>
            <a:endParaRPr lang="en-US" sz="1000" dirty="0"/>
          </a:p>
        </p:txBody>
      </p:sp>
      <p:sp>
        <p:nvSpPr>
          <p:cNvPr id="48" name="yoy-bg-2"/>
          <p:cNvSpPr/>
          <p:nvPr/>
        </p:nvSpPr>
        <p:spPr>
          <a:xfrm>
            <a:off x="6537960" y="4123944"/>
            <a:ext cx="82296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9" name="yoy-2"/>
          <p:cNvSpPr txBox="1"/>
          <p:nvPr/>
        </p:nvSpPr>
        <p:spPr>
          <a:xfrm>
            <a:off x="6537960" y="4123944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85.0%</a:t>
            </a:r>
            <a:endParaRPr lang="en-US" sz="1100" dirty="0"/>
          </a:p>
        </p:txBody>
      </p:sp>
      <p:sp>
        <p:nvSpPr>
          <p:cNvPr id="50" name="mv-2"/>
          <p:cNvSpPr txBox="1"/>
          <p:nvPr/>
        </p:nvSpPr>
        <p:spPr>
          <a:xfrm>
            <a:off x="7452360" y="40142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↓1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前年2位</a:t>
            </a:r>
            <a:endParaRPr lang="en-US" sz="1400" dirty="0"/>
          </a:p>
        </p:txBody>
      </p:sp>
      <p:sp>
        <p:nvSpPr>
          <p:cNvPr id="51" name="row-sep-3"/>
          <p:cNvSpPr/>
          <p:nvPr/>
        </p:nvSpPr>
        <p:spPr>
          <a:xfrm>
            <a:off x="777240" y="4663440"/>
            <a:ext cx="71780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2" name="rk-bg-3"/>
          <p:cNvSpPr/>
          <p:nvPr/>
        </p:nvSpPr>
        <p:spPr>
          <a:xfrm>
            <a:off x="777240" y="4818888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3" name="rk-3"/>
          <p:cNvSpPr txBox="1"/>
          <p:nvPr/>
        </p:nvSpPr>
        <p:spPr>
          <a:xfrm>
            <a:off x="777240" y="4818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4" name="nm-3"/>
          <p:cNvSpPr txBox="1"/>
          <p:nvPr/>
        </p:nvSpPr>
        <p:spPr>
          <a:xfrm>
            <a:off x="1371600" y="475488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白玉抹茶パフェ</a:t>
            </a:r>
            <a:endParaRPr lang="en-US" sz="1400" dirty="0"/>
          </a:p>
        </p:txBody>
      </p:sp>
      <p:sp>
        <p:nvSpPr>
          <p:cNvPr id="55" name="qty-3"/>
          <p:cNvSpPr txBox="1"/>
          <p:nvPr/>
        </p:nvSpPr>
        <p:spPr>
          <a:xfrm>
            <a:off x="1371600" y="510235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38個（前年 44個）</a:t>
            </a:r>
            <a:endParaRPr lang="en-US" sz="1100" dirty="0"/>
          </a:p>
        </p:txBody>
      </p:sp>
      <p:sp>
        <p:nvSpPr>
          <p:cNvPr id="56" name="bar-cur-3"/>
          <p:cNvSpPr/>
          <p:nvPr/>
        </p:nvSpPr>
        <p:spPr>
          <a:xfrm>
            <a:off x="4069080" y="4809744"/>
            <a:ext cx="555177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7" name="amt-cur-3"/>
          <p:cNvSpPr txBox="1"/>
          <p:nvPr/>
        </p:nvSpPr>
        <p:spPr>
          <a:xfrm>
            <a:off x="4679121" y="479145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20,140</a:t>
            </a:r>
            <a:endParaRPr lang="en-US" sz="1200" dirty="0"/>
          </a:p>
        </p:txBody>
      </p:sp>
      <p:sp>
        <p:nvSpPr>
          <p:cNvPr id="58" name="bar-prev-3"/>
          <p:cNvSpPr/>
          <p:nvPr/>
        </p:nvSpPr>
        <p:spPr>
          <a:xfrm>
            <a:off x="4069080" y="5120640"/>
            <a:ext cx="642837" cy="14630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9" name="amt-prev-3"/>
          <p:cNvSpPr txBox="1"/>
          <p:nvPr/>
        </p:nvSpPr>
        <p:spPr>
          <a:xfrm>
            <a:off x="4766781" y="507492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23,320</a:t>
            </a:r>
            <a:endParaRPr lang="en-US" sz="1000" dirty="0"/>
          </a:p>
        </p:txBody>
      </p:sp>
      <p:sp>
        <p:nvSpPr>
          <p:cNvPr id="60" name="yoy-bg-3"/>
          <p:cNvSpPr/>
          <p:nvPr/>
        </p:nvSpPr>
        <p:spPr>
          <a:xfrm>
            <a:off x="6537960" y="4882896"/>
            <a:ext cx="82296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1" name="yoy-3"/>
          <p:cNvSpPr txBox="1"/>
          <p:nvPr/>
        </p:nvSpPr>
        <p:spPr>
          <a:xfrm>
            <a:off x="6537960" y="4882896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86.4%</a:t>
            </a:r>
            <a:endParaRPr lang="en-US" sz="1100" dirty="0"/>
          </a:p>
        </p:txBody>
      </p:sp>
      <p:sp>
        <p:nvSpPr>
          <p:cNvPr id="62" name="mv-3"/>
          <p:cNvSpPr txBox="1"/>
          <p:nvPr/>
        </p:nvSpPr>
        <p:spPr>
          <a:xfrm>
            <a:off x="7452360" y="4773168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↓1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前年3位</a:t>
            </a:r>
            <a:endParaRPr lang="en-US" sz="1400" dirty="0"/>
          </a:p>
        </p:txBody>
      </p:sp>
      <p:sp>
        <p:nvSpPr>
          <p:cNvPr id="63" name="row-sep-4"/>
          <p:cNvSpPr/>
          <p:nvPr/>
        </p:nvSpPr>
        <p:spPr>
          <a:xfrm>
            <a:off x="777240" y="5422392"/>
            <a:ext cx="71780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64" name="rk-bg-4"/>
          <p:cNvSpPr/>
          <p:nvPr/>
        </p:nvSpPr>
        <p:spPr>
          <a:xfrm>
            <a:off x="777240" y="557784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5" name="rk-4"/>
          <p:cNvSpPr txBox="1"/>
          <p:nvPr/>
        </p:nvSpPr>
        <p:spPr>
          <a:xfrm>
            <a:off x="777240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66" name="nm-4"/>
          <p:cNvSpPr txBox="1"/>
          <p:nvPr/>
        </p:nvSpPr>
        <p:spPr>
          <a:xfrm>
            <a:off x="1371600" y="551383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Todaysデザート</a:t>
            </a:r>
            <a:endParaRPr lang="en-US" sz="1400" dirty="0"/>
          </a:p>
        </p:txBody>
      </p:sp>
      <p:sp>
        <p:nvSpPr>
          <p:cNvPr id="67" name="qty-4"/>
          <p:cNvSpPr txBox="1"/>
          <p:nvPr/>
        </p:nvSpPr>
        <p:spPr>
          <a:xfrm>
            <a:off x="1371600" y="586130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34個（前年 実績なし）</a:t>
            </a:r>
            <a:endParaRPr lang="en-US" sz="1100" dirty="0"/>
          </a:p>
        </p:txBody>
      </p:sp>
      <p:sp>
        <p:nvSpPr>
          <p:cNvPr id="68" name="bar-cur-4"/>
          <p:cNvSpPr/>
          <p:nvPr/>
        </p:nvSpPr>
        <p:spPr>
          <a:xfrm>
            <a:off x="4069080" y="5568696"/>
            <a:ext cx="468620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9" name="amt-cur-4"/>
          <p:cNvSpPr txBox="1"/>
          <p:nvPr/>
        </p:nvSpPr>
        <p:spPr>
          <a:xfrm>
            <a:off x="4592564" y="55504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17,000</a:t>
            </a:r>
            <a:endParaRPr lang="en-US" sz="1200" dirty="0"/>
          </a:p>
        </p:txBody>
      </p:sp>
      <p:sp>
        <p:nvSpPr>
          <p:cNvPr id="70" name="yoy-bg-4"/>
          <p:cNvSpPr/>
          <p:nvPr/>
        </p:nvSpPr>
        <p:spPr>
          <a:xfrm>
            <a:off x="6537960" y="5641848"/>
            <a:ext cx="822960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1" name="yoy-4"/>
          <p:cNvSpPr txBox="1"/>
          <p:nvPr/>
        </p:nvSpPr>
        <p:spPr>
          <a:xfrm>
            <a:off x="6537960" y="5641848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NEW</a:t>
            </a:r>
            <a:endParaRPr lang="en-US" sz="1100" dirty="0"/>
          </a:p>
        </p:txBody>
      </p:sp>
      <p:sp>
        <p:nvSpPr>
          <p:cNvPr id="72" name="mv-4"/>
          <p:cNvSpPr txBox="1"/>
          <p:nvPr/>
        </p:nvSpPr>
        <p:spPr>
          <a:xfrm>
            <a:off x="7452360" y="553212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★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初登場</a:t>
            </a:r>
            <a:endParaRPr lang="en-US" sz="1400" dirty="0"/>
          </a:p>
        </p:txBody>
      </p:sp>
      <p:sp>
        <p:nvSpPr>
          <p:cNvPr id="73" name="side-panel"/>
          <p:cNvSpPr/>
          <p:nvPr/>
        </p:nvSpPr>
        <p:spPr>
          <a:xfrm>
            <a:off x="8458200" y="1920240"/>
            <a:ext cx="3184855" cy="4251960"/>
          </a:xfrm>
          <a:prstGeom prst="roundRect">
            <a:avLst>
              <a:gd name="adj" fmla="val 344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B3A">
                <a:alpha val="10000"/>
              </a:srgbClr>
            </a:outerShdw>
          </a:effectLst>
        </p:spPr>
      </p:sp>
      <p:sp>
        <p:nvSpPr>
          <p:cNvPr id="74" name="side-label"/>
          <p:cNvSpPr txBox="1"/>
          <p:nvPr/>
        </p:nvSpPr>
        <p:spPr>
          <a:xfrm>
            <a:off x="8686800" y="2103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デザート 売上合計</a:t>
            </a:r>
            <a:endParaRPr lang="en-US" sz="1100" dirty="0"/>
          </a:p>
        </p:txBody>
      </p:sp>
      <p:sp>
        <p:nvSpPr>
          <p:cNvPr id="75" name="side-total"/>
          <p:cNvSpPr txBox="1"/>
          <p:nvPr/>
        </p:nvSpPr>
        <p:spPr>
          <a:xfrm>
            <a:off x="8686800" y="2377440"/>
            <a:ext cx="2727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209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 千円</a:t>
            </a:r>
            <a:endParaRPr lang="en-US" sz="2800" dirty="0"/>
          </a:p>
        </p:txBody>
      </p:sp>
      <p:sp>
        <p:nvSpPr>
          <p:cNvPr id="76" name="side-yoy"/>
          <p:cNvSpPr txBox="1"/>
          <p:nvPr/>
        </p:nvSpPr>
        <p:spPr>
          <a:xfrm>
            <a:off x="8686800" y="2907792"/>
            <a:ext cx="2727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前年比 </a:t>
            </a:r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127.9%</a:t>
            </a:r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（前年 164千円）</a:t>
            </a:r>
            <a:endParaRPr lang="en-US" sz="1100" dirty="0"/>
          </a:p>
        </p:txBody>
      </p:sp>
      <p:sp>
        <p:nvSpPr>
          <p:cNvPr id="77" name="side-ptitle"/>
          <p:cNvSpPr txBox="1"/>
          <p:nvPr/>
        </p:nvSpPr>
        <p:spPr>
          <a:xfrm>
            <a:off x="8686800" y="34747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2025年9月のTOP5</a:t>
            </a:r>
            <a:endParaRPr lang="en-US" sz="1200" dirty="0"/>
          </a:p>
        </p:txBody>
      </p:sp>
      <p:sp>
        <p:nvSpPr>
          <p:cNvPr id="78" name="p-rk-0"/>
          <p:cNvSpPr txBox="1"/>
          <p:nvPr/>
        </p:nvSpPr>
        <p:spPr>
          <a:xfrm>
            <a:off x="8686800" y="37947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1</a:t>
            </a:r>
            <a:endParaRPr lang="en-US" sz="1200" dirty="0"/>
          </a:p>
        </p:txBody>
      </p:sp>
      <p:sp>
        <p:nvSpPr>
          <p:cNvPr id="79" name="p-nm-0"/>
          <p:cNvSpPr txBox="1"/>
          <p:nvPr/>
        </p:nvSpPr>
        <p:spPr>
          <a:xfrm>
            <a:off x="8961120" y="3794760"/>
            <a:ext cx="1813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チョコバナナパフェ</a:t>
            </a:r>
            <a:endParaRPr lang="en-US" sz="1000" dirty="0"/>
          </a:p>
        </p:txBody>
      </p:sp>
      <p:sp>
        <p:nvSpPr>
          <p:cNvPr id="80" name="p-amt-0"/>
          <p:cNvSpPr txBox="1"/>
          <p:nvPr/>
        </p:nvSpPr>
        <p:spPr>
          <a:xfrm>
            <a:off x="10774375" y="37947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31,376</a:t>
            </a:r>
            <a:endParaRPr lang="en-US" sz="1000" dirty="0"/>
          </a:p>
        </p:txBody>
      </p:sp>
      <p:sp>
        <p:nvSpPr>
          <p:cNvPr id="81" name="p-rk-1"/>
          <p:cNvSpPr txBox="1"/>
          <p:nvPr/>
        </p:nvSpPr>
        <p:spPr>
          <a:xfrm>
            <a:off x="8686800" y="419709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82" name="p-nm-1"/>
          <p:cNvSpPr txBox="1"/>
          <p:nvPr/>
        </p:nvSpPr>
        <p:spPr>
          <a:xfrm>
            <a:off x="8961120" y="4197096"/>
            <a:ext cx="1813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白玉黒蜜きなこパフェ</a:t>
            </a:r>
            <a:endParaRPr lang="en-US" sz="1000" dirty="0"/>
          </a:p>
        </p:txBody>
      </p:sp>
      <p:sp>
        <p:nvSpPr>
          <p:cNvPr id="83" name="p-amt-1"/>
          <p:cNvSpPr txBox="1"/>
          <p:nvPr/>
        </p:nvSpPr>
        <p:spPr>
          <a:xfrm>
            <a:off x="10774375" y="419709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26,818</a:t>
            </a:r>
            <a:endParaRPr lang="en-US" sz="1000" dirty="0"/>
          </a:p>
        </p:txBody>
      </p:sp>
      <p:sp>
        <p:nvSpPr>
          <p:cNvPr id="84" name="p-rk-2"/>
          <p:cNvSpPr txBox="1"/>
          <p:nvPr/>
        </p:nvSpPr>
        <p:spPr>
          <a:xfrm>
            <a:off x="8686800" y="4599432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3</a:t>
            </a:r>
            <a:endParaRPr lang="en-US" sz="1200" dirty="0"/>
          </a:p>
        </p:txBody>
      </p:sp>
      <p:sp>
        <p:nvSpPr>
          <p:cNvPr id="85" name="p-nm-2"/>
          <p:cNvSpPr txBox="1"/>
          <p:nvPr/>
        </p:nvSpPr>
        <p:spPr>
          <a:xfrm>
            <a:off x="8961120" y="4599432"/>
            <a:ext cx="1813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白玉抹茶パフェ</a:t>
            </a:r>
            <a:endParaRPr lang="en-US" sz="1000" dirty="0"/>
          </a:p>
        </p:txBody>
      </p:sp>
      <p:sp>
        <p:nvSpPr>
          <p:cNvPr id="86" name="p-amt-2"/>
          <p:cNvSpPr txBox="1"/>
          <p:nvPr/>
        </p:nvSpPr>
        <p:spPr>
          <a:xfrm>
            <a:off x="10774375" y="459943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23,320</a:t>
            </a:r>
            <a:endParaRPr lang="en-US" sz="1000" dirty="0"/>
          </a:p>
        </p:txBody>
      </p:sp>
      <p:sp>
        <p:nvSpPr>
          <p:cNvPr id="87" name="p-rk-3"/>
          <p:cNvSpPr txBox="1"/>
          <p:nvPr/>
        </p:nvSpPr>
        <p:spPr>
          <a:xfrm>
            <a:off x="8686800" y="500176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4</a:t>
            </a:r>
            <a:endParaRPr lang="en-US" sz="1200" dirty="0"/>
          </a:p>
        </p:txBody>
      </p:sp>
      <p:sp>
        <p:nvSpPr>
          <p:cNvPr id="88" name="p-nm-3"/>
          <p:cNvSpPr txBox="1"/>
          <p:nvPr/>
        </p:nvSpPr>
        <p:spPr>
          <a:xfrm>
            <a:off x="8961120" y="5001768"/>
            <a:ext cx="1813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ソフトクリーム</a:t>
            </a:r>
            <a:endParaRPr lang="en-US" sz="1000" dirty="0"/>
          </a:p>
        </p:txBody>
      </p:sp>
      <p:sp>
        <p:nvSpPr>
          <p:cNvPr id="89" name="p-amt-3"/>
          <p:cNvSpPr txBox="1"/>
          <p:nvPr/>
        </p:nvSpPr>
        <p:spPr>
          <a:xfrm>
            <a:off x="10774375" y="50017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14,190</a:t>
            </a:r>
            <a:endParaRPr lang="en-US" sz="1000" dirty="0"/>
          </a:p>
        </p:txBody>
      </p:sp>
      <p:sp>
        <p:nvSpPr>
          <p:cNvPr id="90" name="p-rk-4"/>
          <p:cNvSpPr txBox="1"/>
          <p:nvPr/>
        </p:nvSpPr>
        <p:spPr>
          <a:xfrm>
            <a:off x="8686800" y="540410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5</a:t>
            </a:r>
            <a:endParaRPr lang="en-US" sz="1200" dirty="0"/>
          </a:p>
        </p:txBody>
      </p:sp>
      <p:sp>
        <p:nvSpPr>
          <p:cNvPr id="91" name="p-nm-4"/>
          <p:cNvSpPr txBox="1"/>
          <p:nvPr/>
        </p:nvSpPr>
        <p:spPr>
          <a:xfrm>
            <a:off x="8961120" y="5404104"/>
            <a:ext cx="1813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ストロベリーパフェ</a:t>
            </a:r>
            <a:endParaRPr lang="en-US" sz="1000" dirty="0"/>
          </a:p>
        </p:txBody>
      </p:sp>
      <p:sp>
        <p:nvSpPr>
          <p:cNvPr id="92" name="p-amt-4"/>
          <p:cNvSpPr txBox="1"/>
          <p:nvPr/>
        </p:nvSpPr>
        <p:spPr>
          <a:xfrm>
            <a:off x="10774375" y="540410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10,600</a:t>
            </a:r>
            <a:endParaRPr lang="en-US" sz="1000" dirty="0"/>
          </a:p>
        </p:txBody>
      </p:sp>
      <p:sp>
        <p:nvSpPr>
          <p:cNvPr id="93" name="side-legend"/>
          <p:cNvSpPr txBox="1"/>
          <p:nvPr/>
        </p:nvSpPr>
        <p:spPr>
          <a:xfrm>
            <a:off x="8686800" y="5852160"/>
            <a:ext cx="2727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2"/>
                </a:solidFill>
              </a:rPr>
              <a:t>グレー表示＝今年TOP5圏外</a:t>
            </a:r>
            <a:endParaRPr lang="en-US" sz="900" dirty="0"/>
          </a:p>
        </p:txBody>
      </p:sp>
      <p:sp>
        <p:nvSpPr>
          <p:cNvPr id="94" name="src-note"/>
          <p:cNvSpPr txBox="1"/>
          <p:nvPr/>
        </p:nvSpPr>
        <p:spPr>
          <a:xfrm>
            <a:off x="6613855" y="6446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金額：円（税抜）　前年比・順位は2025年9月実績との比較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麺類｜TOP5 前年比較</a:t>
            </a:r>
            <a:endParaRPr lang="en-US" sz="3000" dirty="0"/>
          </a:p>
        </p:txBody>
      </p:sp>
      <p:sp>
        <p:nvSpPr>
          <p:cNvPr id="3" name="msg-bg"/>
          <p:cNvSpPr/>
          <p:nvPr/>
        </p:nvSpPr>
        <p:spPr>
          <a:xfrm>
            <a:off x="548640" y="1188720"/>
            <a:ext cx="11094415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msg-pill-bg"/>
          <p:cNvSpPr/>
          <p:nvPr/>
        </p:nvSpPr>
        <p:spPr>
          <a:xfrm>
            <a:off x="685800" y="1284732"/>
            <a:ext cx="86868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msg-pill"/>
          <p:cNvSpPr txBox="1"/>
          <p:nvPr/>
        </p:nvSpPr>
        <p:spPr>
          <a:xfrm>
            <a:off x="685800" y="128473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POINT</a:t>
            </a:r>
            <a:endParaRPr lang="en-US" sz="1200" dirty="0"/>
          </a:p>
        </p:txBody>
      </p:sp>
      <p:sp>
        <p:nvSpPr>
          <p:cNvPr id="6" name="msg-text"/>
          <p:cNvSpPr txBox="1"/>
          <p:nvPr/>
        </p:nvSpPr>
        <p:spPr>
          <a:xfrm>
            <a:off x="1691640" y="1188720"/>
            <a:ext cx="98142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釜玉チーズカレーうどん124%で首位キープ。新登場の神田家ラーメン2品で113千円を上乗せ</a:t>
            </a:r>
            <a:endParaRPr lang="en-US" sz="1400" dirty="0"/>
          </a:p>
        </p:txBody>
      </p:sp>
      <p:sp>
        <p:nvSpPr>
          <p:cNvPr id="7" name="rank-panel"/>
          <p:cNvSpPr/>
          <p:nvPr/>
        </p:nvSpPr>
        <p:spPr>
          <a:xfrm>
            <a:off x="548640" y="1920240"/>
            <a:ext cx="7635240" cy="425196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B3A">
                <a:alpha val="10000"/>
              </a:srgbClr>
            </a:outerShdw>
          </a:effectLst>
        </p:spPr>
      </p:sp>
      <p:sp>
        <p:nvSpPr>
          <p:cNvPr id="8" name="hdr-順位"/>
          <p:cNvSpPr txBox="1"/>
          <p:nvPr/>
        </p:nvSpPr>
        <p:spPr>
          <a:xfrm>
            <a:off x="777240" y="20848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順位</a:t>
            </a:r>
            <a:endParaRPr lang="en-US" sz="1000" dirty="0"/>
          </a:p>
        </p:txBody>
      </p:sp>
      <p:sp>
        <p:nvSpPr>
          <p:cNvPr id="9" name="hdr-2026年9月 商品名"/>
          <p:cNvSpPr txBox="1"/>
          <p:nvPr/>
        </p:nvSpPr>
        <p:spPr>
          <a:xfrm>
            <a:off x="1371600" y="20848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2026年9月 商品名</a:t>
            </a:r>
            <a:endParaRPr lang="en-US" sz="1000" dirty="0"/>
          </a:p>
        </p:txBody>
      </p:sp>
      <p:sp>
        <p:nvSpPr>
          <p:cNvPr id="10" name="lg-cur"/>
          <p:cNvSpPr/>
          <p:nvPr/>
        </p:nvSpPr>
        <p:spPr>
          <a:xfrm>
            <a:off x="4069080" y="2167128"/>
            <a:ext cx="128016" cy="12801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lg-cur-t"/>
          <p:cNvSpPr txBox="1"/>
          <p:nvPr/>
        </p:nvSpPr>
        <p:spPr>
          <a:xfrm>
            <a:off x="4251960" y="20848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今年</a:t>
            </a:r>
            <a:endParaRPr lang="en-US" sz="1000" dirty="0"/>
          </a:p>
        </p:txBody>
      </p:sp>
      <p:sp>
        <p:nvSpPr>
          <p:cNvPr id="12" name="lg-prev"/>
          <p:cNvSpPr/>
          <p:nvPr/>
        </p:nvSpPr>
        <p:spPr>
          <a:xfrm>
            <a:off x="4800600" y="2167128"/>
            <a:ext cx="128016" cy="128016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lg-prev-t"/>
          <p:cNvSpPr txBox="1"/>
          <p:nvPr/>
        </p:nvSpPr>
        <p:spPr>
          <a:xfrm>
            <a:off x="4983480" y="20848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前年</a:t>
            </a:r>
            <a:endParaRPr lang="en-US" sz="1000" dirty="0"/>
          </a:p>
        </p:txBody>
      </p:sp>
      <p:sp>
        <p:nvSpPr>
          <p:cNvPr id="14" name="hdr-前年比"/>
          <p:cNvSpPr txBox="1"/>
          <p:nvPr/>
        </p:nvSpPr>
        <p:spPr>
          <a:xfrm>
            <a:off x="6537960" y="20848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前年比</a:t>
            </a:r>
            <a:endParaRPr lang="en-US" sz="1000" dirty="0"/>
          </a:p>
        </p:txBody>
      </p:sp>
      <p:sp>
        <p:nvSpPr>
          <p:cNvPr id="15" name="hdr-順位"/>
          <p:cNvSpPr txBox="1"/>
          <p:nvPr/>
        </p:nvSpPr>
        <p:spPr>
          <a:xfrm>
            <a:off x="7452360" y="20848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順位</a:t>
            </a:r>
            <a:endParaRPr lang="en-US" sz="1000" dirty="0"/>
          </a:p>
        </p:txBody>
      </p:sp>
      <p:sp>
        <p:nvSpPr>
          <p:cNvPr id="16" name="rk-bg-0"/>
          <p:cNvSpPr/>
          <p:nvPr/>
        </p:nvSpPr>
        <p:spPr>
          <a:xfrm>
            <a:off x="777240" y="254203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rk-0"/>
          <p:cNvSpPr txBox="1"/>
          <p:nvPr/>
        </p:nvSpPr>
        <p:spPr>
          <a:xfrm>
            <a:off x="777240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18" name="nm-0"/>
          <p:cNvSpPr txBox="1"/>
          <p:nvPr/>
        </p:nvSpPr>
        <p:spPr>
          <a:xfrm>
            <a:off x="1371600" y="2478024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釜玉チーズカレーうどん</a:t>
            </a:r>
            <a:endParaRPr lang="en-US" sz="1400" dirty="0"/>
          </a:p>
        </p:txBody>
      </p:sp>
      <p:sp>
        <p:nvSpPr>
          <p:cNvPr id="19" name="qty-0"/>
          <p:cNvSpPr txBox="1"/>
          <p:nvPr/>
        </p:nvSpPr>
        <p:spPr>
          <a:xfrm>
            <a:off x="1371600" y="2825496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247個（前年 199個）</a:t>
            </a:r>
            <a:endParaRPr lang="en-US" sz="1100" dirty="0"/>
          </a:p>
        </p:txBody>
      </p:sp>
      <p:sp>
        <p:nvSpPr>
          <p:cNvPr id="20" name="bar-cur-0"/>
          <p:cNvSpPr/>
          <p:nvPr/>
        </p:nvSpPr>
        <p:spPr>
          <a:xfrm>
            <a:off x="4069080" y="2532888"/>
            <a:ext cx="1600200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amt-cur-0"/>
          <p:cNvSpPr txBox="1"/>
          <p:nvPr/>
        </p:nvSpPr>
        <p:spPr>
          <a:xfrm>
            <a:off x="5724144" y="251460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242,005</a:t>
            </a:r>
            <a:endParaRPr lang="en-US" sz="1200" dirty="0"/>
          </a:p>
        </p:txBody>
      </p:sp>
      <p:sp>
        <p:nvSpPr>
          <p:cNvPr id="22" name="bar-prev-0"/>
          <p:cNvSpPr/>
          <p:nvPr/>
        </p:nvSpPr>
        <p:spPr>
          <a:xfrm>
            <a:off x="4069080" y="2843784"/>
            <a:ext cx="1289543" cy="14630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amt-prev-0"/>
          <p:cNvSpPr txBox="1"/>
          <p:nvPr/>
        </p:nvSpPr>
        <p:spPr>
          <a:xfrm>
            <a:off x="5413487" y="279806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195,023</a:t>
            </a:r>
            <a:endParaRPr lang="en-US" sz="1000" dirty="0"/>
          </a:p>
        </p:txBody>
      </p:sp>
      <p:sp>
        <p:nvSpPr>
          <p:cNvPr id="24" name="yoy-bg-0"/>
          <p:cNvSpPr/>
          <p:nvPr/>
        </p:nvSpPr>
        <p:spPr>
          <a:xfrm>
            <a:off x="6537960" y="2606040"/>
            <a:ext cx="82296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yoy-0"/>
          <p:cNvSpPr txBox="1"/>
          <p:nvPr/>
        </p:nvSpPr>
        <p:spPr>
          <a:xfrm>
            <a:off x="6537960" y="260604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124.1%</a:t>
            </a:r>
            <a:endParaRPr lang="en-US" sz="1100" dirty="0"/>
          </a:p>
        </p:txBody>
      </p:sp>
      <p:sp>
        <p:nvSpPr>
          <p:cNvPr id="26" name="mv-0"/>
          <p:cNvSpPr txBox="1"/>
          <p:nvPr/>
        </p:nvSpPr>
        <p:spPr>
          <a:xfrm>
            <a:off x="7452360" y="2496312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前年1位</a:t>
            </a:r>
            <a:endParaRPr lang="en-US" sz="1400" dirty="0"/>
          </a:p>
        </p:txBody>
      </p:sp>
      <p:sp>
        <p:nvSpPr>
          <p:cNvPr id="27" name="row-sep-1"/>
          <p:cNvSpPr/>
          <p:nvPr/>
        </p:nvSpPr>
        <p:spPr>
          <a:xfrm>
            <a:off x="777240" y="3145536"/>
            <a:ext cx="71780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8" name="rk-bg-1"/>
          <p:cNvSpPr/>
          <p:nvPr/>
        </p:nvSpPr>
        <p:spPr>
          <a:xfrm>
            <a:off x="777240" y="3300984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rk-1"/>
          <p:cNvSpPr txBox="1"/>
          <p:nvPr/>
        </p:nvSpPr>
        <p:spPr>
          <a:xfrm>
            <a:off x="777240" y="33009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30" name="nm-1"/>
          <p:cNvSpPr txBox="1"/>
          <p:nvPr/>
        </p:nvSpPr>
        <p:spPr>
          <a:xfrm>
            <a:off x="1371600" y="3236976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濃厚カルボナーラパスタ</a:t>
            </a:r>
            <a:endParaRPr lang="en-US" sz="1400" dirty="0"/>
          </a:p>
        </p:txBody>
      </p:sp>
      <p:sp>
        <p:nvSpPr>
          <p:cNvPr id="31" name="qty-1"/>
          <p:cNvSpPr txBox="1"/>
          <p:nvPr/>
        </p:nvSpPr>
        <p:spPr>
          <a:xfrm>
            <a:off x="1371600" y="3584448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66個（前年 70個）</a:t>
            </a:r>
            <a:endParaRPr lang="en-US" sz="1100" dirty="0"/>
          </a:p>
        </p:txBody>
      </p:sp>
      <p:sp>
        <p:nvSpPr>
          <p:cNvPr id="32" name="bar-cur-1"/>
          <p:cNvSpPr/>
          <p:nvPr/>
        </p:nvSpPr>
        <p:spPr>
          <a:xfrm>
            <a:off x="4069080" y="3291840"/>
            <a:ext cx="558419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amt-cur-1"/>
          <p:cNvSpPr txBox="1"/>
          <p:nvPr/>
        </p:nvSpPr>
        <p:spPr>
          <a:xfrm>
            <a:off x="4682363" y="327355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84,452</a:t>
            </a:r>
            <a:endParaRPr lang="en-US" sz="1200" dirty="0"/>
          </a:p>
        </p:txBody>
      </p:sp>
      <p:sp>
        <p:nvSpPr>
          <p:cNvPr id="34" name="bar-prev-1"/>
          <p:cNvSpPr/>
          <p:nvPr/>
        </p:nvSpPr>
        <p:spPr>
          <a:xfrm>
            <a:off x="4069080" y="3602736"/>
            <a:ext cx="592452" cy="14630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5" name="amt-prev-1"/>
          <p:cNvSpPr txBox="1"/>
          <p:nvPr/>
        </p:nvSpPr>
        <p:spPr>
          <a:xfrm>
            <a:off x="4716396" y="3557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89,599</a:t>
            </a:r>
            <a:endParaRPr lang="en-US" sz="1000" dirty="0"/>
          </a:p>
        </p:txBody>
      </p:sp>
      <p:sp>
        <p:nvSpPr>
          <p:cNvPr id="36" name="yoy-bg-1"/>
          <p:cNvSpPr/>
          <p:nvPr/>
        </p:nvSpPr>
        <p:spPr>
          <a:xfrm>
            <a:off x="6537960" y="3364992"/>
            <a:ext cx="82296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7" name="yoy-1"/>
          <p:cNvSpPr txBox="1"/>
          <p:nvPr/>
        </p:nvSpPr>
        <p:spPr>
          <a:xfrm>
            <a:off x="6537960" y="3364992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94.3%</a:t>
            </a:r>
            <a:endParaRPr lang="en-US" sz="1100" dirty="0"/>
          </a:p>
        </p:txBody>
      </p:sp>
      <p:sp>
        <p:nvSpPr>
          <p:cNvPr id="38" name="mv-1"/>
          <p:cNvSpPr txBox="1"/>
          <p:nvPr/>
        </p:nvSpPr>
        <p:spPr>
          <a:xfrm>
            <a:off x="7452360" y="3255264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前年2位</a:t>
            </a:r>
            <a:endParaRPr lang="en-US" sz="1400" dirty="0"/>
          </a:p>
        </p:txBody>
      </p:sp>
      <p:sp>
        <p:nvSpPr>
          <p:cNvPr id="39" name="row-sep-2"/>
          <p:cNvSpPr/>
          <p:nvPr/>
        </p:nvSpPr>
        <p:spPr>
          <a:xfrm>
            <a:off x="777240" y="3904488"/>
            <a:ext cx="71780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40" name="rk-bg-2"/>
          <p:cNvSpPr/>
          <p:nvPr/>
        </p:nvSpPr>
        <p:spPr>
          <a:xfrm>
            <a:off x="777240" y="4059936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1" name="rk-2"/>
          <p:cNvSpPr txBox="1"/>
          <p:nvPr/>
        </p:nvSpPr>
        <p:spPr>
          <a:xfrm>
            <a:off x="77724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42" name="nm-2"/>
          <p:cNvSpPr txBox="1"/>
          <p:nvPr/>
        </p:nvSpPr>
        <p:spPr>
          <a:xfrm>
            <a:off x="1371600" y="399592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神田家ラーメン ライスセット</a:t>
            </a:r>
            <a:endParaRPr lang="en-US" sz="1400" dirty="0"/>
          </a:p>
        </p:txBody>
      </p:sp>
      <p:sp>
        <p:nvSpPr>
          <p:cNvPr id="43" name="qty-2"/>
          <p:cNvSpPr txBox="1"/>
          <p:nvPr/>
        </p:nvSpPr>
        <p:spPr>
          <a:xfrm>
            <a:off x="1371600" y="434340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53個（前年 実績なし）</a:t>
            </a:r>
            <a:endParaRPr lang="en-US" sz="1100" dirty="0"/>
          </a:p>
        </p:txBody>
      </p:sp>
      <p:sp>
        <p:nvSpPr>
          <p:cNvPr id="44" name="bar-cur-2"/>
          <p:cNvSpPr/>
          <p:nvPr/>
        </p:nvSpPr>
        <p:spPr>
          <a:xfrm>
            <a:off x="4069080" y="4050792"/>
            <a:ext cx="378420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5" name="amt-cur-2"/>
          <p:cNvSpPr txBox="1"/>
          <p:nvPr/>
        </p:nvSpPr>
        <p:spPr>
          <a:xfrm>
            <a:off x="4502364" y="403250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57,230</a:t>
            </a:r>
            <a:endParaRPr lang="en-US" sz="1200" dirty="0"/>
          </a:p>
        </p:txBody>
      </p:sp>
      <p:sp>
        <p:nvSpPr>
          <p:cNvPr id="46" name="yoy-bg-2"/>
          <p:cNvSpPr/>
          <p:nvPr/>
        </p:nvSpPr>
        <p:spPr>
          <a:xfrm>
            <a:off x="6537960" y="4123944"/>
            <a:ext cx="822960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7" name="yoy-2"/>
          <p:cNvSpPr txBox="1"/>
          <p:nvPr/>
        </p:nvSpPr>
        <p:spPr>
          <a:xfrm>
            <a:off x="6537960" y="4123944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NEW</a:t>
            </a:r>
            <a:endParaRPr lang="en-US" sz="1100" dirty="0"/>
          </a:p>
        </p:txBody>
      </p:sp>
      <p:sp>
        <p:nvSpPr>
          <p:cNvPr id="48" name="mv-2"/>
          <p:cNvSpPr txBox="1"/>
          <p:nvPr/>
        </p:nvSpPr>
        <p:spPr>
          <a:xfrm>
            <a:off x="7452360" y="40142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★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初登場</a:t>
            </a:r>
            <a:endParaRPr lang="en-US" sz="1400" dirty="0"/>
          </a:p>
        </p:txBody>
      </p:sp>
      <p:sp>
        <p:nvSpPr>
          <p:cNvPr id="49" name="row-sep-3"/>
          <p:cNvSpPr/>
          <p:nvPr/>
        </p:nvSpPr>
        <p:spPr>
          <a:xfrm>
            <a:off x="777240" y="4663440"/>
            <a:ext cx="71780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0" name="rk-bg-3"/>
          <p:cNvSpPr/>
          <p:nvPr/>
        </p:nvSpPr>
        <p:spPr>
          <a:xfrm>
            <a:off x="777240" y="4818888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1" name="rk-3"/>
          <p:cNvSpPr txBox="1"/>
          <p:nvPr/>
        </p:nvSpPr>
        <p:spPr>
          <a:xfrm>
            <a:off x="777240" y="4818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2" name="nm-3"/>
          <p:cNvSpPr txBox="1"/>
          <p:nvPr/>
        </p:nvSpPr>
        <p:spPr>
          <a:xfrm>
            <a:off x="1371600" y="475488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神田家ラーメン</a:t>
            </a:r>
            <a:endParaRPr lang="en-US" sz="1400" dirty="0"/>
          </a:p>
        </p:txBody>
      </p:sp>
      <p:sp>
        <p:nvSpPr>
          <p:cNvPr id="53" name="qty-3"/>
          <p:cNvSpPr txBox="1"/>
          <p:nvPr/>
        </p:nvSpPr>
        <p:spPr>
          <a:xfrm>
            <a:off x="1371600" y="510235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57個（前年 実績なし）</a:t>
            </a:r>
            <a:endParaRPr lang="en-US" sz="1100" dirty="0"/>
          </a:p>
        </p:txBody>
      </p:sp>
      <p:sp>
        <p:nvSpPr>
          <p:cNvPr id="54" name="bar-cur-3"/>
          <p:cNvSpPr/>
          <p:nvPr/>
        </p:nvSpPr>
        <p:spPr>
          <a:xfrm>
            <a:off x="4069080" y="4809744"/>
            <a:ext cx="369321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5" name="amt-cur-3"/>
          <p:cNvSpPr txBox="1"/>
          <p:nvPr/>
        </p:nvSpPr>
        <p:spPr>
          <a:xfrm>
            <a:off x="4493265" y="479145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55,854</a:t>
            </a:r>
            <a:endParaRPr lang="en-US" sz="1200" dirty="0"/>
          </a:p>
        </p:txBody>
      </p:sp>
      <p:sp>
        <p:nvSpPr>
          <p:cNvPr id="56" name="yoy-bg-3"/>
          <p:cNvSpPr/>
          <p:nvPr/>
        </p:nvSpPr>
        <p:spPr>
          <a:xfrm>
            <a:off x="6537960" y="4882896"/>
            <a:ext cx="822960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7" name="yoy-3"/>
          <p:cNvSpPr txBox="1"/>
          <p:nvPr/>
        </p:nvSpPr>
        <p:spPr>
          <a:xfrm>
            <a:off x="6537960" y="4882896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NEW</a:t>
            </a:r>
            <a:endParaRPr lang="en-US" sz="1100" dirty="0"/>
          </a:p>
        </p:txBody>
      </p:sp>
      <p:sp>
        <p:nvSpPr>
          <p:cNvPr id="58" name="mv-3"/>
          <p:cNvSpPr txBox="1"/>
          <p:nvPr/>
        </p:nvSpPr>
        <p:spPr>
          <a:xfrm>
            <a:off x="7452360" y="4773168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★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初登場</a:t>
            </a:r>
            <a:endParaRPr lang="en-US" sz="1400" dirty="0"/>
          </a:p>
        </p:txBody>
      </p:sp>
      <p:sp>
        <p:nvSpPr>
          <p:cNvPr id="59" name="row-sep-4"/>
          <p:cNvSpPr/>
          <p:nvPr/>
        </p:nvSpPr>
        <p:spPr>
          <a:xfrm>
            <a:off x="777240" y="5422392"/>
            <a:ext cx="71780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60" name="rk-bg-4"/>
          <p:cNvSpPr/>
          <p:nvPr/>
        </p:nvSpPr>
        <p:spPr>
          <a:xfrm>
            <a:off x="777240" y="557784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1" name="rk-4"/>
          <p:cNvSpPr txBox="1"/>
          <p:nvPr/>
        </p:nvSpPr>
        <p:spPr>
          <a:xfrm>
            <a:off x="777240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62" name="nm-4"/>
          <p:cNvSpPr txBox="1"/>
          <p:nvPr/>
        </p:nvSpPr>
        <p:spPr>
          <a:xfrm>
            <a:off x="1371600" y="551383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肉うどん</a:t>
            </a:r>
            <a:endParaRPr lang="en-US" sz="1400" dirty="0"/>
          </a:p>
        </p:txBody>
      </p:sp>
      <p:sp>
        <p:nvSpPr>
          <p:cNvPr id="63" name="qty-4"/>
          <p:cNvSpPr txBox="1"/>
          <p:nvPr/>
        </p:nvSpPr>
        <p:spPr>
          <a:xfrm>
            <a:off x="1371600" y="586130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56個（前年 55個）</a:t>
            </a:r>
            <a:endParaRPr lang="en-US" sz="1100" dirty="0"/>
          </a:p>
        </p:txBody>
      </p:sp>
      <p:sp>
        <p:nvSpPr>
          <p:cNvPr id="64" name="bar-cur-4"/>
          <p:cNvSpPr/>
          <p:nvPr/>
        </p:nvSpPr>
        <p:spPr>
          <a:xfrm>
            <a:off x="4069080" y="5568696"/>
            <a:ext cx="362768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5" name="amt-cur-4"/>
          <p:cNvSpPr txBox="1"/>
          <p:nvPr/>
        </p:nvSpPr>
        <p:spPr>
          <a:xfrm>
            <a:off x="4486712" y="55504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54,863</a:t>
            </a:r>
            <a:endParaRPr lang="en-US" sz="1200" dirty="0"/>
          </a:p>
        </p:txBody>
      </p:sp>
      <p:sp>
        <p:nvSpPr>
          <p:cNvPr id="66" name="bar-prev-4"/>
          <p:cNvSpPr/>
          <p:nvPr/>
        </p:nvSpPr>
        <p:spPr>
          <a:xfrm>
            <a:off x="4069080" y="5879592"/>
            <a:ext cx="353802" cy="14630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7" name="amt-prev-4"/>
          <p:cNvSpPr txBox="1"/>
          <p:nvPr/>
        </p:nvSpPr>
        <p:spPr>
          <a:xfrm>
            <a:off x="4477746" y="583387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53,507</a:t>
            </a:r>
            <a:endParaRPr lang="en-US" sz="1000" dirty="0"/>
          </a:p>
        </p:txBody>
      </p:sp>
      <p:sp>
        <p:nvSpPr>
          <p:cNvPr id="68" name="yoy-bg-4"/>
          <p:cNvSpPr/>
          <p:nvPr/>
        </p:nvSpPr>
        <p:spPr>
          <a:xfrm>
            <a:off x="6537960" y="5641848"/>
            <a:ext cx="82296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9" name="yoy-4"/>
          <p:cNvSpPr txBox="1"/>
          <p:nvPr/>
        </p:nvSpPr>
        <p:spPr>
          <a:xfrm>
            <a:off x="6537960" y="5641848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102.5%</a:t>
            </a:r>
            <a:endParaRPr lang="en-US" sz="1100" dirty="0"/>
          </a:p>
        </p:txBody>
      </p:sp>
      <p:sp>
        <p:nvSpPr>
          <p:cNvPr id="70" name="mv-4"/>
          <p:cNvSpPr txBox="1"/>
          <p:nvPr/>
        </p:nvSpPr>
        <p:spPr>
          <a:xfrm>
            <a:off x="7452360" y="553212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↓2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前年3位</a:t>
            </a:r>
            <a:endParaRPr lang="en-US" sz="1400" dirty="0"/>
          </a:p>
        </p:txBody>
      </p:sp>
      <p:sp>
        <p:nvSpPr>
          <p:cNvPr id="71" name="side-panel"/>
          <p:cNvSpPr/>
          <p:nvPr/>
        </p:nvSpPr>
        <p:spPr>
          <a:xfrm>
            <a:off x="8458200" y="1920240"/>
            <a:ext cx="3184855" cy="4251960"/>
          </a:xfrm>
          <a:prstGeom prst="roundRect">
            <a:avLst>
              <a:gd name="adj" fmla="val 344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B3A">
                <a:alpha val="10000"/>
              </a:srgbClr>
            </a:outerShdw>
          </a:effectLst>
        </p:spPr>
      </p:sp>
      <p:sp>
        <p:nvSpPr>
          <p:cNvPr id="72" name="side-label"/>
          <p:cNvSpPr txBox="1"/>
          <p:nvPr/>
        </p:nvSpPr>
        <p:spPr>
          <a:xfrm>
            <a:off x="8686800" y="2103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麺類 売上合計</a:t>
            </a:r>
            <a:endParaRPr lang="en-US" sz="1100" dirty="0"/>
          </a:p>
        </p:txBody>
      </p:sp>
      <p:sp>
        <p:nvSpPr>
          <p:cNvPr id="73" name="side-total"/>
          <p:cNvSpPr txBox="1"/>
          <p:nvPr/>
        </p:nvSpPr>
        <p:spPr>
          <a:xfrm>
            <a:off x="8686800" y="2377440"/>
            <a:ext cx="2727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901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 千円</a:t>
            </a:r>
            <a:endParaRPr lang="en-US" sz="2800" dirty="0"/>
          </a:p>
        </p:txBody>
      </p:sp>
      <p:sp>
        <p:nvSpPr>
          <p:cNvPr id="74" name="side-yoy"/>
          <p:cNvSpPr txBox="1"/>
          <p:nvPr/>
        </p:nvSpPr>
        <p:spPr>
          <a:xfrm>
            <a:off x="8686800" y="2907792"/>
            <a:ext cx="2727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前年比 </a:t>
            </a:r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126.7%</a:t>
            </a:r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（前年 711千円）</a:t>
            </a:r>
            <a:endParaRPr lang="en-US" sz="1100" dirty="0"/>
          </a:p>
        </p:txBody>
      </p:sp>
      <p:sp>
        <p:nvSpPr>
          <p:cNvPr id="75" name="side-ptitle"/>
          <p:cNvSpPr txBox="1"/>
          <p:nvPr/>
        </p:nvSpPr>
        <p:spPr>
          <a:xfrm>
            <a:off x="8686800" y="34747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2025年9月のTOP5</a:t>
            </a:r>
            <a:endParaRPr lang="en-US" sz="1200" dirty="0"/>
          </a:p>
        </p:txBody>
      </p:sp>
      <p:sp>
        <p:nvSpPr>
          <p:cNvPr id="76" name="p-rk-0"/>
          <p:cNvSpPr txBox="1"/>
          <p:nvPr/>
        </p:nvSpPr>
        <p:spPr>
          <a:xfrm>
            <a:off x="8686800" y="37947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1</a:t>
            </a:r>
            <a:endParaRPr lang="en-US" sz="1200" dirty="0"/>
          </a:p>
        </p:txBody>
      </p:sp>
      <p:sp>
        <p:nvSpPr>
          <p:cNvPr id="77" name="p-nm-0"/>
          <p:cNvSpPr txBox="1"/>
          <p:nvPr/>
        </p:nvSpPr>
        <p:spPr>
          <a:xfrm>
            <a:off x="8961120" y="3794760"/>
            <a:ext cx="1813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釜玉チーズカレーうどん</a:t>
            </a:r>
            <a:endParaRPr lang="en-US" sz="1000" dirty="0"/>
          </a:p>
        </p:txBody>
      </p:sp>
      <p:sp>
        <p:nvSpPr>
          <p:cNvPr id="78" name="p-amt-0"/>
          <p:cNvSpPr txBox="1"/>
          <p:nvPr/>
        </p:nvSpPr>
        <p:spPr>
          <a:xfrm>
            <a:off x="10774375" y="37947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195,023</a:t>
            </a:r>
            <a:endParaRPr lang="en-US" sz="1000" dirty="0"/>
          </a:p>
        </p:txBody>
      </p:sp>
      <p:sp>
        <p:nvSpPr>
          <p:cNvPr id="79" name="p-rk-1"/>
          <p:cNvSpPr txBox="1"/>
          <p:nvPr/>
        </p:nvSpPr>
        <p:spPr>
          <a:xfrm>
            <a:off x="8686800" y="419709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80" name="p-nm-1"/>
          <p:cNvSpPr txBox="1"/>
          <p:nvPr/>
        </p:nvSpPr>
        <p:spPr>
          <a:xfrm>
            <a:off x="8961120" y="4197096"/>
            <a:ext cx="1813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濃厚カルボナーラパスタ</a:t>
            </a:r>
            <a:endParaRPr lang="en-US" sz="1000" dirty="0"/>
          </a:p>
        </p:txBody>
      </p:sp>
      <p:sp>
        <p:nvSpPr>
          <p:cNvPr id="81" name="p-amt-1"/>
          <p:cNvSpPr txBox="1"/>
          <p:nvPr/>
        </p:nvSpPr>
        <p:spPr>
          <a:xfrm>
            <a:off x="10774375" y="419709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89,599</a:t>
            </a:r>
            <a:endParaRPr lang="en-US" sz="1000" dirty="0"/>
          </a:p>
        </p:txBody>
      </p:sp>
      <p:sp>
        <p:nvSpPr>
          <p:cNvPr id="82" name="p-rk-2"/>
          <p:cNvSpPr txBox="1"/>
          <p:nvPr/>
        </p:nvSpPr>
        <p:spPr>
          <a:xfrm>
            <a:off x="8686800" y="4599432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3</a:t>
            </a:r>
            <a:endParaRPr lang="en-US" sz="1200" dirty="0"/>
          </a:p>
        </p:txBody>
      </p:sp>
      <p:sp>
        <p:nvSpPr>
          <p:cNvPr id="83" name="p-nm-2"/>
          <p:cNvSpPr txBox="1"/>
          <p:nvPr/>
        </p:nvSpPr>
        <p:spPr>
          <a:xfrm>
            <a:off x="8961120" y="4599432"/>
            <a:ext cx="1813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肉うどん</a:t>
            </a:r>
            <a:endParaRPr lang="en-US" sz="1000" dirty="0"/>
          </a:p>
        </p:txBody>
      </p:sp>
      <p:sp>
        <p:nvSpPr>
          <p:cNvPr id="84" name="p-amt-2"/>
          <p:cNvSpPr txBox="1"/>
          <p:nvPr/>
        </p:nvSpPr>
        <p:spPr>
          <a:xfrm>
            <a:off x="10774375" y="459943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53,507</a:t>
            </a:r>
            <a:endParaRPr lang="en-US" sz="1000" dirty="0"/>
          </a:p>
        </p:txBody>
      </p:sp>
      <p:sp>
        <p:nvSpPr>
          <p:cNvPr id="85" name="p-rk-3"/>
          <p:cNvSpPr txBox="1"/>
          <p:nvPr/>
        </p:nvSpPr>
        <p:spPr>
          <a:xfrm>
            <a:off x="8686800" y="500176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4</a:t>
            </a:r>
            <a:endParaRPr lang="en-US" sz="1200" dirty="0"/>
          </a:p>
        </p:txBody>
      </p:sp>
      <p:sp>
        <p:nvSpPr>
          <p:cNvPr id="86" name="p-nm-3"/>
          <p:cNvSpPr txBox="1"/>
          <p:nvPr/>
        </p:nvSpPr>
        <p:spPr>
          <a:xfrm>
            <a:off x="8961120" y="5001768"/>
            <a:ext cx="1813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麺活）特製油そば［濃］</a:t>
            </a:r>
            <a:endParaRPr lang="en-US" sz="1000" dirty="0"/>
          </a:p>
        </p:txBody>
      </p:sp>
      <p:sp>
        <p:nvSpPr>
          <p:cNvPr id="87" name="p-amt-3"/>
          <p:cNvSpPr txBox="1"/>
          <p:nvPr/>
        </p:nvSpPr>
        <p:spPr>
          <a:xfrm>
            <a:off x="10774375" y="50017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51,601</a:t>
            </a:r>
            <a:endParaRPr lang="en-US" sz="1000" dirty="0"/>
          </a:p>
        </p:txBody>
      </p:sp>
      <p:sp>
        <p:nvSpPr>
          <p:cNvPr id="88" name="p-rk-4"/>
          <p:cNvSpPr txBox="1"/>
          <p:nvPr/>
        </p:nvSpPr>
        <p:spPr>
          <a:xfrm>
            <a:off x="8686800" y="540410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5</a:t>
            </a:r>
            <a:endParaRPr lang="en-US" sz="1200" dirty="0"/>
          </a:p>
        </p:txBody>
      </p:sp>
      <p:sp>
        <p:nvSpPr>
          <p:cNvPr id="89" name="p-nm-4"/>
          <p:cNvSpPr txBox="1"/>
          <p:nvPr/>
        </p:nvSpPr>
        <p:spPr>
          <a:xfrm>
            <a:off x="8961120" y="5404104"/>
            <a:ext cx="1813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カルボナーラうどん</a:t>
            </a:r>
            <a:endParaRPr lang="en-US" sz="1000" dirty="0"/>
          </a:p>
        </p:txBody>
      </p:sp>
      <p:sp>
        <p:nvSpPr>
          <p:cNvPr id="90" name="p-amt-4"/>
          <p:cNvSpPr txBox="1"/>
          <p:nvPr/>
        </p:nvSpPr>
        <p:spPr>
          <a:xfrm>
            <a:off x="10774375" y="540410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45,668</a:t>
            </a:r>
            <a:endParaRPr lang="en-US" sz="1000" dirty="0"/>
          </a:p>
        </p:txBody>
      </p:sp>
      <p:sp>
        <p:nvSpPr>
          <p:cNvPr id="91" name="side-legend"/>
          <p:cNvSpPr txBox="1"/>
          <p:nvPr/>
        </p:nvSpPr>
        <p:spPr>
          <a:xfrm>
            <a:off x="8686800" y="5852160"/>
            <a:ext cx="2727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2"/>
                </a:solidFill>
              </a:rPr>
              <a:t>グレー表示＝今年TOP5圏外</a:t>
            </a:r>
            <a:endParaRPr lang="en-US" sz="900" dirty="0"/>
          </a:p>
        </p:txBody>
      </p:sp>
      <p:sp>
        <p:nvSpPr>
          <p:cNvPr id="92" name="src-note"/>
          <p:cNvSpPr txBox="1"/>
          <p:nvPr/>
        </p:nvSpPr>
        <p:spPr>
          <a:xfrm>
            <a:off x="6613855" y="6446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金額：円（税抜）　前年比・順位は2025年9月実績との比較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ご飯類｜TOP5 前年比較</a:t>
            </a:r>
            <a:endParaRPr lang="en-US" sz="3000" dirty="0"/>
          </a:p>
        </p:txBody>
      </p:sp>
      <p:sp>
        <p:nvSpPr>
          <p:cNvPr id="3" name="msg-bg"/>
          <p:cNvSpPr/>
          <p:nvPr/>
        </p:nvSpPr>
        <p:spPr>
          <a:xfrm>
            <a:off x="548640" y="1188720"/>
            <a:ext cx="11094415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msg-pill-bg"/>
          <p:cNvSpPr/>
          <p:nvPr/>
        </p:nvSpPr>
        <p:spPr>
          <a:xfrm>
            <a:off x="685800" y="1284732"/>
            <a:ext cx="868680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msg-pill"/>
          <p:cNvSpPr txBox="1"/>
          <p:nvPr/>
        </p:nvSpPr>
        <p:spPr>
          <a:xfrm>
            <a:off x="685800" y="128473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POINT</a:t>
            </a:r>
            <a:endParaRPr lang="en-US" sz="1200" dirty="0"/>
          </a:p>
        </p:txBody>
      </p:sp>
      <p:sp>
        <p:nvSpPr>
          <p:cNvPr id="6" name="msg-text"/>
          <p:cNvSpPr txBox="1"/>
          <p:nvPr/>
        </p:nvSpPr>
        <p:spPr>
          <a:xfrm>
            <a:off x="1691640" y="1188720"/>
            <a:ext cx="98142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近江牛サウナカリー69.1%（▲174千円）が最大の減少要因。10月のリニューアルで巻き返しへ</a:t>
            </a:r>
            <a:endParaRPr lang="en-US" sz="1400" dirty="0"/>
          </a:p>
        </p:txBody>
      </p:sp>
      <p:sp>
        <p:nvSpPr>
          <p:cNvPr id="7" name="rank-panel"/>
          <p:cNvSpPr/>
          <p:nvPr/>
        </p:nvSpPr>
        <p:spPr>
          <a:xfrm>
            <a:off x="548640" y="1920240"/>
            <a:ext cx="7635240" cy="425196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B3A">
                <a:alpha val="10000"/>
              </a:srgbClr>
            </a:outerShdw>
          </a:effectLst>
        </p:spPr>
      </p:sp>
      <p:sp>
        <p:nvSpPr>
          <p:cNvPr id="8" name="hdr-順位"/>
          <p:cNvSpPr txBox="1"/>
          <p:nvPr/>
        </p:nvSpPr>
        <p:spPr>
          <a:xfrm>
            <a:off x="777240" y="20848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順位</a:t>
            </a:r>
            <a:endParaRPr lang="en-US" sz="1000" dirty="0"/>
          </a:p>
        </p:txBody>
      </p:sp>
      <p:sp>
        <p:nvSpPr>
          <p:cNvPr id="9" name="hdr-2026年9月 商品名"/>
          <p:cNvSpPr txBox="1"/>
          <p:nvPr/>
        </p:nvSpPr>
        <p:spPr>
          <a:xfrm>
            <a:off x="1371600" y="20848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2026年9月 商品名</a:t>
            </a:r>
            <a:endParaRPr lang="en-US" sz="1000" dirty="0"/>
          </a:p>
        </p:txBody>
      </p:sp>
      <p:sp>
        <p:nvSpPr>
          <p:cNvPr id="10" name="lg-cur"/>
          <p:cNvSpPr/>
          <p:nvPr/>
        </p:nvSpPr>
        <p:spPr>
          <a:xfrm>
            <a:off x="4069080" y="2167128"/>
            <a:ext cx="128016" cy="12801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lg-cur-t"/>
          <p:cNvSpPr txBox="1"/>
          <p:nvPr/>
        </p:nvSpPr>
        <p:spPr>
          <a:xfrm>
            <a:off x="4251960" y="20848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今年</a:t>
            </a:r>
            <a:endParaRPr lang="en-US" sz="1000" dirty="0"/>
          </a:p>
        </p:txBody>
      </p:sp>
      <p:sp>
        <p:nvSpPr>
          <p:cNvPr id="12" name="lg-prev"/>
          <p:cNvSpPr/>
          <p:nvPr/>
        </p:nvSpPr>
        <p:spPr>
          <a:xfrm>
            <a:off x="4800600" y="2167128"/>
            <a:ext cx="128016" cy="128016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lg-prev-t"/>
          <p:cNvSpPr txBox="1"/>
          <p:nvPr/>
        </p:nvSpPr>
        <p:spPr>
          <a:xfrm>
            <a:off x="4983480" y="20848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前年</a:t>
            </a:r>
            <a:endParaRPr lang="en-US" sz="1000" dirty="0"/>
          </a:p>
        </p:txBody>
      </p:sp>
      <p:sp>
        <p:nvSpPr>
          <p:cNvPr id="14" name="hdr-前年比"/>
          <p:cNvSpPr txBox="1"/>
          <p:nvPr/>
        </p:nvSpPr>
        <p:spPr>
          <a:xfrm>
            <a:off x="6537960" y="20848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前年比</a:t>
            </a:r>
            <a:endParaRPr lang="en-US" sz="1000" dirty="0"/>
          </a:p>
        </p:txBody>
      </p:sp>
      <p:sp>
        <p:nvSpPr>
          <p:cNvPr id="15" name="hdr-順位"/>
          <p:cNvSpPr txBox="1"/>
          <p:nvPr/>
        </p:nvSpPr>
        <p:spPr>
          <a:xfrm>
            <a:off x="7452360" y="20848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順位</a:t>
            </a:r>
            <a:endParaRPr lang="en-US" sz="1000" dirty="0"/>
          </a:p>
        </p:txBody>
      </p:sp>
      <p:sp>
        <p:nvSpPr>
          <p:cNvPr id="16" name="rk-bg-0"/>
          <p:cNvSpPr/>
          <p:nvPr/>
        </p:nvSpPr>
        <p:spPr>
          <a:xfrm>
            <a:off x="777240" y="254203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rk-0"/>
          <p:cNvSpPr txBox="1"/>
          <p:nvPr/>
        </p:nvSpPr>
        <p:spPr>
          <a:xfrm>
            <a:off x="777240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18" name="nm-0"/>
          <p:cNvSpPr txBox="1"/>
          <p:nvPr/>
        </p:nvSpPr>
        <p:spPr>
          <a:xfrm>
            <a:off x="1371600" y="2478024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近江牛サウナカリー</a:t>
            </a:r>
            <a:endParaRPr lang="en-US" sz="1400" dirty="0"/>
          </a:p>
        </p:txBody>
      </p:sp>
      <p:sp>
        <p:nvSpPr>
          <p:cNvPr id="19" name="qty-0"/>
          <p:cNvSpPr txBox="1"/>
          <p:nvPr/>
        </p:nvSpPr>
        <p:spPr>
          <a:xfrm>
            <a:off x="1371600" y="2825496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315個（前年 462個）</a:t>
            </a:r>
            <a:endParaRPr lang="en-US" sz="1100" dirty="0"/>
          </a:p>
        </p:txBody>
      </p:sp>
      <p:sp>
        <p:nvSpPr>
          <p:cNvPr id="20" name="bar-cur-0"/>
          <p:cNvSpPr/>
          <p:nvPr/>
        </p:nvSpPr>
        <p:spPr>
          <a:xfrm>
            <a:off x="4069080" y="2532888"/>
            <a:ext cx="1105229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amt-cur-0"/>
          <p:cNvSpPr txBox="1"/>
          <p:nvPr/>
        </p:nvSpPr>
        <p:spPr>
          <a:xfrm>
            <a:off x="5229173" y="251460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388,628</a:t>
            </a:r>
            <a:endParaRPr lang="en-US" sz="1200" dirty="0"/>
          </a:p>
        </p:txBody>
      </p:sp>
      <p:sp>
        <p:nvSpPr>
          <p:cNvPr id="22" name="bar-prev-0"/>
          <p:cNvSpPr/>
          <p:nvPr/>
        </p:nvSpPr>
        <p:spPr>
          <a:xfrm>
            <a:off x="4069080" y="2843784"/>
            <a:ext cx="1600200" cy="14630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amt-prev-0"/>
          <p:cNvSpPr txBox="1"/>
          <p:nvPr/>
        </p:nvSpPr>
        <p:spPr>
          <a:xfrm>
            <a:off x="5724144" y="279806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562,673</a:t>
            </a:r>
            <a:endParaRPr lang="en-US" sz="1000" dirty="0"/>
          </a:p>
        </p:txBody>
      </p:sp>
      <p:sp>
        <p:nvSpPr>
          <p:cNvPr id="24" name="yoy-bg-0"/>
          <p:cNvSpPr/>
          <p:nvPr/>
        </p:nvSpPr>
        <p:spPr>
          <a:xfrm>
            <a:off x="6537960" y="2606040"/>
            <a:ext cx="82296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yoy-0"/>
          <p:cNvSpPr txBox="1"/>
          <p:nvPr/>
        </p:nvSpPr>
        <p:spPr>
          <a:xfrm>
            <a:off x="6537960" y="260604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69.1%</a:t>
            </a:r>
            <a:endParaRPr lang="en-US" sz="1100" dirty="0"/>
          </a:p>
        </p:txBody>
      </p:sp>
      <p:sp>
        <p:nvSpPr>
          <p:cNvPr id="26" name="mv-0"/>
          <p:cNvSpPr txBox="1"/>
          <p:nvPr/>
        </p:nvSpPr>
        <p:spPr>
          <a:xfrm>
            <a:off x="7452360" y="2496312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前年1位</a:t>
            </a:r>
            <a:endParaRPr lang="en-US" sz="1400" dirty="0"/>
          </a:p>
        </p:txBody>
      </p:sp>
      <p:sp>
        <p:nvSpPr>
          <p:cNvPr id="27" name="row-sep-1"/>
          <p:cNvSpPr/>
          <p:nvPr/>
        </p:nvSpPr>
        <p:spPr>
          <a:xfrm>
            <a:off x="777240" y="3145536"/>
            <a:ext cx="71780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8" name="rk-bg-1"/>
          <p:cNvSpPr/>
          <p:nvPr/>
        </p:nvSpPr>
        <p:spPr>
          <a:xfrm>
            <a:off x="777240" y="3300984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rk-1"/>
          <p:cNvSpPr txBox="1"/>
          <p:nvPr/>
        </p:nvSpPr>
        <p:spPr>
          <a:xfrm>
            <a:off x="777240" y="33009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30" name="nm-1"/>
          <p:cNvSpPr txBox="1"/>
          <p:nvPr/>
        </p:nvSpPr>
        <p:spPr>
          <a:xfrm>
            <a:off x="1371600" y="3236976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プレミアムロースカツカレー</a:t>
            </a:r>
            <a:endParaRPr lang="en-US" sz="1400" dirty="0"/>
          </a:p>
        </p:txBody>
      </p:sp>
      <p:sp>
        <p:nvSpPr>
          <p:cNvPr id="31" name="qty-1"/>
          <p:cNvSpPr txBox="1"/>
          <p:nvPr/>
        </p:nvSpPr>
        <p:spPr>
          <a:xfrm>
            <a:off x="1371600" y="3584448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237個（前年 297個）</a:t>
            </a:r>
            <a:endParaRPr lang="en-US" sz="1100" dirty="0"/>
          </a:p>
        </p:txBody>
      </p:sp>
      <p:sp>
        <p:nvSpPr>
          <p:cNvPr id="32" name="bar-cur-1"/>
          <p:cNvSpPr/>
          <p:nvPr/>
        </p:nvSpPr>
        <p:spPr>
          <a:xfrm>
            <a:off x="4069080" y="3291840"/>
            <a:ext cx="929890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amt-cur-1"/>
          <p:cNvSpPr txBox="1"/>
          <p:nvPr/>
        </p:nvSpPr>
        <p:spPr>
          <a:xfrm>
            <a:off x="5053834" y="327355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326,974</a:t>
            </a:r>
            <a:endParaRPr lang="en-US" sz="1200" dirty="0"/>
          </a:p>
        </p:txBody>
      </p:sp>
      <p:sp>
        <p:nvSpPr>
          <p:cNvPr id="34" name="bar-prev-1"/>
          <p:cNvSpPr/>
          <p:nvPr/>
        </p:nvSpPr>
        <p:spPr>
          <a:xfrm>
            <a:off x="4069080" y="3602736"/>
            <a:ext cx="1164056" cy="14630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5" name="amt-prev-1"/>
          <p:cNvSpPr txBox="1"/>
          <p:nvPr/>
        </p:nvSpPr>
        <p:spPr>
          <a:xfrm>
            <a:off x="5288000" y="3557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409,313</a:t>
            </a:r>
            <a:endParaRPr lang="en-US" sz="1000" dirty="0"/>
          </a:p>
        </p:txBody>
      </p:sp>
      <p:sp>
        <p:nvSpPr>
          <p:cNvPr id="36" name="yoy-bg-1"/>
          <p:cNvSpPr/>
          <p:nvPr/>
        </p:nvSpPr>
        <p:spPr>
          <a:xfrm>
            <a:off x="6537960" y="3364992"/>
            <a:ext cx="82296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7" name="yoy-1"/>
          <p:cNvSpPr txBox="1"/>
          <p:nvPr/>
        </p:nvSpPr>
        <p:spPr>
          <a:xfrm>
            <a:off x="6537960" y="3364992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79.9%</a:t>
            </a:r>
            <a:endParaRPr lang="en-US" sz="1100" dirty="0"/>
          </a:p>
        </p:txBody>
      </p:sp>
      <p:sp>
        <p:nvSpPr>
          <p:cNvPr id="38" name="mv-1"/>
          <p:cNvSpPr txBox="1"/>
          <p:nvPr/>
        </p:nvSpPr>
        <p:spPr>
          <a:xfrm>
            <a:off x="7452360" y="3255264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前年2位</a:t>
            </a:r>
            <a:endParaRPr lang="en-US" sz="1400" dirty="0"/>
          </a:p>
        </p:txBody>
      </p:sp>
      <p:sp>
        <p:nvSpPr>
          <p:cNvPr id="39" name="row-sep-2"/>
          <p:cNvSpPr/>
          <p:nvPr/>
        </p:nvSpPr>
        <p:spPr>
          <a:xfrm>
            <a:off x="777240" y="3904488"/>
            <a:ext cx="71780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40" name="rk-bg-2"/>
          <p:cNvSpPr/>
          <p:nvPr/>
        </p:nvSpPr>
        <p:spPr>
          <a:xfrm>
            <a:off x="777240" y="4059936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1" name="rk-2"/>
          <p:cNvSpPr txBox="1"/>
          <p:nvPr/>
        </p:nvSpPr>
        <p:spPr>
          <a:xfrm>
            <a:off x="77724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42" name="nm-2"/>
          <p:cNvSpPr txBox="1"/>
          <p:nvPr/>
        </p:nvSpPr>
        <p:spPr>
          <a:xfrm>
            <a:off x="1371600" y="399592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大盛）ロースカツカレー</a:t>
            </a:r>
            <a:endParaRPr lang="en-US" sz="1400" dirty="0"/>
          </a:p>
        </p:txBody>
      </p:sp>
      <p:sp>
        <p:nvSpPr>
          <p:cNvPr id="43" name="qty-2"/>
          <p:cNvSpPr txBox="1"/>
          <p:nvPr/>
        </p:nvSpPr>
        <p:spPr>
          <a:xfrm>
            <a:off x="1371600" y="434340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80個（前年 実績なし）</a:t>
            </a:r>
            <a:endParaRPr lang="en-US" sz="1100" dirty="0"/>
          </a:p>
        </p:txBody>
      </p:sp>
      <p:sp>
        <p:nvSpPr>
          <p:cNvPr id="44" name="bar-cur-2"/>
          <p:cNvSpPr/>
          <p:nvPr/>
        </p:nvSpPr>
        <p:spPr>
          <a:xfrm>
            <a:off x="4069080" y="4050792"/>
            <a:ext cx="346293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5" name="amt-cur-2"/>
          <p:cNvSpPr txBox="1"/>
          <p:nvPr/>
        </p:nvSpPr>
        <p:spPr>
          <a:xfrm>
            <a:off x="4470237" y="403250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121,766</a:t>
            </a:r>
            <a:endParaRPr lang="en-US" sz="1200" dirty="0"/>
          </a:p>
        </p:txBody>
      </p:sp>
      <p:sp>
        <p:nvSpPr>
          <p:cNvPr id="46" name="yoy-bg-2"/>
          <p:cNvSpPr/>
          <p:nvPr/>
        </p:nvSpPr>
        <p:spPr>
          <a:xfrm>
            <a:off x="6537960" y="4123944"/>
            <a:ext cx="822960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7" name="yoy-2"/>
          <p:cNvSpPr txBox="1"/>
          <p:nvPr/>
        </p:nvSpPr>
        <p:spPr>
          <a:xfrm>
            <a:off x="6537960" y="4123944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NEW</a:t>
            </a:r>
            <a:endParaRPr lang="en-US" sz="1100" dirty="0"/>
          </a:p>
        </p:txBody>
      </p:sp>
      <p:sp>
        <p:nvSpPr>
          <p:cNvPr id="48" name="mv-2"/>
          <p:cNvSpPr txBox="1"/>
          <p:nvPr/>
        </p:nvSpPr>
        <p:spPr>
          <a:xfrm>
            <a:off x="7452360" y="40142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★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初登場</a:t>
            </a:r>
            <a:endParaRPr lang="en-US" sz="1400" dirty="0"/>
          </a:p>
        </p:txBody>
      </p:sp>
      <p:sp>
        <p:nvSpPr>
          <p:cNvPr id="49" name="row-sep-3"/>
          <p:cNvSpPr/>
          <p:nvPr/>
        </p:nvSpPr>
        <p:spPr>
          <a:xfrm>
            <a:off x="777240" y="4663440"/>
            <a:ext cx="71780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0" name="rk-bg-3"/>
          <p:cNvSpPr/>
          <p:nvPr/>
        </p:nvSpPr>
        <p:spPr>
          <a:xfrm>
            <a:off x="777240" y="4818888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1" name="rk-3"/>
          <p:cNvSpPr txBox="1"/>
          <p:nvPr/>
        </p:nvSpPr>
        <p:spPr>
          <a:xfrm>
            <a:off x="777240" y="4818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2" name="nm-3"/>
          <p:cNvSpPr txBox="1"/>
          <p:nvPr/>
        </p:nvSpPr>
        <p:spPr>
          <a:xfrm>
            <a:off x="1371600" y="475488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サーモンアボカドボウルライス</a:t>
            </a:r>
            <a:endParaRPr lang="en-US" sz="1400" dirty="0"/>
          </a:p>
        </p:txBody>
      </p:sp>
      <p:sp>
        <p:nvSpPr>
          <p:cNvPr id="53" name="qty-3"/>
          <p:cNvSpPr txBox="1"/>
          <p:nvPr/>
        </p:nvSpPr>
        <p:spPr>
          <a:xfrm>
            <a:off x="1371600" y="510235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90個（前年 79個）</a:t>
            </a:r>
            <a:endParaRPr lang="en-US" sz="1100" dirty="0"/>
          </a:p>
        </p:txBody>
      </p:sp>
      <p:sp>
        <p:nvSpPr>
          <p:cNvPr id="54" name="bar-cur-3"/>
          <p:cNvSpPr/>
          <p:nvPr/>
        </p:nvSpPr>
        <p:spPr>
          <a:xfrm>
            <a:off x="4069080" y="4809744"/>
            <a:ext cx="327558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5" name="amt-cur-3"/>
          <p:cNvSpPr txBox="1"/>
          <p:nvPr/>
        </p:nvSpPr>
        <p:spPr>
          <a:xfrm>
            <a:off x="4451502" y="479145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115,178</a:t>
            </a:r>
            <a:endParaRPr lang="en-US" sz="1200" dirty="0"/>
          </a:p>
        </p:txBody>
      </p:sp>
      <p:sp>
        <p:nvSpPr>
          <p:cNvPr id="56" name="bar-prev-3"/>
          <p:cNvSpPr/>
          <p:nvPr/>
        </p:nvSpPr>
        <p:spPr>
          <a:xfrm>
            <a:off x="4069080" y="5120640"/>
            <a:ext cx="284668" cy="14630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7" name="amt-prev-3"/>
          <p:cNvSpPr txBox="1"/>
          <p:nvPr/>
        </p:nvSpPr>
        <p:spPr>
          <a:xfrm>
            <a:off x="4408612" y="507492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100,097</a:t>
            </a:r>
            <a:endParaRPr lang="en-US" sz="1000" dirty="0"/>
          </a:p>
        </p:txBody>
      </p:sp>
      <p:sp>
        <p:nvSpPr>
          <p:cNvPr id="58" name="yoy-bg-3"/>
          <p:cNvSpPr/>
          <p:nvPr/>
        </p:nvSpPr>
        <p:spPr>
          <a:xfrm>
            <a:off x="6537960" y="4882896"/>
            <a:ext cx="82296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9" name="yoy-3"/>
          <p:cNvSpPr txBox="1"/>
          <p:nvPr/>
        </p:nvSpPr>
        <p:spPr>
          <a:xfrm>
            <a:off x="6537960" y="4882896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115.1%</a:t>
            </a:r>
            <a:endParaRPr lang="en-US" sz="1100" dirty="0"/>
          </a:p>
        </p:txBody>
      </p:sp>
      <p:sp>
        <p:nvSpPr>
          <p:cNvPr id="60" name="mv-3"/>
          <p:cNvSpPr txBox="1"/>
          <p:nvPr/>
        </p:nvSpPr>
        <p:spPr>
          <a:xfrm>
            <a:off x="7452360" y="4773168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↑1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前年5位</a:t>
            </a:r>
            <a:endParaRPr lang="en-US" sz="1400" dirty="0"/>
          </a:p>
        </p:txBody>
      </p:sp>
      <p:sp>
        <p:nvSpPr>
          <p:cNvPr id="61" name="row-sep-4"/>
          <p:cNvSpPr/>
          <p:nvPr/>
        </p:nvSpPr>
        <p:spPr>
          <a:xfrm>
            <a:off x="777240" y="5422392"/>
            <a:ext cx="71780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62" name="rk-bg-4"/>
          <p:cNvSpPr/>
          <p:nvPr/>
        </p:nvSpPr>
        <p:spPr>
          <a:xfrm>
            <a:off x="777240" y="557784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3" name="rk-4"/>
          <p:cNvSpPr txBox="1"/>
          <p:nvPr/>
        </p:nvSpPr>
        <p:spPr>
          <a:xfrm>
            <a:off x="777240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64" name="nm-4"/>
          <p:cNvSpPr txBox="1"/>
          <p:nvPr/>
        </p:nvSpPr>
        <p:spPr>
          <a:xfrm>
            <a:off x="1371600" y="551383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ローストビーフボウルライス</a:t>
            </a:r>
            <a:endParaRPr lang="en-US" sz="1400" dirty="0"/>
          </a:p>
        </p:txBody>
      </p:sp>
      <p:sp>
        <p:nvSpPr>
          <p:cNvPr id="65" name="qty-4"/>
          <p:cNvSpPr txBox="1"/>
          <p:nvPr/>
        </p:nvSpPr>
        <p:spPr>
          <a:xfrm>
            <a:off x="1371600" y="586130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75個（前年 80個）</a:t>
            </a:r>
            <a:endParaRPr lang="en-US" sz="1100" dirty="0"/>
          </a:p>
        </p:txBody>
      </p:sp>
      <p:sp>
        <p:nvSpPr>
          <p:cNvPr id="66" name="bar-cur-4"/>
          <p:cNvSpPr/>
          <p:nvPr/>
        </p:nvSpPr>
        <p:spPr>
          <a:xfrm>
            <a:off x="4069080" y="5568696"/>
            <a:ext cx="294301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7" name="amt-cur-4"/>
          <p:cNvSpPr txBox="1"/>
          <p:nvPr/>
        </p:nvSpPr>
        <p:spPr>
          <a:xfrm>
            <a:off x="4418245" y="55504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103,484</a:t>
            </a:r>
            <a:endParaRPr lang="en-US" sz="1200" dirty="0"/>
          </a:p>
        </p:txBody>
      </p:sp>
      <p:sp>
        <p:nvSpPr>
          <p:cNvPr id="68" name="bar-prev-4"/>
          <p:cNvSpPr/>
          <p:nvPr/>
        </p:nvSpPr>
        <p:spPr>
          <a:xfrm>
            <a:off x="4069080" y="5879592"/>
            <a:ext cx="312402" cy="14630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9" name="amt-prev-4"/>
          <p:cNvSpPr txBox="1"/>
          <p:nvPr/>
        </p:nvSpPr>
        <p:spPr>
          <a:xfrm>
            <a:off x="4436346" y="583387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109,849</a:t>
            </a:r>
            <a:endParaRPr lang="en-US" sz="1000" dirty="0"/>
          </a:p>
        </p:txBody>
      </p:sp>
      <p:sp>
        <p:nvSpPr>
          <p:cNvPr id="70" name="yoy-bg-4"/>
          <p:cNvSpPr/>
          <p:nvPr/>
        </p:nvSpPr>
        <p:spPr>
          <a:xfrm>
            <a:off x="6537960" y="5641848"/>
            <a:ext cx="82296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1" name="yoy-4"/>
          <p:cNvSpPr txBox="1"/>
          <p:nvPr/>
        </p:nvSpPr>
        <p:spPr>
          <a:xfrm>
            <a:off x="6537960" y="5641848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94.2%</a:t>
            </a:r>
            <a:endParaRPr lang="en-US" sz="1100" dirty="0"/>
          </a:p>
        </p:txBody>
      </p:sp>
      <p:sp>
        <p:nvSpPr>
          <p:cNvPr id="72" name="mv-4"/>
          <p:cNvSpPr txBox="1"/>
          <p:nvPr/>
        </p:nvSpPr>
        <p:spPr>
          <a:xfrm>
            <a:off x="7452360" y="553212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↓2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前年3位</a:t>
            </a:r>
            <a:endParaRPr lang="en-US" sz="1400" dirty="0"/>
          </a:p>
        </p:txBody>
      </p:sp>
      <p:sp>
        <p:nvSpPr>
          <p:cNvPr id="73" name="side-panel"/>
          <p:cNvSpPr/>
          <p:nvPr/>
        </p:nvSpPr>
        <p:spPr>
          <a:xfrm>
            <a:off x="8458200" y="1920240"/>
            <a:ext cx="3184855" cy="4251960"/>
          </a:xfrm>
          <a:prstGeom prst="roundRect">
            <a:avLst>
              <a:gd name="adj" fmla="val 344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B3A">
                <a:alpha val="10000"/>
              </a:srgbClr>
            </a:outerShdw>
          </a:effectLst>
        </p:spPr>
      </p:sp>
      <p:sp>
        <p:nvSpPr>
          <p:cNvPr id="74" name="side-label"/>
          <p:cNvSpPr txBox="1"/>
          <p:nvPr/>
        </p:nvSpPr>
        <p:spPr>
          <a:xfrm>
            <a:off x="8686800" y="2103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ご飯類 売上合計</a:t>
            </a:r>
            <a:endParaRPr lang="en-US" sz="1100" dirty="0"/>
          </a:p>
        </p:txBody>
      </p:sp>
      <p:sp>
        <p:nvSpPr>
          <p:cNvPr id="75" name="side-total"/>
          <p:cNvSpPr txBox="1"/>
          <p:nvPr/>
        </p:nvSpPr>
        <p:spPr>
          <a:xfrm>
            <a:off x="8686800" y="2377440"/>
            <a:ext cx="2727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1,731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 千円</a:t>
            </a:r>
            <a:endParaRPr lang="en-US" sz="2800" dirty="0"/>
          </a:p>
        </p:txBody>
      </p:sp>
      <p:sp>
        <p:nvSpPr>
          <p:cNvPr id="76" name="side-yoy"/>
          <p:cNvSpPr txBox="1"/>
          <p:nvPr/>
        </p:nvSpPr>
        <p:spPr>
          <a:xfrm>
            <a:off x="8686800" y="2907792"/>
            <a:ext cx="2727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前年比 </a:t>
            </a:r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89.4%</a:t>
            </a:r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（前年 1,935千円）</a:t>
            </a:r>
            <a:endParaRPr lang="en-US" sz="1100" dirty="0"/>
          </a:p>
        </p:txBody>
      </p:sp>
      <p:sp>
        <p:nvSpPr>
          <p:cNvPr id="77" name="side-ptitle"/>
          <p:cNvSpPr txBox="1"/>
          <p:nvPr/>
        </p:nvSpPr>
        <p:spPr>
          <a:xfrm>
            <a:off x="8686800" y="34747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2025年9月のTOP5</a:t>
            </a:r>
            <a:endParaRPr lang="en-US" sz="1200" dirty="0"/>
          </a:p>
        </p:txBody>
      </p:sp>
      <p:sp>
        <p:nvSpPr>
          <p:cNvPr id="78" name="p-rk-0"/>
          <p:cNvSpPr txBox="1"/>
          <p:nvPr/>
        </p:nvSpPr>
        <p:spPr>
          <a:xfrm>
            <a:off x="8686800" y="37947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1</a:t>
            </a:r>
            <a:endParaRPr lang="en-US" sz="1200" dirty="0"/>
          </a:p>
        </p:txBody>
      </p:sp>
      <p:sp>
        <p:nvSpPr>
          <p:cNvPr id="79" name="p-nm-0"/>
          <p:cNvSpPr txBox="1"/>
          <p:nvPr/>
        </p:nvSpPr>
        <p:spPr>
          <a:xfrm>
            <a:off x="8961120" y="3794760"/>
            <a:ext cx="1813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近江牛サウナカリー</a:t>
            </a:r>
            <a:endParaRPr lang="en-US" sz="1000" dirty="0"/>
          </a:p>
        </p:txBody>
      </p:sp>
      <p:sp>
        <p:nvSpPr>
          <p:cNvPr id="80" name="p-amt-0"/>
          <p:cNvSpPr txBox="1"/>
          <p:nvPr/>
        </p:nvSpPr>
        <p:spPr>
          <a:xfrm>
            <a:off x="10774375" y="37947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562,673</a:t>
            </a:r>
            <a:endParaRPr lang="en-US" sz="1000" dirty="0"/>
          </a:p>
        </p:txBody>
      </p:sp>
      <p:sp>
        <p:nvSpPr>
          <p:cNvPr id="81" name="p-rk-1"/>
          <p:cNvSpPr txBox="1"/>
          <p:nvPr/>
        </p:nvSpPr>
        <p:spPr>
          <a:xfrm>
            <a:off x="8686800" y="419709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82" name="p-nm-1"/>
          <p:cNvSpPr txBox="1"/>
          <p:nvPr/>
        </p:nvSpPr>
        <p:spPr>
          <a:xfrm>
            <a:off x="8961120" y="4197096"/>
            <a:ext cx="1813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プレミアムロースカツカレー</a:t>
            </a:r>
            <a:endParaRPr lang="en-US" sz="1000" dirty="0"/>
          </a:p>
        </p:txBody>
      </p:sp>
      <p:sp>
        <p:nvSpPr>
          <p:cNvPr id="83" name="p-amt-1"/>
          <p:cNvSpPr txBox="1"/>
          <p:nvPr/>
        </p:nvSpPr>
        <p:spPr>
          <a:xfrm>
            <a:off x="10774375" y="419709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409,313</a:t>
            </a:r>
            <a:endParaRPr lang="en-US" sz="1000" dirty="0"/>
          </a:p>
        </p:txBody>
      </p:sp>
      <p:sp>
        <p:nvSpPr>
          <p:cNvPr id="84" name="p-rk-2"/>
          <p:cNvSpPr txBox="1"/>
          <p:nvPr/>
        </p:nvSpPr>
        <p:spPr>
          <a:xfrm>
            <a:off x="8686800" y="4599432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3</a:t>
            </a:r>
            <a:endParaRPr lang="en-US" sz="1200" dirty="0"/>
          </a:p>
        </p:txBody>
      </p:sp>
      <p:sp>
        <p:nvSpPr>
          <p:cNvPr id="85" name="p-nm-2"/>
          <p:cNvSpPr txBox="1"/>
          <p:nvPr/>
        </p:nvSpPr>
        <p:spPr>
          <a:xfrm>
            <a:off x="8961120" y="4599432"/>
            <a:ext cx="1813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ローストビーフボウルライス</a:t>
            </a:r>
            <a:endParaRPr lang="en-US" sz="1000" dirty="0"/>
          </a:p>
        </p:txBody>
      </p:sp>
      <p:sp>
        <p:nvSpPr>
          <p:cNvPr id="86" name="p-amt-2"/>
          <p:cNvSpPr txBox="1"/>
          <p:nvPr/>
        </p:nvSpPr>
        <p:spPr>
          <a:xfrm>
            <a:off x="10774375" y="459943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109,849</a:t>
            </a:r>
            <a:endParaRPr lang="en-US" sz="1000" dirty="0"/>
          </a:p>
        </p:txBody>
      </p:sp>
      <p:sp>
        <p:nvSpPr>
          <p:cNvPr id="87" name="p-rk-3"/>
          <p:cNvSpPr txBox="1"/>
          <p:nvPr/>
        </p:nvSpPr>
        <p:spPr>
          <a:xfrm>
            <a:off x="8686800" y="500176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4</a:t>
            </a:r>
            <a:endParaRPr lang="en-US" sz="1200" dirty="0"/>
          </a:p>
        </p:txBody>
      </p:sp>
      <p:sp>
        <p:nvSpPr>
          <p:cNvPr id="88" name="p-nm-3"/>
          <p:cNvSpPr txBox="1"/>
          <p:nvPr/>
        </p:nvSpPr>
        <p:spPr>
          <a:xfrm>
            <a:off x="8961120" y="5001768"/>
            <a:ext cx="1813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バターチキンカレー</a:t>
            </a:r>
            <a:endParaRPr lang="en-US" sz="1000" dirty="0"/>
          </a:p>
        </p:txBody>
      </p:sp>
      <p:sp>
        <p:nvSpPr>
          <p:cNvPr id="89" name="p-amt-3"/>
          <p:cNvSpPr txBox="1"/>
          <p:nvPr/>
        </p:nvSpPr>
        <p:spPr>
          <a:xfrm>
            <a:off x="10774375" y="50017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106,921</a:t>
            </a:r>
            <a:endParaRPr lang="en-US" sz="1000" dirty="0"/>
          </a:p>
        </p:txBody>
      </p:sp>
      <p:sp>
        <p:nvSpPr>
          <p:cNvPr id="90" name="p-rk-4"/>
          <p:cNvSpPr txBox="1"/>
          <p:nvPr/>
        </p:nvSpPr>
        <p:spPr>
          <a:xfrm>
            <a:off x="8686800" y="540410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5</a:t>
            </a:r>
            <a:endParaRPr lang="en-US" sz="1200" dirty="0"/>
          </a:p>
        </p:txBody>
      </p:sp>
      <p:sp>
        <p:nvSpPr>
          <p:cNvPr id="91" name="p-nm-4"/>
          <p:cNvSpPr txBox="1"/>
          <p:nvPr/>
        </p:nvSpPr>
        <p:spPr>
          <a:xfrm>
            <a:off x="8961120" y="5404104"/>
            <a:ext cx="1813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サーモンアボカドボウルライス</a:t>
            </a:r>
            <a:endParaRPr lang="en-US" sz="1000" dirty="0"/>
          </a:p>
        </p:txBody>
      </p:sp>
      <p:sp>
        <p:nvSpPr>
          <p:cNvPr id="92" name="p-amt-4"/>
          <p:cNvSpPr txBox="1"/>
          <p:nvPr/>
        </p:nvSpPr>
        <p:spPr>
          <a:xfrm>
            <a:off x="10774375" y="540410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100,097</a:t>
            </a:r>
            <a:endParaRPr lang="en-US" sz="1000" dirty="0"/>
          </a:p>
        </p:txBody>
      </p:sp>
      <p:sp>
        <p:nvSpPr>
          <p:cNvPr id="93" name="side-legend"/>
          <p:cNvSpPr txBox="1"/>
          <p:nvPr/>
        </p:nvSpPr>
        <p:spPr>
          <a:xfrm>
            <a:off x="8686800" y="5852160"/>
            <a:ext cx="2727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2"/>
                </a:solidFill>
              </a:rPr>
              <a:t>グレー表示＝今年TOP5圏外</a:t>
            </a:r>
            <a:endParaRPr lang="en-US" sz="900" dirty="0"/>
          </a:p>
        </p:txBody>
      </p:sp>
      <p:sp>
        <p:nvSpPr>
          <p:cNvPr id="94" name="src-note"/>
          <p:cNvSpPr txBox="1"/>
          <p:nvPr/>
        </p:nvSpPr>
        <p:spPr>
          <a:xfrm>
            <a:off x="6613855" y="6446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金額：円（税抜）　前年比・順位は2025年9月実績との比較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一品料理｜TOP5 前年比較</a:t>
            </a:r>
            <a:endParaRPr lang="en-US" sz="3000" dirty="0"/>
          </a:p>
        </p:txBody>
      </p:sp>
      <p:sp>
        <p:nvSpPr>
          <p:cNvPr id="3" name="msg-bg"/>
          <p:cNvSpPr/>
          <p:nvPr/>
        </p:nvSpPr>
        <p:spPr>
          <a:xfrm>
            <a:off x="548640" y="1188720"/>
            <a:ext cx="11094415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msg-pill-bg"/>
          <p:cNvSpPr/>
          <p:nvPr/>
        </p:nvSpPr>
        <p:spPr>
          <a:xfrm>
            <a:off x="685800" y="1284732"/>
            <a:ext cx="86868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msg-pill"/>
          <p:cNvSpPr txBox="1"/>
          <p:nvPr/>
        </p:nvSpPr>
        <p:spPr>
          <a:xfrm>
            <a:off x="685800" y="128473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POINT</a:t>
            </a:r>
            <a:endParaRPr lang="en-US" sz="1200" dirty="0"/>
          </a:p>
        </p:txBody>
      </p:sp>
      <p:sp>
        <p:nvSpPr>
          <p:cNvPr id="6" name="msg-text"/>
          <p:cNvSpPr txBox="1"/>
          <p:nvPr/>
        </p:nvSpPr>
        <p:spPr>
          <a:xfrm>
            <a:off x="1691640" y="1188720"/>
            <a:ext cx="98142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揚げ物盛り合わせ109%で首位キープ。新セット「唐揚げ軍団」が51千円で2位に</a:t>
            </a:r>
            <a:endParaRPr lang="en-US" sz="1400" dirty="0"/>
          </a:p>
        </p:txBody>
      </p:sp>
      <p:sp>
        <p:nvSpPr>
          <p:cNvPr id="7" name="rank-panel"/>
          <p:cNvSpPr/>
          <p:nvPr/>
        </p:nvSpPr>
        <p:spPr>
          <a:xfrm>
            <a:off x="548640" y="1920240"/>
            <a:ext cx="7635240" cy="425196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B3A">
                <a:alpha val="10000"/>
              </a:srgbClr>
            </a:outerShdw>
          </a:effectLst>
        </p:spPr>
      </p:sp>
      <p:sp>
        <p:nvSpPr>
          <p:cNvPr id="8" name="hdr-順位"/>
          <p:cNvSpPr txBox="1"/>
          <p:nvPr/>
        </p:nvSpPr>
        <p:spPr>
          <a:xfrm>
            <a:off x="777240" y="20848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順位</a:t>
            </a:r>
            <a:endParaRPr lang="en-US" sz="1000" dirty="0"/>
          </a:p>
        </p:txBody>
      </p:sp>
      <p:sp>
        <p:nvSpPr>
          <p:cNvPr id="9" name="hdr-2026年9月 商品名"/>
          <p:cNvSpPr txBox="1"/>
          <p:nvPr/>
        </p:nvSpPr>
        <p:spPr>
          <a:xfrm>
            <a:off x="1371600" y="20848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2026年9月 商品名</a:t>
            </a:r>
            <a:endParaRPr lang="en-US" sz="1000" dirty="0"/>
          </a:p>
        </p:txBody>
      </p:sp>
      <p:sp>
        <p:nvSpPr>
          <p:cNvPr id="10" name="lg-cur"/>
          <p:cNvSpPr/>
          <p:nvPr/>
        </p:nvSpPr>
        <p:spPr>
          <a:xfrm>
            <a:off x="4069080" y="2167128"/>
            <a:ext cx="128016" cy="12801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lg-cur-t"/>
          <p:cNvSpPr txBox="1"/>
          <p:nvPr/>
        </p:nvSpPr>
        <p:spPr>
          <a:xfrm>
            <a:off x="4251960" y="20848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今年</a:t>
            </a:r>
            <a:endParaRPr lang="en-US" sz="1000" dirty="0"/>
          </a:p>
        </p:txBody>
      </p:sp>
      <p:sp>
        <p:nvSpPr>
          <p:cNvPr id="12" name="lg-prev"/>
          <p:cNvSpPr/>
          <p:nvPr/>
        </p:nvSpPr>
        <p:spPr>
          <a:xfrm>
            <a:off x="4800600" y="2167128"/>
            <a:ext cx="128016" cy="128016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lg-prev-t"/>
          <p:cNvSpPr txBox="1"/>
          <p:nvPr/>
        </p:nvSpPr>
        <p:spPr>
          <a:xfrm>
            <a:off x="4983480" y="20848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前年</a:t>
            </a:r>
            <a:endParaRPr lang="en-US" sz="1000" dirty="0"/>
          </a:p>
        </p:txBody>
      </p:sp>
      <p:sp>
        <p:nvSpPr>
          <p:cNvPr id="14" name="hdr-前年比"/>
          <p:cNvSpPr txBox="1"/>
          <p:nvPr/>
        </p:nvSpPr>
        <p:spPr>
          <a:xfrm>
            <a:off x="6537960" y="20848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前年比</a:t>
            </a:r>
            <a:endParaRPr lang="en-US" sz="1000" dirty="0"/>
          </a:p>
        </p:txBody>
      </p:sp>
      <p:sp>
        <p:nvSpPr>
          <p:cNvPr id="15" name="hdr-順位"/>
          <p:cNvSpPr txBox="1"/>
          <p:nvPr/>
        </p:nvSpPr>
        <p:spPr>
          <a:xfrm>
            <a:off x="7452360" y="20848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順位</a:t>
            </a:r>
            <a:endParaRPr lang="en-US" sz="1000" dirty="0"/>
          </a:p>
        </p:txBody>
      </p:sp>
      <p:sp>
        <p:nvSpPr>
          <p:cNvPr id="16" name="rk-bg-0"/>
          <p:cNvSpPr/>
          <p:nvPr/>
        </p:nvSpPr>
        <p:spPr>
          <a:xfrm>
            <a:off x="777240" y="254203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rk-0"/>
          <p:cNvSpPr txBox="1"/>
          <p:nvPr/>
        </p:nvSpPr>
        <p:spPr>
          <a:xfrm>
            <a:off x="777240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18" name="nm-0"/>
          <p:cNvSpPr txBox="1"/>
          <p:nvPr/>
        </p:nvSpPr>
        <p:spPr>
          <a:xfrm>
            <a:off x="1371600" y="2478024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揚げ物盛り合わせ</a:t>
            </a:r>
            <a:endParaRPr lang="en-US" sz="1400" dirty="0"/>
          </a:p>
        </p:txBody>
      </p:sp>
      <p:sp>
        <p:nvSpPr>
          <p:cNvPr id="19" name="qty-0"/>
          <p:cNvSpPr txBox="1"/>
          <p:nvPr/>
        </p:nvSpPr>
        <p:spPr>
          <a:xfrm>
            <a:off x="1371600" y="2825496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85個（前年 78個）</a:t>
            </a:r>
            <a:endParaRPr lang="en-US" sz="1100" dirty="0"/>
          </a:p>
        </p:txBody>
      </p:sp>
      <p:sp>
        <p:nvSpPr>
          <p:cNvPr id="20" name="bar-cur-0"/>
          <p:cNvSpPr/>
          <p:nvPr/>
        </p:nvSpPr>
        <p:spPr>
          <a:xfrm>
            <a:off x="4069080" y="2532888"/>
            <a:ext cx="1600200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amt-cur-0"/>
          <p:cNvSpPr txBox="1"/>
          <p:nvPr/>
        </p:nvSpPr>
        <p:spPr>
          <a:xfrm>
            <a:off x="5724144" y="251460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108,757</a:t>
            </a:r>
            <a:endParaRPr lang="en-US" sz="1200" dirty="0"/>
          </a:p>
        </p:txBody>
      </p:sp>
      <p:sp>
        <p:nvSpPr>
          <p:cNvPr id="22" name="bar-prev-0"/>
          <p:cNvSpPr/>
          <p:nvPr/>
        </p:nvSpPr>
        <p:spPr>
          <a:xfrm>
            <a:off x="4069080" y="2843784"/>
            <a:ext cx="1461481" cy="14630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amt-prev-0"/>
          <p:cNvSpPr txBox="1"/>
          <p:nvPr/>
        </p:nvSpPr>
        <p:spPr>
          <a:xfrm>
            <a:off x="5585425" y="279806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99,329</a:t>
            </a:r>
            <a:endParaRPr lang="en-US" sz="1000" dirty="0"/>
          </a:p>
        </p:txBody>
      </p:sp>
      <p:sp>
        <p:nvSpPr>
          <p:cNvPr id="24" name="yoy-bg-0"/>
          <p:cNvSpPr/>
          <p:nvPr/>
        </p:nvSpPr>
        <p:spPr>
          <a:xfrm>
            <a:off x="6537960" y="2606040"/>
            <a:ext cx="82296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yoy-0"/>
          <p:cNvSpPr txBox="1"/>
          <p:nvPr/>
        </p:nvSpPr>
        <p:spPr>
          <a:xfrm>
            <a:off x="6537960" y="260604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109.5%</a:t>
            </a:r>
            <a:endParaRPr lang="en-US" sz="1100" dirty="0"/>
          </a:p>
        </p:txBody>
      </p:sp>
      <p:sp>
        <p:nvSpPr>
          <p:cNvPr id="26" name="mv-0"/>
          <p:cNvSpPr txBox="1"/>
          <p:nvPr/>
        </p:nvSpPr>
        <p:spPr>
          <a:xfrm>
            <a:off x="7452360" y="2496312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前年1位</a:t>
            </a:r>
            <a:endParaRPr lang="en-US" sz="1400" dirty="0"/>
          </a:p>
        </p:txBody>
      </p:sp>
      <p:sp>
        <p:nvSpPr>
          <p:cNvPr id="27" name="row-sep-1"/>
          <p:cNvSpPr/>
          <p:nvPr/>
        </p:nvSpPr>
        <p:spPr>
          <a:xfrm>
            <a:off x="777240" y="3145536"/>
            <a:ext cx="71780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8" name="rk-bg-1"/>
          <p:cNvSpPr/>
          <p:nvPr/>
        </p:nvSpPr>
        <p:spPr>
          <a:xfrm>
            <a:off x="777240" y="3300984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rk-1"/>
          <p:cNvSpPr txBox="1"/>
          <p:nvPr/>
        </p:nvSpPr>
        <p:spPr>
          <a:xfrm>
            <a:off x="777240" y="33009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30" name="nm-1"/>
          <p:cNvSpPr txBox="1"/>
          <p:nvPr/>
        </p:nvSpPr>
        <p:spPr>
          <a:xfrm>
            <a:off x="1371600" y="3236976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唐揚げ軍団 リポコーラセット</a:t>
            </a:r>
            <a:endParaRPr lang="en-US" sz="1400" dirty="0"/>
          </a:p>
        </p:txBody>
      </p:sp>
      <p:sp>
        <p:nvSpPr>
          <p:cNvPr id="31" name="qty-1"/>
          <p:cNvSpPr txBox="1"/>
          <p:nvPr/>
        </p:nvSpPr>
        <p:spPr>
          <a:xfrm>
            <a:off x="1371600" y="3584448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51個（前年 実績なし）</a:t>
            </a:r>
            <a:endParaRPr lang="en-US" sz="1100" dirty="0"/>
          </a:p>
        </p:txBody>
      </p:sp>
      <p:sp>
        <p:nvSpPr>
          <p:cNvPr id="32" name="bar-cur-1"/>
          <p:cNvSpPr/>
          <p:nvPr/>
        </p:nvSpPr>
        <p:spPr>
          <a:xfrm>
            <a:off x="4069080" y="3291840"/>
            <a:ext cx="743519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amt-cur-1"/>
          <p:cNvSpPr txBox="1"/>
          <p:nvPr/>
        </p:nvSpPr>
        <p:spPr>
          <a:xfrm>
            <a:off x="4867463" y="327355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50,533</a:t>
            </a:r>
            <a:endParaRPr lang="en-US" sz="1200" dirty="0"/>
          </a:p>
        </p:txBody>
      </p:sp>
      <p:sp>
        <p:nvSpPr>
          <p:cNvPr id="34" name="yoy-bg-1"/>
          <p:cNvSpPr/>
          <p:nvPr/>
        </p:nvSpPr>
        <p:spPr>
          <a:xfrm>
            <a:off x="6537960" y="3364992"/>
            <a:ext cx="822960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5" name="yoy-1"/>
          <p:cNvSpPr txBox="1"/>
          <p:nvPr/>
        </p:nvSpPr>
        <p:spPr>
          <a:xfrm>
            <a:off x="6537960" y="3364992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NEW</a:t>
            </a:r>
            <a:endParaRPr lang="en-US" sz="1100" dirty="0"/>
          </a:p>
        </p:txBody>
      </p:sp>
      <p:sp>
        <p:nvSpPr>
          <p:cNvPr id="36" name="mv-1"/>
          <p:cNvSpPr txBox="1"/>
          <p:nvPr/>
        </p:nvSpPr>
        <p:spPr>
          <a:xfrm>
            <a:off x="7452360" y="3255264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★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初登場</a:t>
            </a:r>
            <a:endParaRPr lang="en-US" sz="1400" dirty="0"/>
          </a:p>
        </p:txBody>
      </p:sp>
      <p:sp>
        <p:nvSpPr>
          <p:cNvPr id="37" name="row-sep-2"/>
          <p:cNvSpPr/>
          <p:nvPr/>
        </p:nvSpPr>
        <p:spPr>
          <a:xfrm>
            <a:off x="777240" y="3904488"/>
            <a:ext cx="71780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8" name="rk-bg-2"/>
          <p:cNvSpPr/>
          <p:nvPr/>
        </p:nvSpPr>
        <p:spPr>
          <a:xfrm>
            <a:off x="777240" y="4059936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9" name="rk-2"/>
          <p:cNvSpPr txBox="1"/>
          <p:nvPr/>
        </p:nvSpPr>
        <p:spPr>
          <a:xfrm>
            <a:off x="77724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40" name="nm-2"/>
          <p:cNvSpPr txBox="1"/>
          <p:nvPr/>
        </p:nvSpPr>
        <p:spPr>
          <a:xfrm>
            <a:off x="1371600" y="399592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マルゲリータ</a:t>
            </a:r>
            <a:endParaRPr lang="en-US" sz="1400" dirty="0"/>
          </a:p>
        </p:txBody>
      </p:sp>
      <p:sp>
        <p:nvSpPr>
          <p:cNvPr id="41" name="qty-2"/>
          <p:cNvSpPr txBox="1"/>
          <p:nvPr/>
        </p:nvSpPr>
        <p:spPr>
          <a:xfrm>
            <a:off x="1371600" y="434340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26個（前年 29個）</a:t>
            </a:r>
            <a:endParaRPr lang="en-US" sz="1100" dirty="0"/>
          </a:p>
        </p:txBody>
      </p:sp>
      <p:sp>
        <p:nvSpPr>
          <p:cNvPr id="42" name="bar-cur-2"/>
          <p:cNvSpPr/>
          <p:nvPr/>
        </p:nvSpPr>
        <p:spPr>
          <a:xfrm>
            <a:off x="4069080" y="4050792"/>
            <a:ext cx="604344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3" name="amt-cur-2"/>
          <p:cNvSpPr txBox="1"/>
          <p:nvPr/>
        </p:nvSpPr>
        <p:spPr>
          <a:xfrm>
            <a:off x="4728288" y="403250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41,074</a:t>
            </a:r>
            <a:endParaRPr lang="en-US" sz="1200" dirty="0"/>
          </a:p>
        </p:txBody>
      </p:sp>
      <p:sp>
        <p:nvSpPr>
          <p:cNvPr id="44" name="bar-prev-2"/>
          <p:cNvSpPr/>
          <p:nvPr/>
        </p:nvSpPr>
        <p:spPr>
          <a:xfrm>
            <a:off x="4069080" y="4361688"/>
            <a:ext cx="674204" cy="14630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5" name="amt-prev-2"/>
          <p:cNvSpPr txBox="1"/>
          <p:nvPr/>
        </p:nvSpPr>
        <p:spPr>
          <a:xfrm>
            <a:off x="4798148" y="431596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45,822</a:t>
            </a:r>
            <a:endParaRPr lang="en-US" sz="1000" dirty="0"/>
          </a:p>
        </p:txBody>
      </p:sp>
      <p:sp>
        <p:nvSpPr>
          <p:cNvPr id="46" name="yoy-bg-2"/>
          <p:cNvSpPr/>
          <p:nvPr/>
        </p:nvSpPr>
        <p:spPr>
          <a:xfrm>
            <a:off x="6537960" y="4123944"/>
            <a:ext cx="82296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7" name="yoy-2"/>
          <p:cNvSpPr txBox="1"/>
          <p:nvPr/>
        </p:nvSpPr>
        <p:spPr>
          <a:xfrm>
            <a:off x="6537960" y="4123944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89.6%</a:t>
            </a:r>
            <a:endParaRPr lang="en-US" sz="1100" dirty="0"/>
          </a:p>
        </p:txBody>
      </p:sp>
      <p:sp>
        <p:nvSpPr>
          <p:cNvPr id="48" name="mv-2"/>
          <p:cNvSpPr txBox="1"/>
          <p:nvPr/>
        </p:nvSpPr>
        <p:spPr>
          <a:xfrm>
            <a:off x="7452360" y="40142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前年3位</a:t>
            </a:r>
            <a:endParaRPr lang="en-US" sz="1400" dirty="0"/>
          </a:p>
        </p:txBody>
      </p:sp>
      <p:sp>
        <p:nvSpPr>
          <p:cNvPr id="49" name="row-sep-3"/>
          <p:cNvSpPr/>
          <p:nvPr/>
        </p:nvSpPr>
        <p:spPr>
          <a:xfrm>
            <a:off x="777240" y="4663440"/>
            <a:ext cx="71780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0" name="rk-bg-3"/>
          <p:cNvSpPr/>
          <p:nvPr/>
        </p:nvSpPr>
        <p:spPr>
          <a:xfrm>
            <a:off x="777240" y="4818888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1" name="rk-3"/>
          <p:cNvSpPr txBox="1"/>
          <p:nvPr/>
        </p:nvSpPr>
        <p:spPr>
          <a:xfrm>
            <a:off x="777240" y="4818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2" name="nm-3"/>
          <p:cNvSpPr txBox="1"/>
          <p:nvPr/>
        </p:nvSpPr>
        <p:spPr>
          <a:xfrm>
            <a:off x="1371600" y="475488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ポテトフライ</a:t>
            </a:r>
            <a:endParaRPr lang="en-US" sz="1400" dirty="0"/>
          </a:p>
        </p:txBody>
      </p:sp>
      <p:sp>
        <p:nvSpPr>
          <p:cNvPr id="53" name="qty-3"/>
          <p:cNvSpPr txBox="1"/>
          <p:nvPr/>
        </p:nvSpPr>
        <p:spPr>
          <a:xfrm>
            <a:off x="1371600" y="510235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83個（前年 97個）</a:t>
            </a:r>
            <a:endParaRPr lang="en-US" sz="1100" dirty="0"/>
          </a:p>
        </p:txBody>
      </p:sp>
      <p:sp>
        <p:nvSpPr>
          <p:cNvPr id="54" name="bar-cur-3"/>
          <p:cNvSpPr/>
          <p:nvPr/>
        </p:nvSpPr>
        <p:spPr>
          <a:xfrm>
            <a:off x="4069080" y="4809744"/>
            <a:ext cx="583362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5" name="amt-cur-3"/>
          <p:cNvSpPr txBox="1"/>
          <p:nvPr/>
        </p:nvSpPr>
        <p:spPr>
          <a:xfrm>
            <a:off x="4707306" y="479145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39,648</a:t>
            </a:r>
            <a:endParaRPr lang="en-US" sz="1200" dirty="0"/>
          </a:p>
        </p:txBody>
      </p:sp>
      <p:sp>
        <p:nvSpPr>
          <p:cNvPr id="56" name="bar-prev-3"/>
          <p:cNvSpPr/>
          <p:nvPr/>
        </p:nvSpPr>
        <p:spPr>
          <a:xfrm>
            <a:off x="4069080" y="5120640"/>
            <a:ext cx="682237" cy="14630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7" name="amt-prev-3"/>
          <p:cNvSpPr txBox="1"/>
          <p:nvPr/>
        </p:nvSpPr>
        <p:spPr>
          <a:xfrm>
            <a:off x="4806181" y="507492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46,368</a:t>
            </a:r>
            <a:endParaRPr lang="en-US" sz="1000" dirty="0"/>
          </a:p>
        </p:txBody>
      </p:sp>
      <p:sp>
        <p:nvSpPr>
          <p:cNvPr id="58" name="yoy-bg-3"/>
          <p:cNvSpPr/>
          <p:nvPr/>
        </p:nvSpPr>
        <p:spPr>
          <a:xfrm>
            <a:off x="6537960" y="4882896"/>
            <a:ext cx="82296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9" name="yoy-3"/>
          <p:cNvSpPr txBox="1"/>
          <p:nvPr/>
        </p:nvSpPr>
        <p:spPr>
          <a:xfrm>
            <a:off x="6537960" y="4882896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85.5%</a:t>
            </a:r>
            <a:endParaRPr lang="en-US" sz="1100" dirty="0"/>
          </a:p>
        </p:txBody>
      </p:sp>
      <p:sp>
        <p:nvSpPr>
          <p:cNvPr id="60" name="mv-3"/>
          <p:cNvSpPr txBox="1"/>
          <p:nvPr/>
        </p:nvSpPr>
        <p:spPr>
          <a:xfrm>
            <a:off x="7452360" y="4773168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↓2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前年2位</a:t>
            </a:r>
            <a:endParaRPr lang="en-US" sz="1400" dirty="0"/>
          </a:p>
        </p:txBody>
      </p:sp>
      <p:sp>
        <p:nvSpPr>
          <p:cNvPr id="61" name="row-sep-4"/>
          <p:cNvSpPr/>
          <p:nvPr/>
        </p:nvSpPr>
        <p:spPr>
          <a:xfrm>
            <a:off x="777240" y="5422392"/>
            <a:ext cx="71780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62" name="rk-bg-4"/>
          <p:cNvSpPr/>
          <p:nvPr/>
        </p:nvSpPr>
        <p:spPr>
          <a:xfrm>
            <a:off x="777240" y="557784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3" name="rk-4"/>
          <p:cNvSpPr txBox="1"/>
          <p:nvPr/>
        </p:nvSpPr>
        <p:spPr>
          <a:xfrm>
            <a:off x="777240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64" name="nm-4"/>
          <p:cNvSpPr txBox="1"/>
          <p:nvPr/>
        </p:nvSpPr>
        <p:spPr>
          <a:xfrm>
            <a:off x="1371600" y="551383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ピザポテト</a:t>
            </a:r>
            <a:endParaRPr lang="en-US" sz="1400" dirty="0"/>
          </a:p>
        </p:txBody>
      </p:sp>
      <p:sp>
        <p:nvSpPr>
          <p:cNvPr id="65" name="qty-4"/>
          <p:cNvSpPr txBox="1"/>
          <p:nvPr/>
        </p:nvSpPr>
        <p:spPr>
          <a:xfrm>
            <a:off x="1371600" y="586130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65個（前年 62個）</a:t>
            </a:r>
            <a:endParaRPr lang="en-US" sz="1100" dirty="0"/>
          </a:p>
        </p:txBody>
      </p:sp>
      <p:sp>
        <p:nvSpPr>
          <p:cNvPr id="66" name="bar-cur-4"/>
          <p:cNvSpPr/>
          <p:nvPr/>
        </p:nvSpPr>
        <p:spPr>
          <a:xfrm>
            <a:off x="4069080" y="5568696"/>
            <a:ext cx="503747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7" name="amt-cur-4"/>
          <p:cNvSpPr txBox="1"/>
          <p:nvPr/>
        </p:nvSpPr>
        <p:spPr>
          <a:xfrm>
            <a:off x="4627691" y="55504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34,237</a:t>
            </a:r>
            <a:endParaRPr lang="en-US" sz="1200" dirty="0"/>
          </a:p>
        </p:txBody>
      </p:sp>
      <p:sp>
        <p:nvSpPr>
          <p:cNvPr id="68" name="bar-prev-4"/>
          <p:cNvSpPr/>
          <p:nvPr/>
        </p:nvSpPr>
        <p:spPr>
          <a:xfrm>
            <a:off x="4069080" y="5879592"/>
            <a:ext cx="483487" cy="14630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9" name="amt-prev-4"/>
          <p:cNvSpPr txBox="1"/>
          <p:nvPr/>
        </p:nvSpPr>
        <p:spPr>
          <a:xfrm>
            <a:off x="4607431" y="583387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32,860</a:t>
            </a:r>
            <a:endParaRPr lang="en-US" sz="1000" dirty="0"/>
          </a:p>
        </p:txBody>
      </p:sp>
      <p:sp>
        <p:nvSpPr>
          <p:cNvPr id="70" name="yoy-bg-4"/>
          <p:cNvSpPr/>
          <p:nvPr/>
        </p:nvSpPr>
        <p:spPr>
          <a:xfrm>
            <a:off x="6537960" y="5641848"/>
            <a:ext cx="82296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1" name="yoy-4"/>
          <p:cNvSpPr txBox="1"/>
          <p:nvPr/>
        </p:nvSpPr>
        <p:spPr>
          <a:xfrm>
            <a:off x="6537960" y="5641848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104.2%</a:t>
            </a:r>
            <a:endParaRPr lang="en-US" sz="1100" dirty="0"/>
          </a:p>
        </p:txBody>
      </p:sp>
      <p:sp>
        <p:nvSpPr>
          <p:cNvPr id="72" name="mv-4"/>
          <p:cNvSpPr txBox="1"/>
          <p:nvPr/>
        </p:nvSpPr>
        <p:spPr>
          <a:xfrm>
            <a:off x="7452360" y="553212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前年5位</a:t>
            </a:r>
            <a:endParaRPr lang="en-US" sz="1400" dirty="0"/>
          </a:p>
        </p:txBody>
      </p:sp>
      <p:sp>
        <p:nvSpPr>
          <p:cNvPr id="73" name="side-panel"/>
          <p:cNvSpPr/>
          <p:nvPr/>
        </p:nvSpPr>
        <p:spPr>
          <a:xfrm>
            <a:off x="8458200" y="1920240"/>
            <a:ext cx="3184855" cy="4251960"/>
          </a:xfrm>
          <a:prstGeom prst="roundRect">
            <a:avLst>
              <a:gd name="adj" fmla="val 344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B3A">
                <a:alpha val="10000"/>
              </a:srgbClr>
            </a:outerShdw>
          </a:effectLst>
        </p:spPr>
      </p:sp>
      <p:sp>
        <p:nvSpPr>
          <p:cNvPr id="74" name="side-label"/>
          <p:cNvSpPr txBox="1"/>
          <p:nvPr/>
        </p:nvSpPr>
        <p:spPr>
          <a:xfrm>
            <a:off x="8686800" y="2103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一品料理 売上合計</a:t>
            </a:r>
            <a:endParaRPr lang="en-US" sz="1100" dirty="0"/>
          </a:p>
        </p:txBody>
      </p:sp>
      <p:sp>
        <p:nvSpPr>
          <p:cNvPr id="75" name="side-total"/>
          <p:cNvSpPr txBox="1"/>
          <p:nvPr/>
        </p:nvSpPr>
        <p:spPr>
          <a:xfrm>
            <a:off x="8686800" y="2377440"/>
            <a:ext cx="2727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789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 千円</a:t>
            </a:r>
            <a:endParaRPr lang="en-US" sz="2800" dirty="0"/>
          </a:p>
        </p:txBody>
      </p:sp>
      <p:sp>
        <p:nvSpPr>
          <p:cNvPr id="76" name="side-yoy"/>
          <p:cNvSpPr txBox="1"/>
          <p:nvPr/>
        </p:nvSpPr>
        <p:spPr>
          <a:xfrm>
            <a:off x="8686800" y="2907792"/>
            <a:ext cx="2727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前年比 </a:t>
            </a:r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106.8%</a:t>
            </a:r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（前年 739千円）</a:t>
            </a:r>
            <a:endParaRPr lang="en-US" sz="1100" dirty="0"/>
          </a:p>
        </p:txBody>
      </p:sp>
      <p:sp>
        <p:nvSpPr>
          <p:cNvPr id="77" name="side-ptitle"/>
          <p:cNvSpPr txBox="1"/>
          <p:nvPr/>
        </p:nvSpPr>
        <p:spPr>
          <a:xfrm>
            <a:off x="8686800" y="34747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2025年9月のTOP5</a:t>
            </a:r>
            <a:endParaRPr lang="en-US" sz="1200" dirty="0"/>
          </a:p>
        </p:txBody>
      </p:sp>
      <p:sp>
        <p:nvSpPr>
          <p:cNvPr id="78" name="p-rk-0"/>
          <p:cNvSpPr txBox="1"/>
          <p:nvPr/>
        </p:nvSpPr>
        <p:spPr>
          <a:xfrm>
            <a:off x="8686800" y="37947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1</a:t>
            </a:r>
            <a:endParaRPr lang="en-US" sz="1200" dirty="0"/>
          </a:p>
        </p:txBody>
      </p:sp>
      <p:sp>
        <p:nvSpPr>
          <p:cNvPr id="79" name="p-nm-0"/>
          <p:cNvSpPr txBox="1"/>
          <p:nvPr/>
        </p:nvSpPr>
        <p:spPr>
          <a:xfrm>
            <a:off x="8961120" y="3794760"/>
            <a:ext cx="1813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揚げ物盛り合わせ</a:t>
            </a:r>
            <a:endParaRPr lang="en-US" sz="1000" dirty="0"/>
          </a:p>
        </p:txBody>
      </p:sp>
      <p:sp>
        <p:nvSpPr>
          <p:cNvPr id="80" name="p-amt-0"/>
          <p:cNvSpPr txBox="1"/>
          <p:nvPr/>
        </p:nvSpPr>
        <p:spPr>
          <a:xfrm>
            <a:off x="10774375" y="37947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99,329</a:t>
            </a:r>
            <a:endParaRPr lang="en-US" sz="1000" dirty="0"/>
          </a:p>
        </p:txBody>
      </p:sp>
      <p:sp>
        <p:nvSpPr>
          <p:cNvPr id="81" name="p-rk-1"/>
          <p:cNvSpPr txBox="1"/>
          <p:nvPr/>
        </p:nvSpPr>
        <p:spPr>
          <a:xfrm>
            <a:off x="8686800" y="419709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82" name="p-nm-1"/>
          <p:cNvSpPr txBox="1"/>
          <p:nvPr/>
        </p:nvSpPr>
        <p:spPr>
          <a:xfrm>
            <a:off x="8961120" y="4197096"/>
            <a:ext cx="1813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ポテトフライ</a:t>
            </a:r>
            <a:endParaRPr lang="en-US" sz="1000" dirty="0"/>
          </a:p>
        </p:txBody>
      </p:sp>
      <p:sp>
        <p:nvSpPr>
          <p:cNvPr id="83" name="p-amt-1"/>
          <p:cNvSpPr txBox="1"/>
          <p:nvPr/>
        </p:nvSpPr>
        <p:spPr>
          <a:xfrm>
            <a:off x="10774375" y="419709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46,368</a:t>
            </a:r>
            <a:endParaRPr lang="en-US" sz="1000" dirty="0"/>
          </a:p>
        </p:txBody>
      </p:sp>
      <p:sp>
        <p:nvSpPr>
          <p:cNvPr id="84" name="p-rk-2"/>
          <p:cNvSpPr txBox="1"/>
          <p:nvPr/>
        </p:nvSpPr>
        <p:spPr>
          <a:xfrm>
            <a:off x="8686800" y="4599432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3</a:t>
            </a:r>
            <a:endParaRPr lang="en-US" sz="1200" dirty="0"/>
          </a:p>
        </p:txBody>
      </p:sp>
      <p:sp>
        <p:nvSpPr>
          <p:cNvPr id="85" name="p-nm-2"/>
          <p:cNvSpPr txBox="1"/>
          <p:nvPr/>
        </p:nvSpPr>
        <p:spPr>
          <a:xfrm>
            <a:off x="8961120" y="4599432"/>
            <a:ext cx="1813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マルゲリータ</a:t>
            </a:r>
            <a:endParaRPr lang="en-US" sz="1000" dirty="0"/>
          </a:p>
        </p:txBody>
      </p:sp>
      <p:sp>
        <p:nvSpPr>
          <p:cNvPr id="86" name="p-amt-2"/>
          <p:cNvSpPr txBox="1"/>
          <p:nvPr/>
        </p:nvSpPr>
        <p:spPr>
          <a:xfrm>
            <a:off x="10774375" y="459943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45,822</a:t>
            </a:r>
            <a:endParaRPr lang="en-US" sz="1000" dirty="0"/>
          </a:p>
        </p:txBody>
      </p:sp>
      <p:sp>
        <p:nvSpPr>
          <p:cNvPr id="87" name="p-rk-3"/>
          <p:cNvSpPr txBox="1"/>
          <p:nvPr/>
        </p:nvSpPr>
        <p:spPr>
          <a:xfrm>
            <a:off x="8686800" y="500176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4</a:t>
            </a:r>
            <a:endParaRPr lang="en-US" sz="1200" dirty="0"/>
          </a:p>
        </p:txBody>
      </p:sp>
      <p:sp>
        <p:nvSpPr>
          <p:cNvPr id="88" name="p-nm-3"/>
          <p:cNvSpPr txBox="1"/>
          <p:nvPr/>
        </p:nvSpPr>
        <p:spPr>
          <a:xfrm>
            <a:off x="8961120" y="5001768"/>
            <a:ext cx="1813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たこやき</a:t>
            </a:r>
            <a:endParaRPr lang="en-US" sz="1000" dirty="0"/>
          </a:p>
        </p:txBody>
      </p:sp>
      <p:sp>
        <p:nvSpPr>
          <p:cNvPr id="89" name="p-amt-3"/>
          <p:cNvSpPr txBox="1"/>
          <p:nvPr/>
        </p:nvSpPr>
        <p:spPr>
          <a:xfrm>
            <a:off x="10774375" y="50017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34,980</a:t>
            </a:r>
            <a:endParaRPr lang="en-US" sz="1000" dirty="0"/>
          </a:p>
        </p:txBody>
      </p:sp>
      <p:sp>
        <p:nvSpPr>
          <p:cNvPr id="90" name="p-rk-4"/>
          <p:cNvSpPr txBox="1"/>
          <p:nvPr/>
        </p:nvSpPr>
        <p:spPr>
          <a:xfrm>
            <a:off x="8686800" y="540410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5</a:t>
            </a:r>
            <a:endParaRPr lang="en-US" sz="1200" dirty="0"/>
          </a:p>
        </p:txBody>
      </p:sp>
      <p:sp>
        <p:nvSpPr>
          <p:cNvPr id="91" name="p-nm-4"/>
          <p:cNvSpPr txBox="1"/>
          <p:nvPr/>
        </p:nvSpPr>
        <p:spPr>
          <a:xfrm>
            <a:off x="8961120" y="5404104"/>
            <a:ext cx="1813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ピザポテト</a:t>
            </a:r>
            <a:endParaRPr lang="en-US" sz="1000" dirty="0"/>
          </a:p>
        </p:txBody>
      </p:sp>
      <p:sp>
        <p:nvSpPr>
          <p:cNvPr id="92" name="p-amt-4"/>
          <p:cNvSpPr txBox="1"/>
          <p:nvPr/>
        </p:nvSpPr>
        <p:spPr>
          <a:xfrm>
            <a:off x="10774375" y="540410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32,860</a:t>
            </a:r>
            <a:endParaRPr lang="en-US" sz="1000" dirty="0"/>
          </a:p>
        </p:txBody>
      </p:sp>
      <p:sp>
        <p:nvSpPr>
          <p:cNvPr id="93" name="side-legend"/>
          <p:cNvSpPr txBox="1"/>
          <p:nvPr/>
        </p:nvSpPr>
        <p:spPr>
          <a:xfrm>
            <a:off x="8686800" y="5852160"/>
            <a:ext cx="2727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2"/>
                </a:solidFill>
              </a:rPr>
              <a:t>グレー表示＝今年TOP5圏外</a:t>
            </a:r>
            <a:endParaRPr lang="en-US" sz="900" dirty="0"/>
          </a:p>
        </p:txBody>
      </p:sp>
      <p:sp>
        <p:nvSpPr>
          <p:cNvPr id="94" name="src-note"/>
          <p:cNvSpPr txBox="1"/>
          <p:nvPr/>
        </p:nvSpPr>
        <p:spPr>
          <a:xfrm>
            <a:off x="6613855" y="6446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金額：円（税抜）　前年比・順位は2025年9月実績との比較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9月の振り返り</a:t>
            </a:r>
            <a:endParaRPr lang="en-US" sz="3000" dirty="0"/>
          </a:p>
        </p:txBody>
      </p:sp>
      <p:sp>
        <p:nvSpPr>
          <p:cNvPr id="3" name="review-card-0"/>
          <p:cNvSpPr/>
          <p:nvPr/>
        </p:nvSpPr>
        <p:spPr>
          <a:xfrm>
            <a:off x="548640" y="1325880"/>
            <a:ext cx="5410048" cy="48006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B3A">
                <a:alpha val="10000"/>
              </a:srgbClr>
            </a:outerShdw>
          </a:effectLst>
        </p:spPr>
      </p:sp>
      <p:sp>
        <p:nvSpPr>
          <p:cNvPr id="4" name="review-pill-0-bg"/>
          <p:cNvSpPr/>
          <p:nvPr/>
        </p:nvSpPr>
        <p:spPr>
          <a:xfrm>
            <a:off x="822960" y="1600200"/>
            <a:ext cx="146304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review-pill-0"/>
          <p:cNvSpPr txBox="1"/>
          <p:nvPr/>
        </p:nvSpPr>
        <p:spPr>
          <a:xfrm>
            <a:off x="822960" y="16002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良かった点</a:t>
            </a:r>
            <a:endParaRPr lang="en-US" sz="1200" dirty="0"/>
          </a:p>
        </p:txBody>
      </p:sp>
      <p:sp>
        <p:nvSpPr>
          <p:cNvPr id="6" name="review-list-0"/>
          <p:cNvSpPr txBox="1"/>
          <p:nvPr/>
        </p:nvSpPr>
        <p:spPr>
          <a:xfrm>
            <a:off x="822960" y="2148840"/>
            <a:ext cx="4861408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2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コラボ抜き売上97.4%、入館者数（97.5%）並みを維持</a:t>
            </a:r>
            <a:endParaRPr lang="en-US" sz="1600" dirty="0"/>
          </a:p>
          <a:p>
            <a:pPr marL="228600" indent="-228600">
              <a:spcAft>
                <a:spcPts val="2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麺類127%：釜玉チーズカレーうどん247食、神田家ラーメンが好発進</a:t>
            </a:r>
            <a:endParaRPr lang="en-US" sz="1600" dirty="0"/>
          </a:p>
          <a:p>
            <a:pPr marL="228600" indent="-228600">
              <a:spcAft>
                <a:spcPts val="2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デザート128%：ソフトクリームが135個と大きく伸長</a:t>
            </a:r>
            <a:endParaRPr lang="en-US" sz="1600" dirty="0"/>
          </a:p>
          <a:p>
            <a:pPr marL="228600" indent="-228600">
              <a:spcAft>
                <a:spcPts val="2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ちょい飲みセット好調：セット27食＋ドリンク80杯で約60千円</a:t>
            </a:r>
            <a:endParaRPr lang="en-US" sz="1600" dirty="0"/>
          </a:p>
        </p:txBody>
      </p:sp>
      <p:sp>
        <p:nvSpPr>
          <p:cNvPr id="7" name="review-card-1"/>
          <p:cNvSpPr/>
          <p:nvPr/>
        </p:nvSpPr>
        <p:spPr>
          <a:xfrm>
            <a:off x="6233008" y="1325880"/>
            <a:ext cx="5410048" cy="48006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B3A">
                <a:alpha val="10000"/>
              </a:srgbClr>
            </a:outerShdw>
          </a:effectLst>
        </p:spPr>
      </p:sp>
      <p:sp>
        <p:nvSpPr>
          <p:cNvPr id="8" name="review-pill-1-bg"/>
          <p:cNvSpPr/>
          <p:nvPr/>
        </p:nvSpPr>
        <p:spPr>
          <a:xfrm>
            <a:off x="6507328" y="1600200"/>
            <a:ext cx="1463040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review-pill-1"/>
          <p:cNvSpPr txBox="1"/>
          <p:nvPr/>
        </p:nvSpPr>
        <p:spPr>
          <a:xfrm>
            <a:off x="6507328" y="16002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課題</a:t>
            </a:r>
            <a:endParaRPr lang="en-US" sz="1200" dirty="0"/>
          </a:p>
        </p:txBody>
      </p:sp>
      <p:sp>
        <p:nvSpPr>
          <p:cNvPr id="10" name="review-list-1"/>
          <p:cNvSpPr txBox="1"/>
          <p:nvPr/>
        </p:nvSpPr>
        <p:spPr>
          <a:xfrm>
            <a:off x="6507328" y="2148840"/>
            <a:ext cx="4861408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2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コラボ売上68.7%（▲1,691千円）で全体売上82.5%</a:t>
            </a:r>
            <a:endParaRPr lang="en-US" sz="1600" dirty="0"/>
          </a:p>
          <a:p>
            <a:pPr marL="228600" indent="-228600">
              <a:spcAft>
                <a:spcPts val="2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ご飯類89%：近江牛サウナカリー・ロースカツカレーの出数減</a:t>
            </a:r>
            <a:endParaRPr lang="en-US" sz="1600" dirty="0"/>
          </a:p>
          <a:p>
            <a:pPr marL="228600" indent="-228600">
              <a:spcAft>
                <a:spcPts val="2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アルコール83%：生ビール系の落ち込み</a:t>
            </a:r>
            <a:endParaRPr lang="en-US" sz="1600" dirty="0"/>
          </a:p>
          <a:p>
            <a:pPr marL="228600" indent="-228600">
              <a:spcAft>
                <a:spcPts val="2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原価率42.6%・人件費率33.0%でFL75.6%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10月の対策・目標</a:t>
            </a:r>
            <a:endParaRPr lang="en-US" sz="3000" dirty="0"/>
          </a:p>
        </p:txBody>
      </p:sp>
      <p:sp>
        <p:nvSpPr>
          <p:cNvPr id="3" name="goal"/>
          <p:cNvSpPr txBox="1"/>
          <p:nvPr/>
        </p:nvSpPr>
        <p:spPr>
          <a:xfrm>
            <a:off x="548640" y="12344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目標：</a:t>
            </a:r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コラボ抜き売上 前年超え（100%以上）</a:t>
            </a:r>
            <a:endParaRPr lang="en-US" sz="2000" dirty="0"/>
          </a:p>
        </p:txBody>
      </p:sp>
      <p:sp>
        <p:nvSpPr>
          <p:cNvPr id="4" name="act-bg-0"/>
          <p:cNvSpPr/>
          <p:nvPr/>
        </p:nvSpPr>
        <p:spPr>
          <a:xfrm>
            <a:off x="548640" y="1920240"/>
            <a:ext cx="5410048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act-pill-0-bg"/>
          <p:cNvSpPr/>
          <p:nvPr/>
        </p:nvSpPr>
        <p:spPr>
          <a:xfrm>
            <a:off x="822960" y="2176272"/>
            <a:ext cx="109728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act-pill-0"/>
          <p:cNvSpPr txBox="1"/>
          <p:nvPr/>
        </p:nvSpPr>
        <p:spPr>
          <a:xfrm>
            <a:off x="822960" y="21762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売上</a:t>
            </a:r>
            <a:endParaRPr lang="en-US" sz="1200" dirty="0"/>
          </a:p>
        </p:txBody>
      </p:sp>
      <p:sp>
        <p:nvSpPr>
          <p:cNvPr id="7" name="act-text-0"/>
          <p:cNvSpPr txBox="1"/>
          <p:nvPr/>
        </p:nvSpPr>
        <p:spPr>
          <a:xfrm>
            <a:off x="822960" y="2606040"/>
            <a:ext cx="48614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ビールLセット販売開始＋ちょい飲みセット併売でアルコール回復。カレーグランプリ出場の近江牛サウナカリーをリニューアルしご飯類を立て直す。好調の麺類・デザートは継続訴求。</a:t>
            </a:r>
            <a:endParaRPr lang="en-US" sz="1400" dirty="0"/>
          </a:p>
        </p:txBody>
      </p:sp>
      <p:sp>
        <p:nvSpPr>
          <p:cNvPr id="8" name="act-bg-1"/>
          <p:cNvSpPr/>
          <p:nvPr/>
        </p:nvSpPr>
        <p:spPr>
          <a:xfrm>
            <a:off x="6233008" y="1920240"/>
            <a:ext cx="5410048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act-pill-1-bg"/>
          <p:cNvSpPr/>
          <p:nvPr/>
        </p:nvSpPr>
        <p:spPr>
          <a:xfrm>
            <a:off x="6507328" y="2176272"/>
            <a:ext cx="1097280" cy="310896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act-pill-1"/>
          <p:cNvSpPr txBox="1"/>
          <p:nvPr/>
        </p:nvSpPr>
        <p:spPr>
          <a:xfrm>
            <a:off x="6507328" y="21762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原価</a:t>
            </a:r>
            <a:endParaRPr lang="en-US" sz="1200" dirty="0"/>
          </a:p>
        </p:txBody>
      </p:sp>
      <p:sp>
        <p:nvSpPr>
          <p:cNvPr id="11" name="act-text-1"/>
          <p:cNvSpPr txBox="1"/>
          <p:nvPr/>
        </p:nvSpPr>
        <p:spPr>
          <a:xfrm>
            <a:off x="6507328" y="2606040"/>
            <a:ext cx="48614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仕入量を売上見込みに合わせて適正化。日本食研・ブライス品の過剰発注を抑制。サウナカリーは原価設計を事前確認し、予算33.4%に近づける。</a:t>
            </a:r>
            <a:endParaRPr lang="en-US" sz="1400" dirty="0"/>
          </a:p>
        </p:txBody>
      </p:sp>
      <p:sp>
        <p:nvSpPr>
          <p:cNvPr id="12" name="act-bg-2"/>
          <p:cNvSpPr/>
          <p:nvPr/>
        </p:nvSpPr>
        <p:spPr>
          <a:xfrm>
            <a:off x="548640" y="4160520"/>
            <a:ext cx="5410048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act-pill-2-bg"/>
          <p:cNvSpPr/>
          <p:nvPr/>
        </p:nvSpPr>
        <p:spPr>
          <a:xfrm>
            <a:off x="822960" y="4416552"/>
            <a:ext cx="1097280" cy="310896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act-pill-2"/>
          <p:cNvSpPr txBox="1"/>
          <p:nvPr/>
        </p:nvSpPr>
        <p:spPr>
          <a:xfrm>
            <a:off x="822960" y="441655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人件費</a:t>
            </a:r>
            <a:endParaRPr lang="en-US" sz="1200" dirty="0"/>
          </a:p>
        </p:txBody>
      </p:sp>
      <p:sp>
        <p:nvSpPr>
          <p:cNvPr id="15" name="act-text-2"/>
          <p:cNvSpPr txBox="1"/>
          <p:nvPr/>
        </p:nvSpPr>
        <p:spPr>
          <a:xfrm>
            <a:off x="822960" y="4846320"/>
            <a:ext cx="48614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モバイルオーダー稼働が不安定なため人件費増の可能性あり。時給一律50円アップも加わるため、シフトコントロールを徹底。</a:t>
            </a:r>
            <a:endParaRPr lang="en-US" sz="1400" dirty="0"/>
          </a:p>
        </p:txBody>
      </p:sp>
      <p:sp>
        <p:nvSpPr>
          <p:cNvPr id="16" name="act-bg-3"/>
          <p:cNvSpPr/>
          <p:nvPr/>
        </p:nvSpPr>
        <p:spPr>
          <a:xfrm>
            <a:off x="6233008" y="4160520"/>
            <a:ext cx="5410048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act-pill-3-bg"/>
          <p:cNvSpPr/>
          <p:nvPr/>
        </p:nvSpPr>
        <p:spPr>
          <a:xfrm>
            <a:off x="6507328" y="4416552"/>
            <a:ext cx="1097280" cy="310896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8" name="act-pill-3"/>
          <p:cNvSpPr txBox="1"/>
          <p:nvPr/>
        </p:nvSpPr>
        <p:spPr>
          <a:xfrm>
            <a:off x="6507328" y="441655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その他</a:t>
            </a:r>
            <a:endParaRPr lang="en-US" sz="1200" dirty="0"/>
          </a:p>
        </p:txBody>
      </p:sp>
      <p:sp>
        <p:nvSpPr>
          <p:cNvPr id="19" name="act-text-3"/>
          <p:cNvSpPr txBox="1"/>
          <p:nvPr/>
        </p:nvSpPr>
        <p:spPr>
          <a:xfrm>
            <a:off x="6507328" y="4846320"/>
            <a:ext cx="48614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モバイルオーダーの本格運用開始。飲食客数・客単価の集計方法を確認し、正しい数値で管理。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AKUSPA Kanda Smart">
  <a:themeElements>
    <a:clrScheme name="RAKUSPA Kanda Smart">
      <a:dk1>
        <a:srgbClr val="1B2B3A"/>
      </a:dk1>
      <a:lt1>
        <a:srgbClr val="FFFFFF"/>
      </a:lt1>
      <a:dk2>
        <a:srgbClr val="22384D"/>
      </a:dk2>
      <a:lt2>
        <a:srgbClr val="F2F5F7"/>
      </a:lt2>
      <a:accent1>
        <a:srgbClr val="0F8B8D"/>
      </a:accent1>
      <a:accent2>
        <a:srgbClr val="A9B4BF"/>
      </a:accent2>
      <a:accent3>
        <a:srgbClr val="E4572E"/>
      </a:accent3>
      <a:accent4>
        <a:srgbClr val="F2B134"/>
      </a:accent4>
      <a:accent5>
        <a:srgbClr val="5B6B7A"/>
      </a:accent5>
      <a:accent6>
        <a:srgbClr val="DCE2E7"/>
      </a:accent6>
      <a:hlink>
        <a:srgbClr val="0F8B8D"/>
      </a:hlink>
      <a:folHlink>
        <a:srgbClr val="5B6B7A"/>
      </a:folHlink>
    </a:clrScheme>
    <a:fontScheme name="RAKUSPA Kanda Smart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RAKUSPA1010神田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2026年9月 社員会議資料</dc:title>
  <dc:subject>PptxGenJS Presentation</dc:subject>
  <dc:creator>RAKUSPA1010神田 飲食部門</dc:creator>
  <cp:lastModifiedBy>RAKUSPA1010神田 飲食部門</cp:lastModifiedBy>
  <cp:revision>1</cp:revision>
  <dcterms:created xsi:type="dcterms:W3CDTF">2026-10-09T11:16:08Z</dcterms:created>
  <dcterms:modified xsi:type="dcterms:W3CDTF">2026-10-09T11:16:08Z</dcterms:modified>
</cp:coreProperties>
</file>