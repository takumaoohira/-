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58b9f8e8-8639-4a3b-c1ee-5f2fc3968876}">
          <p14:sldIdLst>
            <p14:sldId id="256"/>
          </p14:sldIdLst>
        </p14:section>
        <p14:section name="サマリー" id="{f9a3ceba-bf9e-e4ca-b8de-13c7646d8870}">
          <p14:sldIdLst>
            <p14:sldId id="257"/>
          </p14:sldIdLst>
        </p14:section>
        <p14:section name="コラボ抜き売上" id="{82b11275-775b-0ccc-1601-fe9758771991}">
          <p14:sldIdLst>
            <p14:sldId id="258"/>
            <p14:sldId id="259"/>
          </p14:sldIdLst>
        </p14:section>
        <p14:section name="営業数値・コスト" id="{f13a13e6-2ae4-efd8-c8e0-99f1e3f07100}">
          <p14:sldIdLst>
            <p14:sldId id="260"/>
            <p14:sldId id="261"/>
          </p14:sldIdLst>
        </p14:section>
        <p14:section name="売れ筋商品" id="{d9ef4915-680d-c544-349c-8ed89fb58a31}">
          <p14:sldIdLst>
            <p14:sldId id="262"/>
            <p14:sldId id="263"/>
          </p14:sldIdLst>
        </p14:section>
        <p14:section name="振り返りと次月施策" id="{ade18c58-a8e4-b0a3-46bb-857cdf50c53d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コラボ抜き売上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B3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2026年9月</c:v>
                  </c:pt>
                  <c:pt idx="1">
                    <c:v>2025年9月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4899</c:v>
                </c:pt>
                <c:pt idx="1">
                  <c:v>5031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コラボ売上</c:v>
                </c:pt>
              </c:strCache>
            </c:strRef>
          </c:tx>
          <c:spPr>
            <a:solidFill>
              <a:srgbClr val="DCE2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B3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2026年9月</c:v>
                  </c:pt>
                  <c:pt idx="1">
                    <c:v>2025年9月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3720</c:v>
                </c:pt>
                <c:pt idx="1">
                  <c:v>5411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B2B3A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2025年9月</c:v>
                </c:pt>
              </c:strCache>
            </c:strRef>
          </c:tx>
          <c:spPr>
            <a:solidFill>
              <a:srgbClr val="A9B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麺類</c:v>
                  </c:pt>
                  <c:pt idx="1">
                    <c:v>デザート類</c:v>
                  </c:pt>
                  <c:pt idx="2">
                    <c:v>一品料理</c:v>
                  </c:pt>
                  <c:pt idx="3">
                    <c:v>ソフトドリンク</c:v>
                  </c:pt>
                  <c:pt idx="4">
                    <c:v>ご飯類</c:v>
                  </c:pt>
                  <c:pt idx="5">
                    <c:v>アルコール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710.9</c:v>
                </c:pt>
                <c:pt idx="1">
                  <c:v>163.8</c:v>
                </c:pt>
                <c:pt idx="2">
                  <c:v>738.6</c:v>
                </c:pt>
                <c:pt idx="3">
                  <c:v>513.6</c:v>
                </c:pt>
                <c:pt idx="4">
                  <c:v>1935</c:v>
                </c:pt>
                <c:pt idx="5">
                  <c:v>897.8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2026年9月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麺類</c:v>
                  </c:pt>
                  <c:pt idx="1">
                    <c:v>デザート類</c:v>
                  </c:pt>
                  <c:pt idx="2">
                    <c:v>一品料理</c:v>
                  </c:pt>
                  <c:pt idx="3">
                    <c:v>ソフトドリンク</c:v>
                  </c:pt>
                  <c:pt idx="4">
                    <c:v>ご飯類</c:v>
                  </c:pt>
                  <c:pt idx="5">
                    <c:v>アルコール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900.9</c:v>
                </c:pt>
                <c:pt idx="1">
                  <c:v>209.4</c:v>
                </c:pt>
                <c:pt idx="2">
                  <c:v>788.5</c:v>
                </c:pt>
                <c:pt idx="3">
                  <c:v>526.9</c:v>
                </c:pt>
                <c:pt idx="4">
                  <c:v>1730.8</c:v>
                </c:pt>
                <c:pt idx="5">
                  <c:v>742.3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B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2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B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2026年9月の飲食部門の社員会議資料です。今月は全体売上が前年を大きく下回りましたが、コラボを除いた売上は97.4%と健闘しています。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全体売上は82.5%ですが、減少額1,823千円のうち1,691千円はコラボ売上の減少分です。コラボを除くと97.4%、入館者数97.5%とほぼ連動しており、店舗としての売上力は維持できています。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月一番お伝えしたいポイントです。全体売上は82.5%ですが、コラボを抜いた売上は4,899千円、前年比97.4%。入館者数97.5%とほぼ同じで、来館者1人あたりの店舗売上力は前年並みです。減少額の92.8%はコラボ売上の減少（68.7%）による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ラボ抜きの内訳です。麺類が+190千円と最も伸び、デザートも128%。一方でご飯類が▲204千円、アルコールが▲155千円と落ち込みました。ご飯類の減少は看板の近江牛サウナカリーとロースカツカレーの出数減が主な要因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営業数値の一覧です。飲食売上は予算はちょうど達成（100.0%）ですが、前年比は82.5%。コラボ抜き売上の行を強調しています。飲食客数・客単価は集計方法の確認が必要なため参考値です。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原価率は42.6%で前年から8ポイント悪化。売上が落ちたのに仕入が下がっていません。人件費はモバイルオーダーのシステム変更対応で人員を厚くした影響で、前年比116.7%となりました。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ホールの売れ筋です。リポスパが253千円と圧倒的。デザートはソフトクリームが135個と前年33個から大きく伸び、デザート全体128%の原動力になりました。アルコールは生ビール系が落ち込んでいます。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キッチンの売れ筋です。釜玉チーズカレーうどんが247食（前年199食）で麺類を牽引。新登場の神田家ラーメンも2品でTOP5入り。ご飯類は近江牛サウナカリーが462食から315食に減少しており、来月のリニューアルで巻き返しを図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良かった点と課題の整理です。コラボを除けば店舗の売上は前年並み。課題はご飯類・アルコールの回復と、コストのコントロールです。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10月はコラボ抜き売上の前年超えを目標にします。ビールLセットと近江牛サウナカリーのリニューアルが2本柱。コスト面は仕入の適正化とシフトコントロールを徹底します。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RAKUSPA1010神田　2026年9月 社員会議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RAKUSPA1010神田　2026年9月 社員会議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RAKUSPA1010神田　飲食部門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2026年9月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社員会議資料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飲食売上実績・コラボ抜き売上分析・コスト・次月施策</a:t>
            </a:r>
            <a:endParaRPr lang="en-US" sz="1800" dirty="0"/>
          </a:p>
        </p:txBody>
      </p:sp>
      <p:sp>
        <p:nvSpPr>
          <p:cNvPr id="5" name="meta"/>
          <p:cNvSpPr txBox="1"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報告日 2026年10月1日　／　作成 大平</a:t>
            </a:r>
            <a:endParaRPr lang="en-US" sz="1200" dirty="0"/>
          </a:p>
        </p:txBody>
      </p:sp>
      <p:sp>
        <p:nvSpPr>
          <p:cNvPr id="6" name="cover-circle"/>
          <p:cNvSpPr/>
          <p:nvPr/>
        </p:nvSpPr>
        <p:spPr>
          <a:xfrm>
            <a:off x="8732520" y="173736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over-stat"/>
          <p:cNvSpPr txBox="1"/>
          <p:nvPr/>
        </p:nvSpPr>
        <p:spPr>
          <a:xfrm>
            <a:off x="8732520" y="17373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コラボ抜き売上</a:t>
            </a:r>
            <a:endParaRPr lang="en-US" sz="1400" dirty="0"/>
          </a:p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97.4%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前年比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9月サマリー：売上減の9割超はコラボ要因</a:t>
            </a:r>
            <a:endParaRPr lang="en-US" sz="3000" dirty="0"/>
          </a:p>
        </p:txBody>
      </p:sp>
      <p:sp>
        <p:nvSpPr>
          <p:cNvPr id="3" name="kpi-card-0"/>
          <p:cNvSpPr/>
          <p:nvPr/>
        </p:nvSpPr>
        <p:spPr>
          <a:xfrm>
            <a:off x="548640" y="137160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4" name="kpi-label-0"/>
          <p:cNvSpPr txBox="1"/>
          <p:nvPr/>
        </p:nvSpPr>
        <p:spPr>
          <a:xfrm>
            <a:off x="777240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飲食売上（全体）</a:t>
            </a:r>
            <a:endParaRPr lang="en-US" sz="1300" dirty="0"/>
          </a:p>
        </p:txBody>
      </p:sp>
      <p:sp>
        <p:nvSpPr>
          <p:cNvPr id="5" name="kpi-val-0"/>
          <p:cNvSpPr txBox="1"/>
          <p:nvPr/>
        </p:nvSpPr>
        <p:spPr>
          <a:xfrm>
            <a:off x="777240" y="1965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8,619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千円</a:t>
            </a:r>
            <a:endParaRPr lang="en-US" sz="3600" dirty="0"/>
          </a:p>
        </p:txBody>
      </p:sp>
      <p:sp>
        <p:nvSpPr>
          <p:cNvPr id="6" name="kpi-yoy-0"/>
          <p:cNvSpPr txBox="1"/>
          <p:nvPr/>
        </p:nvSpPr>
        <p:spPr>
          <a:xfrm>
            <a:off x="77724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前年比 </a:t>
            </a:r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82.5%</a:t>
            </a:r>
            <a:endParaRPr lang="en-US" sz="1200" dirty="0"/>
          </a:p>
        </p:txBody>
      </p:sp>
      <p:sp>
        <p:nvSpPr>
          <p:cNvPr id="7" name="kpi-diff-0"/>
          <p:cNvSpPr txBox="1"/>
          <p:nvPr/>
        </p:nvSpPr>
        <p:spPr>
          <a:xfrm>
            <a:off x="77724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▲1,823千円</a:t>
            </a:r>
            <a:endParaRPr lang="en-US" sz="1200" dirty="0"/>
          </a:p>
        </p:txBody>
      </p:sp>
      <p:sp>
        <p:nvSpPr>
          <p:cNvPr id="8" name="kpi-card-1"/>
          <p:cNvSpPr/>
          <p:nvPr/>
        </p:nvSpPr>
        <p:spPr>
          <a:xfrm>
            <a:off x="3337560" y="137160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9" name="kpi-label-1"/>
          <p:cNvSpPr txBox="1"/>
          <p:nvPr/>
        </p:nvSpPr>
        <p:spPr>
          <a:xfrm>
            <a:off x="3566160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コラボ抜き飲食売上</a:t>
            </a:r>
            <a:endParaRPr lang="en-US" sz="1300" dirty="0"/>
          </a:p>
        </p:txBody>
      </p:sp>
      <p:sp>
        <p:nvSpPr>
          <p:cNvPr id="10" name="kpi-val-1"/>
          <p:cNvSpPr txBox="1"/>
          <p:nvPr/>
        </p:nvSpPr>
        <p:spPr>
          <a:xfrm>
            <a:off x="3566160" y="1965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4,899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千円</a:t>
            </a:r>
            <a:endParaRPr lang="en-US" sz="3600" dirty="0"/>
          </a:p>
        </p:txBody>
      </p:sp>
      <p:sp>
        <p:nvSpPr>
          <p:cNvPr id="11" name="kpi-yoy-1"/>
          <p:cNvSpPr txBox="1"/>
          <p:nvPr/>
        </p:nvSpPr>
        <p:spPr>
          <a:xfrm>
            <a:off x="35661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前年比 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97.4%</a:t>
            </a:r>
            <a:endParaRPr lang="en-US" sz="1200" dirty="0"/>
          </a:p>
        </p:txBody>
      </p:sp>
      <p:sp>
        <p:nvSpPr>
          <p:cNvPr id="12" name="kpi-diff-1"/>
          <p:cNvSpPr txBox="1"/>
          <p:nvPr/>
        </p:nvSpPr>
        <p:spPr>
          <a:xfrm>
            <a:off x="356616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▲132千円</a:t>
            </a:r>
            <a:endParaRPr lang="en-US" sz="1200" dirty="0"/>
          </a:p>
        </p:txBody>
      </p:sp>
      <p:sp>
        <p:nvSpPr>
          <p:cNvPr id="13" name="kpi-card-2"/>
          <p:cNvSpPr/>
          <p:nvPr/>
        </p:nvSpPr>
        <p:spPr>
          <a:xfrm>
            <a:off x="6126480" y="137160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14" name="kpi-label-2"/>
          <p:cNvSpPr txBox="1"/>
          <p:nvPr/>
        </p:nvSpPr>
        <p:spPr>
          <a:xfrm>
            <a:off x="6355080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コラボ飲食売上</a:t>
            </a:r>
            <a:endParaRPr lang="en-US" sz="1300" dirty="0"/>
          </a:p>
        </p:txBody>
      </p:sp>
      <p:sp>
        <p:nvSpPr>
          <p:cNvPr id="15" name="kpi-val-2"/>
          <p:cNvSpPr txBox="1"/>
          <p:nvPr/>
        </p:nvSpPr>
        <p:spPr>
          <a:xfrm>
            <a:off x="6355080" y="1965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3,720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千円</a:t>
            </a:r>
            <a:endParaRPr lang="en-US" sz="3600" dirty="0"/>
          </a:p>
        </p:txBody>
      </p:sp>
      <p:sp>
        <p:nvSpPr>
          <p:cNvPr id="16" name="kpi-yoy-2"/>
          <p:cNvSpPr txBox="1"/>
          <p:nvPr/>
        </p:nvSpPr>
        <p:spPr>
          <a:xfrm>
            <a:off x="635508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前年比 </a:t>
            </a:r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68.7%</a:t>
            </a:r>
            <a:endParaRPr lang="en-US" sz="1200" dirty="0"/>
          </a:p>
        </p:txBody>
      </p:sp>
      <p:sp>
        <p:nvSpPr>
          <p:cNvPr id="17" name="kpi-diff-2"/>
          <p:cNvSpPr txBox="1"/>
          <p:nvPr/>
        </p:nvSpPr>
        <p:spPr>
          <a:xfrm>
            <a:off x="635508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▲1,691千円</a:t>
            </a:r>
            <a:endParaRPr lang="en-US" sz="1200" dirty="0"/>
          </a:p>
        </p:txBody>
      </p:sp>
      <p:sp>
        <p:nvSpPr>
          <p:cNvPr id="18" name="kpi-card-3"/>
          <p:cNvSpPr/>
          <p:nvPr/>
        </p:nvSpPr>
        <p:spPr>
          <a:xfrm>
            <a:off x="8915400" y="137160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19" name="kpi-label-3"/>
          <p:cNvSpPr txBox="1"/>
          <p:nvPr/>
        </p:nvSpPr>
        <p:spPr>
          <a:xfrm>
            <a:off x="9144000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入館者数</a:t>
            </a:r>
            <a:endParaRPr lang="en-US" sz="1300" dirty="0"/>
          </a:p>
        </p:txBody>
      </p:sp>
      <p:sp>
        <p:nvSpPr>
          <p:cNvPr id="20" name="kpi-val-3"/>
          <p:cNvSpPr txBox="1"/>
          <p:nvPr/>
        </p:nvSpPr>
        <p:spPr>
          <a:xfrm>
            <a:off x="9144000" y="1965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24,895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人</a:t>
            </a:r>
            <a:endParaRPr lang="en-US" sz="3600" dirty="0"/>
          </a:p>
        </p:txBody>
      </p:sp>
      <p:sp>
        <p:nvSpPr>
          <p:cNvPr id="21" name="kpi-yoy-3"/>
          <p:cNvSpPr txBox="1"/>
          <p:nvPr/>
        </p:nvSpPr>
        <p:spPr>
          <a:xfrm>
            <a:off x="914400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前年比 </a:t>
            </a:r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97.5%</a:t>
            </a:r>
            <a:endParaRPr lang="en-US" sz="1200" dirty="0"/>
          </a:p>
        </p:txBody>
      </p:sp>
      <p:sp>
        <p:nvSpPr>
          <p:cNvPr id="22" name="kpi-diff-3"/>
          <p:cNvSpPr txBox="1"/>
          <p:nvPr/>
        </p:nvSpPr>
        <p:spPr>
          <a:xfrm>
            <a:off x="914400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▲647人</a:t>
            </a:r>
            <a:endParaRPr lang="en-US" sz="1200" dirty="0"/>
          </a:p>
        </p:txBody>
      </p:sp>
      <p:sp>
        <p:nvSpPr>
          <p:cNvPr id="23" name="point-card-0"/>
          <p:cNvSpPr/>
          <p:nvPr/>
        </p:nvSpPr>
        <p:spPr>
          <a:xfrm>
            <a:off x="548640" y="397764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point-pill-0-bg"/>
          <p:cNvSpPr/>
          <p:nvPr/>
        </p:nvSpPr>
        <p:spPr>
          <a:xfrm>
            <a:off x="777240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point-pill-0"/>
          <p:cNvSpPr txBox="1"/>
          <p:nvPr/>
        </p:nvSpPr>
        <p:spPr>
          <a:xfrm>
            <a:off x="777240" y="4206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売上</a:t>
            </a:r>
            <a:endParaRPr lang="en-US" sz="1200" dirty="0"/>
          </a:p>
        </p:txBody>
      </p:sp>
      <p:sp>
        <p:nvSpPr>
          <p:cNvPr id="26" name="point-text-0"/>
          <p:cNvSpPr txBox="1"/>
          <p:nvPr/>
        </p:nvSpPr>
        <p:spPr>
          <a:xfrm>
            <a:off x="777240" y="46634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全体▲1,823千円のうち▲1,691千円（92.8%）がコラボ売上の減少。店舗の地力は前年並みを維持。</a:t>
            </a:r>
            <a:endParaRPr lang="en-US" sz="1400" dirty="0"/>
          </a:p>
        </p:txBody>
      </p:sp>
      <p:sp>
        <p:nvSpPr>
          <p:cNvPr id="27" name="point-card-1"/>
          <p:cNvSpPr/>
          <p:nvPr/>
        </p:nvSpPr>
        <p:spPr>
          <a:xfrm>
            <a:off x="4338218" y="397764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point-pill-1-bg"/>
          <p:cNvSpPr/>
          <p:nvPr/>
        </p:nvSpPr>
        <p:spPr>
          <a:xfrm>
            <a:off x="4566818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oint-pill-1"/>
          <p:cNvSpPr txBox="1"/>
          <p:nvPr/>
        </p:nvSpPr>
        <p:spPr>
          <a:xfrm>
            <a:off x="4566818" y="4206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商品</a:t>
            </a:r>
            <a:endParaRPr lang="en-US" sz="1200" dirty="0"/>
          </a:p>
        </p:txBody>
      </p:sp>
      <p:sp>
        <p:nvSpPr>
          <p:cNvPr id="30" name="point-text-1"/>
          <p:cNvSpPr txBox="1"/>
          <p:nvPr/>
        </p:nvSpPr>
        <p:spPr>
          <a:xfrm>
            <a:off x="4566818" y="46634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麺類127%・デザート128%・一品107%が伸長。ご飯類89%・アルコール83%が課題。</a:t>
            </a:r>
            <a:endParaRPr lang="en-US" sz="1400" dirty="0"/>
          </a:p>
        </p:txBody>
      </p:sp>
      <p:sp>
        <p:nvSpPr>
          <p:cNvPr id="31" name="point-card-2"/>
          <p:cNvSpPr/>
          <p:nvPr/>
        </p:nvSpPr>
        <p:spPr>
          <a:xfrm>
            <a:off x="8127797" y="3977640"/>
            <a:ext cx="351525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2" name="point-pill-2-bg"/>
          <p:cNvSpPr/>
          <p:nvPr/>
        </p:nvSpPr>
        <p:spPr>
          <a:xfrm>
            <a:off x="8356397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point-pill-2"/>
          <p:cNvSpPr txBox="1"/>
          <p:nvPr/>
        </p:nvSpPr>
        <p:spPr>
          <a:xfrm>
            <a:off x="8356397" y="4206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コスト</a:t>
            </a:r>
            <a:endParaRPr lang="en-US" sz="1200" dirty="0"/>
          </a:p>
        </p:txBody>
      </p:sp>
      <p:sp>
        <p:nvSpPr>
          <p:cNvPr id="34" name="point-text-2"/>
          <p:cNvSpPr txBox="1"/>
          <p:nvPr/>
        </p:nvSpPr>
        <p:spPr>
          <a:xfrm>
            <a:off x="8356397" y="46634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原価率42.6%（前年+8.0pt）、人件費率33.0%（+9.6pt）。FL75.6%と大幅悪化。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コラボ抜き売上は前年比97.4%　入館者数並みを確保</a:t>
            </a:r>
            <a:endParaRPr lang="en-US" sz="3000" dirty="0"/>
          </a:p>
        </p:txBody>
      </p:sp>
      <p:sp>
        <p:nvSpPr>
          <p:cNvPr id="3" name="focus-pill-bg"/>
          <p:cNvSpPr/>
          <p:nvPr/>
        </p:nvSpPr>
        <p:spPr>
          <a:xfrm>
            <a:off x="548640" y="1417320"/>
            <a:ext cx="237744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focus-pill"/>
          <p:cNvSpPr txBox="1"/>
          <p:nvPr/>
        </p:nvSpPr>
        <p:spPr>
          <a:xfrm>
            <a:off x="548640" y="1417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★ 今月の注目ポイント</a:t>
            </a:r>
            <a:endParaRPr lang="en-US" sz="1200" dirty="0"/>
          </a:p>
        </p:txBody>
      </p:sp>
      <p:sp>
        <p:nvSpPr>
          <p:cNvPr id="5" name="big-label"/>
          <p:cNvSpPr txBox="1"/>
          <p:nvPr/>
        </p:nvSpPr>
        <p:spPr>
          <a:xfrm>
            <a:off x="54864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コラボ抜き飲食売上 前年比</a:t>
            </a:r>
            <a:endParaRPr lang="en-US" sz="1600" dirty="0"/>
          </a:p>
        </p:txBody>
      </p:sp>
      <p:sp>
        <p:nvSpPr>
          <p:cNvPr id="6" name="big-stat"/>
          <p:cNvSpPr txBox="1"/>
          <p:nvPr/>
        </p:nvSpPr>
        <p:spPr>
          <a:xfrm>
            <a:off x="548640" y="2286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</a:rPr>
              <a:t>97.4%</a:t>
            </a:r>
            <a:endParaRPr lang="en-US" sz="8800" dirty="0"/>
          </a:p>
        </p:txBody>
      </p:sp>
      <p:sp>
        <p:nvSpPr>
          <p:cNvPr id="7" name="big-sub"/>
          <p:cNvSpPr txBox="1"/>
          <p:nvPr/>
        </p:nvSpPr>
        <p:spPr>
          <a:xfrm>
            <a:off x="5486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4,899千円（前年5,031千円／▲132千円）</a:t>
            </a:r>
            <a:endParaRPr lang="en-US" sz="1500" dirty="0"/>
          </a:p>
        </p:txBody>
      </p:sp>
      <p:sp>
        <p:nvSpPr>
          <p:cNvPr id="8" name="cmp-bg-0"/>
          <p:cNvSpPr/>
          <p:nvPr/>
        </p:nvSpPr>
        <p:spPr>
          <a:xfrm>
            <a:off x="548640" y="4251960"/>
            <a:ext cx="49377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mp-label-0"/>
          <p:cNvSpPr txBox="1"/>
          <p:nvPr/>
        </p:nvSpPr>
        <p:spPr>
          <a:xfrm>
            <a:off x="731520" y="4251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飲食売上（全体）</a:t>
            </a:r>
            <a:endParaRPr lang="en-US" sz="1300" dirty="0"/>
          </a:p>
        </p:txBody>
      </p:sp>
      <p:sp>
        <p:nvSpPr>
          <p:cNvPr id="10" name="cmp-yoy-0"/>
          <p:cNvSpPr txBox="1"/>
          <p:nvPr/>
        </p:nvSpPr>
        <p:spPr>
          <a:xfrm>
            <a:off x="2926080" y="4251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82.5%</a:t>
            </a:r>
            <a:endParaRPr lang="en-US" sz="1500" dirty="0"/>
          </a:p>
        </p:txBody>
      </p:sp>
      <p:sp>
        <p:nvSpPr>
          <p:cNvPr id="11" name="cmp-diff-0"/>
          <p:cNvSpPr txBox="1"/>
          <p:nvPr/>
        </p:nvSpPr>
        <p:spPr>
          <a:xfrm>
            <a:off x="4114800" y="4251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▲1,823</a:t>
            </a:r>
            <a:endParaRPr lang="en-US" sz="1200" dirty="0"/>
          </a:p>
        </p:txBody>
      </p:sp>
      <p:sp>
        <p:nvSpPr>
          <p:cNvPr id="12" name="cmp-bg-1"/>
          <p:cNvSpPr/>
          <p:nvPr/>
        </p:nvSpPr>
        <p:spPr>
          <a:xfrm>
            <a:off x="548640" y="4754880"/>
            <a:ext cx="49377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cmp-label-1"/>
          <p:cNvSpPr txBox="1"/>
          <p:nvPr/>
        </p:nvSpPr>
        <p:spPr>
          <a:xfrm>
            <a:off x="731520" y="4754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コラボ売上</a:t>
            </a:r>
            <a:endParaRPr lang="en-US" sz="1300" dirty="0"/>
          </a:p>
        </p:txBody>
      </p:sp>
      <p:sp>
        <p:nvSpPr>
          <p:cNvPr id="14" name="cmp-yoy-1"/>
          <p:cNvSpPr txBox="1"/>
          <p:nvPr/>
        </p:nvSpPr>
        <p:spPr>
          <a:xfrm>
            <a:off x="2926080" y="4754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68.7%</a:t>
            </a:r>
            <a:endParaRPr lang="en-US" sz="1500" dirty="0"/>
          </a:p>
        </p:txBody>
      </p:sp>
      <p:sp>
        <p:nvSpPr>
          <p:cNvPr id="15" name="cmp-diff-1"/>
          <p:cNvSpPr txBox="1"/>
          <p:nvPr/>
        </p:nvSpPr>
        <p:spPr>
          <a:xfrm>
            <a:off x="4114800" y="4754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▲1,691</a:t>
            </a:r>
            <a:endParaRPr lang="en-US" sz="1200" dirty="0"/>
          </a:p>
        </p:txBody>
      </p:sp>
      <p:sp>
        <p:nvSpPr>
          <p:cNvPr id="16" name="cmp-bg-2"/>
          <p:cNvSpPr/>
          <p:nvPr/>
        </p:nvSpPr>
        <p:spPr>
          <a:xfrm>
            <a:off x="548640" y="5257800"/>
            <a:ext cx="49377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cmp-label-2"/>
          <p:cNvSpPr txBox="1"/>
          <p:nvPr/>
        </p:nvSpPr>
        <p:spPr>
          <a:xfrm>
            <a:off x="731520" y="5257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入館者数</a:t>
            </a:r>
            <a:endParaRPr lang="en-US" sz="1300" dirty="0"/>
          </a:p>
        </p:txBody>
      </p:sp>
      <p:sp>
        <p:nvSpPr>
          <p:cNvPr id="18" name="cmp-yoy-2"/>
          <p:cNvSpPr txBox="1"/>
          <p:nvPr/>
        </p:nvSpPr>
        <p:spPr>
          <a:xfrm>
            <a:off x="2926080" y="5257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97.5%</a:t>
            </a:r>
            <a:endParaRPr lang="en-US" sz="1500" dirty="0"/>
          </a:p>
        </p:txBody>
      </p:sp>
      <p:sp>
        <p:nvSpPr>
          <p:cNvPr id="19" name="cmp-diff-2"/>
          <p:cNvSpPr txBox="1"/>
          <p:nvPr/>
        </p:nvSpPr>
        <p:spPr>
          <a:xfrm>
            <a:off x="4114800" y="5257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▲647人</a:t>
            </a:r>
            <a:endParaRPr lang="en-US" sz="1200" dirty="0"/>
          </a:p>
        </p:txBody>
      </p:sp>
      <p:sp>
        <p:nvSpPr>
          <p:cNvPr id="20" name="chart-card"/>
          <p:cNvSpPr/>
          <p:nvPr/>
        </p:nvSpPr>
        <p:spPr>
          <a:xfrm>
            <a:off x="5989320" y="1417320"/>
            <a:ext cx="5650992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1" name="chart-title"/>
          <p:cNvSpPr txBox="1"/>
          <p:nvPr/>
        </p:nvSpPr>
        <p:spPr>
          <a:xfrm>
            <a:off x="62636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飲食売上の内訳（千円）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172200" y="196596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chart-note"/>
          <p:cNvSpPr txBox="1"/>
          <p:nvPr/>
        </p:nvSpPr>
        <p:spPr>
          <a:xfrm>
            <a:off x="626364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売上減少 ▲1,823千円 のうち </a:t>
            </a:r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92.8% がコラボ要因</a:t>
            </a:r>
            <a:endParaRPr lang="en-US" sz="1400" dirty="0"/>
          </a:p>
        </p:txBody>
      </p:sp>
      <p:sp>
        <p:nvSpPr>
          <p:cNvPr id="24" name="chart-note2"/>
          <p:cNvSpPr txBox="1"/>
          <p:nvPr/>
        </p:nvSpPr>
        <p:spPr>
          <a:xfrm>
            <a:off x="6263640" y="5486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コラボ抜き売上は入館者数（97.5%）とほぼ同水準で推移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コラボ抜きカテゴリ別：麺類・デザートが牽引</a:t>
            </a:r>
            <a:endParaRPr lang="en-US" sz="3000" dirty="0"/>
          </a:p>
        </p:txBody>
      </p:sp>
      <p:sp>
        <p:nvSpPr>
          <p:cNvPr id="3" name="chart-card"/>
          <p:cNvSpPr/>
          <p:nvPr/>
        </p:nvSpPr>
        <p:spPr>
          <a:xfrm>
            <a:off x="548640" y="1325880"/>
            <a:ext cx="6949440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4" name="chart-title"/>
          <p:cNvSpPr txBox="1"/>
          <p:nvPr/>
        </p:nvSpPr>
        <p:spPr>
          <a:xfrm>
            <a:off x="82296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カテゴリ別売上 前年比較（千円）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8288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yoy-title"/>
          <p:cNvSpPr txBox="1"/>
          <p:nvPr/>
        </p:nvSpPr>
        <p:spPr>
          <a:xfrm>
            <a:off x="7818120" y="1371600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前年比（前年差 千円）</a:t>
            </a:r>
            <a:endParaRPr lang="en-US" sz="1400" dirty="0"/>
          </a:p>
        </p:txBody>
      </p:sp>
      <p:sp>
        <p:nvSpPr>
          <p:cNvPr id="7" name="yoy-bg-0"/>
          <p:cNvSpPr/>
          <p:nvPr/>
        </p:nvSpPr>
        <p:spPr>
          <a:xfrm>
            <a:off x="7818120" y="1783080"/>
            <a:ext cx="382493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yoy-cat-0"/>
          <p:cNvSpPr txBox="1"/>
          <p:nvPr/>
        </p:nvSpPr>
        <p:spPr>
          <a:xfrm>
            <a:off x="8001000" y="17830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麺類</a:t>
            </a:r>
            <a:endParaRPr lang="en-US" sz="1300" dirty="0"/>
          </a:p>
        </p:txBody>
      </p:sp>
      <p:sp>
        <p:nvSpPr>
          <p:cNvPr id="9" name="yoy-val-0"/>
          <p:cNvSpPr txBox="1"/>
          <p:nvPr/>
        </p:nvSpPr>
        <p:spPr>
          <a:xfrm>
            <a:off x="9509760" y="17830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126.7%</a:t>
            </a:r>
            <a:endParaRPr lang="en-US" sz="1500" dirty="0"/>
          </a:p>
        </p:txBody>
      </p:sp>
      <p:sp>
        <p:nvSpPr>
          <p:cNvPr id="10" name="yoy-diff-0"/>
          <p:cNvSpPr txBox="1"/>
          <p:nvPr/>
        </p:nvSpPr>
        <p:spPr>
          <a:xfrm>
            <a:off x="10561320" y="1783080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+190</a:t>
            </a:r>
            <a:endParaRPr lang="en-US" sz="1200" dirty="0"/>
          </a:p>
        </p:txBody>
      </p:sp>
      <p:sp>
        <p:nvSpPr>
          <p:cNvPr id="11" name="yoy-bg-1"/>
          <p:cNvSpPr/>
          <p:nvPr/>
        </p:nvSpPr>
        <p:spPr>
          <a:xfrm>
            <a:off x="7818120" y="2350008"/>
            <a:ext cx="382493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yoy-cat-1"/>
          <p:cNvSpPr txBox="1"/>
          <p:nvPr/>
        </p:nvSpPr>
        <p:spPr>
          <a:xfrm>
            <a:off x="8001000" y="2350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デザート類</a:t>
            </a:r>
            <a:endParaRPr lang="en-US" sz="1300" dirty="0"/>
          </a:p>
        </p:txBody>
      </p:sp>
      <p:sp>
        <p:nvSpPr>
          <p:cNvPr id="13" name="yoy-val-1"/>
          <p:cNvSpPr txBox="1"/>
          <p:nvPr/>
        </p:nvSpPr>
        <p:spPr>
          <a:xfrm>
            <a:off x="9509760" y="235000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127.9%</a:t>
            </a:r>
            <a:endParaRPr lang="en-US" sz="1500" dirty="0"/>
          </a:p>
        </p:txBody>
      </p:sp>
      <p:sp>
        <p:nvSpPr>
          <p:cNvPr id="14" name="yoy-diff-1"/>
          <p:cNvSpPr txBox="1"/>
          <p:nvPr/>
        </p:nvSpPr>
        <p:spPr>
          <a:xfrm>
            <a:off x="10561320" y="2350008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+46</a:t>
            </a:r>
            <a:endParaRPr lang="en-US" sz="1200" dirty="0"/>
          </a:p>
        </p:txBody>
      </p:sp>
      <p:sp>
        <p:nvSpPr>
          <p:cNvPr id="15" name="yoy-bg-2"/>
          <p:cNvSpPr/>
          <p:nvPr/>
        </p:nvSpPr>
        <p:spPr>
          <a:xfrm>
            <a:off x="7818120" y="2916936"/>
            <a:ext cx="382493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yoy-cat-2"/>
          <p:cNvSpPr txBox="1"/>
          <p:nvPr/>
        </p:nvSpPr>
        <p:spPr>
          <a:xfrm>
            <a:off x="8001000" y="2916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一品料理</a:t>
            </a:r>
            <a:endParaRPr lang="en-US" sz="1300" dirty="0"/>
          </a:p>
        </p:txBody>
      </p:sp>
      <p:sp>
        <p:nvSpPr>
          <p:cNvPr id="17" name="yoy-val-2"/>
          <p:cNvSpPr txBox="1"/>
          <p:nvPr/>
        </p:nvSpPr>
        <p:spPr>
          <a:xfrm>
            <a:off x="9509760" y="291693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106.8%</a:t>
            </a:r>
            <a:endParaRPr lang="en-US" sz="1500" dirty="0"/>
          </a:p>
        </p:txBody>
      </p:sp>
      <p:sp>
        <p:nvSpPr>
          <p:cNvPr id="18" name="yoy-diff-2"/>
          <p:cNvSpPr txBox="1"/>
          <p:nvPr/>
        </p:nvSpPr>
        <p:spPr>
          <a:xfrm>
            <a:off x="10561320" y="2916936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+50</a:t>
            </a:r>
            <a:endParaRPr lang="en-US" sz="1200" dirty="0"/>
          </a:p>
        </p:txBody>
      </p:sp>
      <p:sp>
        <p:nvSpPr>
          <p:cNvPr id="19" name="yoy-bg-3"/>
          <p:cNvSpPr/>
          <p:nvPr/>
        </p:nvSpPr>
        <p:spPr>
          <a:xfrm>
            <a:off x="7818120" y="3483864"/>
            <a:ext cx="382493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yoy-cat-3"/>
          <p:cNvSpPr txBox="1"/>
          <p:nvPr/>
        </p:nvSpPr>
        <p:spPr>
          <a:xfrm>
            <a:off x="8001000" y="3483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ソフトドリンク</a:t>
            </a:r>
            <a:endParaRPr lang="en-US" sz="1300" dirty="0"/>
          </a:p>
        </p:txBody>
      </p:sp>
      <p:sp>
        <p:nvSpPr>
          <p:cNvPr id="21" name="yoy-val-3"/>
          <p:cNvSpPr txBox="1"/>
          <p:nvPr/>
        </p:nvSpPr>
        <p:spPr>
          <a:xfrm>
            <a:off x="9509760" y="3483864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102.6%</a:t>
            </a:r>
            <a:endParaRPr lang="en-US" sz="1500" dirty="0"/>
          </a:p>
        </p:txBody>
      </p:sp>
      <p:sp>
        <p:nvSpPr>
          <p:cNvPr id="22" name="yoy-diff-3"/>
          <p:cNvSpPr txBox="1"/>
          <p:nvPr/>
        </p:nvSpPr>
        <p:spPr>
          <a:xfrm>
            <a:off x="10561320" y="3483864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+13</a:t>
            </a:r>
            <a:endParaRPr lang="en-US" sz="1200" dirty="0"/>
          </a:p>
        </p:txBody>
      </p:sp>
      <p:sp>
        <p:nvSpPr>
          <p:cNvPr id="23" name="yoy-bg-4"/>
          <p:cNvSpPr/>
          <p:nvPr/>
        </p:nvSpPr>
        <p:spPr>
          <a:xfrm>
            <a:off x="7818120" y="4050792"/>
            <a:ext cx="382493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yoy-cat-4"/>
          <p:cNvSpPr txBox="1"/>
          <p:nvPr/>
        </p:nvSpPr>
        <p:spPr>
          <a:xfrm>
            <a:off x="8001000" y="40507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ご飯類</a:t>
            </a:r>
            <a:endParaRPr lang="en-US" sz="1300" dirty="0"/>
          </a:p>
        </p:txBody>
      </p:sp>
      <p:sp>
        <p:nvSpPr>
          <p:cNvPr id="25" name="yoy-val-4"/>
          <p:cNvSpPr txBox="1"/>
          <p:nvPr/>
        </p:nvSpPr>
        <p:spPr>
          <a:xfrm>
            <a:off x="9509760" y="4050792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89.4%</a:t>
            </a:r>
            <a:endParaRPr lang="en-US" sz="1500" dirty="0"/>
          </a:p>
        </p:txBody>
      </p:sp>
      <p:sp>
        <p:nvSpPr>
          <p:cNvPr id="26" name="yoy-diff-4"/>
          <p:cNvSpPr txBox="1"/>
          <p:nvPr/>
        </p:nvSpPr>
        <p:spPr>
          <a:xfrm>
            <a:off x="10561320" y="4050792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▲204</a:t>
            </a:r>
            <a:endParaRPr lang="en-US" sz="1200" dirty="0"/>
          </a:p>
        </p:txBody>
      </p:sp>
      <p:sp>
        <p:nvSpPr>
          <p:cNvPr id="27" name="yoy-bg-5"/>
          <p:cNvSpPr/>
          <p:nvPr/>
        </p:nvSpPr>
        <p:spPr>
          <a:xfrm>
            <a:off x="7818120" y="4617720"/>
            <a:ext cx="3824935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yoy-cat-5"/>
          <p:cNvSpPr txBox="1"/>
          <p:nvPr/>
        </p:nvSpPr>
        <p:spPr>
          <a:xfrm>
            <a:off x="8001000" y="46177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アルコール</a:t>
            </a:r>
            <a:endParaRPr lang="en-US" sz="1300" dirty="0"/>
          </a:p>
        </p:txBody>
      </p:sp>
      <p:sp>
        <p:nvSpPr>
          <p:cNvPr id="29" name="yoy-val-5"/>
          <p:cNvSpPr txBox="1"/>
          <p:nvPr/>
        </p:nvSpPr>
        <p:spPr>
          <a:xfrm>
            <a:off x="9509760" y="461772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82.7%</a:t>
            </a:r>
            <a:endParaRPr lang="en-US" sz="1500" dirty="0"/>
          </a:p>
        </p:txBody>
      </p:sp>
      <p:sp>
        <p:nvSpPr>
          <p:cNvPr id="30" name="yoy-diff-5"/>
          <p:cNvSpPr txBox="1"/>
          <p:nvPr/>
        </p:nvSpPr>
        <p:spPr>
          <a:xfrm>
            <a:off x="10561320" y="4617720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▲155</a:t>
            </a:r>
            <a:endParaRPr lang="en-US" sz="1200" dirty="0"/>
          </a:p>
        </p:txBody>
      </p:sp>
      <p:sp>
        <p:nvSpPr>
          <p:cNvPr id="31" name="yoy-note"/>
          <p:cNvSpPr txBox="1"/>
          <p:nvPr/>
        </p:nvSpPr>
        <p:spPr>
          <a:xfrm>
            <a:off x="7818120" y="5257800"/>
            <a:ext cx="3824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ご飯類の減少は近江牛サウナカリー（▲174千円）とロースカツカレー（▲82千円）が主因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営業数値一覧</a:t>
            </a:r>
            <a:endParaRPr lang="en-US" sz="3000" dirty="0"/>
          </a:p>
        </p:txBody>
      </p:sp>
      <p:graphicFrame>
        <p:nvGraphicFramePr>
          <p:cNvPr id="6" name="kpi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34440"/>
                <a:gridCol w="1234440"/>
                <a:gridCol w="1280160"/>
                <a:gridCol w="1234440"/>
                <a:gridCol w="1234440"/>
                <a:gridCol w="1310335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予算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実績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前年実績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予算比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前年比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前年差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入館者数（人）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25,680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24,895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25,542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96.9%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97.5%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▲647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飲食売上高（千円）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8,618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8,619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10,442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</a:rPr>
                        <a:t>82.5%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▲1,823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コラボ抜き飲食売上高（千円）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4,899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5,031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97.4%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▲132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コラボ飲食売上高（千円）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3,720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5,411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</a:rPr>
                        <a:t>68.7%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▲1,691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飲食客数（人）※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15,851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16,084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98.6%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▲233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飲食客単価（円）※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103.2%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</a:rPr>
                        <a:t>84.7%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▲63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販売点数（点）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9,466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21,384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</a:rPr>
                        <a:t>44.3%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▲11,918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able-note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※ 飲食客数15,851人が販売点数9,466点を上回っており、集計方法に確認が必要なため飲食客数・客単価は参考値扱い。販売点数も前年はセレクト等の計上方法が異なる可能性あり。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コスト：FLコスト75.6%と大幅に悪化</a:t>
            </a:r>
            <a:endParaRPr lang="en-US" sz="3000" dirty="0"/>
          </a:p>
        </p:txBody>
      </p:sp>
      <p:sp>
        <p:nvSpPr>
          <p:cNvPr id="3" name="cost-card-0"/>
          <p:cNvSpPr/>
          <p:nvPr/>
        </p:nvSpPr>
        <p:spPr>
          <a:xfrm>
            <a:off x="548640" y="132588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4" name="cost-label-0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原価率（Fコスト）</a:t>
            </a:r>
            <a:endParaRPr lang="en-US" sz="1400" dirty="0"/>
          </a:p>
        </p:txBody>
      </p:sp>
      <p:sp>
        <p:nvSpPr>
          <p:cNvPr id="5" name="cost-val-0"/>
          <p:cNvSpPr txBox="1"/>
          <p:nvPr/>
        </p:nvSpPr>
        <p:spPr>
          <a:xfrm>
            <a:off x="822960" y="19202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42.6%</a:t>
            </a:r>
            <a:endParaRPr lang="en-US" sz="4400" dirty="0"/>
          </a:p>
        </p:txBody>
      </p:sp>
      <p:sp>
        <p:nvSpPr>
          <p:cNvPr id="6" name="cost-diff-0-bg"/>
          <p:cNvSpPr/>
          <p:nvPr/>
        </p:nvSpPr>
        <p:spPr>
          <a:xfrm>
            <a:off x="2148840" y="2770632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cost-diff-0"/>
          <p:cNvSpPr txBox="1"/>
          <p:nvPr/>
        </p:nvSpPr>
        <p:spPr>
          <a:xfrm>
            <a:off x="2148840" y="27706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+8.0pt</a:t>
            </a:r>
            <a:endParaRPr lang="en-US" sz="1200" dirty="0"/>
          </a:p>
        </p:txBody>
      </p:sp>
      <p:sp>
        <p:nvSpPr>
          <p:cNvPr id="8" name="cost-prev-0"/>
          <p:cNvSpPr txBox="1"/>
          <p:nvPr/>
        </p:nvSpPr>
        <p:spPr>
          <a:xfrm>
            <a:off x="822960" y="27889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前年 34.7%</a:t>
            </a:r>
            <a:endParaRPr lang="en-US" sz="1200" dirty="0"/>
          </a:p>
        </p:txBody>
      </p:sp>
      <p:sp>
        <p:nvSpPr>
          <p:cNvPr id="9" name="cost-sub-0"/>
          <p:cNvSpPr txBox="1"/>
          <p:nvPr/>
        </p:nvSpPr>
        <p:spPr>
          <a:xfrm>
            <a:off x="822960" y="3108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原価 3,675千円（前年比101.5%）／予算33.4%</a:t>
            </a:r>
            <a:endParaRPr lang="en-US" sz="1100" dirty="0"/>
          </a:p>
        </p:txBody>
      </p:sp>
      <p:sp>
        <p:nvSpPr>
          <p:cNvPr id="10" name="cost-card-1"/>
          <p:cNvSpPr/>
          <p:nvPr/>
        </p:nvSpPr>
        <p:spPr>
          <a:xfrm>
            <a:off x="4338218" y="132588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11" name="cost-label-1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人件費率（Lコスト）</a:t>
            </a:r>
            <a:endParaRPr lang="en-US" sz="1400" dirty="0"/>
          </a:p>
        </p:txBody>
      </p:sp>
      <p:sp>
        <p:nvSpPr>
          <p:cNvPr id="12" name="cost-val-1"/>
          <p:cNvSpPr txBox="1"/>
          <p:nvPr/>
        </p:nvSpPr>
        <p:spPr>
          <a:xfrm>
            <a:off x="4612538" y="19202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33.0%</a:t>
            </a:r>
            <a:endParaRPr lang="en-US" sz="4400" dirty="0"/>
          </a:p>
        </p:txBody>
      </p:sp>
      <p:sp>
        <p:nvSpPr>
          <p:cNvPr id="13" name="cost-diff-1-bg"/>
          <p:cNvSpPr/>
          <p:nvPr/>
        </p:nvSpPr>
        <p:spPr>
          <a:xfrm>
            <a:off x="5938418" y="2770632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cost-diff-1"/>
          <p:cNvSpPr txBox="1"/>
          <p:nvPr/>
        </p:nvSpPr>
        <p:spPr>
          <a:xfrm>
            <a:off x="5938418" y="27706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+9.6pt</a:t>
            </a:r>
            <a:endParaRPr lang="en-US" sz="1200" dirty="0"/>
          </a:p>
        </p:txBody>
      </p:sp>
      <p:sp>
        <p:nvSpPr>
          <p:cNvPr id="15" name="cost-prev-1"/>
          <p:cNvSpPr txBox="1"/>
          <p:nvPr/>
        </p:nvSpPr>
        <p:spPr>
          <a:xfrm>
            <a:off x="4612538" y="27889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前年 23.3%</a:t>
            </a:r>
            <a:endParaRPr lang="en-US" sz="1200" dirty="0"/>
          </a:p>
        </p:txBody>
      </p:sp>
      <p:sp>
        <p:nvSpPr>
          <p:cNvPr id="16" name="cost-sub-1"/>
          <p:cNvSpPr txBox="1"/>
          <p:nvPr/>
        </p:nvSpPr>
        <p:spPr>
          <a:xfrm>
            <a:off x="4612538" y="3108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人件費 2,844千円（前年比116.7%・+406千円）</a:t>
            </a:r>
            <a:endParaRPr lang="en-US" sz="1100" dirty="0"/>
          </a:p>
        </p:txBody>
      </p:sp>
      <p:sp>
        <p:nvSpPr>
          <p:cNvPr id="17" name="cost-card-2"/>
          <p:cNvSpPr/>
          <p:nvPr/>
        </p:nvSpPr>
        <p:spPr>
          <a:xfrm>
            <a:off x="8127797" y="132588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18" name="cost-label-2"/>
          <p:cNvSpPr txBox="1"/>
          <p:nvPr/>
        </p:nvSpPr>
        <p:spPr>
          <a:xfrm>
            <a:off x="8402117" y="15544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FLコスト</a:t>
            </a:r>
            <a:endParaRPr lang="en-US" sz="1400" dirty="0"/>
          </a:p>
        </p:txBody>
      </p:sp>
      <p:sp>
        <p:nvSpPr>
          <p:cNvPr id="19" name="cost-val-2"/>
          <p:cNvSpPr txBox="1"/>
          <p:nvPr/>
        </p:nvSpPr>
        <p:spPr>
          <a:xfrm>
            <a:off x="8402117" y="19202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75.6%</a:t>
            </a:r>
            <a:endParaRPr lang="en-US" sz="4400" dirty="0"/>
          </a:p>
        </p:txBody>
      </p:sp>
      <p:sp>
        <p:nvSpPr>
          <p:cNvPr id="20" name="cost-diff-2-bg"/>
          <p:cNvSpPr/>
          <p:nvPr/>
        </p:nvSpPr>
        <p:spPr>
          <a:xfrm>
            <a:off x="9727997" y="2770632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cost-diff-2"/>
          <p:cNvSpPr txBox="1"/>
          <p:nvPr/>
        </p:nvSpPr>
        <p:spPr>
          <a:xfrm>
            <a:off x="9727997" y="27706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+17.6pt</a:t>
            </a:r>
            <a:endParaRPr lang="en-US" sz="1200" dirty="0"/>
          </a:p>
        </p:txBody>
      </p:sp>
      <p:sp>
        <p:nvSpPr>
          <p:cNvPr id="22" name="cost-prev-2"/>
          <p:cNvSpPr txBox="1"/>
          <p:nvPr/>
        </p:nvSpPr>
        <p:spPr>
          <a:xfrm>
            <a:off x="8402117" y="27889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前年 58.0%</a:t>
            </a:r>
            <a:endParaRPr lang="en-US" sz="1200" dirty="0"/>
          </a:p>
        </p:txBody>
      </p:sp>
      <p:sp>
        <p:nvSpPr>
          <p:cNvPr id="23" name="cost-sub-2"/>
          <p:cNvSpPr txBox="1"/>
          <p:nvPr/>
        </p:nvSpPr>
        <p:spPr>
          <a:xfrm>
            <a:off x="8402117" y="31089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売上減に対し原価・人件費が下がらず</a:t>
            </a:r>
            <a:endParaRPr lang="en-US" sz="1100" dirty="0"/>
          </a:p>
        </p:txBody>
      </p:sp>
      <p:sp>
        <p:nvSpPr>
          <p:cNvPr id="24" name="reason-bg-0"/>
          <p:cNvSpPr/>
          <p:nvPr/>
        </p:nvSpPr>
        <p:spPr>
          <a:xfrm>
            <a:off x="548640" y="4023360"/>
            <a:ext cx="11094415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reason-pill-0-bg"/>
          <p:cNvSpPr/>
          <p:nvPr/>
        </p:nvSpPr>
        <p:spPr>
          <a:xfrm>
            <a:off x="822960" y="4279392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reason-pill-0"/>
          <p:cNvSpPr txBox="1"/>
          <p:nvPr/>
        </p:nvSpPr>
        <p:spPr>
          <a:xfrm>
            <a:off x="822960" y="42793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原価</a:t>
            </a:r>
            <a:endParaRPr lang="en-US" sz="1200" dirty="0"/>
          </a:p>
        </p:txBody>
      </p:sp>
      <p:sp>
        <p:nvSpPr>
          <p:cNvPr id="27" name="reason-text-0"/>
          <p:cNvSpPr txBox="1"/>
          <p:nvPr/>
        </p:nvSpPr>
        <p:spPr>
          <a:xfrm>
            <a:off x="2057400" y="4023360"/>
            <a:ext cx="9357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コラボ売上減（68.7%）に仕入量が追随せず。日本食研 +170千円・ブライス +137千円の仕入増が影響。</a:t>
            </a:r>
            <a:endParaRPr lang="en-US" sz="1400" dirty="0"/>
          </a:p>
        </p:txBody>
      </p:sp>
      <p:sp>
        <p:nvSpPr>
          <p:cNvPr id="28" name="reason-bg-1"/>
          <p:cNvSpPr/>
          <p:nvPr/>
        </p:nvSpPr>
        <p:spPr>
          <a:xfrm>
            <a:off x="548640" y="5029200"/>
            <a:ext cx="11094415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reason-pill-1-bg"/>
          <p:cNvSpPr/>
          <p:nvPr/>
        </p:nvSpPr>
        <p:spPr>
          <a:xfrm>
            <a:off x="822960" y="5285232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reason-pill-1"/>
          <p:cNvSpPr txBox="1"/>
          <p:nvPr/>
        </p:nvSpPr>
        <p:spPr>
          <a:xfrm>
            <a:off x="822960" y="52852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人件費</a:t>
            </a:r>
            <a:endParaRPr lang="en-US" sz="1200" dirty="0"/>
          </a:p>
        </p:txBody>
      </p:sp>
      <p:sp>
        <p:nvSpPr>
          <p:cNvPr id="31" name="reason-text-1"/>
          <p:cNvSpPr txBox="1"/>
          <p:nvPr/>
        </p:nvSpPr>
        <p:spPr>
          <a:xfrm>
            <a:off x="2057400" y="5029200"/>
            <a:ext cx="93570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モバイルオーダーのシステム変更に伴い人員を多く配置したため上振れ。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ホール：ドリンク・デザート売れ筋TOP5</a:t>
            </a:r>
            <a:endParaRPr lang="en-US" sz="3000" dirty="0"/>
          </a:p>
        </p:txBody>
      </p:sp>
      <p:sp>
        <p:nvSpPr>
          <p:cNvPr id="3" name="rank-card-0"/>
          <p:cNvSpPr/>
          <p:nvPr/>
        </p:nvSpPr>
        <p:spPr>
          <a:xfrm>
            <a:off x="548640" y="1325880"/>
            <a:ext cx="3515258" cy="480060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4" name="rank-cat-0"/>
          <p:cNvSpPr txBox="1"/>
          <p:nvPr/>
        </p:nvSpPr>
        <p:spPr>
          <a:xfrm>
            <a:off x="822960" y="15270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アルコール</a:t>
            </a:r>
            <a:endParaRPr lang="en-US" sz="1800" dirty="0"/>
          </a:p>
        </p:txBody>
      </p:sp>
      <p:sp>
        <p:nvSpPr>
          <p:cNvPr id="5" name="rank-total-0"/>
          <p:cNvSpPr txBox="1"/>
          <p:nvPr/>
        </p:nvSpPr>
        <p:spPr>
          <a:xfrm>
            <a:off x="822960" y="19202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742千円　</a:t>
            </a:r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前年比 82.7%</a:t>
            </a:r>
            <a:endParaRPr lang="en-US" sz="1300" dirty="0"/>
          </a:p>
        </p:txBody>
      </p:sp>
      <p:sp>
        <p:nvSpPr>
          <p:cNvPr id="6" name="rank-no-bg-0-0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ank-no-0-0"/>
          <p:cNvSpPr txBox="1"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rank-name-0-0"/>
          <p:cNvSpPr txBox="1"/>
          <p:nvPr/>
        </p:nvSpPr>
        <p:spPr>
          <a:xfrm>
            <a:off x="1325880" y="2423160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マルエフ</a:t>
            </a:r>
            <a:endParaRPr lang="en-US" sz="1300" dirty="0"/>
          </a:p>
        </p:txBody>
      </p:sp>
      <p:sp>
        <p:nvSpPr>
          <p:cNvPr id="9" name="rank-sub-0-0"/>
          <p:cNvSpPr txBox="1"/>
          <p:nvPr/>
        </p:nvSpPr>
        <p:spPr>
          <a:xfrm>
            <a:off x="1325880" y="2734056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115,879円　149個</a:t>
            </a:r>
            <a:endParaRPr lang="en-US" sz="1100" dirty="0"/>
          </a:p>
        </p:txBody>
      </p:sp>
      <p:sp>
        <p:nvSpPr>
          <p:cNvPr id="10" name="rank-no-bg-0-1"/>
          <p:cNvSpPr/>
          <p:nvPr/>
        </p:nvSpPr>
        <p:spPr>
          <a:xfrm>
            <a:off x="822960" y="322783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ank-no-0-1"/>
          <p:cNvSpPr txBox="1"/>
          <p:nvPr/>
        </p:nvSpPr>
        <p:spPr>
          <a:xfrm>
            <a:off x="82296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rank-name-0-1"/>
          <p:cNvSpPr txBox="1"/>
          <p:nvPr/>
        </p:nvSpPr>
        <p:spPr>
          <a:xfrm>
            <a:off x="1325880" y="3136392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タパス付 1010JUGビール</a:t>
            </a:r>
            <a:endParaRPr lang="en-US" sz="1300" dirty="0"/>
          </a:p>
        </p:txBody>
      </p:sp>
      <p:sp>
        <p:nvSpPr>
          <p:cNvPr id="13" name="rank-sub-0-1"/>
          <p:cNvSpPr txBox="1"/>
          <p:nvPr/>
        </p:nvSpPr>
        <p:spPr>
          <a:xfrm>
            <a:off x="1325880" y="3447288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63,621円　63個</a:t>
            </a:r>
            <a:endParaRPr lang="en-US" sz="1100" dirty="0"/>
          </a:p>
        </p:txBody>
      </p:sp>
      <p:sp>
        <p:nvSpPr>
          <p:cNvPr id="14" name="rank-no-bg-0-2"/>
          <p:cNvSpPr/>
          <p:nvPr/>
        </p:nvSpPr>
        <p:spPr>
          <a:xfrm>
            <a:off x="822960" y="39410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rank-no-0-2"/>
          <p:cNvSpPr txBox="1"/>
          <p:nvPr/>
        </p:nvSpPr>
        <p:spPr>
          <a:xfrm>
            <a:off x="8229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rank-name-0-2"/>
          <p:cNvSpPr txBox="1"/>
          <p:nvPr/>
        </p:nvSpPr>
        <p:spPr>
          <a:xfrm>
            <a:off x="1325880" y="3849624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熟選</a:t>
            </a:r>
            <a:endParaRPr lang="en-US" sz="1300" dirty="0"/>
          </a:p>
        </p:txBody>
      </p:sp>
      <p:sp>
        <p:nvSpPr>
          <p:cNvPr id="17" name="rank-sub-0-2"/>
          <p:cNvSpPr txBox="1"/>
          <p:nvPr/>
        </p:nvSpPr>
        <p:spPr>
          <a:xfrm>
            <a:off x="1325880" y="4160520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60,646円　78個</a:t>
            </a:r>
            <a:endParaRPr lang="en-US" sz="1100" dirty="0"/>
          </a:p>
        </p:txBody>
      </p:sp>
      <p:sp>
        <p:nvSpPr>
          <p:cNvPr id="18" name="rank-no-bg-0-3"/>
          <p:cNvSpPr/>
          <p:nvPr/>
        </p:nvSpPr>
        <p:spPr>
          <a:xfrm>
            <a:off x="822960" y="465429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ank-no-0-3"/>
          <p:cNvSpPr txBox="1"/>
          <p:nvPr/>
        </p:nvSpPr>
        <p:spPr>
          <a:xfrm>
            <a:off x="82296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rank-name-0-3"/>
          <p:cNvSpPr txBox="1"/>
          <p:nvPr/>
        </p:nvSpPr>
        <p:spPr>
          <a:xfrm>
            <a:off x="1325880" y="4562856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黒生</a:t>
            </a:r>
            <a:endParaRPr lang="en-US" sz="1300" dirty="0"/>
          </a:p>
        </p:txBody>
      </p:sp>
      <p:sp>
        <p:nvSpPr>
          <p:cNvPr id="21" name="rank-sub-0-3"/>
          <p:cNvSpPr txBox="1"/>
          <p:nvPr/>
        </p:nvSpPr>
        <p:spPr>
          <a:xfrm>
            <a:off x="1325880" y="4873752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45,107円　58個</a:t>
            </a:r>
            <a:endParaRPr lang="en-US" sz="1100" dirty="0"/>
          </a:p>
        </p:txBody>
      </p:sp>
      <p:sp>
        <p:nvSpPr>
          <p:cNvPr id="22" name="rank-no-bg-0-4"/>
          <p:cNvSpPr/>
          <p:nvPr/>
        </p:nvSpPr>
        <p:spPr>
          <a:xfrm>
            <a:off x="822960" y="536752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rank-no-0-4"/>
          <p:cNvSpPr txBox="1"/>
          <p:nvPr/>
        </p:nvSpPr>
        <p:spPr>
          <a:xfrm>
            <a:off x="82296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rank-name-0-4"/>
          <p:cNvSpPr txBox="1"/>
          <p:nvPr/>
        </p:nvSpPr>
        <p:spPr>
          <a:xfrm>
            <a:off x="1325880" y="527608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ハイボールレギュラー</a:t>
            </a:r>
            <a:endParaRPr lang="en-US" sz="1300" dirty="0"/>
          </a:p>
        </p:txBody>
      </p:sp>
      <p:sp>
        <p:nvSpPr>
          <p:cNvPr id="25" name="rank-sub-0-4"/>
          <p:cNvSpPr txBox="1"/>
          <p:nvPr/>
        </p:nvSpPr>
        <p:spPr>
          <a:xfrm>
            <a:off x="1325880" y="5586984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42,837円　63個</a:t>
            </a:r>
            <a:endParaRPr lang="en-US" sz="1100" dirty="0"/>
          </a:p>
        </p:txBody>
      </p:sp>
      <p:sp>
        <p:nvSpPr>
          <p:cNvPr id="26" name="rank-card-1"/>
          <p:cNvSpPr/>
          <p:nvPr/>
        </p:nvSpPr>
        <p:spPr>
          <a:xfrm>
            <a:off x="4338218" y="1325880"/>
            <a:ext cx="3515258" cy="480060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27" name="rank-cat-1"/>
          <p:cNvSpPr txBox="1"/>
          <p:nvPr/>
        </p:nvSpPr>
        <p:spPr>
          <a:xfrm>
            <a:off x="4612538" y="15270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ソフトドリンク</a:t>
            </a:r>
            <a:endParaRPr lang="en-US" sz="1800" dirty="0"/>
          </a:p>
        </p:txBody>
      </p:sp>
      <p:sp>
        <p:nvSpPr>
          <p:cNvPr id="28" name="rank-total-1"/>
          <p:cNvSpPr txBox="1"/>
          <p:nvPr/>
        </p:nvSpPr>
        <p:spPr>
          <a:xfrm>
            <a:off x="4612538" y="19202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527千円　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前年比 102.6%</a:t>
            </a:r>
            <a:endParaRPr lang="en-US" sz="1300" dirty="0"/>
          </a:p>
        </p:txBody>
      </p:sp>
      <p:sp>
        <p:nvSpPr>
          <p:cNvPr id="29" name="rank-no-bg-1-0"/>
          <p:cNvSpPr/>
          <p:nvPr/>
        </p:nvSpPr>
        <p:spPr>
          <a:xfrm>
            <a:off x="4612538" y="2514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rank-no-1-0"/>
          <p:cNvSpPr txBox="1"/>
          <p:nvPr/>
        </p:nvSpPr>
        <p:spPr>
          <a:xfrm>
            <a:off x="461253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rank-name-1-0"/>
          <p:cNvSpPr txBox="1"/>
          <p:nvPr/>
        </p:nvSpPr>
        <p:spPr>
          <a:xfrm>
            <a:off x="5115458" y="2423160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リポスパ</a:t>
            </a:r>
            <a:endParaRPr lang="en-US" sz="1300" dirty="0"/>
          </a:p>
        </p:txBody>
      </p:sp>
      <p:sp>
        <p:nvSpPr>
          <p:cNvPr id="32" name="rank-sub-1-0"/>
          <p:cNvSpPr txBox="1"/>
          <p:nvPr/>
        </p:nvSpPr>
        <p:spPr>
          <a:xfrm>
            <a:off x="5115458" y="2734056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253,367円　648個</a:t>
            </a:r>
            <a:endParaRPr lang="en-US" sz="1100" dirty="0"/>
          </a:p>
        </p:txBody>
      </p:sp>
      <p:sp>
        <p:nvSpPr>
          <p:cNvPr id="33" name="rank-no-bg-1-1"/>
          <p:cNvSpPr/>
          <p:nvPr/>
        </p:nvSpPr>
        <p:spPr>
          <a:xfrm>
            <a:off x="4612538" y="322783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rank-no-1-1"/>
          <p:cNvSpPr txBox="1"/>
          <p:nvPr/>
        </p:nvSpPr>
        <p:spPr>
          <a:xfrm>
            <a:off x="4612538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rank-name-1-1"/>
          <p:cNvSpPr txBox="1"/>
          <p:nvPr/>
        </p:nvSpPr>
        <p:spPr>
          <a:xfrm>
            <a:off x="5115458" y="3136392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リポスパコーラ</a:t>
            </a:r>
            <a:endParaRPr lang="en-US" sz="1300" dirty="0"/>
          </a:p>
        </p:txBody>
      </p:sp>
      <p:sp>
        <p:nvSpPr>
          <p:cNvPr id="36" name="rank-sub-1-1"/>
          <p:cNvSpPr txBox="1"/>
          <p:nvPr/>
        </p:nvSpPr>
        <p:spPr>
          <a:xfrm>
            <a:off x="5115458" y="3447288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55,054円　121個</a:t>
            </a:r>
            <a:endParaRPr lang="en-US" sz="1100" dirty="0"/>
          </a:p>
        </p:txBody>
      </p:sp>
      <p:sp>
        <p:nvSpPr>
          <p:cNvPr id="37" name="rank-no-bg-1-2"/>
          <p:cNvSpPr/>
          <p:nvPr/>
        </p:nvSpPr>
        <p:spPr>
          <a:xfrm>
            <a:off x="4612538" y="39410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rank-no-1-2"/>
          <p:cNvSpPr txBox="1"/>
          <p:nvPr/>
        </p:nvSpPr>
        <p:spPr>
          <a:xfrm>
            <a:off x="4612538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rank-name-1-2"/>
          <p:cNvSpPr txBox="1"/>
          <p:nvPr/>
        </p:nvSpPr>
        <p:spPr>
          <a:xfrm>
            <a:off x="5115458" y="3849624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メロンソーダフロート</a:t>
            </a:r>
            <a:endParaRPr lang="en-US" sz="1300" dirty="0"/>
          </a:p>
        </p:txBody>
      </p:sp>
      <p:sp>
        <p:nvSpPr>
          <p:cNvPr id="40" name="rank-sub-1-2"/>
          <p:cNvSpPr txBox="1"/>
          <p:nvPr/>
        </p:nvSpPr>
        <p:spPr>
          <a:xfrm>
            <a:off x="5115458" y="4160520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31,680円　66個</a:t>
            </a:r>
            <a:endParaRPr lang="en-US" sz="1100" dirty="0"/>
          </a:p>
        </p:txBody>
      </p:sp>
      <p:sp>
        <p:nvSpPr>
          <p:cNvPr id="41" name="rank-no-bg-1-3"/>
          <p:cNvSpPr/>
          <p:nvPr/>
        </p:nvSpPr>
        <p:spPr>
          <a:xfrm>
            <a:off x="4612538" y="465429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rank-no-1-3"/>
          <p:cNvSpPr txBox="1"/>
          <p:nvPr/>
        </p:nvSpPr>
        <p:spPr>
          <a:xfrm>
            <a:off x="4612538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rank-name-1-3"/>
          <p:cNvSpPr txBox="1"/>
          <p:nvPr/>
        </p:nvSpPr>
        <p:spPr>
          <a:xfrm>
            <a:off x="5115458" y="4562856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コーラフロート</a:t>
            </a:r>
            <a:endParaRPr lang="en-US" sz="1300" dirty="0"/>
          </a:p>
        </p:txBody>
      </p:sp>
      <p:sp>
        <p:nvSpPr>
          <p:cNvPr id="44" name="rank-sub-1-3"/>
          <p:cNvSpPr txBox="1"/>
          <p:nvPr/>
        </p:nvSpPr>
        <p:spPr>
          <a:xfrm>
            <a:off x="5115458" y="4873752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18,240円　38個</a:t>
            </a:r>
            <a:endParaRPr lang="en-US" sz="1100" dirty="0"/>
          </a:p>
        </p:txBody>
      </p:sp>
      <p:sp>
        <p:nvSpPr>
          <p:cNvPr id="45" name="rank-no-bg-1-4"/>
          <p:cNvSpPr/>
          <p:nvPr/>
        </p:nvSpPr>
        <p:spPr>
          <a:xfrm>
            <a:off x="4612538" y="536752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rank-no-1-4"/>
          <p:cNvSpPr txBox="1"/>
          <p:nvPr/>
        </p:nvSpPr>
        <p:spPr>
          <a:xfrm>
            <a:off x="4612538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rank-name-1-4"/>
          <p:cNvSpPr txBox="1"/>
          <p:nvPr/>
        </p:nvSpPr>
        <p:spPr>
          <a:xfrm>
            <a:off x="5115458" y="527608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黒ウーロン茶</a:t>
            </a:r>
            <a:endParaRPr lang="en-US" sz="1300" dirty="0"/>
          </a:p>
        </p:txBody>
      </p:sp>
      <p:sp>
        <p:nvSpPr>
          <p:cNvPr id="48" name="rank-sub-1-4"/>
          <p:cNvSpPr txBox="1"/>
          <p:nvPr/>
        </p:nvSpPr>
        <p:spPr>
          <a:xfrm>
            <a:off x="5115458" y="5586984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17,880円　69個</a:t>
            </a:r>
            <a:endParaRPr lang="en-US" sz="1100" dirty="0"/>
          </a:p>
        </p:txBody>
      </p:sp>
      <p:sp>
        <p:nvSpPr>
          <p:cNvPr id="49" name="rank-card-2"/>
          <p:cNvSpPr/>
          <p:nvPr/>
        </p:nvSpPr>
        <p:spPr>
          <a:xfrm>
            <a:off x="8127797" y="1325880"/>
            <a:ext cx="3515258" cy="480060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50" name="rank-cat-2"/>
          <p:cNvSpPr txBox="1"/>
          <p:nvPr/>
        </p:nvSpPr>
        <p:spPr>
          <a:xfrm>
            <a:off x="8402117" y="15270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デザート</a:t>
            </a:r>
            <a:endParaRPr lang="en-US" sz="1800" dirty="0"/>
          </a:p>
        </p:txBody>
      </p:sp>
      <p:sp>
        <p:nvSpPr>
          <p:cNvPr id="51" name="rank-total-2"/>
          <p:cNvSpPr txBox="1"/>
          <p:nvPr/>
        </p:nvSpPr>
        <p:spPr>
          <a:xfrm>
            <a:off x="8402117" y="19202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209千円　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前年比 127.9%</a:t>
            </a:r>
            <a:endParaRPr lang="en-US" sz="1300" dirty="0"/>
          </a:p>
        </p:txBody>
      </p:sp>
      <p:sp>
        <p:nvSpPr>
          <p:cNvPr id="52" name="rank-no-bg-2-0"/>
          <p:cNvSpPr/>
          <p:nvPr/>
        </p:nvSpPr>
        <p:spPr>
          <a:xfrm>
            <a:off x="8402117" y="2514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rank-no-2-0"/>
          <p:cNvSpPr txBox="1"/>
          <p:nvPr/>
        </p:nvSpPr>
        <p:spPr>
          <a:xfrm>
            <a:off x="8402117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4" name="rank-name-2-0"/>
          <p:cNvSpPr txBox="1"/>
          <p:nvPr/>
        </p:nvSpPr>
        <p:spPr>
          <a:xfrm>
            <a:off x="8905037" y="2423160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ソフトクリーム</a:t>
            </a:r>
            <a:endParaRPr lang="en-US" sz="1300" dirty="0"/>
          </a:p>
        </p:txBody>
      </p:sp>
      <p:sp>
        <p:nvSpPr>
          <p:cNvPr id="55" name="rank-sub-2-0"/>
          <p:cNvSpPr txBox="1"/>
          <p:nvPr/>
        </p:nvSpPr>
        <p:spPr>
          <a:xfrm>
            <a:off x="8905037" y="2734056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58,050円　135個</a:t>
            </a:r>
            <a:endParaRPr lang="en-US" sz="1100" dirty="0"/>
          </a:p>
        </p:txBody>
      </p:sp>
      <p:sp>
        <p:nvSpPr>
          <p:cNvPr id="56" name="rank-no-bg-2-1"/>
          <p:cNvSpPr/>
          <p:nvPr/>
        </p:nvSpPr>
        <p:spPr>
          <a:xfrm>
            <a:off x="8402117" y="322783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7" name="rank-no-2-1"/>
          <p:cNvSpPr txBox="1"/>
          <p:nvPr/>
        </p:nvSpPr>
        <p:spPr>
          <a:xfrm>
            <a:off x="8402117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58" name="rank-name-2-1"/>
          <p:cNvSpPr txBox="1"/>
          <p:nvPr/>
        </p:nvSpPr>
        <p:spPr>
          <a:xfrm>
            <a:off x="8905037" y="3136392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チョコバナナパフェ</a:t>
            </a:r>
            <a:endParaRPr lang="en-US" sz="1300" dirty="0"/>
          </a:p>
        </p:txBody>
      </p:sp>
      <p:sp>
        <p:nvSpPr>
          <p:cNvPr id="59" name="rank-sub-2-1"/>
          <p:cNvSpPr txBox="1"/>
          <p:nvPr/>
        </p:nvSpPr>
        <p:spPr>
          <a:xfrm>
            <a:off x="8905037" y="3447288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23,639円　45個</a:t>
            </a:r>
            <a:endParaRPr lang="en-US" sz="1100" dirty="0"/>
          </a:p>
        </p:txBody>
      </p:sp>
      <p:sp>
        <p:nvSpPr>
          <p:cNvPr id="60" name="rank-no-bg-2-2"/>
          <p:cNvSpPr/>
          <p:nvPr/>
        </p:nvSpPr>
        <p:spPr>
          <a:xfrm>
            <a:off x="8402117" y="39410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1" name="rank-no-2-2"/>
          <p:cNvSpPr txBox="1"/>
          <p:nvPr/>
        </p:nvSpPr>
        <p:spPr>
          <a:xfrm>
            <a:off x="8402117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62" name="rank-name-2-2"/>
          <p:cNvSpPr txBox="1"/>
          <p:nvPr/>
        </p:nvSpPr>
        <p:spPr>
          <a:xfrm>
            <a:off x="8905037" y="3849624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白玉黒蜜きなこパフェ</a:t>
            </a:r>
            <a:endParaRPr lang="en-US" sz="1300" dirty="0"/>
          </a:p>
        </p:txBody>
      </p:sp>
      <p:sp>
        <p:nvSpPr>
          <p:cNvPr id="63" name="rank-sub-2-2"/>
          <p:cNvSpPr txBox="1"/>
          <p:nvPr/>
        </p:nvSpPr>
        <p:spPr>
          <a:xfrm>
            <a:off x="8905037" y="4160520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22,790円　43個</a:t>
            </a:r>
            <a:endParaRPr lang="en-US" sz="1100" dirty="0"/>
          </a:p>
        </p:txBody>
      </p:sp>
      <p:sp>
        <p:nvSpPr>
          <p:cNvPr id="64" name="rank-no-bg-2-3"/>
          <p:cNvSpPr/>
          <p:nvPr/>
        </p:nvSpPr>
        <p:spPr>
          <a:xfrm>
            <a:off x="8402117" y="465429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5" name="rank-no-2-3"/>
          <p:cNvSpPr txBox="1"/>
          <p:nvPr/>
        </p:nvSpPr>
        <p:spPr>
          <a:xfrm>
            <a:off x="8402117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66" name="rank-name-2-3"/>
          <p:cNvSpPr txBox="1"/>
          <p:nvPr/>
        </p:nvSpPr>
        <p:spPr>
          <a:xfrm>
            <a:off x="8905037" y="4562856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白玉抹茶パフェ</a:t>
            </a:r>
            <a:endParaRPr lang="en-US" sz="1300" dirty="0"/>
          </a:p>
        </p:txBody>
      </p:sp>
      <p:sp>
        <p:nvSpPr>
          <p:cNvPr id="67" name="rank-sub-2-3"/>
          <p:cNvSpPr txBox="1"/>
          <p:nvPr/>
        </p:nvSpPr>
        <p:spPr>
          <a:xfrm>
            <a:off x="8905037" y="4873752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20,140円　38個</a:t>
            </a:r>
            <a:endParaRPr lang="en-US" sz="1100" dirty="0"/>
          </a:p>
        </p:txBody>
      </p:sp>
      <p:sp>
        <p:nvSpPr>
          <p:cNvPr id="68" name="rank-no-bg-2-4"/>
          <p:cNvSpPr/>
          <p:nvPr/>
        </p:nvSpPr>
        <p:spPr>
          <a:xfrm>
            <a:off x="8402117" y="536752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9" name="rank-no-2-4"/>
          <p:cNvSpPr txBox="1"/>
          <p:nvPr/>
        </p:nvSpPr>
        <p:spPr>
          <a:xfrm>
            <a:off x="8402117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70" name="rank-name-2-4"/>
          <p:cNvSpPr txBox="1"/>
          <p:nvPr/>
        </p:nvSpPr>
        <p:spPr>
          <a:xfrm>
            <a:off x="8905037" y="527608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Todaysデザート</a:t>
            </a:r>
            <a:endParaRPr lang="en-US" sz="1300" dirty="0"/>
          </a:p>
        </p:txBody>
      </p:sp>
      <p:sp>
        <p:nvSpPr>
          <p:cNvPr id="71" name="rank-sub-2-4"/>
          <p:cNvSpPr txBox="1"/>
          <p:nvPr/>
        </p:nvSpPr>
        <p:spPr>
          <a:xfrm>
            <a:off x="8905037" y="5586984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17,000円　34個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キッチン：フード売れ筋TOP5</a:t>
            </a:r>
            <a:endParaRPr lang="en-US" sz="3000" dirty="0"/>
          </a:p>
        </p:txBody>
      </p:sp>
      <p:sp>
        <p:nvSpPr>
          <p:cNvPr id="3" name="rank-card-0"/>
          <p:cNvSpPr/>
          <p:nvPr/>
        </p:nvSpPr>
        <p:spPr>
          <a:xfrm>
            <a:off x="548640" y="1325880"/>
            <a:ext cx="3515258" cy="480060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4" name="rank-cat-0"/>
          <p:cNvSpPr txBox="1"/>
          <p:nvPr/>
        </p:nvSpPr>
        <p:spPr>
          <a:xfrm>
            <a:off x="822960" y="15270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麺類</a:t>
            </a:r>
            <a:endParaRPr lang="en-US" sz="1800" dirty="0"/>
          </a:p>
        </p:txBody>
      </p:sp>
      <p:sp>
        <p:nvSpPr>
          <p:cNvPr id="5" name="rank-total-0"/>
          <p:cNvSpPr txBox="1"/>
          <p:nvPr/>
        </p:nvSpPr>
        <p:spPr>
          <a:xfrm>
            <a:off x="822960" y="19202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901千円　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前年比 126.7%</a:t>
            </a:r>
            <a:endParaRPr lang="en-US" sz="1300" dirty="0"/>
          </a:p>
        </p:txBody>
      </p:sp>
      <p:sp>
        <p:nvSpPr>
          <p:cNvPr id="6" name="rank-no-bg-0-0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ank-no-0-0"/>
          <p:cNvSpPr txBox="1"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rank-name-0-0"/>
          <p:cNvSpPr txBox="1"/>
          <p:nvPr/>
        </p:nvSpPr>
        <p:spPr>
          <a:xfrm>
            <a:off x="1325880" y="2423160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釜玉チーズカレーうどん</a:t>
            </a:r>
            <a:endParaRPr lang="en-US" sz="1300" dirty="0"/>
          </a:p>
        </p:txBody>
      </p:sp>
      <p:sp>
        <p:nvSpPr>
          <p:cNvPr id="9" name="rank-sub-0-0"/>
          <p:cNvSpPr txBox="1"/>
          <p:nvPr/>
        </p:nvSpPr>
        <p:spPr>
          <a:xfrm>
            <a:off x="1325880" y="2734056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242,005円　247個</a:t>
            </a:r>
            <a:endParaRPr lang="en-US" sz="1100" dirty="0"/>
          </a:p>
        </p:txBody>
      </p:sp>
      <p:sp>
        <p:nvSpPr>
          <p:cNvPr id="10" name="rank-no-bg-0-1"/>
          <p:cNvSpPr/>
          <p:nvPr/>
        </p:nvSpPr>
        <p:spPr>
          <a:xfrm>
            <a:off x="822960" y="322783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ank-no-0-1"/>
          <p:cNvSpPr txBox="1"/>
          <p:nvPr/>
        </p:nvSpPr>
        <p:spPr>
          <a:xfrm>
            <a:off x="82296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rank-name-0-1"/>
          <p:cNvSpPr txBox="1"/>
          <p:nvPr/>
        </p:nvSpPr>
        <p:spPr>
          <a:xfrm>
            <a:off x="1325880" y="3136392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濃厚カルボナーラパスタ</a:t>
            </a:r>
            <a:endParaRPr lang="en-US" sz="1300" dirty="0"/>
          </a:p>
        </p:txBody>
      </p:sp>
      <p:sp>
        <p:nvSpPr>
          <p:cNvPr id="13" name="rank-sub-0-1"/>
          <p:cNvSpPr txBox="1"/>
          <p:nvPr/>
        </p:nvSpPr>
        <p:spPr>
          <a:xfrm>
            <a:off x="1325880" y="3447288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84,452円　66個</a:t>
            </a:r>
            <a:endParaRPr lang="en-US" sz="1100" dirty="0"/>
          </a:p>
        </p:txBody>
      </p:sp>
      <p:sp>
        <p:nvSpPr>
          <p:cNvPr id="14" name="rank-no-bg-0-2"/>
          <p:cNvSpPr/>
          <p:nvPr/>
        </p:nvSpPr>
        <p:spPr>
          <a:xfrm>
            <a:off x="822960" y="39410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rank-no-0-2"/>
          <p:cNvSpPr txBox="1"/>
          <p:nvPr/>
        </p:nvSpPr>
        <p:spPr>
          <a:xfrm>
            <a:off x="8229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rank-name-0-2"/>
          <p:cNvSpPr txBox="1"/>
          <p:nvPr/>
        </p:nvSpPr>
        <p:spPr>
          <a:xfrm>
            <a:off x="1325880" y="3849624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神田家ラーメン ライスセット</a:t>
            </a:r>
            <a:endParaRPr lang="en-US" sz="1300" dirty="0"/>
          </a:p>
        </p:txBody>
      </p:sp>
      <p:sp>
        <p:nvSpPr>
          <p:cNvPr id="17" name="rank-sub-0-2"/>
          <p:cNvSpPr txBox="1"/>
          <p:nvPr/>
        </p:nvSpPr>
        <p:spPr>
          <a:xfrm>
            <a:off x="1325880" y="4160520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57,230円　53個</a:t>
            </a:r>
            <a:endParaRPr lang="en-US" sz="1100" dirty="0"/>
          </a:p>
        </p:txBody>
      </p:sp>
      <p:sp>
        <p:nvSpPr>
          <p:cNvPr id="18" name="rank-no-bg-0-3"/>
          <p:cNvSpPr/>
          <p:nvPr/>
        </p:nvSpPr>
        <p:spPr>
          <a:xfrm>
            <a:off x="822960" y="465429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ank-no-0-3"/>
          <p:cNvSpPr txBox="1"/>
          <p:nvPr/>
        </p:nvSpPr>
        <p:spPr>
          <a:xfrm>
            <a:off x="82296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rank-name-0-3"/>
          <p:cNvSpPr txBox="1"/>
          <p:nvPr/>
        </p:nvSpPr>
        <p:spPr>
          <a:xfrm>
            <a:off x="1325880" y="4562856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神田家ラーメン</a:t>
            </a:r>
            <a:endParaRPr lang="en-US" sz="1300" dirty="0"/>
          </a:p>
        </p:txBody>
      </p:sp>
      <p:sp>
        <p:nvSpPr>
          <p:cNvPr id="21" name="rank-sub-0-3"/>
          <p:cNvSpPr txBox="1"/>
          <p:nvPr/>
        </p:nvSpPr>
        <p:spPr>
          <a:xfrm>
            <a:off x="1325880" y="4873752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55,854円　57個</a:t>
            </a:r>
            <a:endParaRPr lang="en-US" sz="1100" dirty="0"/>
          </a:p>
        </p:txBody>
      </p:sp>
      <p:sp>
        <p:nvSpPr>
          <p:cNvPr id="22" name="rank-no-bg-0-4"/>
          <p:cNvSpPr/>
          <p:nvPr/>
        </p:nvSpPr>
        <p:spPr>
          <a:xfrm>
            <a:off x="822960" y="536752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rank-no-0-4"/>
          <p:cNvSpPr txBox="1"/>
          <p:nvPr/>
        </p:nvSpPr>
        <p:spPr>
          <a:xfrm>
            <a:off x="82296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rank-name-0-4"/>
          <p:cNvSpPr txBox="1"/>
          <p:nvPr/>
        </p:nvSpPr>
        <p:spPr>
          <a:xfrm>
            <a:off x="1325880" y="527608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肉うどん</a:t>
            </a:r>
            <a:endParaRPr lang="en-US" sz="1300" dirty="0"/>
          </a:p>
        </p:txBody>
      </p:sp>
      <p:sp>
        <p:nvSpPr>
          <p:cNvPr id="25" name="rank-sub-0-4"/>
          <p:cNvSpPr txBox="1"/>
          <p:nvPr/>
        </p:nvSpPr>
        <p:spPr>
          <a:xfrm>
            <a:off x="1325880" y="5586984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54,863円　56個</a:t>
            </a:r>
            <a:endParaRPr lang="en-US" sz="1100" dirty="0"/>
          </a:p>
        </p:txBody>
      </p:sp>
      <p:sp>
        <p:nvSpPr>
          <p:cNvPr id="26" name="rank-card-1"/>
          <p:cNvSpPr/>
          <p:nvPr/>
        </p:nvSpPr>
        <p:spPr>
          <a:xfrm>
            <a:off x="4338218" y="1325880"/>
            <a:ext cx="3515258" cy="480060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27" name="rank-cat-1"/>
          <p:cNvSpPr txBox="1"/>
          <p:nvPr/>
        </p:nvSpPr>
        <p:spPr>
          <a:xfrm>
            <a:off x="4612538" y="15270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ご飯類</a:t>
            </a:r>
            <a:endParaRPr lang="en-US" sz="1800" dirty="0"/>
          </a:p>
        </p:txBody>
      </p:sp>
      <p:sp>
        <p:nvSpPr>
          <p:cNvPr id="28" name="rank-total-1"/>
          <p:cNvSpPr txBox="1"/>
          <p:nvPr/>
        </p:nvSpPr>
        <p:spPr>
          <a:xfrm>
            <a:off x="4612538" y="19202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1,731千円　</a:t>
            </a:r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前年比 89.4%</a:t>
            </a:r>
            <a:endParaRPr lang="en-US" sz="1300" dirty="0"/>
          </a:p>
        </p:txBody>
      </p:sp>
      <p:sp>
        <p:nvSpPr>
          <p:cNvPr id="29" name="rank-no-bg-1-0"/>
          <p:cNvSpPr/>
          <p:nvPr/>
        </p:nvSpPr>
        <p:spPr>
          <a:xfrm>
            <a:off x="4612538" y="2514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rank-no-1-0"/>
          <p:cNvSpPr txBox="1"/>
          <p:nvPr/>
        </p:nvSpPr>
        <p:spPr>
          <a:xfrm>
            <a:off x="461253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rank-name-1-0"/>
          <p:cNvSpPr txBox="1"/>
          <p:nvPr/>
        </p:nvSpPr>
        <p:spPr>
          <a:xfrm>
            <a:off x="5115458" y="2423160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近江牛サウナカリー</a:t>
            </a:r>
            <a:endParaRPr lang="en-US" sz="1300" dirty="0"/>
          </a:p>
        </p:txBody>
      </p:sp>
      <p:sp>
        <p:nvSpPr>
          <p:cNvPr id="32" name="rank-sub-1-0"/>
          <p:cNvSpPr txBox="1"/>
          <p:nvPr/>
        </p:nvSpPr>
        <p:spPr>
          <a:xfrm>
            <a:off x="5115458" y="2734056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388,628円　315個</a:t>
            </a:r>
            <a:endParaRPr lang="en-US" sz="1100" dirty="0"/>
          </a:p>
        </p:txBody>
      </p:sp>
      <p:sp>
        <p:nvSpPr>
          <p:cNvPr id="33" name="rank-no-bg-1-1"/>
          <p:cNvSpPr/>
          <p:nvPr/>
        </p:nvSpPr>
        <p:spPr>
          <a:xfrm>
            <a:off x="4612538" y="322783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rank-no-1-1"/>
          <p:cNvSpPr txBox="1"/>
          <p:nvPr/>
        </p:nvSpPr>
        <p:spPr>
          <a:xfrm>
            <a:off x="4612538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rank-name-1-1"/>
          <p:cNvSpPr txBox="1"/>
          <p:nvPr/>
        </p:nvSpPr>
        <p:spPr>
          <a:xfrm>
            <a:off x="5115458" y="3136392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プレミアムロースカツカレー</a:t>
            </a:r>
            <a:endParaRPr lang="en-US" sz="1300" dirty="0"/>
          </a:p>
        </p:txBody>
      </p:sp>
      <p:sp>
        <p:nvSpPr>
          <p:cNvPr id="36" name="rank-sub-1-1"/>
          <p:cNvSpPr txBox="1"/>
          <p:nvPr/>
        </p:nvSpPr>
        <p:spPr>
          <a:xfrm>
            <a:off x="5115458" y="3447288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326,974円　237個</a:t>
            </a:r>
            <a:endParaRPr lang="en-US" sz="1100" dirty="0"/>
          </a:p>
        </p:txBody>
      </p:sp>
      <p:sp>
        <p:nvSpPr>
          <p:cNvPr id="37" name="rank-no-bg-1-2"/>
          <p:cNvSpPr/>
          <p:nvPr/>
        </p:nvSpPr>
        <p:spPr>
          <a:xfrm>
            <a:off x="4612538" y="39410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rank-no-1-2"/>
          <p:cNvSpPr txBox="1"/>
          <p:nvPr/>
        </p:nvSpPr>
        <p:spPr>
          <a:xfrm>
            <a:off x="4612538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rank-name-1-2"/>
          <p:cNvSpPr txBox="1"/>
          <p:nvPr/>
        </p:nvSpPr>
        <p:spPr>
          <a:xfrm>
            <a:off x="5115458" y="3849624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大盛）ロースカツカレー</a:t>
            </a:r>
            <a:endParaRPr lang="en-US" sz="1300" dirty="0"/>
          </a:p>
        </p:txBody>
      </p:sp>
      <p:sp>
        <p:nvSpPr>
          <p:cNvPr id="40" name="rank-sub-1-2"/>
          <p:cNvSpPr txBox="1"/>
          <p:nvPr/>
        </p:nvSpPr>
        <p:spPr>
          <a:xfrm>
            <a:off x="5115458" y="4160520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121,766円　80個</a:t>
            </a:r>
            <a:endParaRPr lang="en-US" sz="1100" dirty="0"/>
          </a:p>
        </p:txBody>
      </p:sp>
      <p:sp>
        <p:nvSpPr>
          <p:cNvPr id="41" name="rank-no-bg-1-3"/>
          <p:cNvSpPr/>
          <p:nvPr/>
        </p:nvSpPr>
        <p:spPr>
          <a:xfrm>
            <a:off x="4612538" y="465429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rank-no-1-3"/>
          <p:cNvSpPr txBox="1"/>
          <p:nvPr/>
        </p:nvSpPr>
        <p:spPr>
          <a:xfrm>
            <a:off x="4612538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rank-name-1-3"/>
          <p:cNvSpPr txBox="1"/>
          <p:nvPr/>
        </p:nvSpPr>
        <p:spPr>
          <a:xfrm>
            <a:off x="5115458" y="4562856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サーモンアボカドボウルライス</a:t>
            </a:r>
            <a:endParaRPr lang="en-US" sz="1300" dirty="0"/>
          </a:p>
        </p:txBody>
      </p:sp>
      <p:sp>
        <p:nvSpPr>
          <p:cNvPr id="44" name="rank-sub-1-3"/>
          <p:cNvSpPr txBox="1"/>
          <p:nvPr/>
        </p:nvSpPr>
        <p:spPr>
          <a:xfrm>
            <a:off x="5115458" y="4873752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115,178円　90個</a:t>
            </a:r>
            <a:endParaRPr lang="en-US" sz="1100" dirty="0"/>
          </a:p>
        </p:txBody>
      </p:sp>
      <p:sp>
        <p:nvSpPr>
          <p:cNvPr id="45" name="rank-no-bg-1-4"/>
          <p:cNvSpPr/>
          <p:nvPr/>
        </p:nvSpPr>
        <p:spPr>
          <a:xfrm>
            <a:off x="4612538" y="536752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rank-no-1-4"/>
          <p:cNvSpPr txBox="1"/>
          <p:nvPr/>
        </p:nvSpPr>
        <p:spPr>
          <a:xfrm>
            <a:off x="4612538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rank-name-1-4"/>
          <p:cNvSpPr txBox="1"/>
          <p:nvPr/>
        </p:nvSpPr>
        <p:spPr>
          <a:xfrm>
            <a:off x="5115458" y="527608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ローストビーフボウルライス</a:t>
            </a:r>
            <a:endParaRPr lang="en-US" sz="1300" dirty="0"/>
          </a:p>
        </p:txBody>
      </p:sp>
      <p:sp>
        <p:nvSpPr>
          <p:cNvPr id="48" name="rank-sub-1-4"/>
          <p:cNvSpPr txBox="1"/>
          <p:nvPr/>
        </p:nvSpPr>
        <p:spPr>
          <a:xfrm>
            <a:off x="5115458" y="5586984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103,484円　75個</a:t>
            </a:r>
            <a:endParaRPr lang="en-US" sz="1100" dirty="0"/>
          </a:p>
        </p:txBody>
      </p:sp>
      <p:sp>
        <p:nvSpPr>
          <p:cNvPr id="49" name="rank-card-2"/>
          <p:cNvSpPr/>
          <p:nvPr/>
        </p:nvSpPr>
        <p:spPr>
          <a:xfrm>
            <a:off x="8127797" y="1325880"/>
            <a:ext cx="3515258" cy="480060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50" name="rank-cat-2"/>
          <p:cNvSpPr txBox="1"/>
          <p:nvPr/>
        </p:nvSpPr>
        <p:spPr>
          <a:xfrm>
            <a:off x="8402117" y="15270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一品料理</a:t>
            </a:r>
            <a:endParaRPr lang="en-US" sz="1800" dirty="0"/>
          </a:p>
        </p:txBody>
      </p:sp>
      <p:sp>
        <p:nvSpPr>
          <p:cNvPr id="51" name="rank-total-2"/>
          <p:cNvSpPr txBox="1"/>
          <p:nvPr/>
        </p:nvSpPr>
        <p:spPr>
          <a:xfrm>
            <a:off x="8402117" y="19202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789千円　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前年比 106.8%</a:t>
            </a:r>
            <a:endParaRPr lang="en-US" sz="1300" dirty="0"/>
          </a:p>
        </p:txBody>
      </p:sp>
      <p:sp>
        <p:nvSpPr>
          <p:cNvPr id="52" name="rank-no-bg-2-0"/>
          <p:cNvSpPr/>
          <p:nvPr/>
        </p:nvSpPr>
        <p:spPr>
          <a:xfrm>
            <a:off x="8402117" y="2514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rank-no-2-0"/>
          <p:cNvSpPr txBox="1"/>
          <p:nvPr/>
        </p:nvSpPr>
        <p:spPr>
          <a:xfrm>
            <a:off x="8402117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4" name="rank-name-2-0"/>
          <p:cNvSpPr txBox="1"/>
          <p:nvPr/>
        </p:nvSpPr>
        <p:spPr>
          <a:xfrm>
            <a:off x="8905037" y="2423160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揚げ物盛り合わせ</a:t>
            </a:r>
            <a:endParaRPr lang="en-US" sz="1300" dirty="0"/>
          </a:p>
        </p:txBody>
      </p:sp>
      <p:sp>
        <p:nvSpPr>
          <p:cNvPr id="55" name="rank-sub-2-0"/>
          <p:cNvSpPr txBox="1"/>
          <p:nvPr/>
        </p:nvSpPr>
        <p:spPr>
          <a:xfrm>
            <a:off x="8905037" y="2734056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108,757円　85個</a:t>
            </a:r>
            <a:endParaRPr lang="en-US" sz="1100" dirty="0"/>
          </a:p>
        </p:txBody>
      </p:sp>
      <p:sp>
        <p:nvSpPr>
          <p:cNvPr id="56" name="rank-no-bg-2-1"/>
          <p:cNvSpPr/>
          <p:nvPr/>
        </p:nvSpPr>
        <p:spPr>
          <a:xfrm>
            <a:off x="8402117" y="3227832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7" name="rank-no-2-1"/>
          <p:cNvSpPr txBox="1"/>
          <p:nvPr/>
        </p:nvSpPr>
        <p:spPr>
          <a:xfrm>
            <a:off x="8402117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58" name="rank-name-2-1"/>
          <p:cNvSpPr txBox="1"/>
          <p:nvPr/>
        </p:nvSpPr>
        <p:spPr>
          <a:xfrm>
            <a:off x="8905037" y="3136392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唐揚げ軍団 リポコーラセット</a:t>
            </a:r>
            <a:endParaRPr lang="en-US" sz="1300" dirty="0"/>
          </a:p>
        </p:txBody>
      </p:sp>
      <p:sp>
        <p:nvSpPr>
          <p:cNvPr id="59" name="rank-sub-2-1"/>
          <p:cNvSpPr txBox="1"/>
          <p:nvPr/>
        </p:nvSpPr>
        <p:spPr>
          <a:xfrm>
            <a:off x="8905037" y="3447288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50,533円　51個</a:t>
            </a:r>
            <a:endParaRPr lang="en-US" sz="1100" dirty="0"/>
          </a:p>
        </p:txBody>
      </p:sp>
      <p:sp>
        <p:nvSpPr>
          <p:cNvPr id="60" name="rank-no-bg-2-2"/>
          <p:cNvSpPr/>
          <p:nvPr/>
        </p:nvSpPr>
        <p:spPr>
          <a:xfrm>
            <a:off x="8402117" y="3941064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1" name="rank-no-2-2"/>
          <p:cNvSpPr txBox="1"/>
          <p:nvPr/>
        </p:nvSpPr>
        <p:spPr>
          <a:xfrm>
            <a:off x="8402117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62" name="rank-name-2-2"/>
          <p:cNvSpPr txBox="1"/>
          <p:nvPr/>
        </p:nvSpPr>
        <p:spPr>
          <a:xfrm>
            <a:off x="8905037" y="3849624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マルゲリータ</a:t>
            </a:r>
            <a:endParaRPr lang="en-US" sz="1300" dirty="0"/>
          </a:p>
        </p:txBody>
      </p:sp>
      <p:sp>
        <p:nvSpPr>
          <p:cNvPr id="63" name="rank-sub-2-2"/>
          <p:cNvSpPr txBox="1"/>
          <p:nvPr/>
        </p:nvSpPr>
        <p:spPr>
          <a:xfrm>
            <a:off x="8905037" y="4160520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41,074円　26個</a:t>
            </a:r>
            <a:endParaRPr lang="en-US" sz="1100" dirty="0"/>
          </a:p>
        </p:txBody>
      </p:sp>
      <p:sp>
        <p:nvSpPr>
          <p:cNvPr id="64" name="rank-no-bg-2-3"/>
          <p:cNvSpPr/>
          <p:nvPr/>
        </p:nvSpPr>
        <p:spPr>
          <a:xfrm>
            <a:off x="8402117" y="4654296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5" name="rank-no-2-3"/>
          <p:cNvSpPr txBox="1"/>
          <p:nvPr/>
        </p:nvSpPr>
        <p:spPr>
          <a:xfrm>
            <a:off x="8402117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66" name="rank-name-2-3"/>
          <p:cNvSpPr txBox="1"/>
          <p:nvPr/>
        </p:nvSpPr>
        <p:spPr>
          <a:xfrm>
            <a:off x="8905037" y="4562856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ポテトフライ</a:t>
            </a:r>
            <a:endParaRPr lang="en-US" sz="1300" dirty="0"/>
          </a:p>
        </p:txBody>
      </p:sp>
      <p:sp>
        <p:nvSpPr>
          <p:cNvPr id="67" name="rank-sub-2-3"/>
          <p:cNvSpPr txBox="1"/>
          <p:nvPr/>
        </p:nvSpPr>
        <p:spPr>
          <a:xfrm>
            <a:off x="8905037" y="4873752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39,648円　83個</a:t>
            </a:r>
            <a:endParaRPr lang="en-US" sz="1100" dirty="0"/>
          </a:p>
        </p:txBody>
      </p:sp>
      <p:sp>
        <p:nvSpPr>
          <p:cNvPr id="68" name="rank-no-bg-2-4"/>
          <p:cNvSpPr/>
          <p:nvPr/>
        </p:nvSpPr>
        <p:spPr>
          <a:xfrm>
            <a:off x="8402117" y="5367528"/>
            <a:ext cx="384048" cy="38404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9" name="rank-no-2-4"/>
          <p:cNvSpPr txBox="1"/>
          <p:nvPr/>
        </p:nvSpPr>
        <p:spPr>
          <a:xfrm>
            <a:off x="8402117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70" name="rank-name-2-4"/>
          <p:cNvSpPr txBox="1"/>
          <p:nvPr/>
        </p:nvSpPr>
        <p:spPr>
          <a:xfrm>
            <a:off x="8905037" y="5276088"/>
            <a:ext cx="2463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ピザポテト</a:t>
            </a:r>
            <a:endParaRPr lang="en-US" sz="1300" dirty="0"/>
          </a:p>
        </p:txBody>
      </p:sp>
      <p:sp>
        <p:nvSpPr>
          <p:cNvPr id="71" name="rank-sub-2-4"/>
          <p:cNvSpPr txBox="1"/>
          <p:nvPr/>
        </p:nvSpPr>
        <p:spPr>
          <a:xfrm>
            <a:off x="8905037" y="5586984"/>
            <a:ext cx="2463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34,237円　65個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9月の振り返り</a:t>
            </a:r>
            <a:endParaRPr lang="en-US" sz="3000" dirty="0"/>
          </a:p>
        </p:txBody>
      </p:sp>
      <p:sp>
        <p:nvSpPr>
          <p:cNvPr id="3" name="review-card-0"/>
          <p:cNvSpPr/>
          <p:nvPr/>
        </p:nvSpPr>
        <p:spPr>
          <a:xfrm>
            <a:off x="548640" y="1325880"/>
            <a:ext cx="5410048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4" name="review-pill-0-bg"/>
          <p:cNvSpPr/>
          <p:nvPr/>
        </p:nvSpPr>
        <p:spPr>
          <a:xfrm>
            <a:off x="822960" y="160020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view-pill-0"/>
          <p:cNvSpPr txBox="1"/>
          <p:nvPr/>
        </p:nvSpPr>
        <p:spPr>
          <a:xfrm>
            <a:off x="822960" y="1600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良かった点</a:t>
            </a:r>
            <a:endParaRPr lang="en-US" sz="1200" dirty="0"/>
          </a:p>
        </p:txBody>
      </p:sp>
      <p:sp>
        <p:nvSpPr>
          <p:cNvPr id="6" name="review-list-0"/>
          <p:cNvSpPr txBox="1"/>
          <p:nvPr/>
        </p:nvSpPr>
        <p:spPr>
          <a:xfrm>
            <a:off x="822960" y="2148840"/>
            <a:ext cx="48614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コラボ抜き売上97.4%、入館者数（97.5%）並みを維持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麺類127%：釜玉チーズカレーうどん247食、神田家ラーメンが好発進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デザート128%：ソフトクリームが135個と大きく伸長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ちょい飲みセット好調：セット27食＋ドリンク80杯で約60千円</a:t>
            </a:r>
            <a:endParaRPr lang="en-US" sz="1600" dirty="0"/>
          </a:p>
        </p:txBody>
      </p:sp>
      <p:sp>
        <p:nvSpPr>
          <p:cNvPr id="7" name="review-card-1"/>
          <p:cNvSpPr/>
          <p:nvPr/>
        </p:nvSpPr>
        <p:spPr>
          <a:xfrm>
            <a:off x="6233008" y="1325880"/>
            <a:ext cx="5410048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3A">
                <a:alpha val="10000"/>
              </a:srgbClr>
            </a:outerShdw>
          </a:effectLst>
        </p:spPr>
      </p:sp>
      <p:sp>
        <p:nvSpPr>
          <p:cNvPr id="8" name="review-pill-1-bg"/>
          <p:cNvSpPr/>
          <p:nvPr/>
        </p:nvSpPr>
        <p:spPr>
          <a:xfrm>
            <a:off x="6507328" y="160020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eview-pill-1"/>
          <p:cNvSpPr txBox="1"/>
          <p:nvPr/>
        </p:nvSpPr>
        <p:spPr>
          <a:xfrm>
            <a:off x="6507328" y="1600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課題</a:t>
            </a:r>
            <a:endParaRPr lang="en-US" sz="1200" dirty="0"/>
          </a:p>
        </p:txBody>
      </p:sp>
      <p:sp>
        <p:nvSpPr>
          <p:cNvPr id="10" name="review-list-1"/>
          <p:cNvSpPr txBox="1"/>
          <p:nvPr/>
        </p:nvSpPr>
        <p:spPr>
          <a:xfrm>
            <a:off x="6507328" y="2148840"/>
            <a:ext cx="486140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コラボ売上68.7%（▲1,691千円）で全体売上82.5%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ご飯類89%：近江牛サウナカリー・ロースカツカレーの出数減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アルコール83%：生ビール系の落ち込み</a:t>
            </a:r>
            <a:endParaRPr lang="en-US" sz="16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原価率42.6%・人件費率33.0%でFL75.6%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10月の対策・目標</a:t>
            </a:r>
            <a:endParaRPr lang="en-US" sz="3000" dirty="0"/>
          </a:p>
        </p:txBody>
      </p:sp>
      <p:sp>
        <p:nvSpPr>
          <p:cNvPr id="3" name="goal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目標：</a:t>
            </a:r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コラボ抜き売上 前年超え（100%以上）</a:t>
            </a:r>
            <a:endParaRPr lang="en-US" sz="2000" dirty="0"/>
          </a:p>
        </p:txBody>
      </p:sp>
      <p:sp>
        <p:nvSpPr>
          <p:cNvPr id="4" name="act-bg-0"/>
          <p:cNvSpPr/>
          <p:nvPr/>
        </p:nvSpPr>
        <p:spPr>
          <a:xfrm>
            <a:off x="548640" y="192024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act-pill-0-bg"/>
          <p:cNvSpPr/>
          <p:nvPr/>
        </p:nvSpPr>
        <p:spPr>
          <a:xfrm>
            <a:off x="822960" y="2176272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ct-pill-0"/>
          <p:cNvSpPr txBox="1"/>
          <p:nvPr/>
        </p:nvSpPr>
        <p:spPr>
          <a:xfrm>
            <a:off x="822960" y="2176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売上</a:t>
            </a:r>
            <a:endParaRPr lang="en-US" sz="1200" dirty="0"/>
          </a:p>
        </p:txBody>
      </p:sp>
      <p:sp>
        <p:nvSpPr>
          <p:cNvPr id="7" name="act-text-0"/>
          <p:cNvSpPr txBox="1"/>
          <p:nvPr/>
        </p:nvSpPr>
        <p:spPr>
          <a:xfrm>
            <a:off x="822960" y="260604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ビールLセット販売開始＋ちょい飲みセット併売でアルコール回復。カレーグランプリ出場の近江牛サウナカリーをリニューアルしご飯類を立て直す。好調の麺類・デザートは継続訴求。</a:t>
            </a:r>
            <a:endParaRPr lang="en-US" sz="1400" dirty="0"/>
          </a:p>
        </p:txBody>
      </p:sp>
      <p:sp>
        <p:nvSpPr>
          <p:cNvPr id="8" name="act-bg-1"/>
          <p:cNvSpPr/>
          <p:nvPr/>
        </p:nvSpPr>
        <p:spPr>
          <a:xfrm>
            <a:off x="6233008" y="192024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act-pill-1-bg"/>
          <p:cNvSpPr/>
          <p:nvPr/>
        </p:nvSpPr>
        <p:spPr>
          <a:xfrm>
            <a:off x="6507328" y="2176272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act-pill-1"/>
          <p:cNvSpPr txBox="1"/>
          <p:nvPr/>
        </p:nvSpPr>
        <p:spPr>
          <a:xfrm>
            <a:off x="6507328" y="21762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原価</a:t>
            </a:r>
            <a:endParaRPr lang="en-US" sz="1200" dirty="0"/>
          </a:p>
        </p:txBody>
      </p:sp>
      <p:sp>
        <p:nvSpPr>
          <p:cNvPr id="11" name="act-text-1"/>
          <p:cNvSpPr txBox="1"/>
          <p:nvPr/>
        </p:nvSpPr>
        <p:spPr>
          <a:xfrm>
            <a:off x="6507328" y="260604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仕入量を売上見込みに合わせて適正化。日本食研・ブライス品の過剰発注を抑制。サウナカリーは原価設計を事前確認し、予算33.4%に近づける。</a:t>
            </a:r>
            <a:endParaRPr lang="en-US" sz="1400" dirty="0"/>
          </a:p>
        </p:txBody>
      </p:sp>
      <p:sp>
        <p:nvSpPr>
          <p:cNvPr id="12" name="act-bg-2"/>
          <p:cNvSpPr/>
          <p:nvPr/>
        </p:nvSpPr>
        <p:spPr>
          <a:xfrm>
            <a:off x="548640" y="416052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act-pill-2-bg"/>
          <p:cNvSpPr/>
          <p:nvPr/>
        </p:nvSpPr>
        <p:spPr>
          <a:xfrm>
            <a:off x="822960" y="4416552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act-pill-2"/>
          <p:cNvSpPr txBox="1"/>
          <p:nvPr/>
        </p:nvSpPr>
        <p:spPr>
          <a:xfrm>
            <a:off x="822960" y="44165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人件費</a:t>
            </a:r>
            <a:endParaRPr lang="en-US" sz="1200" dirty="0"/>
          </a:p>
        </p:txBody>
      </p:sp>
      <p:sp>
        <p:nvSpPr>
          <p:cNvPr id="15" name="act-text-2"/>
          <p:cNvSpPr txBox="1"/>
          <p:nvPr/>
        </p:nvSpPr>
        <p:spPr>
          <a:xfrm>
            <a:off x="822960" y="484632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モバイルオーダー稼働が不安定なため人件費増の可能性あり。時給一律50円アップも加わるため、シフトコントロールを徹底。</a:t>
            </a:r>
            <a:endParaRPr lang="en-US" sz="1400" dirty="0"/>
          </a:p>
        </p:txBody>
      </p:sp>
      <p:sp>
        <p:nvSpPr>
          <p:cNvPr id="16" name="act-bg-3"/>
          <p:cNvSpPr/>
          <p:nvPr/>
        </p:nvSpPr>
        <p:spPr>
          <a:xfrm>
            <a:off x="6233008" y="4160520"/>
            <a:ext cx="541004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act-pill-3-bg"/>
          <p:cNvSpPr/>
          <p:nvPr/>
        </p:nvSpPr>
        <p:spPr>
          <a:xfrm>
            <a:off x="6507328" y="4416552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act-pill-3"/>
          <p:cNvSpPr txBox="1"/>
          <p:nvPr/>
        </p:nvSpPr>
        <p:spPr>
          <a:xfrm>
            <a:off x="6507328" y="44165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その他</a:t>
            </a:r>
            <a:endParaRPr lang="en-US" sz="1200" dirty="0"/>
          </a:p>
        </p:txBody>
      </p:sp>
      <p:sp>
        <p:nvSpPr>
          <p:cNvPr id="19" name="act-text-3"/>
          <p:cNvSpPr txBox="1"/>
          <p:nvPr/>
        </p:nvSpPr>
        <p:spPr>
          <a:xfrm>
            <a:off x="6507328" y="4846320"/>
            <a:ext cx="48614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モバイルオーダーの本格運用開始。飲食客数・客単価の集計方法を確認し、正しい数値で管理。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USPA Kanda Smart">
  <a:themeElements>
    <a:clrScheme name="RAKUSPA Kanda Smart">
      <a:dk1>
        <a:srgbClr val="1B2B3A"/>
      </a:dk1>
      <a:lt1>
        <a:srgbClr val="FFFFFF"/>
      </a:lt1>
      <a:dk2>
        <a:srgbClr val="22384D"/>
      </a:dk2>
      <a:lt2>
        <a:srgbClr val="F2F5F7"/>
      </a:lt2>
      <a:accent1>
        <a:srgbClr val="0F8B8D"/>
      </a:accent1>
      <a:accent2>
        <a:srgbClr val="A9B4BF"/>
      </a:accent2>
      <a:accent3>
        <a:srgbClr val="E4572E"/>
      </a:accent3>
      <a:accent4>
        <a:srgbClr val="F2B134"/>
      </a:accent4>
      <a:accent5>
        <a:srgbClr val="5B6B7A"/>
      </a:accent5>
      <a:accent6>
        <a:srgbClr val="DCE2E7"/>
      </a:accent6>
      <a:hlink>
        <a:srgbClr val="0F8B8D"/>
      </a:hlink>
      <a:folHlink>
        <a:srgbClr val="5B6B7A"/>
      </a:folHlink>
    </a:clrScheme>
    <a:fontScheme name="RAKUSPA Kanda Smart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RAKUSPA1010神田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2026年9月 社員会議資料</dc:title>
  <dc:subject>PptxGenJS Presentation</dc:subject>
  <dc:creator>RAKUSPA1010神田 飲食部門</dc:creator>
  <cp:lastModifiedBy>RAKUSPA1010神田 飲食部門</cp:lastModifiedBy>
  <cp:revision>1</cp:revision>
  <dcterms:created xsi:type="dcterms:W3CDTF">2026-10-09T10:59:09Z</dcterms:created>
  <dcterms:modified xsi:type="dcterms:W3CDTF">2026-10-09T10:59:09Z</dcterms:modified>
</cp:coreProperties>
</file>