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1d883914-9fe0-3c42-21ac-291fcfe6fee2}">
          <p14:sldIdLst>
            <p14:sldId id="256"/>
          </p14:sldIdLst>
        </p14:section>
        <p14:section name="現場状況" id="{6bcec90e-3a57-9eb4-e259-52af24946923}">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現場の状況と対策の報告です。採用、シフト、人間関係、設備の4つです。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まず全体の要点です。一番の課題は週末の人手不足。採用と育成の両方で立て直します。設備ではゆで麺器を最優先で修理します。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募集は18時から23時半。社保加入希望で週末も出られる人が1名見つかれば、週末メインの未加入者1名と合わせて2名。見つからなければ未加入者で3名程度を採用します。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シフトの課題は3つです。週末不足、当日の遅刻から欠勤、日による戦力の偏り。それぞれ、週末ルール、当日連絡ルール、スキル表と育成で対応します。◯の部分は会議で決めます。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人間関係は大きなトラブルはありませんが、学生とそれ以外で溝があり、愚痴が増えています。個別面談で中身を聞き、配置と連絡のやり方で改善します。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設備は3点です。ゆで麺器は、今回のように跳ねたコラボで冷凍麺が増えると提供停止になるため最優先で業者点検を依頼します。コンセントと蛇口も修理を依頼します。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最後に10月のスケジュールです。担当はこの場で決めたいと思います。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8229600" cy="15544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3794760"/>
            <a:ext cx="8229600" cy="45720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20040"/>
            <a:ext cx="10911535" cy="274320"/>
          </a:xfrm>
          <a:prstGeom prst="rect">
            <a:avLst/>
          </a:prstGeom>
          <a:noFill/>
          <a:ln/>
        </p:spPr>
        <p:txBody>
          <a:bodyPr wrap="square" rtlCol="0"/>
          <a:lstStyle>
            <a:lvl1pPr algn="l" indent="0" marL="0">
              <a:buNone/>
              <a:defRPr lang="en-US" sz="1100" b="1"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640080" y="621792"/>
            <a:ext cx="10911535" cy="59436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0"/>
          <p:cNvSpPr/>
          <p:nvPr/>
        </p:nvSpPr>
        <p:spPr>
          <a:xfrm>
            <a:off x="640080" y="6473952"/>
            <a:ext cx="6400800" cy="228600"/>
          </a:xfrm>
          <a:prstGeom prst="rect">
            <a:avLst/>
          </a:prstGeom>
          <a:noFill/>
          <a:ln/>
        </p:spPr>
        <p:txBody>
          <a:bodyPr wrap="square" lIns="0" tIns="0" rIns="0" bIns="0" rtlCol="0" anchor="ctr"/>
          <a:lstStyle/>
          <a:p>
            <a:pPr indent="0" marL="0">
              <a:buNone/>
            </a:pPr>
            <a:r>
              <a:rPr lang="en-US" sz="900" dirty="0">
                <a:solidFill>
                  <a:schemeClr val="accent5"/>
                </a:solidFill>
              </a:rPr>
              <a:t>RAKUSPA1010神田　飲食部門　2026年9月 現場状況報告</a:t>
            </a:r>
            <a:endParaRPr lang="en-US" sz="900" dirty="0"/>
          </a:p>
        </p:txBody>
      </p:sp>
      <p:sp>
        <p:nvSpPr>
          <p:cNvPr id="25" name="Slide Number Placeholder 0"/>
          <p:cNvSpPr>
            <a:spLocks noGrp="1"/>
          </p:cNvSpPr>
          <p:nvPr>
            <p:ph type="sldNum" sz="quarter" idx="4294967295"/>
          </p:nvPr>
        </p:nvSpPr>
        <p:spPr>
          <a:xfrm>
            <a:off x="1100297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NEL">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3291840" cy="6858000"/>
          </a:xfrm>
          <a:prstGeom prst="rect">
            <a:avLst/>
          </a:prstGeom>
          <a:solidFill>
            <a:schemeClr val="accent1"/>
          </a:solidFill>
          <a:ln w="12700">
            <a:solidFill>
              <a:schemeClr val="accent1"/>
            </a:solidFill>
            <a:prstDash val="solid"/>
          </a:ln>
        </p:spPr>
      </p:sp>
      <p:sp>
        <p:nvSpPr>
          <p:cNvPr id="3" name="Text 1"/>
          <p:cNvSpPr/>
          <p:nvPr>
            <p:ph idx="101" type="body" hasCustomPrompt="1"/>
          </p:nvPr>
        </p:nvSpPr>
        <p:spPr>
          <a:xfrm>
            <a:off x="502920" y="685800"/>
            <a:ext cx="2377440" cy="914400"/>
          </a:xfrm>
          <a:prstGeom prst="rect">
            <a:avLst/>
          </a:prstGeom>
          <a:noFill/>
          <a:ln/>
        </p:spPr>
        <p:txBody>
          <a:bodyPr wrap="square" rtlCol="0"/>
          <a:lstStyle>
            <a:lvl1pPr algn="l" indent="0" marL="0">
              <a:buNone/>
              <a:defRPr lang="en-US" sz="5400" b="1" dirty="0">
                <a:solidFill>
                  <a:schemeClr val="accent4"/>
                </a:solidFill>
              </a:defRPr>
            </a:lvl1pPr>
          </a:lstStyle>
          <a:p>
            <a:pPr algn="l" indent="0" marL="0">
              <a:buNone/>
            </a:pPr>
            <a:endParaRPr lang="en-US" sz="5400" dirty="0"/>
          </a:p>
        </p:txBody>
      </p:sp>
      <p:sp>
        <p:nvSpPr>
          <p:cNvPr id="4" name="Text 1"/>
          <p:cNvSpPr/>
          <p:nvPr>
            <p:ph idx="102" type="title" hasCustomPrompt="1"/>
          </p:nvPr>
        </p:nvSpPr>
        <p:spPr>
          <a:xfrm>
            <a:off x="502920" y="1691640"/>
            <a:ext cx="2377440" cy="5486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5" name="Text 1"/>
          <p:cNvSpPr/>
          <p:nvPr>
            <p:ph idx="103" type="body" hasCustomPrompt="1"/>
          </p:nvPr>
        </p:nvSpPr>
        <p:spPr>
          <a:xfrm>
            <a:off x="502920" y="2514600"/>
            <a:ext cx="2377440" cy="2377440"/>
          </a:xfrm>
          <a:prstGeom prst="rect">
            <a:avLst/>
          </a:prstGeom>
          <a:noFill/>
          <a:ln/>
        </p:spPr>
        <p:txBody>
          <a:bodyPr wrap="square" rtlCol="0"/>
          <a:lstStyle>
            <a:lvl1pPr algn="l" indent="0" marL="0">
              <a:lnSpc>
                <a:spcPct val="130000"/>
              </a:lnSpc>
              <a:buNone/>
              <a:defRPr lang="en-US" sz="1700" b="1" dirty="0">
                <a:solidFill>
                  <a:schemeClr val="bg1"/>
                </a:solidFill>
              </a:defRPr>
            </a:lvl1pPr>
          </a:lstStyle>
          <a:p>
            <a:pPr algn="l" indent="0" marL="0">
              <a:lnSpc>
                <a:spcPct val="130000"/>
              </a:lnSpc>
              <a:buNone/>
            </a:pPr>
            <a:endParaRPr lang="en-US" sz="1700" dirty="0"/>
          </a:p>
        </p:txBody>
      </p:sp>
      <p:sp>
        <p:nvSpPr>
          <p:cNvPr id="6" name="Text 1"/>
          <p:cNvSpPr/>
          <p:nvPr/>
        </p:nvSpPr>
        <p:spPr>
          <a:xfrm>
            <a:off x="502920" y="6400800"/>
            <a:ext cx="2560320" cy="228600"/>
          </a:xfrm>
          <a:prstGeom prst="rect">
            <a:avLst/>
          </a:prstGeom>
          <a:noFill/>
          <a:ln/>
        </p:spPr>
        <p:txBody>
          <a:bodyPr wrap="square" lIns="0" tIns="0" rIns="0" bIns="0" rtlCol="0" anchor="ctr"/>
          <a:lstStyle/>
          <a:p>
            <a:pPr indent="0" marL="0">
              <a:buNone/>
            </a:pPr>
            <a:r>
              <a:rPr lang="en-US" sz="900" dirty="0">
                <a:solidFill>
                  <a:schemeClr val="accent4"/>
                </a:solidFill>
              </a:rPr>
              <a:t>RAKUSPA1010神田　2026年9月 現場状況報告</a:t>
            </a:r>
            <a:endParaRPr lang="en-US" sz="9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cover-panel"/>
          <p:cNvSpPr/>
          <p:nvPr/>
        </p:nvSpPr>
        <p:spPr>
          <a:xfrm>
            <a:off x="0" y="0"/>
            <a:ext cx="5669280" cy="6858000"/>
          </a:xfrm>
          <a:prstGeom prst="rect">
            <a:avLst/>
          </a:prstGeom>
          <a:solidFill>
            <a:schemeClr val="accent1"/>
          </a:solidFill>
          <a:ln w="12700">
            <a:solidFill>
              <a:schemeClr val="accent1"/>
            </a:solidFill>
            <a:prstDash val="solid"/>
          </a:ln>
        </p:spPr>
      </p:sp>
      <p:sp>
        <p:nvSpPr>
          <p:cNvPr id="3" name="t-1"/>
          <p:cNvSpPr txBox="1"/>
          <p:nvPr/>
        </p:nvSpPr>
        <p:spPr>
          <a:xfrm>
            <a:off x="640080" y="1737360"/>
            <a:ext cx="4572000" cy="320040"/>
          </a:xfrm>
          <a:prstGeom prst="rect">
            <a:avLst/>
          </a:prstGeom>
          <a:noFill/>
          <a:ln/>
        </p:spPr>
        <p:txBody>
          <a:bodyPr wrap="square" lIns="0" tIns="0" rIns="0" bIns="0" rtlCol="0" anchor="ctr"/>
          <a:lstStyle/>
          <a:p>
            <a:pPr indent="0" marL="0">
              <a:buNone/>
            </a:pPr>
            <a:r>
              <a:rPr lang="en-US" sz="1300" b="1" dirty="0">
                <a:solidFill>
                  <a:schemeClr val="accent4"/>
                </a:solidFill>
              </a:rPr>
              <a:t>RAKUSPA1010神田　飲食部門</a:t>
            </a:r>
            <a:endParaRPr lang="en-US" sz="1300" dirty="0"/>
          </a:p>
        </p:txBody>
      </p:sp>
      <p:sp>
        <p:nvSpPr>
          <p:cNvPr id="4" name="t-2"/>
          <p:cNvSpPr txBox="1"/>
          <p:nvPr/>
        </p:nvSpPr>
        <p:spPr>
          <a:xfrm>
            <a:off x="640080" y="2194560"/>
            <a:ext cx="4754880" cy="1645920"/>
          </a:xfrm>
          <a:prstGeom prst="rect">
            <a:avLst/>
          </a:prstGeom>
          <a:noFill/>
          <a:ln/>
        </p:spPr>
        <p:txBody>
          <a:bodyPr wrap="square" lIns="0" tIns="0" rIns="0" bIns="0" rtlCol="0" anchor="t"/>
          <a:lstStyle/>
          <a:p>
            <a:pPr indent="0" marL="0">
              <a:lnSpc>
                <a:spcPct val="115000"/>
              </a:lnSpc>
              <a:buNone/>
            </a:pPr>
            <a:r>
              <a:rPr lang="en-US" sz="3600" b="1" dirty="0">
                <a:solidFill>
                  <a:schemeClr val="bg1"/>
                </a:solidFill>
              </a:rPr>
              <a:t>2026年9月</a:t>
            </a:r>
            <a:endParaRPr lang="en-US" sz="3600" dirty="0"/>
          </a:p>
          <a:p>
            <a:pPr indent="0" marL="0">
              <a:lnSpc>
                <a:spcPct val="115000"/>
              </a:lnSpc>
              <a:buNone/>
            </a:pPr>
            <a:r>
              <a:rPr lang="en-US" sz="3600" b="1" dirty="0">
                <a:solidFill>
                  <a:schemeClr val="bg1"/>
                </a:solidFill>
              </a:rPr>
              <a:t>現場状況報告と対策</a:t>
            </a:r>
            <a:endParaRPr lang="en-US" sz="3600" dirty="0"/>
          </a:p>
        </p:txBody>
      </p:sp>
      <p:sp>
        <p:nvSpPr>
          <p:cNvPr id="5" name="t-3"/>
          <p:cNvSpPr txBox="1"/>
          <p:nvPr/>
        </p:nvSpPr>
        <p:spPr>
          <a:xfrm>
            <a:off x="640080" y="5943600"/>
            <a:ext cx="4572000" cy="274320"/>
          </a:xfrm>
          <a:prstGeom prst="rect">
            <a:avLst/>
          </a:prstGeom>
          <a:noFill/>
          <a:ln/>
        </p:spPr>
        <p:txBody>
          <a:bodyPr wrap="square" lIns="0" tIns="0" rIns="0" bIns="0" rtlCol="0" anchor="ctr"/>
          <a:lstStyle/>
          <a:p>
            <a:pPr indent="0" marL="0">
              <a:buNone/>
            </a:pPr>
            <a:r>
              <a:rPr lang="en-US" sz="1100" dirty="0">
                <a:solidFill>
                  <a:schemeClr val="accent4"/>
                </a:solidFill>
              </a:rPr>
              <a:t>報告日 2026年10月1日　作成 大平</a:t>
            </a:r>
            <a:endParaRPr lang="en-US" sz="1100" dirty="0"/>
          </a:p>
        </p:txBody>
      </p:sp>
      <p:sp>
        <p:nvSpPr>
          <p:cNvPr id="6" name="t-4"/>
          <p:cNvSpPr txBox="1"/>
          <p:nvPr/>
        </p:nvSpPr>
        <p:spPr>
          <a:xfrm>
            <a:off x="6400800" y="160020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01</a:t>
            </a:r>
            <a:endParaRPr lang="en-US" sz="2400" dirty="0"/>
          </a:p>
        </p:txBody>
      </p:sp>
      <p:sp>
        <p:nvSpPr>
          <p:cNvPr id="7" name="t-5"/>
          <p:cNvSpPr txBox="1"/>
          <p:nvPr/>
        </p:nvSpPr>
        <p:spPr>
          <a:xfrm>
            <a:off x="7223760" y="155448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採用</a:t>
            </a:r>
            <a:endParaRPr lang="en-US" sz="1800" dirty="0"/>
          </a:p>
          <a:p>
            <a:pPr indent="0" marL="0">
              <a:buNone/>
            </a:pPr>
            <a:r>
              <a:rPr lang="en-US" sz="1200" dirty="0">
                <a:solidFill>
                  <a:schemeClr val="tx2"/>
                </a:solidFill>
              </a:rPr>
              <a:t>夜の週末要員を2〜3名募集</a:t>
            </a:r>
            <a:endParaRPr lang="en-US" sz="1800" dirty="0"/>
          </a:p>
        </p:txBody>
      </p:sp>
      <p:sp>
        <p:nvSpPr>
          <p:cNvPr id="8" name="rule-6"/>
          <p:cNvSpPr/>
          <p:nvPr/>
        </p:nvSpPr>
        <p:spPr>
          <a:xfrm>
            <a:off x="6400800" y="2377440"/>
            <a:ext cx="5120640" cy="0"/>
          </a:xfrm>
          <a:prstGeom prst="line">
            <a:avLst/>
          </a:prstGeom>
          <a:noFill/>
          <a:ln w="9525">
            <a:solidFill>
              <a:schemeClr val="accent6"/>
            </a:solidFill>
            <a:prstDash val="solid"/>
          </a:ln>
        </p:spPr>
      </p:sp>
      <p:sp>
        <p:nvSpPr>
          <p:cNvPr id="9" name="t-7"/>
          <p:cNvSpPr txBox="1"/>
          <p:nvPr/>
        </p:nvSpPr>
        <p:spPr>
          <a:xfrm>
            <a:off x="6400800" y="256032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02</a:t>
            </a:r>
            <a:endParaRPr lang="en-US" sz="2400" dirty="0"/>
          </a:p>
        </p:txBody>
      </p:sp>
      <p:sp>
        <p:nvSpPr>
          <p:cNvPr id="10" name="t-8"/>
          <p:cNvSpPr txBox="1"/>
          <p:nvPr/>
        </p:nvSpPr>
        <p:spPr>
          <a:xfrm>
            <a:off x="7223760" y="251460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シフト</a:t>
            </a:r>
            <a:endParaRPr lang="en-US" sz="1800" dirty="0"/>
          </a:p>
          <a:p>
            <a:pPr indent="0" marL="0">
              <a:buNone/>
            </a:pPr>
            <a:r>
              <a:rPr lang="en-US" sz="1200" dirty="0">
                <a:solidFill>
                  <a:schemeClr val="tx2"/>
                </a:solidFill>
              </a:rPr>
              <a:t>週末不足・当日欠勤・戦力の偏り</a:t>
            </a:r>
            <a:endParaRPr lang="en-US" sz="1800" dirty="0"/>
          </a:p>
        </p:txBody>
      </p:sp>
      <p:sp>
        <p:nvSpPr>
          <p:cNvPr id="11" name="rule-9"/>
          <p:cNvSpPr/>
          <p:nvPr/>
        </p:nvSpPr>
        <p:spPr>
          <a:xfrm>
            <a:off x="6400800" y="3337560"/>
            <a:ext cx="5120640" cy="0"/>
          </a:xfrm>
          <a:prstGeom prst="line">
            <a:avLst/>
          </a:prstGeom>
          <a:noFill/>
          <a:ln w="9525">
            <a:solidFill>
              <a:schemeClr val="accent6"/>
            </a:solidFill>
            <a:prstDash val="solid"/>
          </a:ln>
        </p:spPr>
      </p:sp>
      <p:sp>
        <p:nvSpPr>
          <p:cNvPr id="12" name="t-10"/>
          <p:cNvSpPr txBox="1"/>
          <p:nvPr/>
        </p:nvSpPr>
        <p:spPr>
          <a:xfrm>
            <a:off x="6400800" y="352044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03</a:t>
            </a:r>
            <a:endParaRPr lang="en-US" sz="2400" dirty="0"/>
          </a:p>
        </p:txBody>
      </p:sp>
      <p:sp>
        <p:nvSpPr>
          <p:cNvPr id="13" name="t-11"/>
          <p:cNvSpPr txBox="1"/>
          <p:nvPr/>
        </p:nvSpPr>
        <p:spPr>
          <a:xfrm>
            <a:off x="7223760" y="347472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人間関係</a:t>
            </a:r>
            <a:endParaRPr lang="en-US" sz="1800" dirty="0"/>
          </a:p>
          <a:p>
            <a:pPr indent="0" marL="0">
              <a:buNone/>
            </a:pPr>
            <a:r>
              <a:rPr lang="en-US" sz="1200" dirty="0">
                <a:solidFill>
                  <a:schemeClr val="tx2"/>
                </a:solidFill>
              </a:rPr>
              <a:t>学生とそれ以外の溝</a:t>
            </a:r>
            <a:endParaRPr lang="en-US" sz="1800" dirty="0"/>
          </a:p>
        </p:txBody>
      </p:sp>
      <p:sp>
        <p:nvSpPr>
          <p:cNvPr id="14" name="rule-12"/>
          <p:cNvSpPr/>
          <p:nvPr/>
        </p:nvSpPr>
        <p:spPr>
          <a:xfrm>
            <a:off x="6400800" y="4297680"/>
            <a:ext cx="5120640" cy="0"/>
          </a:xfrm>
          <a:prstGeom prst="line">
            <a:avLst/>
          </a:prstGeom>
          <a:noFill/>
          <a:ln w="9525">
            <a:solidFill>
              <a:schemeClr val="accent6"/>
            </a:solidFill>
            <a:prstDash val="solid"/>
          </a:ln>
        </p:spPr>
      </p:sp>
      <p:sp>
        <p:nvSpPr>
          <p:cNvPr id="15" name="t-13"/>
          <p:cNvSpPr txBox="1"/>
          <p:nvPr/>
        </p:nvSpPr>
        <p:spPr>
          <a:xfrm>
            <a:off x="6400800" y="4480560"/>
            <a:ext cx="731520" cy="548640"/>
          </a:xfrm>
          <a:prstGeom prst="rect">
            <a:avLst/>
          </a:prstGeom>
          <a:noFill/>
          <a:ln/>
        </p:spPr>
        <p:txBody>
          <a:bodyPr wrap="square" lIns="0" tIns="0" rIns="0" bIns="0" rtlCol="0" anchor="ctr"/>
          <a:lstStyle/>
          <a:p>
            <a:pPr indent="0" marL="0">
              <a:buNone/>
            </a:pPr>
            <a:r>
              <a:rPr lang="en-US" sz="2400" b="1" dirty="0">
                <a:solidFill>
                  <a:schemeClr val="accent1"/>
                </a:solidFill>
              </a:rPr>
              <a:t>04</a:t>
            </a:r>
            <a:endParaRPr lang="en-US" sz="2400" dirty="0"/>
          </a:p>
        </p:txBody>
      </p:sp>
      <p:sp>
        <p:nvSpPr>
          <p:cNvPr id="16" name="t-14"/>
          <p:cNvSpPr txBox="1"/>
          <p:nvPr/>
        </p:nvSpPr>
        <p:spPr>
          <a:xfrm>
            <a:off x="7223760" y="4434840"/>
            <a:ext cx="4297680" cy="685800"/>
          </a:xfrm>
          <a:prstGeom prst="rect">
            <a:avLst/>
          </a:prstGeom>
          <a:noFill/>
          <a:ln/>
        </p:spPr>
        <p:txBody>
          <a:bodyPr wrap="square" lIns="0" tIns="0" rIns="0" bIns="0" rtlCol="0" anchor="ctr"/>
          <a:lstStyle/>
          <a:p>
            <a:pPr indent="0" marL="0">
              <a:buNone/>
            </a:pPr>
            <a:r>
              <a:rPr lang="en-US" sz="1800" b="1" dirty="0">
                <a:solidFill>
                  <a:schemeClr val="tx1"/>
                </a:solidFill>
              </a:rPr>
              <a:t>設備</a:t>
            </a:r>
            <a:endParaRPr lang="en-US" sz="1800" dirty="0"/>
          </a:p>
          <a:p>
            <a:pPr indent="0" marL="0">
              <a:buNone/>
            </a:pPr>
            <a:r>
              <a:rPr lang="en-US" sz="1200" dirty="0">
                <a:solidFill>
                  <a:schemeClr val="tx2"/>
                </a:solidFill>
              </a:rPr>
              <a:t>ゆで麺器・コンセント・蛇口</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00</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今月の要点</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週末の人手不足が</a:t>
            </a:r>
            <a:endParaRPr lang="en-US" sz="1700" dirty="0"/>
          </a:p>
          <a:p>
            <a:pPr algn="l" indent="0" marL="0">
              <a:lnSpc>
                <a:spcPct val="130000"/>
              </a:lnSpc>
              <a:buNone/>
            </a:pPr>
            <a:r>
              <a:rPr lang="en-US" sz="1700" b="1" dirty="0">
                <a:solidFill>
                  <a:schemeClr val="bg1"/>
                </a:solidFill>
              </a:rPr>
              <a:t>最大の課題。</a:t>
            </a:r>
            <a:endParaRPr lang="en-US" sz="1700" dirty="0"/>
          </a:p>
          <a:p>
            <a:pPr algn="l" indent="0" marL="0">
              <a:lnSpc>
                <a:spcPct val="130000"/>
              </a:lnSpc>
              <a:buNone/>
            </a:pPr>
            <a:r>
              <a:rPr lang="en-US" sz="1700" b="1" dirty="0">
                <a:solidFill>
                  <a:schemeClr val="bg1"/>
                </a:solidFill>
              </a:rPr>
              <a:t>採用と育成で立て直し、</a:t>
            </a:r>
            <a:endParaRPr lang="en-US" sz="1700" dirty="0"/>
          </a:p>
          <a:p>
            <a:pPr algn="l" indent="0" marL="0">
              <a:lnSpc>
                <a:spcPct val="130000"/>
              </a:lnSpc>
              <a:buNone/>
            </a:pPr>
            <a:r>
              <a:rPr lang="en-US" sz="1700" b="1" dirty="0">
                <a:solidFill>
                  <a:schemeClr val="bg1"/>
                </a:solidFill>
              </a:rPr>
              <a:t>ゆで麺器は</a:t>
            </a:r>
            <a:endParaRPr lang="en-US" sz="1700" dirty="0"/>
          </a:p>
          <a:p>
            <a:pPr algn="l" indent="0" marL="0">
              <a:lnSpc>
                <a:spcPct val="130000"/>
              </a:lnSpc>
              <a:buNone/>
            </a:pPr>
            <a:r>
              <a:rPr lang="en-US" sz="1700" b="1" dirty="0">
                <a:solidFill>
                  <a:schemeClr val="bg1"/>
                </a:solidFill>
              </a:rPr>
              <a:t>最優先で修理する。</a:t>
            </a:r>
            <a:endParaRPr lang="en-US" sz="1700" dirty="0"/>
          </a:p>
        </p:txBody>
      </p:sp>
      <p:sp>
        <p:nvSpPr>
          <p:cNvPr id="6" name="t-15"/>
          <p:cNvSpPr txBox="1"/>
          <p:nvPr/>
        </p:nvSpPr>
        <p:spPr>
          <a:xfrm>
            <a:off x="3794760" y="685800"/>
            <a:ext cx="1828800" cy="274320"/>
          </a:xfrm>
          <a:prstGeom prst="rect">
            <a:avLst/>
          </a:prstGeom>
          <a:noFill/>
          <a:ln/>
        </p:spPr>
        <p:txBody>
          <a:bodyPr wrap="square" lIns="0" tIns="0" rIns="0" bIns="0" rtlCol="0" anchor="ctr"/>
          <a:lstStyle/>
          <a:p>
            <a:pPr indent="0" marL="0">
              <a:buNone/>
            </a:pPr>
            <a:r>
              <a:rPr lang="en-US" sz="1100" b="1" dirty="0">
                <a:solidFill>
                  <a:schemeClr val="tx2"/>
                </a:solidFill>
              </a:rPr>
              <a:t>テーマ</a:t>
            </a:r>
            <a:endParaRPr lang="en-US" sz="1100" dirty="0"/>
          </a:p>
        </p:txBody>
      </p:sp>
      <p:sp>
        <p:nvSpPr>
          <p:cNvPr id="7" name="t-16"/>
          <p:cNvSpPr txBox="1"/>
          <p:nvPr/>
        </p:nvSpPr>
        <p:spPr>
          <a:xfrm>
            <a:off x="5943600" y="685800"/>
            <a:ext cx="2743200" cy="274320"/>
          </a:xfrm>
          <a:prstGeom prst="rect">
            <a:avLst/>
          </a:prstGeom>
          <a:noFill/>
          <a:ln/>
        </p:spPr>
        <p:txBody>
          <a:bodyPr wrap="square" lIns="0" tIns="0" rIns="0" bIns="0" rtlCol="0" anchor="ctr"/>
          <a:lstStyle/>
          <a:p>
            <a:pPr indent="0" marL="0">
              <a:buNone/>
            </a:pPr>
            <a:r>
              <a:rPr lang="en-US" sz="1100" b="1" dirty="0">
                <a:solidFill>
                  <a:schemeClr val="tx2"/>
                </a:solidFill>
              </a:rPr>
              <a:t>現状</a:t>
            </a:r>
            <a:endParaRPr lang="en-US" sz="1100" dirty="0"/>
          </a:p>
        </p:txBody>
      </p:sp>
      <p:sp>
        <p:nvSpPr>
          <p:cNvPr id="8" name="t-17"/>
          <p:cNvSpPr txBox="1"/>
          <p:nvPr/>
        </p:nvSpPr>
        <p:spPr>
          <a:xfrm>
            <a:off x="8686800" y="685800"/>
            <a:ext cx="2743200" cy="274320"/>
          </a:xfrm>
          <a:prstGeom prst="rect">
            <a:avLst/>
          </a:prstGeom>
          <a:noFill/>
          <a:ln/>
        </p:spPr>
        <p:txBody>
          <a:bodyPr wrap="square" lIns="0" tIns="0" rIns="0" bIns="0" rtlCol="0" anchor="ctr"/>
          <a:lstStyle/>
          <a:p>
            <a:pPr indent="0" marL="0">
              <a:buNone/>
            </a:pPr>
            <a:r>
              <a:rPr lang="en-US" sz="1100" b="1" dirty="0">
                <a:solidFill>
                  <a:schemeClr val="accent1"/>
                </a:solidFill>
              </a:rPr>
              <a:t>対策</a:t>
            </a:r>
            <a:endParaRPr lang="en-US" sz="1100" dirty="0"/>
          </a:p>
        </p:txBody>
      </p:sp>
      <p:sp>
        <p:nvSpPr>
          <p:cNvPr id="9" name="row-bg-18"/>
          <p:cNvSpPr/>
          <p:nvPr/>
        </p:nvSpPr>
        <p:spPr>
          <a:xfrm>
            <a:off x="3794760" y="1051560"/>
            <a:ext cx="7848295" cy="1143000"/>
          </a:xfrm>
          <a:prstGeom prst="rect">
            <a:avLst/>
          </a:prstGeom>
          <a:solidFill>
            <a:srgbClr val="F6F2EF"/>
          </a:solidFill>
          <a:ln w="12700">
            <a:solidFill>
              <a:srgbClr val="F6F2EF"/>
            </a:solidFill>
            <a:prstDash val="solid"/>
          </a:ln>
        </p:spPr>
      </p:sp>
      <p:sp>
        <p:nvSpPr>
          <p:cNvPr id="10" name="t-19"/>
          <p:cNvSpPr txBox="1"/>
          <p:nvPr/>
        </p:nvSpPr>
        <p:spPr>
          <a:xfrm>
            <a:off x="3977640" y="1051560"/>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01</a:t>
            </a:r>
            <a:endParaRPr lang="en-US" sz="2000" dirty="0"/>
          </a:p>
        </p:txBody>
      </p:sp>
      <p:sp>
        <p:nvSpPr>
          <p:cNvPr id="11" name="t-20"/>
          <p:cNvSpPr txBox="1"/>
          <p:nvPr/>
        </p:nvSpPr>
        <p:spPr>
          <a:xfrm>
            <a:off x="4572000" y="1051560"/>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採用</a:t>
            </a:r>
            <a:endParaRPr lang="en-US" sz="1700" dirty="0"/>
          </a:p>
        </p:txBody>
      </p:sp>
      <p:sp>
        <p:nvSpPr>
          <p:cNvPr id="12" name="t-21"/>
          <p:cNvSpPr txBox="1"/>
          <p:nvPr/>
        </p:nvSpPr>
        <p:spPr>
          <a:xfrm>
            <a:off x="5943600" y="1051560"/>
            <a:ext cx="2286000" cy="1143000"/>
          </a:xfrm>
          <a:prstGeom prst="rect">
            <a:avLst/>
          </a:prstGeom>
          <a:noFill/>
          <a:ln/>
        </p:spPr>
        <p:txBody>
          <a:bodyPr wrap="square" lIns="0" tIns="0" rIns="0" bIns="0" rtlCol="0" anchor="ctr"/>
          <a:lstStyle/>
          <a:p>
            <a:pPr indent="0" marL="0">
              <a:buNone/>
            </a:pPr>
            <a:r>
              <a:rPr lang="en-US" sz="1300" dirty="0">
                <a:solidFill>
                  <a:schemeClr val="tx2"/>
                </a:solidFill>
              </a:rPr>
              <a:t>18:00〜23:30の人員が不足</a:t>
            </a:r>
            <a:endParaRPr lang="en-US" sz="1300" dirty="0"/>
          </a:p>
        </p:txBody>
      </p:sp>
      <p:sp>
        <p:nvSpPr>
          <p:cNvPr id="13" name="t-22"/>
          <p:cNvSpPr txBox="1"/>
          <p:nvPr/>
        </p:nvSpPr>
        <p:spPr>
          <a:xfrm>
            <a:off x="8321040" y="1051560"/>
            <a:ext cx="274320" cy="1143000"/>
          </a:xfrm>
          <a:prstGeom prst="rect">
            <a:avLst/>
          </a:prstGeom>
          <a:noFill/>
          <a:ln/>
        </p:spPr>
        <p:txBody>
          <a:bodyPr wrap="square" lIns="0" tIns="0" rIns="0" bIns="0" rtlCol="0" anchor="ctr"/>
          <a:lstStyle/>
          <a:p>
            <a:pPr indent="0" marL="0">
              <a:buNone/>
            </a:pPr>
            <a:r>
              <a:rPr lang="en-US" sz="1600" b="1" dirty="0">
                <a:solidFill>
                  <a:schemeClr val="accent1"/>
                </a:solidFill>
              </a:rPr>
              <a:t>→</a:t>
            </a:r>
            <a:endParaRPr lang="en-US" sz="1600" dirty="0"/>
          </a:p>
        </p:txBody>
      </p:sp>
      <p:sp>
        <p:nvSpPr>
          <p:cNvPr id="14" name="t-23"/>
          <p:cNvSpPr txBox="1"/>
          <p:nvPr/>
        </p:nvSpPr>
        <p:spPr>
          <a:xfrm>
            <a:off x="8686800" y="1051560"/>
            <a:ext cx="2240280" cy="1143000"/>
          </a:xfrm>
          <a:prstGeom prst="rect">
            <a:avLst/>
          </a:prstGeom>
          <a:noFill/>
          <a:ln/>
        </p:spPr>
        <p:txBody>
          <a:bodyPr wrap="square" lIns="0" tIns="0" rIns="0" bIns="0" rtlCol="0" anchor="ctr"/>
          <a:lstStyle/>
          <a:p>
            <a:pPr indent="0" marL="0">
              <a:buNone/>
            </a:pPr>
            <a:r>
              <a:rPr lang="en-US" sz="1400" b="1" dirty="0">
                <a:solidFill>
                  <a:schemeClr val="tx1"/>
                </a:solidFill>
              </a:rPr>
              <a:t>週末に出られる人を2〜3名採用</a:t>
            </a:r>
            <a:endParaRPr lang="en-US" sz="1400" dirty="0"/>
          </a:p>
        </p:txBody>
      </p:sp>
      <p:sp>
        <p:nvSpPr>
          <p:cNvPr id="15" name="prio-24"/>
          <p:cNvSpPr/>
          <p:nvPr/>
        </p:nvSpPr>
        <p:spPr>
          <a:xfrm>
            <a:off x="11094415" y="1421892"/>
            <a:ext cx="402336" cy="402336"/>
          </a:xfrm>
          <a:prstGeom prst="ellipse">
            <a:avLst/>
          </a:prstGeom>
          <a:solidFill>
            <a:schemeClr val="accent1"/>
          </a:solidFill>
          <a:ln w="12700">
            <a:solidFill>
              <a:schemeClr val="accent1"/>
            </a:solidFill>
            <a:prstDash val="solid"/>
          </a:ln>
        </p:spPr>
      </p:sp>
      <p:sp>
        <p:nvSpPr>
          <p:cNvPr id="16" name="t-25"/>
          <p:cNvSpPr txBox="1"/>
          <p:nvPr/>
        </p:nvSpPr>
        <p:spPr>
          <a:xfrm>
            <a:off x="11094415" y="142189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17" name="row-bg-26"/>
          <p:cNvSpPr/>
          <p:nvPr/>
        </p:nvSpPr>
        <p:spPr>
          <a:xfrm>
            <a:off x="3794760" y="2350008"/>
            <a:ext cx="7848295" cy="1143000"/>
          </a:xfrm>
          <a:prstGeom prst="rect">
            <a:avLst/>
          </a:prstGeom>
          <a:solidFill>
            <a:schemeClr val="bg1"/>
          </a:solidFill>
          <a:ln w="12700">
            <a:solidFill>
              <a:schemeClr val="bg1"/>
            </a:solidFill>
            <a:prstDash val="solid"/>
          </a:ln>
        </p:spPr>
      </p:sp>
      <p:sp>
        <p:nvSpPr>
          <p:cNvPr id="18" name="t-27"/>
          <p:cNvSpPr txBox="1"/>
          <p:nvPr/>
        </p:nvSpPr>
        <p:spPr>
          <a:xfrm>
            <a:off x="3977640" y="2350008"/>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02</a:t>
            </a:r>
            <a:endParaRPr lang="en-US" sz="2000" dirty="0"/>
          </a:p>
        </p:txBody>
      </p:sp>
      <p:sp>
        <p:nvSpPr>
          <p:cNvPr id="19" name="t-28"/>
          <p:cNvSpPr txBox="1"/>
          <p:nvPr/>
        </p:nvSpPr>
        <p:spPr>
          <a:xfrm>
            <a:off x="4572000" y="2350008"/>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シフト</a:t>
            </a:r>
            <a:endParaRPr lang="en-US" sz="1700" dirty="0"/>
          </a:p>
        </p:txBody>
      </p:sp>
      <p:sp>
        <p:nvSpPr>
          <p:cNvPr id="20" name="t-29"/>
          <p:cNvSpPr txBox="1"/>
          <p:nvPr/>
        </p:nvSpPr>
        <p:spPr>
          <a:xfrm>
            <a:off x="5943600" y="2350008"/>
            <a:ext cx="2286000" cy="1143000"/>
          </a:xfrm>
          <a:prstGeom prst="rect">
            <a:avLst/>
          </a:prstGeom>
          <a:noFill/>
          <a:ln/>
        </p:spPr>
        <p:txBody>
          <a:bodyPr wrap="square" lIns="0" tIns="0" rIns="0" bIns="0" rtlCol="0" anchor="ctr"/>
          <a:lstStyle/>
          <a:p>
            <a:pPr indent="0" marL="0">
              <a:buNone/>
            </a:pPr>
            <a:r>
              <a:rPr lang="en-US" sz="1300" dirty="0">
                <a:solidFill>
                  <a:schemeClr val="tx2"/>
                </a:solidFill>
              </a:rPr>
              <a:t>週末不足が毎月悪化・当日欠勤が増加</a:t>
            </a:r>
            <a:endParaRPr lang="en-US" sz="1300" dirty="0"/>
          </a:p>
        </p:txBody>
      </p:sp>
      <p:sp>
        <p:nvSpPr>
          <p:cNvPr id="21" name="t-30"/>
          <p:cNvSpPr txBox="1"/>
          <p:nvPr/>
        </p:nvSpPr>
        <p:spPr>
          <a:xfrm>
            <a:off x="8321040" y="2350008"/>
            <a:ext cx="274320" cy="1143000"/>
          </a:xfrm>
          <a:prstGeom prst="rect">
            <a:avLst/>
          </a:prstGeom>
          <a:noFill/>
          <a:ln/>
        </p:spPr>
        <p:txBody>
          <a:bodyPr wrap="square" lIns="0" tIns="0" rIns="0" bIns="0" rtlCol="0" anchor="ctr"/>
          <a:lstStyle/>
          <a:p>
            <a:pPr indent="0" marL="0">
              <a:buNone/>
            </a:pPr>
            <a:r>
              <a:rPr lang="en-US" sz="1600" b="1" dirty="0">
                <a:solidFill>
                  <a:schemeClr val="accent1"/>
                </a:solidFill>
              </a:rPr>
              <a:t>→</a:t>
            </a:r>
            <a:endParaRPr lang="en-US" sz="1600" dirty="0"/>
          </a:p>
        </p:txBody>
      </p:sp>
      <p:sp>
        <p:nvSpPr>
          <p:cNvPr id="22" name="t-31"/>
          <p:cNvSpPr txBox="1"/>
          <p:nvPr/>
        </p:nvSpPr>
        <p:spPr>
          <a:xfrm>
            <a:off x="8686800" y="2350008"/>
            <a:ext cx="2240280" cy="1143000"/>
          </a:xfrm>
          <a:prstGeom prst="rect">
            <a:avLst/>
          </a:prstGeom>
          <a:noFill/>
          <a:ln/>
        </p:spPr>
        <p:txBody>
          <a:bodyPr wrap="square" lIns="0" tIns="0" rIns="0" bIns="0" rtlCol="0" anchor="ctr"/>
          <a:lstStyle/>
          <a:p>
            <a:pPr indent="0" marL="0">
              <a:buNone/>
            </a:pPr>
            <a:r>
              <a:rPr lang="en-US" sz="1400" b="1" dirty="0">
                <a:solidFill>
                  <a:schemeClr val="tx1"/>
                </a:solidFill>
              </a:rPr>
              <a:t>週末ルール化とスキル表での配置</a:t>
            </a:r>
            <a:endParaRPr lang="en-US" sz="1400" dirty="0"/>
          </a:p>
        </p:txBody>
      </p:sp>
      <p:sp>
        <p:nvSpPr>
          <p:cNvPr id="23" name="prio-32"/>
          <p:cNvSpPr/>
          <p:nvPr/>
        </p:nvSpPr>
        <p:spPr>
          <a:xfrm>
            <a:off x="11094415" y="2720340"/>
            <a:ext cx="402336" cy="402336"/>
          </a:xfrm>
          <a:prstGeom prst="ellipse">
            <a:avLst/>
          </a:prstGeom>
          <a:solidFill>
            <a:schemeClr val="accent1"/>
          </a:solidFill>
          <a:ln w="12700">
            <a:solidFill>
              <a:schemeClr val="accent1"/>
            </a:solidFill>
            <a:prstDash val="solid"/>
          </a:ln>
        </p:spPr>
      </p:sp>
      <p:sp>
        <p:nvSpPr>
          <p:cNvPr id="24" name="t-33"/>
          <p:cNvSpPr txBox="1"/>
          <p:nvPr/>
        </p:nvSpPr>
        <p:spPr>
          <a:xfrm>
            <a:off x="11094415" y="2720340"/>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25" name="row-bg-34"/>
          <p:cNvSpPr/>
          <p:nvPr/>
        </p:nvSpPr>
        <p:spPr>
          <a:xfrm>
            <a:off x="3794760" y="3648456"/>
            <a:ext cx="7848295" cy="1143000"/>
          </a:xfrm>
          <a:prstGeom prst="rect">
            <a:avLst/>
          </a:prstGeom>
          <a:solidFill>
            <a:srgbClr val="F6F2EF"/>
          </a:solidFill>
          <a:ln w="12700">
            <a:solidFill>
              <a:srgbClr val="F6F2EF"/>
            </a:solidFill>
            <a:prstDash val="solid"/>
          </a:ln>
        </p:spPr>
      </p:sp>
      <p:sp>
        <p:nvSpPr>
          <p:cNvPr id="26" name="t-35"/>
          <p:cNvSpPr txBox="1"/>
          <p:nvPr/>
        </p:nvSpPr>
        <p:spPr>
          <a:xfrm>
            <a:off x="3977640" y="3648456"/>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03</a:t>
            </a:r>
            <a:endParaRPr lang="en-US" sz="2000" dirty="0"/>
          </a:p>
        </p:txBody>
      </p:sp>
      <p:sp>
        <p:nvSpPr>
          <p:cNvPr id="27" name="t-36"/>
          <p:cNvSpPr txBox="1"/>
          <p:nvPr/>
        </p:nvSpPr>
        <p:spPr>
          <a:xfrm>
            <a:off x="4572000" y="3648456"/>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人間関係</a:t>
            </a:r>
            <a:endParaRPr lang="en-US" sz="1700" dirty="0"/>
          </a:p>
        </p:txBody>
      </p:sp>
      <p:sp>
        <p:nvSpPr>
          <p:cNvPr id="28" name="t-37"/>
          <p:cNvSpPr txBox="1"/>
          <p:nvPr/>
        </p:nvSpPr>
        <p:spPr>
          <a:xfrm>
            <a:off x="5943600" y="3648456"/>
            <a:ext cx="2286000" cy="1143000"/>
          </a:xfrm>
          <a:prstGeom prst="rect">
            <a:avLst/>
          </a:prstGeom>
          <a:noFill/>
          <a:ln/>
        </p:spPr>
        <p:txBody>
          <a:bodyPr wrap="square" lIns="0" tIns="0" rIns="0" bIns="0" rtlCol="0" anchor="ctr"/>
          <a:lstStyle/>
          <a:p>
            <a:pPr indent="0" marL="0">
              <a:buNone/>
            </a:pPr>
            <a:r>
              <a:rPr lang="en-US" sz="1300" dirty="0">
                <a:solidFill>
                  <a:schemeClr val="tx2"/>
                </a:solidFill>
              </a:rPr>
              <a:t>学生とそれ以外に溝・愚痴が増加</a:t>
            </a:r>
            <a:endParaRPr lang="en-US" sz="1300" dirty="0"/>
          </a:p>
        </p:txBody>
      </p:sp>
      <p:sp>
        <p:nvSpPr>
          <p:cNvPr id="29" name="t-38"/>
          <p:cNvSpPr txBox="1"/>
          <p:nvPr/>
        </p:nvSpPr>
        <p:spPr>
          <a:xfrm>
            <a:off x="8321040" y="3648456"/>
            <a:ext cx="274320" cy="1143000"/>
          </a:xfrm>
          <a:prstGeom prst="rect">
            <a:avLst/>
          </a:prstGeom>
          <a:noFill/>
          <a:ln/>
        </p:spPr>
        <p:txBody>
          <a:bodyPr wrap="square" lIns="0" tIns="0" rIns="0" bIns="0" rtlCol="0" anchor="ctr"/>
          <a:lstStyle/>
          <a:p>
            <a:pPr indent="0" marL="0">
              <a:buNone/>
            </a:pPr>
            <a:r>
              <a:rPr lang="en-US" sz="1600" b="1" dirty="0">
                <a:solidFill>
                  <a:schemeClr val="accent1"/>
                </a:solidFill>
              </a:rPr>
              <a:t>→</a:t>
            </a:r>
            <a:endParaRPr lang="en-US" sz="1600" dirty="0"/>
          </a:p>
        </p:txBody>
      </p:sp>
      <p:sp>
        <p:nvSpPr>
          <p:cNvPr id="30" name="t-39"/>
          <p:cNvSpPr txBox="1"/>
          <p:nvPr/>
        </p:nvSpPr>
        <p:spPr>
          <a:xfrm>
            <a:off x="8686800" y="3648456"/>
            <a:ext cx="2240280" cy="1143000"/>
          </a:xfrm>
          <a:prstGeom prst="rect">
            <a:avLst/>
          </a:prstGeom>
          <a:noFill/>
          <a:ln/>
        </p:spPr>
        <p:txBody>
          <a:bodyPr wrap="square" lIns="0" tIns="0" rIns="0" bIns="0" rtlCol="0" anchor="ctr"/>
          <a:lstStyle/>
          <a:p>
            <a:pPr indent="0" marL="0">
              <a:buNone/>
            </a:pPr>
            <a:r>
              <a:rPr lang="en-US" sz="1400" b="1" dirty="0">
                <a:solidFill>
                  <a:schemeClr val="tx1"/>
                </a:solidFill>
              </a:rPr>
              <a:t>個別面談と混成配置</a:t>
            </a:r>
            <a:endParaRPr lang="en-US" sz="1400" dirty="0"/>
          </a:p>
        </p:txBody>
      </p:sp>
      <p:sp>
        <p:nvSpPr>
          <p:cNvPr id="31" name="prio-40"/>
          <p:cNvSpPr/>
          <p:nvPr/>
        </p:nvSpPr>
        <p:spPr>
          <a:xfrm>
            <a:off x="11094415" y="4018788"/>
            <a:ext cx="402336" cy="402336"/>
          </a:xfrm>
          <a:prstGeom prst="ellipse">
            <a:avLst/>
          </a:prstGeom>
          <a:solidFill>
            <a:schemeClr val="accent5"/>
          </a:solidFill>
          <a:ln w="12700">
            <a:solidFill>
              <a:schemeClr val="accent5"/>
            </a:solidFill>
            <a:prstDash val="solid"/>
          </a:ln>
        </p:spPr>
      </p:sp>
      <p:sp>
        <p:nvSpPr>
          <p:cNvPr id="32" name="t-41"/>
          <p:cNvSpPr txBox="1"/>
          <p:nvPr/>
        </p:nvSpPr>
        <p:spPr>
          <a:xfrm>
            <a:off x="11094415" y="4018788"/>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中</a:t>
            </a:r>
            <a:endParaRPr lang="en-US" sz="1200" dirty="0"/>
          </a:p>
        </p:txBody>
      </p:sp>
      <p:sp>
        <p:nvSpPr>
          <p:cNvPr id="33" name="row-bg-42"/>
          <p:cNvSpPr/>
          <p:nvPr/>
        </p:nvSpPr>
        <p:spPr>
          <a:xfrm>
            <a:off x="3794760" y="4946904"/>
            <a:ext cx="7848295" cy="1143000"/>
          </a:xfrm>
          <a:prstGeom prst="rect">
            <a:avLst/>
          </a:prstGeom>
          <a:solidFill>
            <a:schemeClr val="bg1"/>
          </a:solidFill>
          <a:ln w="12700">
            <a:solidFill>
              <a:schemeClr val="bg1"/>
            </a:solidFill>
            <a:prstDash val="solid"/>
          </a:ln>
        </p:spPr>
      </p:sp>
      <p:sp>
        <p:nvSpPr>
          <p:cNvPr id="34" name="t-43"/>
          <p:cNvSpPr txBox="1"/>
          <p:nvPr/>
        </p:nvSpPr>
        <p:spPr>
          <a:xfrm>
            <a:off x="3977640" y="4946904"/>
            <a:ext cx="548640" cy="1143000"/>
          </a:xfrm>
          <a:prstGeom prst="rect">
            <a:avLst/>
          </a:prstGeom>
          <a:noFill/>
          <a:ln/>
        </p:spPr>
        <p:txBody>
          <a:bodyPr wrap="square" lIns="0" tIns="0" rIns="0" bIns="0" rtlCol="0" anchor="ctr"/>
          <a:lstStyle/>
          <a:p>
            <a:pPr indent="0" marL="0">
              <a:buNone/>
            </a:pPr>
            <a:r>
              <a:rPr lang="en-US" sz="2000" b="1" dirty="0">
                <a:solidFill>
                  <a:schemeClr val="accent1"/>
                </a:solidFill>
              </a:rPr>
              <a:t>04</a:t>
            </a:r>
            <a:endParaRPr lang="en-US" sz="2000" dirty="0"/>
          </a:p>
        </p:txBody>
      </p:sp>
      <p:sp>
        <p:nvSpPr>
          <p:cNvPr id="35" name="t-44"/>
          <p:cNvSpPr txBox="1"/>
          <p:nvPr/>
        </p:nvSpPr>
        <p:spPr>
          <a:xfrm>
            <a:off x="4572000" y="4946904"/>
            <a:ext cx="1280160" cy="1143000"/>
          </a:xfrm>
          <a:prstGeom prst="rect">
            <a:avLst/>
          </a:prstGeom>
          <a:noFill/>
          <a:ln/>
        </p:spPr>
        <p:txBody>
          <a:bodyPr wrap="square" lIns="0" tIns="0" rIns="0" bIns="0" rtlCol="0" anchor="ctr"/>
          <a:lstStyle/>
          <a:p>
            <a:pPr indent="0" marL="0">
              <a:buNone/>
            </a:pPr>
            <a:r>
              <a:rPr lang="en-US" sz="1700" b="1" dirty="0">
                <a:solidFill>
                  <a:schemeClr val="tx1"/>
                </a:solidFill>
              </a:rPr>
              <a:t>設備</a:t>
            </a:r>
            <a:endParaRPr lang="en-US" sz="1700" dirty="0"/>
          </a:p>
        </p:txBody>
      </p:sp>
      <p:sp>
        <p:nvSpPr>
          <p:cNvPr id="36" name="t-45"/>
          <p:cNvSpPr txBox="1"/>
          <p:nvPr/>
        </p:nvSpPr>
        <p:spPr>
          <a:xfrm>
            <a:off x="5943600" y="4946904"/>
            <a:ext cx="2286000" cy="1143000"/>
          </a:xfrm>
          <a:prstGeom prst="rect">
            <a:avLst/>
          </a:prstGeom>
          <a:noFill/>
          <a:ln/>
        </p:spPr>
        <p:txBody>
          <a:bodyPr wrap="square" lIns="0" tIns="0" rIns="0" bIns="0" rtlCol="0" anchor="ctr"/>
          <a:lstStyle/>
          <a:p>
            <a:pPr indent="0" marL="0">
              <a:buNone/>
            </a:pPr>
            <a:r>
              <a:rPr lang="en-US" sz="1300" dirty="0">
                <a:solidFill>
                  <a:schemeClr val="tx2"/>
                </a:solidFill>
              </a:rPr>
              <a:t>ゆで麺器の火力低下ほか2件</a:t>
            </a:r>
            <a:endParaRPr lang="en-US" sz="1300" dirty="0"/>
          </a:p>
        </p:txBody>
      </p:sp>
      <p:sp>
        <p:nvSpPr>
          <p:cNvPr id="37" name="t-46"/>
          <p:cNvSpPr txBox="1"/>
          <p:nvPr/>
        </p:nvSpPr>
        <p:spPr>
          <a:xfrm>
            <a:off x="8321040" y="4946904"/>
            <a:ext cx="274320" cy="1143000"/>
          </a:xfrm>
          <a:prstGeom prst="rect">
            <a:avLst/>
          </a:prstGeom>
          <a:noFill/>
          <a:ln/>
        </p:spPr>
        <p:txBody>
          <a:bodyPr wrap="square" lIns="0" tIns="0" rIns="0" bIns="0" rtlCol="0" anchor="ctr"/>
          <a:lstStyle/>
          <a:p>
            <a:pPr indent="0" marL="0">
              <a:buNone/>
            </a:pPr>
            <a:r>
              <a:rPr lang="en-US" sz="1600" b="1" dirty="0">
                <a:solidFill>
                  <a:schemeClr val="accent1"/>
                </a:solidFill>
              </a:rPr>
              <a:t>→</a:t>
            </a:r>
            <a:endParaRPr lang="en-US" sz="1600" dirty="0"/>
          </a:p>
        </p:txBody>
      </p:sp>
      <p:sp>
        <p:nvSpPr>
          <p:cNvPr id="38" name="t-47"/>
          <p:cNvSpPr txBox="1"/>
          <p:nvPr/>
        </p:nvSpPr>
        <p:spPr>
          <a:xfrm>
            <a:off x="8686800" y="4946904"/>
            <a:ext cx="2240280" cy="1143000"/>
          </a:xfrm>
          <a:prstGeom prst="rect">
            <a:avLst/>
          </a:prstGeom>
          <a:noFill/>
          <a:ln/>
        </p:spPr>
        <p:txBody>
          <a:bodyPr wrap="square" lIns="0" tIns="0" rIns="0" bIns="0" rtlCol="0" anchor="ctr"/>
          <a:lstStyle/>
          <a:p>
            <a:pPr indent="0" marL="0">
              <a:buNone/>
            </a:pPr>
            <a:r>
              <a:rPr lang="en-US" sz="1400" b="1" dirty="0">
                <a:solidFill>
                  <a:schemeClr val="tx1"/>
                </a:solidFill>
              </a:rPr>
              <a:t>ゆで麺器を最優先で業者点検</a:t>
            </a:r>
            <a:endParaRPr lang="en-US" sz="1400" dirty="0"/>
          </a:p>
        </p:txBody>
      </p:sp>
      <p:sp>
        <p:nvSpPr>
          <p:cNvPr id="39" name="prio-48"/>
          <p:cNvSpPr/>
          <p:nvPr/>
        </p:nvSpPr>
        <p:spPr>
          <a:xfrm>
            <a:off x="11094415" y="5317236"/>
            <a:ext cx="402336" cy="402336"/>
          </a:xfrm>
          <a:prstGeom prst="ellipse">
            <a:avLst/>
          </a:prstGeom>
          <a:solidFill>
            <a:schemeClr val="accent1"/>
          </a:solidFill>
          <a:ln w="12700">
            <a:solidFill>
              <a:schemeClr val="accent1"/>
            </a:solidFill>
            <a:prstDash val="solid"/>
          </a:ln>
        </p:spPr>
      </p:sp>
      <p:sp>
        <p:nvSpPr>
          <p:cNvPr id="40" name="t-49"/>
          <p:cNvSpPr txBox="1"/>
          <p:nvPr/>
        </p:nvSpPr>
        <p:spPr>
          <a:xfrm>
            <a:off x="11094415" y="5317236"/>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高</a:t>
            </a:r>
            <a:endParaRPr lang="en-US" sz="1200" dirty="0"/>
          </a:p>
        </p:txBody>
      </p:sp>
      <p:sp>
        <p:nvSpPr>
          <p:cNvPr id="41" name="t-50"/>
          <p:cNvSpPr txBox="1"/>
          <p:nvPr/>
        </p:nvSpPr>
        <p:spPr>
          <a:xfrm>
            <a:off x="10911535" y="685800"/>
            <a:ext cx="731520" cy="274320"/>
          </a:xfrm>
          <a:prstGeom prst="rect">
            <a:avLst/>
          </a:prstGeom>
          <a:noFill/>
          <a:ln/>
        </p:spPr>
        <p:txBody>
          <a:bodyPr wrap="square" lIns="0" tIns="0" rIns="0" bIns="0" rtlCol="0" anchor="ctr"/>
          <a:lstStyle/>
          <a:p>
            <a:pPr algn="ctr" indent="0" marL="0">
              <a:buNone/>
            </a:pPr>
            <a:r>
              <a:rPr lang="en-US" sz="1100" b="1" dirty="0">
                <a:solidFill>
                  <a:schemeClr val="tx2"/>
                </a:solidFill>
              </a:rPr>
              <a:t>優先度</a:t>
            </a:r>
            <a:endParaRPr lang="en-US" sz="11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01</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採用</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18:00〜23:30で</a:t>
            </a:r>
            <a:endParaRPr lang="en-US" sz="1700" dirty="0"/>
          </a:p>
          <a:p>
            <a:pPr algn="l" indent="0" marL="0">
              <a:lnSpc>
                <a:spcPct val="130000"/>
              </a:lnSpc>
              <a:buNone/>
            </a:pPr>
            <a:r>
              <a:rPr lang="en-US" sz="1700" b="1" dirty="0">
                <a:solidFill>
                  <a:schemeClr val="bg1"/>
                </a:solidFill>
              </a:rPr>
              <a:t>週末に出られる人を</a:t>
            </a:r>
            <a:endParaRPr lang="en-US" sz="1700" dirty="0"/>
          </a:p>
          <a:p>
            <a:pPr algn="l" indent="0" marL="0">
              <a:lnSpc>
                <a:spcPct val="130000"/>
              </a:lnSpc>
              <a:buNone/>
            </a:pPr>
            <a:r>
              <a:rPr lang="en-US" sz="1700" b="1" dirty="0">
                <a:solidFill>
                  <a:schemeClr val="bg1"/>
                </a:solidFill>
              </a:rPr>
              <a:t>2〜3名採用する。</a:t>
            </a:r>
            <a:endParaRPr lang="en-US" sz="1700" dirty="0"/>
          </a:p>
        </p:txBody>
      </p:sp>
      <p:sp>
        <p:nvSpPr>
          <p:cNvPr id="6" name="t-51"/>
          <p:cNvSpPr txBox="1"/>
          <p:nvPr/>
        </p:nvSpPr>
        <p:spPr>
          <a:xfrm>
            <a:off x="3794760" y="685800"/>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募集人数（18:00〜23:30）</a:t>
            </a:r>
            <a:endParaRPr lang="en-US" sz="1100" dirty="0"/>
          </a:p>
        </p:txBody>
      </p:sp>
      <p:sp>
        <p:nvSpPr>
          <p:cNvPr id="7" name="pat-bg-52"/>
          <p:cNvSpPr/>
          <p:nvPr/>
        </p:nvSpPr>
        <p:spPr>
          <a:xfrm>
            <a:off x="3794760" y="1051560"/>
            <a:ext cx="7848295" cy="1280160"/>
          </a:xfrm>
          <a:prstGeom prst="rect">
            <a:avLst/>
          </a:prstGeom>
          <a:solidFill>
            <a:srgbClr val="F6F2EF"/>
          </a:solidFill>
          <a:ln w="12700">
            <a:solidFill>
              <a:srgbClr val="F6F2EF"/>
            </a:solidFill>
            <a:prstDash val="solid"/>
          </a:ln>
        </p:spPr>
      </p:sp>
      <p:sp>
        <p:nvSpPr>
          <p:cNvPr id="8" name="t-53"/>
          <p:cNvSpPr txBox="1"/>
          <p:nvPr/>
        </p:nvSpPr>
        <p:spPr>
          <a:xfrm>
            <a:off x="4023360" y="1051560"/>
            <a:ext cx="2103120" cy="1280160"/>
          </a:xfrm>
          <a:prstGeom prst="rect">
            <a:avLst/>
          </a:prstGeom>
          <a:noFill/>
          <a:ln/>
        </p:spPr>
        <p:txBody>
          <a:bodyPr wrap="square" lIns="0" tIns="0" rIns="0" bIns="0" rtlCol="0" anchor="ctr"/>
          <a:lstStyle/>
          <a:p>
            <a:pPr indent="0" marL="0">
              <a:buNone/>
            </a:pPr>
            <a:r>
              <a:rPr lang="en-US" sz="2000" b="1" dirty="0">
                <a:solidFill>
                  <a:schemeClr val="accent1"/>
                </a:solidFill>
              </a:rPr>
              <a:t>A案</a:t>
            </a:r>
            <a:endParaRPr lang="en-US" sz="2000" dirty="0"/>
          </a:p>
          <a:p>
            <a:pPr indent="0" marL="0">
              <a:buNone/>
            </a:pPr>
            <a:r>
              <a:rPr lang="en-US" sz="1100" dirty="0">
                <a:solidFill>
                  <a:schemeClr val="tx2"/>
                </a:solidFill>
              </a:rPr>
              <a:t>社保加入希望者が見つかった場合</a:t>
            </a:r>
            <a:endParaRPr lang="en-US" sz="2000" dirty="0"/>
          </a:p>
        </p:txBody>
      </p:sp>
      <p:sp>
        <p:nvSpPr>
          <p:cNvPr id="9" name="person-54"/>
          <p:cNvSpPr/>
          <p:nvPr/>
        </p:nvSpPr>
        <p:spPr>
          <a:xfrm>
            <a:off x="6217920" y="1280160"/>
            <a:ext cx="1280160" cy="822960"/>
          </a:xfrm>
          <a:prstGeom prst="rect">
            <a:avLst/>
          </a:prstGeom>
          <a:solidFill>
            <a:schemeClr val="accent1"/>
          </a:solidFill>
          <a:ln w="12700">
            <a:solidFill>
              <a:schemeClr val="accent1"/>
            </a:solidFill>
            <a:prstDash val="solid"/>
          </a:ln>
        </p:spPr>
      </p:sp>
      <p:sp>
        <p:nvSpPr>
          <p:cNvPr id="10" name="t-55"/>
          <p:cNvSpPr txBox="1"/>
          <p:nvPr/>
        </p:nvSpPr>
        <p:spPr>
          <a:xfrm>
            <a:off x="6217920" y="1280160"/>
            <a:ext cx="1280160" cy="822960"/>
          </a:xfrm>
          <a:prstGeom prst="rect">
            <a:avLst/>
          </a:prstGeom>
          <a:noFill/>
          <a:ln/>
        </p:spPr>
        <p:txBody>
          <a:bodyPr wrap="square" lIns="0" tIns="0" rIns="0" bIns="0" rtlCol="0" anchor="ctr"/>
          <a:lstStyle/>
          <a:p>
            <a:pPr algn="ctr" indent="0" marL="0">
              <a:buNone/>
            </a:pPr>
            <a:r>
              <a:rPr lang="en-US" sz="1300" b="1" dirty="0">
                <a:solidFill>
                  <a:schemeClr val="bg1"/>
                </a:solidFill>
              </a:rPr>
              <a:t>社保加入</a:t>
            </a:r>
            <a:endParaRPr lang="en-US" sz="1300" dirty="0"/>
          </a:p>
          <a:p>
            <a:pPr algn="ctr" indent="0" marL="0">
              <a:buNone/>
            </a:pPr>
            <a:r>
              <a:rPr lang="en-US" sz="1000" dirty="0">
                <a:solidFill>
                  <a:schemeClr val="bg1"/>
                </a:solidFill>
              </a:rPr>
              <a:t>週末含め出勤</a:t>
            </a:r>
            <a:endParaRPr lang="en-US" sz="1300" dirty="0"/>
          </a:p>
        </p:txBody>
      </p:sp>
      <p:sp>
        <p:nvSpPr>
          <p:cNvPr id="11" name="person-56"/>
          <p:cNvSpPr/>
          <p:nvPr/>
        </p:nvSpPr>
        <p:spPr>
          <a:xfrm>
            <a:off x="7635240" y="1280160"/>
            <a:ext cx="1280160" cy="822960"/>
          </a:xfrm>
          <a:prstGeom prst="rect">
            <a:avLst/>
          </a:prstGeom>
          <a:solidFill>
            <a:schemeClr val="bg1"/>
          </a:solidFill>
          <a:ln w="12700">
            <a:solidFill>
              <a:schemeClr val="accent1"/>
            </a:solidFill>
            <a:prstDash val="solid"/>
          </a:ln>
        </p:spPr>
      </p:sp>
      <p:sp>
        <p:nvSpPr>
          <p:cNvPr id="12" name="t-57"/>
          <p:cNvSpPr txBox="1"/>
          <p:nvPr/>
        </p:nvSpPr>
        <p:spPr>
          <a:xfrm>
            <a:off x="7635240" y="1280160"/>
            <a:ext cx="1280160" cy="822960"/>
          </a:xfrm>
          <a:prstGeom prst="rect">
            <a:avLst/>
          </a:prstGeom>
          <a:noFill/>
          <a:ln/>
        </p:spPr>
        <p:txBody>
          <a:bodyPr wrap="square" lIns="0" tIns="0" rIns="0" bIns="0" rtlCol="0" anchor="ctr"/>
          <a:lstStyle/>
          <a:p>
            <a:pPr algn="ctr" indent="0" marL="0">
              <a:buNone/>
            </a:pPr>
            <a:r>
              <a:rPr lang="en-US" sz="1300" b="1" dirty="0">
                <a:solidFill>
                  <a:schemeClr val="accent1"/>
                </a:solidFill>
              </a:rPr>
              <a:t>社保未加入</a:t>
            </a:r>
            <a:endParaRPr lang="en-US" sz="1300" dirty="0"/>
          </a:p>
          <a:p>
            <a:pPr algn="ctr" indent="0" marL="0">
              <a:buNone/>
            </a:pPr>
            <a:r>
              <a:rPr lang="en-US" sz="1000" dirty="0">
                <a:solidFill>
                  <a:schemeClr val="accent1"/>
                </a:solidFill>
              </a:rPr>
              <a:t>週末メイン</a:t>
            </a:r>
            <a:endParaRPr lang="en-US" sz="1300" dirty="0"/>
          </a:p>
        </p:txBody>
      </p:sp>
      <p:sp>
        <p:nvSpPr>
          <p:cNvPr id="13" name="t-58"/>
          <p:cNvSpPr txBox="1"/>
          <p:nvPr/>
        </p:nvSpPr>
        <p:spPr>
          <a:xfrm>
            <a:off x="10271455" y="1051560"/>
            <a:ext cx="1188720" cy="1280160"/>
          </a:xfrm>
          <a:prstGeom prst="rect">
            <a:avLst/>
          </a:prstGeom>
          <a:noFill/>
          <a:ln/>
        </p:spPr>
        <p:txBody>
          <a:bodyPr wrap="square" lIns="0" tIns="0" rIns="0" bIns="0" rtlCol="0" anchor="ctr"/>
          <a:lstStyle/>
          <a:p>
            <a:pPr algn="r" indent="0" marL="0">
              <a:buNone/>
            </a:pPr>
            <a:r>
              <a:rPr lang="en-US" sz="3000" b="1" dirty="0">
                <a:solidFill>
                  <a:schemeClr val="tx1"/>
                </a:solidFill>
              </a:rPr>
              <a:t>2名</a:t>
            </a:r>
            <a:endParaRPr lang="en-US" sz="3000" dirty="0"/>
          </a:p>
        </p:txBody>
      </p:sp>
      <p:sp>
        <p:nvSpPr>
          <p:cNvPr id="14" name="pat-bg-59"/>
          <p:cNvSpPr/>
          <p:nvPr/>
        </p:nvSpPr>
        <p:spPr>
          <a:xfrm>
            <a:off x="3794760" y="2514600"/>
            <a:ext cx="7848295" cy="1280160"/>
          </a:xfrm>
          <a:prstGeom prst="rect">
            <a:avLst/>
          </a:prstGeom>
          <a:solidFill>
            <a:srgbClr val="F6F2EF"/>
          </a:solidFill>
          <a:ln w="12700">
            <a:solidFill>
              <a:srgbClr val="F6F2EF"/>
            </a:solidFill>
            <a:prstDash val="solid"/>
          </a:ln>
        </p:spPr>
      </p:sp>
      <p:sp>
        <p:nvSpPr>
          <p:cNvPr id="15" name="t-60"/>
          <p:cNvSpPr txBox="1"/>
          <p:nvPr/>
        </p:nvSpPr>
        <p:spPr>
          <a:xfrm>
            <a:off x="4023360" y="2514600"/>
            <a:ext cx="2103120" cy="1280160"/>
          </a:xfrm>
          <a:prstGeom prst="rect">
            <a:avLst/>
          </a:prstGeom>
          <a:noFill/>
          <a:ln/>
        </p:spPr>
        <p:txBody>
          <a:bodyPr wrap="square" lIns="0" tIns="0" rIns="0" bIns="0" rtlCol="0" anchor="ctr"/>
          <a:lstStyle/>
          <a:p>
            <a:pPr indent="0" marL="0">
              <a:buNone/>
            </a:pPr>
            <a:r>
              <a:rPr lang="en-US" sz="2000" b="1" dirty="0">
                <a:solidFill>
                  <a:schemeClr val="accent1"/>
                </a:solidFill>
              </a:rPr>
              <a:t>B案</a:t>
            </a:r>
            <a:endParaRPr lang="en-US" sz="2000" dirty="0"/>
          </a:p>
          <a:p>
            <a:pPr indent="0" marL="0">
              <a:buNone/>
            </a:pPr>
            <a:r>
              <a:rPr lang="en-US" sz="1100" dirty="0">
                <a:solidFill>
                  <a:schemeClr val="tx2"/>
                </a:solidFill>
              </a:rPr>
              <a:t>社保加入希望者がいない場合</a:t>
            </a:r>
            <a:endParaRPr lang="en-US" sz="2000" dirty="0"/>
          </a:p>
        </p:txBody>
      </p:sp>
      <p:sp>
        <p:nvSpPr>
          <p:cNvPr id="16" name="person-61"/>
          <p:cNvSpPr/>
          <p:nvPr/>
        </p:nvSpPr>
        <p:spPr>
          <a:xfrm>
            <a:off x="6217920" y="2743200"/>
            <a:ext cx="1280160" cy="822960"/>
          </a:xfrm>
          <a:prstGeom prst="rect">
            <a:avLst/>
          </a:prstGeom>
          <a:solidFill>
            <a:schemeClr val="bg1"/>
          </a:solidFill>
          <a:ln w="12700">
            <a:solidFill>
              <a:schemeClr val="accent1"/>
            </a:solidFill>
            <a:prstDash val="solid"/>
          </a:ln>
        </p:spPr>
      </p:sp>
      <p:sp>
        <p:nvSpPr>
          <p:cNvPr id="17" name="t-62"/>
          <p:cNvSpPr txBox="1"/>
          <p:nvPr/>
        </p:nvSpPr>
        <p:spPr>
          <a:xfrm>
            <a:off x="6217920" y="2743200"/>
            <a:ext cx="1280160" cy="822960"/>
          </a:xfrm>
          <a:prstGeom prst="rect">
            <a:avLst/>
          </a:prstGeom>
          <a:noFill/>
          <a:ln/>
        </p:spPr>
        <p:txBody>
          <a:bodyPr wrap="square" lIns="0" tIns="0" rIns="0" bIns="0" rtlCol="0" anchor="ctr"/>
          <a:lstStyle/>
          <a:p>
            <a:pPr algn="ctr" indent="0" marL="0">
              <a:buNone/>
            </a:pPr>
            <a:r>
              <a:rPr lang="en-US" sz="1300" b="1" dirty="0">
                <a:solidFill>
                  <a:schemeClr val="accent1"/>
                </a:solidFill>
              </a:rPr>
              <a:t>社保未加入</a:t>
            </a:r>
            <a:endParaRPr lang="en-US" sz="1300" dirty="0"/>
          </a:p>
          <a:p>
            <a:pPr algn="ctr" indent="0" marL="0">
              <a:buNone/>
            </a:pPr>
            <a:r>
              <a:rPr lang="en-US" sz="1000" dirty="0">
                <a:solidFill>
                  <a:schemeClr val="accent1"/>
                </a:solidFill>
              </a:rPr>
              <a:t>週末出勤可</a:t>
            </a:r>
            <a:endParaRPr lang="en-US" sz="1300" dirty="0"/>
          </a:p>
        </p:txBody>
      </p:sp>
      <p:sp>
        <p:nvSpPr>
          <p:cNvPr id="18" name="person-63"/>
          <p:cNvSpPr/>
          <p:nvPr/>
        </p:nvSpPr>
        <p:spPr>
          <a:xfrm>
            <a:off x="7635240" y="2743200"/>
            <a:ext cx="1280160" cy="822960"/>
          </a:xfrm>
          <a:prstGeom prst="rect">
            <a:avLst/>
          </a:prstGeom>
          <a:solidFill>
            <a:schemeClr val="bg1"/>
          </a:solidFill>
          <a:ln w="12700">
            <a:solidFill>
              <a:schemeClr val="accent1"/>
            </a:solidFill>
            <a:prstDash val="solid"/>
          </a:ln>
        </p:spPr>
      </p:sp>
      <p:sp>
        <p:nvSpPr>
          <p:cNvPr id="19" name="t-64"/>
          <p:cNvSpPr txBox="1"/>
          <p:nvPr/>
        </p:nvSpPr>
        <p:spPr>
          <a:xfrm>
            <a:off x="7635240" y="2743200"/>
            <a:ext cx="1280160" cy="822960"/>
          </a:xfrm>
          <a:prstGeom prst="rect">
            <a:avLst/>
          </a:prstGeom>
          <a:noFill/>
          <a:ln/>
        </p:spPr>
        <p:txBody>
          <a:bodyPr wrap="square" lIns="0" tIns="0" rIns="0" bIns="0" rtlCol="0" anchor="ctr"/>
          <a:lstStyle/>
          <a:p>
            <a:pPr algn="ctr" indent="0" marL="0">
              <a:buNone/>
            </a:pPr>
            <a:r>
              <a:rPr lang="en-US" sz="1300" b="1" dirty="0">
                <a:solidFill>
                  <a:schemeClr val="accent1"/>
                </a:solidFill>
              </a:rPr>
              <a:t>社保未加入</a:t>
            </a:r>
            <a:endParaRPr lang="en-US" sz="1300" dirty="0"/>
          </a:p>
          <a:p>
            <a:pPr algn="ctr" indent="0" marL="0">
              <a:buNone/>
            </a:pPr>
            <a:r>
              <a:rPr lang="en-US" sz="1000" dirty="0">
                <a:solidFill>
                  <a:schemeClr val="accent1"/>
                </a:solidFill>
              </a:rPr>
              <a:t>週末出勤可</a:t>
            </a:r>
            <a:endParaRPr lang="en-US" sz="1300" dirty="0"/>
          </a:p>
        </p:txBody>
      </p:sp>
      <p:sp>
        <p:nvSpPr>
          <p:cNvPr id="20" name="person-65"/>
          <p:cNvSpPr/>
          <p:nvPr/>
        </p:nvSpPr>
        <p:spPr>
          <a:xfrm>
            <a:off x="9052560" y="2743200"/>
            <a:ext cx="1280160" cy="822960"/>
          </a:xfrm>
          <a:prstGeom prst="rect">
            <a:avLst/>
          </a:prstGeom>
          <a:solidFill>
            <a:schemeClr val="bg1"/>
          </a:solidFill>
          <a:ln w="12700">
            <a:solidFill>
              <a:schemeClr val="accent1"/>
            </a:solidFill>
            <a:prstDash val="solid"/>
          </a:ln>
        </p:spPr>
      </p:sp>
      <p:sp>
        <p:nvSpPr>
          <p:cNvPr id="21" name="t-66"/>
          <p:cNvSpPr txBox="1"/>
          <p:nvPr/>
        </p:nvSpPr>
        <p:spPr>
          <a:xfrm>
            <a:off x="9052560" y="2743200"/>
            <a:ext cx="1280160" cy="822960"/>
          </a:xfrm>
          <a:prstGeom prst="rect">
            <a:avLst/>
          </a:prstGeom>
          <a:noFill/>
          <a:ln/>
        </p:spPr>
        <p:txBody>
          <a:bodyPr wrap="square" lIns="0" tIns="0" rIns="0" bIns="0" rtlCol="0" anchor="ctr"/>
          <a:lstStyle/>
          <a:p>
            <a:pPr algn="ctr" indent="0" marL="0">
              <a:buNone/>
            </a:pPr>
            <a:r>
              <a:rPr lang="en-US" sz="1300" b="1" dirty="0">
                <a:solidFill>
                  <a:schemeClr val="accent1"/>
                </a:solidFill>
              </a:rPr>
              <a:t>社保未加入</a:t>
            </a:r>
            <a:endParaRPr lang="en-US" sz="1300" dirty="0"/>
          </a:p>
          <a:p>
            <a:pPr algn="ctr" indent="0" marL="0">
              <a:buNone/>
            </a:pPr>
            <a:r>
              <a:rPr lang="en-US" sz="1000" dirty="0">
                <a:solidFill>
                  <a:schemeClr val="accent1"/>
                </a:solidFill>
              </a:rPr>
              <a:t>週末出勤可</a:t>
            </a:r>
            <a:endParaRPr lang="en-US" sz="1300" dirty="0"/>
          </a:p>
        </p:txBody>
      </p:sp>
      <p:sp>
        <p:nvSpPr>
          <p:cNvPr id="22" name="t-67"/>
          <p:cNvSpPr txBox="1"/>
          <p:nvPr/>
        </p:nvSpPr>
        <p:spPr>
          <a:xfrm>
            <a:off x="10271455" y="2514600"/>
            <a:ext cx="1188720" cy="1280160"/>
          </a:xfrm>
          <a:prstGeom prst="rect">
            <a:avLst/>
          </a:prstGeom>
          <a:noFill/>
          <a:ln/>
        </p:spPr>
        <p:txBody>
          <a:bodyPr wrap="square" lIns="0" tIns="0" rIns="0" bIns="0" rtlCol="0" anchor="ctr"/>
          <a:lstStyle/>
          <a:p>
            <a:pPr algn="r" indent="0" marL="0">
              <a:buNone/>
            </a:pPr>
            <a:r>
              <a:rPr lang="en-US" sz="3000" b="1" dirty="0">
                <a:solidFill>
                  <a:schemeClr val="tx1"/>
                </a:solidFill>
              </a:rPr>
              <a:t>3名</a:t>
            </a:r>
            <a:endParaRPr lang="en-US" sz="3000" dirty="0"/>
          </a:p>
        </p:txBody>
      </p:sp>
      <p:sp>
        <p:nvSpPr>
          <p:cNvPr id="23" name="t-68"/>
          <p:cNvSpPr txBox="1"/>
          <p:nvPr/>
        </p:nvSpPr>
        <p:spPr>
          <a:xfrm>
            <a:off x="3794760" y="4069080"/>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対策</a:t>
            </a:r>
            <a:endParaRPr lang="en-US" sz="1100" dirty="0"/>
          </a:p>
        </p:txBody>
      </p:sp>
      <p:sp>
        <p:nvSpPr>
          <p:cNvPr id="24" name="rule-69"/>
          <p:cNvSpPr/>
          <p:nvPr/>
        </p:nvSpPr>
        <p:spPr>
          <a:xfrm>
            <a:off x="3794760" y="4389120"/>
            <a:ext cx="7848295" cy="0"/>
          </a:xfrm>
          <a:prstGeom prst="line">
            <a:avLst/>
          </a:prstGeom>
          <a:noFill/>
          <a:ln w="15875">
            <a:solidFill>
              <a:srgbClr val="B5532F"/>
            </a:solidFill>
            <a:prstDash val="solid"/>
          </a:ln>
        </p:spPr>
      </p:sp>
      <p:sp>
        <p:nvSpPr>
          <p:cNvPr id="25" name="t-70"/>
          <p:cNvSpPr txBox="1"/>
          <p:nvPr/>
        </p:nvSpPr>
        <p:spPr>
          <a:xfrm>
            <a:off x="3794760" y="4526280"/>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求人</a:t>
            </a:r>
            <a:endParaRPr lang="en-US" sz="1400" dirty="0"/>
          </a:p>
        </p:txBody>
      </p:sp>
      <p:sp>
        <p:nvSpPr>
          <p:cNvPr id="26" name="t-71"/>
          <p:cNvSpPr txBox="1"/>
          <p:nvPr/>
        </p:nvSpPr>
        <p:spPr>
          <a:xfrm>
            <a:off x="4800600" y="4526280"/>
            <a:ext cx="6842455" cy="457200"/>
          </a:xfrm>
          <a:prstGeom prst="rect">
            <a:avLst/>
          </a:prstGeom>
          <a:noFill/>
          <a:ln/>
        </p:spPr>
        <p:txBody>
          <a:bodyPr wrap="square" lIns="0" tIns="0" rIns="0" bIns="0" rtlCol="0" anchor="ctr"/>
          <a:lstStyle/>
          <a:p>
            <a:pPr indent="0" marL="0">
              <a:buNone/>
            </a:pPr>
            <a:r>
              <a:rPr lang="en-US" sz="1400" dirty="0">
                <a:solidFill>
                  <a:schemeClr val="tx1"/>
                </a:solidFill>
              </a:rPr>
              <a:t>「週末・夜間歓迎」を前面に出し、社保の条件も明記</a:t>
            </a:r>
            <a:endParaRPr lang="en-US" sz="1400" dirty="0"/>
          </a:p>
        </p:txBody>
      </p:sp>
      <p:sp>
        <p:nvSpPr>
          <p:cNvPr id="27" name="t-72"/>
          <p:cNvSpPr txBox="1"/>
          <p:nvPr/>
        </p:nvSpPr>
        <p:spPr>
          <a:xfrm>
            <a:off x="3794760" y="5074920"/>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面接</a:t>
            </a:r>
            <a:endParaRPr lang="en-US" sz="1400" dirty="0"/>
          </a:p>
        </p:txBody>
      </p:sp>
      <p:sp>
        <p:nvSpPr>
          <p:cNvPr id="28" name="t-73"/>
          <p:cNvSpPr txBox="1"/>
          <p:nvPr/>
        </p:nvSpPr>
        <p:spPr>
          <a:xfrm>
            <a:off x="4800600" y="5074920"/>
            <a:ext cx="6842455" cy="457200"/>
          </a:xfrm>
          <a:prstGeom prst="rect">
            <a:avLst/>
          </a:prstGeom>
          <a:noFill/>
          <a:ln/>
        </p:spPr>
        <p:txBody>
          <a:bodyPr wrap="square" lIns="0" tIns="0" rIns="0" bIns="0" rtlCol="0" anchor="ctr"/>
          <a:lstStyle/>
          <a:p>
            <a:pPr indent="0" marL="0">
              <a:buNone/>
            </a:pPr>
            <a:r>
              <a:rPr lang="en-US" sz="1400" dirty="0">
                <a:solidFill>
                  <a:schemeClr val="tx1"/>
                </a:solidFill>
              </a:rPr>
              <a:t>週末に月何回入れるかを必ず確認し、採用基準にする</a:t>
            </a:r>
            <a:endParaRPr lang="en-US" sz="1400" dirty="0"/>
          </a:p>
        </p:txBody>
      </p:sp>
      <p:sp>
        <p:nvSpPr>
          <p:cNvPr id="29" name="t-74"/>
          <p:cNvSpPr txBox="1"/>
          <p:nvPr/>
        </p:nvSpPr>
        <p:spPr>
          <a:xfrm>
            <a:off x="3794760" y="5623560"/>
            <a:ext cx="914400" cy="457200"/>
          </a:xfrm>
          <a:prstGeom prst="rect">
            <a:avLst/>
          </a:prstGeom>
          <a:noFill/>
          <a:ln/>
        </p:spPr>
        <p:txBody>
          <a:bodyPr wrap="square" lIns="0" tIns="0" rIns="0" bIns="0" rtlCol="0" anchor="ctr"/>
          <a:lstStyle/>
          <a:p>
            <a:pPr indent="0" marL="0">
              <a:buNone/>
            </a:pPr>
            <a:r>
              <a:rPr lang="en-US" sz="1400" b="1" dirty="0">
                <a:solidFill>
                  <a:schemeClr val="accent1"/>
                </a:solidFill>
              </a:rPr>
              <a:t>期限</a:t>
            </a:r>
            <a:endParaRPr lang="en-US" sz="1400" dirty="0"/>
          </a:p>
        </p:txBody>
      </p:sp>
      <p:sp>
        <p:nvSpPr>
          <p:cNvPr id="30" name="t-75"/>
          <p:cNvSpPr txBox="1"/>
          <p:nvPr/>
        </p:nvSpPr>
        <p:spPr>
          <a:xfrm>
            <a:off x="4800600" y="5623560"/>
            <a:ext cx="6842455" cy="457200"/>
          </a:xfrm>
          <a:prstGeom prst="rect">
            <a:avLst/>
          </a:prstGeom>
          <a:noFill/>
          <a:ln/>
        </p:spPr>
        <p:txBody>
          <a:bodyPr wrap="square" lIns="0" tIns="0" rIns="0" bIns="0" rtlCol="0" anchor="ctr"/>
          <a:lstStyle/>
          <a:p>
            <a:pPr indent="0" marL="0">
              <a:buNone/>
            </a:pPr>
            <a:r>
              <a:rPr lang="en-US" sz="1400" dirty="0">
                <a:solidFill>
                  <a:schemeClr val="tx1"/>
                </a:solidFill>
              </a:rPr>
              <a:t>10月中に掲載 → 11月シフトから戦力化</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02</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シフト</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週末の不足が</a:t>
            </a:r>
            <a:endParaRPr lang="en-US" sz="1700" dirty="0"/>
          </a:p>
          <a:p>
            <a:pPr algn="l" indent="0" marL="0">
              <a:lnSpc>
                <a:spcPct val="130000"/>
              </a:lnSpc>
              <a:buNone/>
            </a:pPr>
            <a:r>
              <a:rPr lang="en-US" sz="1700" b="1" dirty="0">
                <a:solidFill>
                  <a:schemeClr val="bg1"/>
                </a:solidFill>
              </a:rPr>
              <a:t>毎月悪化している。</a:t>
            </a:r>
            <a:endParaRPr lang="en-US" sz="1700" dirty="0"/>
          </a:p>
          <a:p>
            <a:pPr algn="l" indent="0" marL="0">
              <a:lnSpc>
                <a:spcPct val="130000"/>
              </a:lnSpc>
              <a:buNone/>
            </a:pPr>
            <a:r>
              <a:rPr lang="en-US" sz="1700" b="1" dirty="0">
                <a:solidFill>
                  <a:schemeClr val="bg1"/>
                </a:solidFill>
              </a:rPr>
              <a:t>ルールと育成で</a:t>
            </a:r>
            <a:endParaRPr lang="en-US" sz="1700" dirty="0"/>
          </a:p>
          <a:p>
            <a:pPr algn="l" indent="0" marL="0">
              <a:lnSpc>
                <a:spcPct val="130000"/>
              </a:lnSpc>
              <a:buNone/>
            </a:pPr>
            <a:r>
              <a:rPr lang="en-US" sz="1700" b="1" dirty="0">
                <a:solidFill>
                  <a:schemeClr val="bg1"/>
                </a:solidFill>
              </a:rPr>
              <a:t>立て直す。</a:t>
            </a:r>
            <a:endParaRPr lang="en-US" sz="1700" dirty="0"/>
          </a:p>
        </p:txBody>
      </p:sp>
      <p:sp>
        <p:nvSpPr>
          <p:cNvPr id="6" name="t-76"/>
          <p:cNvSpPr txBox="1"/>
          <p:nvPr/>
        </p:nvSpPr>
        <p:spPr>
          <a:xfrm>
            <a:off x="3794760" y="71323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課題</a:t>
            </a:r>
            <a:endParaRPr lang="en-US" sz="1100" dirty="0"/>
          </a:p>
        </p:txBody>
      </p:sp>
      <p:sp>
        <p:nvSpPr>
          <p:cNvPr id="7" name="t-77"/>
          <p:cNvSpPr txBox="1"/>
          <p:nvPr/>
        </p:nvSpPr>
        <p:spPr>
          <a:xfrm>
            <a:off x="3794760" y="2724912"/>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対策</a:t>
            </a:r>
            <a:endParaRPr lang="en-US" sz="1100" dirty="0"/>
          </a:p>
        </p:txBody>
      </p:sp>
      <p:sp>
        <p:nvSpPr>
          <p:cNvPr id="8" name="issue-bg-78"/>
          <p:cNvSpPr/>
          <p:nvPr/>
        </p:nvSpPr>
        <p:spPr>
          <a:xfrm>
            <a:off x="3794760" y="1097280"/>
            <a:ext cx="2433218" cy="1600200"/>
          </a:xfrm>
          <a:prstGeom prst="rect">
            <a:avLst/>
          </a:prstGeom>
          <a:solidFill>
            <a:srgbClr val="F6F2EF"/>
          </a:solidFill>
          <a:ln w="12700">
            <a:solidFill>
              <a:srgbClr val="F6F2EF"/>
            </a:solidFill>
            <a:prstDash val="solid"/>
          </a:ln>
        </p:spPr>
      </p:sp>
      <p:sp>
        <p:nvSpPr>
          <p:cNvPr id="9" name="tag-bg-79"/>
          <p:cNvSpPr/>
          <p:nvPr/>
        </p:nvSpPr>
        <p:spPr>
          <a:xfrm>
            <a:off x="5569610" y="1298448"/>
            <a:ext cx="548640" cy="256032"/>
          </a:xfrm>
          <a:prstGeom prst="rect">
            <a:avLst/>
          </a:prstGeom>
          <a:solidFill>
            <a:schemeClr val="accent1"/>
          </a:solidFill>
          <a:ln w="12700">
            <a:solidFill>
              <a:schemeClr val="accent1"/>
            </a:solidFill>
            <a:prstDash val="solid"/>
          </a:ln>
        </p:spPr>
      </p:sp>
      <p:sp>
        <p:nvSpPr>
          <p:cNvPr id="10" name="t-80"/>
          <p:cNvSpPr txBox="1"/>
          <p:nvPr/>
        </p:nvSpPr>
        <p:spPr>
          <a:xfrm>
            <a:off x="5569610" y="1298448"/>
            <a:ext cx="548640" cy="256032"/>
          </a:xfrm>
          <a:prstGeom prst="rect">
            <a:avLst/>
          </a:prstGeom>
          <a:noFill/>
          <a:ln/>
        </p:spPr>
        <p:txBody>
          <a:bodyPr wrap="square" lIns="0" tIns="0" rIns="0" bIns="0" rtlCol="0" anchor="ctr"/>
          <a:lstStyle/>
          <a:p>
            <a:pPr algn="ctr" indent="0" marL="0">
              <a:buNone/>
            </a:pPr>
            <a:r>
              <a:rPr lang="en-US" sz="900" b="1" dirty="0">
                <a:solidFill>
                  <a:schemeClr val="bg1"/>
                </a:solidFill>
              </a:rPr>
              <a:t>最優先</a:t>
            </a:r>
            <a:endParaRPr lang="en-US" sz="900" dirty="0"/>
          </a:p>
        </p:txBody>
      </p:sp>
      <p:sp>
        <p:nvSpPr>
          <p:cNvPr id="11" name="t-81"/>
          <p:cNvSpPr txBox="1"/>
          <p:nvPr/>
        </p:nvSpPr>
        <p:spPr>
          <a:xfrm>
            <a:off x="4023360" y="1280160"/>
            <a:ext cx="1518818" cy="411480"/>
          </a:xfrm>
          <a:prstGeom prst="rect">
            <a:avLst/>
          </a:prstGeom>
          <a:noFill/>
          <a:ln/>
        </p:spPr>
        <p:txBody>
          <a:bodyPr wrap="square" lIns="0" tIns="0" rIns="0" bIns="0" rtlCol="0" anchor="t"/>
          <a:lstStyle/>
          <a:p>
            <a:pPr indent="0" marL="0">
              <a:buNone/>
            </a:pPr>
            <a:r>
              <a:rPr lang="en-US" sz="1500" b="1" dirty="0">
                <a:solidFill>
                  <a:schemeClr val="tx1"/>
                </a:solidFill>
              </a:rPr>
              <a:t>週末の人手不足</a:t>
            </a:r>
            <a:endParaRPr lang="en-US" sz="1500" dirty="0"/>
          </a:p>
        </p:txBody>
      </p:sp>
      <p:sp>
        <p:nvSpPr>
          <p:cNvPr id="12" name="t-82"/>
          <p:cNvSpPr txBox="1"/>
          <p:nvPr/>
        </p:nvSpPr>
        <p:spPr>
          <a:xfrm>
            <a:off x="4023360"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毎月ひどくなっている</a:t>
            </a:r>
            <a:endParaRPr lang="en-US" sz="1200" dirty="0"/>
          </a:p>
        </p:txBody>
      </p:sp>
      <p:sp>
        <p:nvSpPr>
          <p:cNvPr id="13" name="arrow-83"/>
          <p:cNvSpPr/>
          <p:nvPr/>
        </p:nvSpPr>
        <p:spPr>
          <a:xfrm rot="10800000">
            <a:off x="4855921" y="2788920"/>
            <a:ext cx="310896" cy="201168"/>
          </a:xfrm>
          <a:prstGeom prst="triangle">
            <a:avLst/>
          </a:prstGeom>
          <a:solidFill>
            <a:schemeClr val="accent1"/>
          </a:solidFill>
          <a:ln w="12700">
            <a:solidFill>
              <a:schemeClr val="accent1"/>
            </a:solidFill>
            <a:prstDash val="solid"/>
          </a:ln>
        </p:spPr>
      </p:sp>
      <p:sp>
        <p:nvSpPr>
          <p:cNvPr id="14" name="act-bg-84"/>
          <p:cNvSpPr/>
          <p:nvPr/>
        </p:nvSpPr>
        <p:spPr>
          <a:xfrm>
            <a:off x="3794760" y="3108960"/>
            <a:ext cx="2433218" cy="2011680"/>
          </a:xfrm>
          <a:prstGeom prst="rect">
            <a:avLst/>
          </a:prstGeom>
          <a:solidFill>
            <a:schemeClr val="accent4"/>
          </a:solidFill>
          <a:ln w="12700">
            <a:solidFill>
              <a:schemeClr val="accent4"/>
            </a:solidFill>
            <a:prstDash val="solid"/>
          </a:ln>
        </p:spPr>
      </p:sp>
      <p:sp>
        <p:nvSpPr>
          <p:cNvPr id="15" name="t-85"/>
          <p:cNvSpPr txBox="1"/>
          <p:nvPr/>
        </p:nvSpPr>
        <p:spPr>
          <a:xfrm>
            <a:off x="4023360"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週末シフトをルール化</a:t>
            </a:r>
            <a:endParaRPr lang="en-US" sz="1500" dirty="0"/>
          </a:p>
        </p:txBody>
      </p:sp>
      <p:sp>
        <p:nvSpPr>
          <p:cNvPr id="16" name="t-86"/>
          <p:cNvSpPr txBox="1"/>
          <p:nvPr/>
        </p:nvSpPr>
        <p:spPr>
          <a:xfrm>
            <a:off x="4023360"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1人月◯回の週末出勤を目安に</a:t>
            </a:r>
            <a:endParaRPr lang="en-US" sz="1200" dirty="0"/>
          </a:p>
          <a:p>
            <a:pPr marL="152400" indent="-152400">
              <a:spcAft>
                <a:spcPts val="600"/>
              </a:spcAft>
              <a:buSzPct val="100000"/>
              <a:buChar char="•"/>
            </a:pPr>
            <a:r>
              <a:rPr lang="en-US" sz="1200" dirty="0">
                <a:solidFill>
                  <a:schemeClr val="tx1"/>
                </a:solidFill>
              </a:rPr>
              <a:t>シフト提出の締切を前倒し</a:t>
            </a:r>
            <a:endParaRPr lang="en-US" sz="1200" dirty="0"/>
          </a:p>
        </p:txBody>
      </p:sp>
      <p:sp>
        <p:nvSpPr>
          <p:cNvPr id="17" name="issue-bg-87"/>
          <p:cNvSpPr/>
          <p:nvPr/>
        </p:nvSpPr>
        <p:spPr>
          <a:xfrm>
            <a:off x="6502298" y="1097280"/>
            <a:ext cx="2433218" cy="1600200"/>
          </a:xfrm>
          <a:prstGeom prst="rect">
            <a:avLst/>
          </a:prstGeom>
          <a:solidFill>
            <a:srgbClr val="F6F2EF"/>
          </a:solidFill>
          <a:ln w="12700">
            <a:solidFill>
              <a:srgbClr val="F6F2EF"/>
            </a:solidFill>
            <a:prstDash val="solid"/>
          </a:ln>
        </p:spPr>
      </p:sp>
      <p:sp>
        <p:nvSpPr>
          <p:cNvPr id="18" name="t-88"/>
          <p:cNvSpPr txBox="1"/>
          <p:nvPr/>
        </p:nvSpPr>
        <p:spPr>
          <a:xfrm>
            <a:off x="6730898" y="1280160"/>
            <a:ext cx="2067458" cy="411480"/>
          </a:xfrm>
          <a:prstGeom prst="rect">
            <a:avLst/>
          </a:prstGeom>
          <a:noFill/>
          <a:ln/>
        </p:spPr>
        <p:txBody>
          <a:bodyPr wrap="square" lIns="0" tIns="0" rIns="0" bIns="0" rtlCol="0" anchor="t"/>
          <a:lstStyle/>
          <a:p>
            <a:pPr indent="0" marL="0">
              <a:buNone/>
            </a:pPr>
            <a:r>
              <a:rPr lang="en-US" sz="1500" b="1" dirty="0">
                <a:solidFill>
                  <a:schemeClr val="tx1"/>
                </a:solidFill>
              </a:rPr>
              <a:t>当日の遅刻→欠勤</a:t>
            </a:r>
            <a:endParaRPr lang="en-US" sz="1500" dirty="0"/>
          </a:p>
        </p:txBody>
      </p:sp>
      <p:sp>
        <p:nvSpPr>
          <p:cNvPr id="19" name="t-89"/>
          <p:cNvSpPr txBox="1"/>
          <p:nvPr/>
        </p:nvSpPr>
        <p:spPr>
          <a:xfrm>
            <a:off x="6730898"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柴山・杉田・酒井など、「忙しくて遅れる」から休みになるケースが増加</a:t>
            </a:r>
            <a:endParaRPr lang="en-US" sz="1200" dirty="0"/>
          </a:p>
        </p:txBody>
      </p:sp>
      <p:sp>
        <p:nvSpPr>
          <p:cNvPr id="20" name="arrow-90"/>
          <p:cNvSpPr/>
          <p:nvPr/>
        </p:nvSpPr>
        <p:spPr>
          <a:xfrm rot="10800000">
            <a:off x="7563460" y="2788920"/>
            <a:ext cx="310896" cy="201168"/>
          </a:xfrm>
          <a:prstGeom prst="triangle">
            <a:avLst/>
          </a:prstGeom>
          <a:solidFill>
            <a:schemeClr val="accent1"/>
          </a:solidFill>
          <a:ln w="12700">
            <a:solidFill>
              <a:schemeClr val="accent1"/>
            </a:solidFill>
            <a:prstDash val="solid"/>
          </a:ln>
        </p:spPr>
      </p:sp>
      <p:sp>
        <p:nvSpPr>
          <p:cNvPr id="21" name="act-bg-91"/>
          <p:cNvSpPr/>
          <p:nvPr/>
        </p:nvSpPr>
        <p:spPr>
          <a:xfrm>
            <a:off x="6502298" y="3108960"/>
            <a:ext cx="2433218" cy="2011680"/>
          </a:xfrm>
          <a:prstGeom prst="rect">
            <a:avLst/>
          </a:prstGeom>
          <a:solidFill>
            <a:schemeClr val="accent4"/>
          </a:solidFill>
          <a:ln w="12700">
            <a:solidFill>
              <a:schemeClr val="accent4"/>
            </a:solidFill>
            <a:prstDash val="solid"/>
          </a:ln>
        </p:spPr>
      </p:sp>
      <p:sp>
        <p:nvSpPr>
          <p:cNvPr id="22" name="t-92"/>
          <p:cNvSpPr txBox="1"/>
          <p:nvPr/>
        </p:nvSpPr>
        <p:spPr>
          <a:xfrm>
            <a:off x="6730898"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当日連絡ルールを徹底</a:t>
            </a:r>
            <a:endParaRPr lang="en-US" sz="1500" dirty="0"/>
          </a:p>
        </p:txBody>
      </p:sp>
      <p:sp>
        <p:nvSpPr>
          <p:cNvPr id="23" name="t-93"/>
          <p:cNvSpPr txBox="1"/>
          <p:nvPr/>
        </p:nvSpPr>
        <p:spPr>
          <a:xfrm>
            <a:off x="6730898"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連絡は出勤◯時間前までに電話</a:t>
            </a:r>
            <a:endParaRPr lang="en-US" sz="1200" dirty="0"/>
          </a:p>
          <a:p>
            <a:pPr marL="152400" indent="-152400">
              <a:spcAft>
                <a:spcPts val="600"/>
              </a:spcAft>
              <a:buSzPct val="100000"/>
              <a:buChar char="•"/>
            </a:pPr>
            <a:r>
              <a:rPr lang="en-US" sz="1200" dirty="0">
                <a:solidFill>
                  <a:schemeClr val="tx1"/>
                </a:solidFill>
              </a:rPr>
              <a:t>回数を記録し、多い人と面談</a:t>
            </a:r>
            <a:endParaRPr lang="en-US" sz="1200" dirty="0"/>
          </a:p>
        </p:txBody>
      </p:sp>
      <p:sp>
        <p:nvSpPr>
          <p:cNvPr id="24" name="issue-bg-94"/>
          <p:cNvSpPr/>
          <p:nvPr/>
        </p:nvSpPr>
        <p:spPr>
          <a:xfrm>
            <a:off x="9209837" y="1097280"/>
            <a:ext cx="2433218" cy="1600200"/>
          </a:xfrm>
          <a:prstGeom prst="rect">
            <a:avLst/>
          </a:prstGeom>
          <a:solidFill>
            <a:srgbClr val="F6F2EF"/>
          </a:solidFill>
          <a:ln w="12700">
            <a:solidFill>
              <a:srgbClr val="F6F2EF"/>
            </a:solidFill>
            <a:prstDash val="solid"/>
          </a:ln>
        </p:spPr>
      </p:sp>
      <p:sp>
        <p:nvSpPr>
          <p:cNvPr id="25" name="t-95"/>
          <p:cNvSpPr txBox="1"/>
          <p:nvPr/>
        </p:nvSpPr>
        <p:spPr>
          <a:xfrm>
            <a:off x="9438437" y="1280160"/>
            <a:ext cx="2067458" cy="411480"/>
          </a:xfrm>
          <a:prstGeom prst="rect">
            <a:avLst/>
          </a:prstGeom>
          <a:noFill/>
          <a:ln/>
        </p:spPr>
        <p:txBody>
          <a:bodyPr wrap="square" lIns="0" tIns="0" rIns="0" bIns="0" rtlCol="0" anchor="t"/>
          <a:lstStyle/>
          <a:p>
            <a:pPr indent="0" marL="0">
              <a:buNone/>
            </a:pPr>
            <a:r>
              <a:rPr lang="en-US" sz="1500" b="1" dirty="0">
                <a:solidFill>
                  <a:schemeClr val="tx1"/>
                </a:solidFill>
              </a:rPr>
              <a:t>日による戦力の偏り</a:t>
            </a:r>
            <a:endParaRPr lang="en-US" sz="1500" dirty="0"/>
          </a:p>
        </p:txBody>
      </p:sp>
      <p:sp>
        <p:nvSpPr>
          <p:cNvPr id="26" name="t-96"/>
          <p:cNvSpPr txBox="1"/>
          <p:nvPr/>
        </p:nvSpPr>
        <p:spPr>
          <a:xfrm>
            <a:off x="9438437"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ベテランと新人のバランスが取れない日が多い</a:t>
            </a:r>
            <a:endParaRPr lang="en-US" sz="1200" dirty="0"/>
          </a:p>
        </p:txBody>
      </p:sp>
      <p:sp>
        <p:nvSpPr>
          <p:cNvPr id="27" name="arrow-97"/>
          <p:cNvSpPr/>
          <p:nvPr/>
        </p:nvSpPr>
        <p:spPr>
          <a:xfrm rot="10800000">
            <a:off x="10270998" y="2788920"/>
            <a:ext cx="310896" cy="201168"/>
          </a:xfrm>
          <a:prstGeom prst="triangle">
            <a:avLst/>
          </a:prstGeom>
          <a:solidFill>
            <a:schemeClr val="accent1"/>
          </a:solidFill>
          <a:ln w="12700">
            <a:solidFill>
              <a:schemeClr val="accent1"/>
            </a:solidFill>
            <a:prstDash val="solid"/>
          </a:ln>
        </p:spPr>
      </p:sp>
      <p:sp>
        <p:nvSpPr>
          <p:cNvPr id="28" name="act-bg-98"/>
          <p:cNvSpPr/>
          <p:nvPr/>
        </p:nvSpPr>
        <p:spPr>
          <a:xfrm>
            <a:off x="9209837" y="3108960"/>
            <a:ext cx="2433218" cy="2011680"/>
          </a:xfrm>
          <a:prstGeom prst="rect">
            <a:avLst/>
          </a:prstGeom>
          <a:solidFill>
            <a:schemeClr val="accent4"/>
          </a:solidFill>
          <a:ln w="12700">
            <a:solidFill>
              <a:schemeClr val="accent4"/>
            </a:solidFill>
            <a:prstDash val="solid"/>
          </a:ln>
        </p:spPr>
      </p:sp>
      <p:sp>
        <p:nvSpPr>
          <p:cNvPr id="29" name="t-99"/>
          <p:cNvSpPr txBox="1"/>
          <p:nvPr/>
        </p:nvSpPr>
        <p:spPr>
          <a:xfrm>
            <a:off x="9438437"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スキル表で配置・育成</a:t>
            </a:r>
            <a:endParaRPr lang="en-US" sz="1500" dirty="0"/>
          </a:p>
        </p:txBody>
      </p:sp>
      <p:sp>
        <p:nvSpPr>
          <p:cNvPr id="30" name="t-100"/>
          <p:cNvSpPr txBox="1"/>
          <p:nvPr/>
        </p:nvSpPr>
        <p:spPr>
          <a:xfrm>
            <a:off x="9438437"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ポジション別に「できる／練習中」を一覧化</a:t>
            </a:r>
            <a:endParaRPr lang="en-US" sz="1200" dirty="0"/>
          </a:p>
          <a:p>
            <a:pPr marL="152400" indent="-152400">
              <a:spcAft>
                <a:spcPts val="600"/>
              </a:spcAft>
              <a:buSzPct val="100000"/>
              <a:buChar char="•"/>
            </a:pPr>
            <a:r>
              <a:rPr lang="en-US" sz="1200" dirty="0">
                <a:solidFill>
                  <a:schemeClr val="tx1"/>
                </a:solidFill>
              </a:rPr>
              <a:t>各時間帯にリーダー1名</a:t>
            </a:r>
            <a:endParaRPr lang="en-US" sz="1200" dirty="0"/>
          </a:p>
          <a:p>
            <a:pPr marL="152400" indent="-152400">
              <a:spcAft>
                <a:spcPts val="600"/>
              </a:spcAft>
              <a:buSzPct val="100000"/>
              <a:buChar char="•"/>
            </a:pPr>
            <a:r>
              <a:rPr lang="en-US" sz="1200" dirty="0">
                <a:solidFill>
                  <a:schemeClr val="tx1"/>
                </a:solidFill>
              </a:rPr>
              <a:t>平日の落ち着いた時間にOJT</a:t>
            </a:r>
            <a:endParaRPr lang="en-US" sz="1200" dirty="0"/>
          </a:p>
        </p:txBody>
      </p:sp>
      <p:sp>
        <p:nvSpPr>
          <p:cNvPr id="31" name="rule-101"/>
          <p:cNvSpPr/>
          <p:nvPr/>
        </p:nvSpPr>
        <p:spPr>
          <a:xfrm>
            <a:off x="3794760" y="5394960"/>
            <a:ext cx="7848295" cy="0"/>
          </a:xfrm>
          <a:prstGeom prst="line">
            <a:avLst/>
          </a:prstGeom>
          <a:noFill/>
          <a:ln w="9525">
            <a:solidFill>
              <a:srgbClr val="E3DCD6"/>
            </a:solidFill>
            <a:prstDash val="solid"/>
          </a:ln>
        </p:spPr>
      </p:sp>
      <p:sp>
        <p:nvSpPr>
          <p:cNvPr id="32" name="t-102"/>
          <p:cNvSpPr txBox="1"/>
          <p:nvPr/>
        </p:nvSpPr>
        <p:spPr>
          <a:xfrm>
            <a:off x="3794760" y="5504688"/>
            <a:ext cx="1371600" cy="411480"/>
          </a:xfrm>
          <a:prstGeom prst="rect">
            <a:avLst/>
          </a:prstGeom>
          <a:noFill/>
          <a:ln/>
        </p:spPr>
        <p:txBody>
          <a:bodyPr wrap="square" lIns="0" tIns="0" rIns="0" bIns="0" rtlCol="0" anchor="ctr"/>
          <a:lstStyle/>
          <a:p>
            <a:pPr indent="0" marL="0">
              <a:buNone/>
            </a:pPr>
            <a:r>
              <a:rPr lang="en-US" sz="1300" b="1" dirty="0">
                <a:solidFill>
                  <a:schemeClr val="accent3"/>
                </a:solidFill>
              </a:rPr>
              <a:t>目指す状態</a:t>
            </a:r>
            <a:endParaRPr lang="en-US" sz="1300" dirty="0"/>
          </a:p>
        </p:txBody>
      </p:sp>
      <p:sp>
        <p:nvSpPr>
          <p:cNvPr id="33" name="t-103"/>
          <p:cNvSpPr txBox="1"/>
          <p:nvPr/>
        </p:nvSpPr>
        <p:spPr>
          <a:xfrm>
            <a:off x="5212080" y="5504688"/>
            <a:ext cx="6430975" cy="411480"/>
          </a:xfrm>
          <a:prstGeom prst="rect">
            <a:avLst/>
          </a:prstGeom>
          <a:noFill/>
          <a:ln/>
        </p:spPr>
        <p:txBody>
          <a:bodyPr wrap="square" lIns="0" tIns="0" rIns="0" bIns="0" rtlCol="0" anchor="ctr"/>
          <a:lstStyle/>
          <a:p>
            <a:pPr indent="0" marL="0">
              <a:buNone/>
            </a:pPr>
            <a:r>
              <a:rPr lang="en-US" sz="1400" b="1" dirty="0">
                <a:solidFill>
                  <a:schemeClr val="tx1"/>
                </a:solidFill>
              </a:rPr>
              <a:t>週末を含め、毎日リーダー1名と必要人数がそろうシフト</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03</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人間関係</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大きなトラブルはない。</a:t>
            </a:r>
            <a:endParaRPr lang="en-US" sz="1700" dirty="0"/>
          </a:p>
          <a:p>
            <a:pPr algn="l" indent="0" marL="0">
              <a:lnSpc>
                <a:spcPct val="130000"/>
              </a:lnSpc>
              <a:buNone/>
            </a:pPr>
            <a:r>
              <a:rPr lang="en-US" sz="1700" b="1" dirty="0">
                <a:solidFill>
                  <a:schemeClr val="bg1"/>
                </a:solidFill>
              </a:rPr>
              <a:t>学生とそれ以外の</a:t>
            </a:r>
            <a:endParaRPr lang="en-US" sz="1700" dirty="0"/>
          </a:p>
          <a:p>
            <a:pPr algn="l" indent="0" marL="0">
              <a:lnSpc>
                <a:spcPct val="130000"/>
              </a:lnSpc>
              <a:buNone/>
            </a:pPr>
            <a:r>
              <a:rPr lang="en-US" sz="1700" b="1" dirty="0">
                <a:solidFill>
                  <a:schemeClr val="bg1"/>
                </a:solidFill>
              </a:rPr>
              <a:t>溝を早めに埋める。</a:t>
            </a:r>
            <a:endParaRPr lang="en-US" sz="1700" dirty="0"/>
          </a:p>
        </p:txBody>
      </p:sp>
      <p:sp>
        <p:nvSpPr>
          <p:cNvPr id="6" name="t-104"/>
          <p:cNvSpPr txBox="1"/>
          <p:nvPr/>
        </p:nvSpPr>
        <p:spPr>
          <a:xfrm>
            <a:off x="3794760" y="71323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課題</a:t>
            </a:r>
            <a:endParaRPr lang="en-US" sz="1100" dirty="0"/>
          </a:p>
        </p:txBody>
      </p:sp>
      <p:sp>
        <p:nvSpPr>
          <p:cNvPr id="7" name="t-105"/>
          <p:cNvSpPr txBox="1"/>
          <p:nvPr/>
        </p:nvSpPr>
        <p:spPr>
          <a:xfrm>
            <a:off x="3794760" y="2724912"/>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対策</a:t>
            </a:r>
            <a:endParaRPr lang="en-US" sz="1100" dirty="0"/>
          </a:p>
        </p:txBody>
      </p:sp>
      <p:sp>
        <p:nvSpPr>
          <p:cNvPr id="8" name="issue-bg-106"/>
          <p:cNvSpPr/>
          <p:nvPr/>
        </p:nvSpPr>
        <p:spPr>
          <a:xfrm>
            <a:off x="3794760" y="1097280"/>
            <a:ext cx="3786988" cy="1600200"/>
          </a:xfrm>
          <a:prstGeom prst="rect">
            <a:avLst/>
          </a:prstGeom>
          <a:solidFill>
            <a:srgbClr val="F6F2EF"/>
          </a:solidFill>
          <a:ln w="12700">
            <a:solidFill>
              <a:srgbClr val="F6F2EF"/>
            </a:solidFill>
            <a:prstDash val="solid"/>
          </a:ln>
        </p:spPr>
      </p:sp>
      <p:sp>
        <p:nvSpPr>
          <p:cNvPr id="9" name="t-107"/>
          <p:cNvSpPr txBox="1"/>
          <p:nvPr/>
        </p:nvSpPr>
        <p:spPr>
          <a:xfrm>
            <a:off x="4023360" y="1280160"/>
            <a:ext cx="3421228" cy="411480"/>
          </a:xfrm>
          <a:prstGeom prst="rect">
            <a:avLst/>
          </a:prstGeom>
          <a:noFill/>
          <a:ln/>
        </p:spPr>
        <p:txBody>
          <a:bodyPr wrap="square" lIns="0" tIns="0" rIns="0" bIns="0" rtlCol="0" anchor="t"/>
          <a:lstStyle/>
          <a:p>
            <a:pPr indent="0" marL="0">
              <a:buNone/>
            </a:pPr>
            <a:r>
              <a:rPr lang="en-US" sz="1500" b="1" dirty="0">
                <a:solidFill>
                  <a:schemeClr val="tx1"/>
                </a:solidFill>
              </a:rPr>
              <a:t>学生とそれ以外の溝</a:t>
            </a:r>
            <a:endParaRPr lang="en-US" sz="1500" dirty="0"/>
          </a:p>
        </p:txBody>
      </p:sp>
      <p:sp>
        <p:nvSpPr>
          <p:cNvPr id="10" name="t-108"/>
          <p:cNvSpPr txBox="1"/>
          <p:nvPr/>
        </p:nvSpPr>
        <p:spPr>
          <a:xfrm>
            <a:off x="4023360" y="1737360"/>
            <a:ext cx="3375508" cy="457200"/>
          </a:xfrm>
          <a:prstGeom prst="rect">
            <a:avLst/>
          </a:prstGeom>
          <a:noFill/>
          <a:ln/>
        </p:spPr>
        <p:txBody>
          <a:bodyPr wrap="square" lIns="0" tIns="0" rIns="0" bIns="0" rtlCol="0" anchor="t"/>
          <a:lstStyle/>
          <a:p>
            <a:pPr indent="0" marL="0">
              <a:buNone/>
            </a:pPr>
            <a:r>
              <a:rPr lang="en-US" sz="1200" dirty="0">
                <a:solidFill>
                  <a:schemeClr val="tx2"/>
                </a:solidFill>
              </a:rPr>
              <a:t>トラブルは聞かないが、なんとなく距離がある（蓮尾さんなど）</a:t>
            </a:r>
            <a:endParaRPr lang="en-US" sz="1200" dirty="0"/>
          </a:p>
        </p:txBody>
      </p:sp>
      <p:sp>
        <p:nvSpPr>
          <p:cNvPr id="11" name="arrow-109"/>
          <p:cNvSpPr/>
          <p:nvPr/>
        </p:nvSpPr>
        <p:spPr>
          <a:xfrm rot="10800000">
            <a:off x="5532806" y="2788920"/>
            <a:ext cx="310896" cy="201168"/>
          </a:xfrm>
          <a:prstGeom prst="triangle">
            <a:avLst/>
          </a:prstGeom>
          <a:solidFill>
            <a:schemeClr val="accent1"/>
          </a:solidFill>
          <a:ln w="12700">
            <a:solidFill>
              <a:schemeClr val="accent1"/>
            </a:solidFill>
            <a:prstDash val="solid"/>
          </a:ln>
        </p:spPr>
      </p:sp>
      <p:sp>
        <p:nvSpPr>
          <p:cNvPr id="12" name="act-bg-110"/>
          <p:cNvSpPr/>
          <p:nvPr/>
        </p:nvSpPr>
        <p:spPr>
          <a:xfrm>
            <a:off x="3794760" y="3108960"/>
            <a:ext cx="3786988" cy="2011680"/>
          </a:xfrm>
          <a:prstGeom prst="rect">
            <a:avLst/>
          </a:prstGeom>
          <a:solidFill>
            <a:schemeClr val="accent4"/>
          </a:solidFill>
          <a:ln w="12700">
            <a:solidFill>
              <a:schemeClr val="accent4"/>
            </a:solidFill>
            <a:prstDash val="solid"/>
          </a:ln>
        </p:spPr>
      </p:sp>
      <p:sp>
        <p:nvSpPr>
          <p:cNvPr id="13" name="t-111"/>
          <p:cNvSpPr txBox="1"/>
          <p:nvPr/>
        </p:nvSpPr>
        <p:spPr>
          <a:xfrm>
            <a:off x="4023360" y="3291840"/>
            <a:ext cx="3421228" cy="685800"/>
          </a:xfrm>
          <a:prstGeom prst="rect">
            <a:avLst/>
          </a:prstGeom>
          <a:noFill/>
          <a:ln/>
        </p:spPr>
        <p:txBody>
          <a:bodyPr wrap="square" lIns="0" tIns="0" rIns="0" bIns="0" rtlCol="0" anchor="t"/>
          <a:lstStyle/>
          <a:p>
            <a:pPr indent="0" marL="0">
              <a:buNone/>
            </a:pPr>
            <a:r>
              <a:rPr lang="en-US" sz="1500" b="1" dirty="0">
                <a:solidFill>
                  <a:schemeClr val="accent1"/>
                </a:solidFill>
              </a:rPr>
              <a:t>混ぜて配置・連絡を統一</a:t>
            </a:r>
            <a:endParaRPr lang="en-US" sz="1500" dirty="0"/>
          </a:p>
        </p:txBody>
      </p:sp>
      <p:sp>
        <p:nvSpPr>
          <p:cNvPr id="14" name="t-112"/>
          <p:cNvSpPr txBox="1"/>
          <p:nvPr/>
        </p:nvSpPr>
        <p:spPr>
          <a:xfrm>
            <a:off x="4023360" y="3794760"/>
            <a:ext cx="337550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シフトやペア作業で学生と一般を組み合わせる</a:t>
            </a:r>
            <a:endParaRPr lang="en-US" sz="1200" dirty="0"/>
          </a:p>
          <a:p>
            <a:pPr marL="152400" indent="-152400">
              <a:spcAft>
                <a:spcPts val="600"/>
              </a:spcAft>
              <a:buSzPct val="100000"/>
              <a:buChar char="•"/>
            </a:pPr>
            <a:r>
              <a:rPr lang="en-US" sz="1200" dirty="0">
                <a:solidFill>
                  <a:schemeClr val="tx1"/>
                </a:solidFill>
              </a:rPr>
              <a:t>連絡はノート／グループLINEに一本化</a:t>
            </a:r>
            <a:endParaRPr lang="en-US" sz="1200" dirty="0"/>
          </a:p>
          <a:p>
            <a:pPr marL="152400" indent="-152400">
              <a:spcAft>
                <a:spcPts val="600"/>
              </a:spcAft>
              <a:buSzPct val="100000"/>
              <a:buChar char="•"/>
            </a:pPr>
            <a:r>
              <a:rPr lang="en-US" sz="1200" dirty="0">
                <a:solidFill>
                  <a:schemeClr val="tx1"/>
                </a:solidFill>
              </a:rPr>
              <a:t>社員は中立の立場で関わる</a:t>
            </a:r>
            <a:endParaRPr lang="en-US" sz="1200" dirty="0"/>
          </a:p>
        </p:txBody>
      </p:sp>
      <p:sp>
        <p:nvSpPr>
          <p:cNvPr id="15" name="issue-bg-113"/>
          <p:cNvSpPr/>
          <p:nvPr/>
        </p:nvSpPr>
        <p:spPr>
          <a:xfrm>
            <a:off x="7856068" y="1097280"/>
            <a:ext cx="3786988" cy="1600200"/>
          </a:xfrm>
          <a:prstGeom prst="rect">
            <a:avLst/>
          </a:prstGeom>
          <a:solidFill>
            <a:srgbClr val="F6F2EF"/>
          </a:solidFill>
          <a:ln w="12700">
            <a:solidFill>
              <a:srgbClr val="F6F2EF"/>
            </a:solidFill>
            <a:prstDash val="solid"/>
          </a:ln>
        </p:spPr>
      </p:sp>
      <p:sp>
        <p:nvSpPr>
          <p:cNvPr id="16" name="t-114"/>
          <p:cNvSpPr txBox="1"/>
          <p:nvPr/>
        </p:nvSpPr>
        <p:spPr>
          <a:xfrm>
            <a:off x="8084668" y="1280160"/>
            <a:ext cx="3421228" cy="411480"/>
          </a:xfrm>
          <a:prstGeom prst="rect">
            <a:avLst/>
          </a:prstGeom>
          <a:noFill/>
          <a:ln/>
        </p:spPr>
        <p:txBody>
          <a:bodyPr wrap="square" lIns="0" tIns="0" rIns="0" bIns="0" rtlCol="0" anchor="t"/>
          <a:lstStyle/>
          <a:p>
            <a:pPr indent="0" marL="0">
              <a:buNone/>
            </a:pPr>
            <a:r>
              <a:rPr lang="en-US" sz="1500" b="1" dirty="0">
                <a:solidFill>
                  <a:schemeClr val="tx1"/>
                </a:solidFill>
              </a:rPr>
              <a:t>愚痴が増えている</a:t>
            </a:r>
            <a:endParaRPr lang="en-US" sz="1500" dirty="0"/>
          </a:p>
        </p:txBody>
      </p:sp>
      <p:sp>
        <p:nvSpPr>
          <p:cNvPr id="17" name="t-115"/>
          <p:cNvSpPr txBox="1"/>
          <p:nvPr/>
        </p:nvSpPr>
        <p:spPr>
          <a:xfrm>
            <a:off x="8084668" y="1737360"/>
            <a:ext cx="3375508" cy="457200"/>
          </a:xfrm>
          <a:prstGeom prst="rect">
            <a:avLst/>
          </a:prstGeom>
          <a:noFill/>
          <a:ln/>
        </p:spPr>
        <p:txBody>
          <a:bodyPr wrap="square" lIns="0" tIns="0" rIns="0" bIns="0" rtlCol="0" anchor="t"/>
          <a:lstStyle/>
          <a:p>
            <a:pPr indent="0" marL="0">
              <a:buNone/>
            </a:pPr>
            <a:r>
              <a:rPr lang="en-US" sz="1200" dirty="0">
                <a:solidFill>
                  <a:schemeClr val="tx2"/>
                </a:solidFill>
              </a:rPr>
              <a:t>萩原・篠原・青山・堀川・高嶋あたりから聞くことが増加</a:t>
            </a:r>
            <a:endParaRPr lang="en-US" sz="1200" dirty="0"/>
          </a:p>
        </p:txBody>
      </p:sp>
      <p:sp>
        <p:nvSpPr>
          <p:cNvPr id="18" name="arrow-116"/>
          <p:cNvSpPr/>
          <p:nvPr/>
        </p:nvSpPr>
        <p:spPr>
          <a:xfrm rot="10800000">
            <a:off x="9594113" y="2788920"/>
            <a:ext cx="310896" cy="201168"/>
          </a:xfrm>
          <a:prstGeom prst="triangle">
            <a:avLst/>
          </a:prstGeom>
          <a:solidFill>
            <a:schemeClr val="accent1"/>
          </a:solidFill>
          <a:ln w="12700">
            <a:solidFill>
              <a:schemeClr val="accent1"/>
            </a:solidFill>
            <a:prstDash val="solid"/>
          </a:ln>
        </p:spPr>
      </p:sp>
      <p:sp>
        <p:nvSpPr>
          <p:cNvPr id="19" name="act-bg-117"/>
          <p:cNvSpPr/>
          <p:nvPr/>
        </p:nvSpPr>
        <p:spPr>
          <a:xfrm>
            <a:off x="7856068" y="3108960"/>
            <a:ext cx="3786988" cy="2011680"/>
          </a:xfrm>
          <a:prstGeom prst="rect">
            <a:avLst/>
          </a:prstGeom>
          <a:solidFill>
            <a:schemeClr val="accent4"/>
          </a:solidFill>
          <a:ln w="12700">
            <a:solidFill>
              <a:schemeClr val="accent4"/>
            </a:solidFill>
            <a:prstDash val="solid"/>
          </a:ln>
        </p:spPr>
      </p:sp>
      <p:sp>
        <p:nvSpPr>
          <p:cNvPr id="20" name="t-118"/>
          <p:cNvSpPr txBox="1"/>
          <p:nvPr/>
        </p:nvSpPr>
        <p:spPr>
          <a:xfrm>
            <a:off x="8084668" y="3291840"/>
            <a:ext cx="3421228" cy="685800"/>
          </a:xfrm>
          <a:prstGeom prst="rect">
            <a:avLst/>
          </a:prstGeom>
          <a:noFill/>
          <a:ln/>
        </p:spPr>
        <p:txBody>
          <a:bodyPr wrap="square" lIns="0" tIns="0" rIns="0" bIns="0" rtlCol="0" anchor="t"/>
          <a:lstStyle/>
          <a:p>
            <a:pPr indent="0" marL="0">
              <a:buNone/>
            </a:pPr>
            <a:r>
              <a:rPr lang="en-US" sz="1500" b="1" dirty="0">
                <a:solidFill>
                  <a:schemeClr val="accent1"/>
                </a:solidFill>
              </a:rPr>
              <a:t>10月中に個別面談</a:t>
            </a:r>
            <a:endParaRPr lang="en-US" sz="1500" dirty="0"/>
          </a:p>
        </p:txBody>
      </p:sp>
      <p:sp>
        <p:nvSpPr>
          <p:cNvPr id="21" name="t-119"/>
          <p:cNvSpPr txBox="1"/>
          <p:nvPr/>
        </p:nvSpPr>
        <p:spPr>
          <a:xfrm>
            <a:off x="8084668" y="3794760"/>
            <a:ext cx="337550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1人15分程度で話を聞く</a:t>
            </a:r>
            <a:endParaRPr lang="en-US" sz="1200" dirty="0"/>
          </a:p>
          <a:p>
            <a:pPr marL="152400" indent="-152400">
              <a:spcAft>
                <a:spcPts val="600"/>
              </a:spcAft>
              <a:buSzPct val="100000"/>
              <a:buChar char="•"/>
            </a:pPr>
            <a:r>
              <a:rPr lang="en-US" sz="1200" dirty="0">
                <a:solidFill>
                  <a:schemeClr val="tx1"/>
                </a:solidFill>
              </a:rPr>
              <a:t>不満を「仕事量・シフト・人」に分けて整理</a:t>
            </a:r>
            <a:endParaRPr lang="en-US" sz="1200" dirty="0"/>
          </a:p>
          <a:p>
            <a:pPr marL="152400" indent="-152400">
              <a:spcAft>
                <a:spcPts val="600"/>
              </a:spcAft>
              <a:buSzPct val="100000"/>
              <a:buChar char="•"/>
            </a:pPr>
            <a:r>
              <a:rPr lang="en-US" sz="1200" dirty="0">
                <a:solidFill>
                  <a:schemeClr val="tx1"/>
                </a:solidFill>
              </a:rPr>
              <a:t>内容は社員間で共有して対応を決める</a:t>
            </a:r>
            <a:endParaRPr lang="en-US" sz="1200" dirty="0"/>
          </a:p>
        </p:txBody>
      </p:sp>
      <p:sp>
        <p:nvSpPr>
          <p:cNvPr id="22" name="rule-120"/>
          <p:cNvSpPr/>
          <p:nvPr/>
        </p:nvSpPr>
        <p:spPr>
          <a:xfrm>
            <a:off x="3794760" y="5394960"/>
            <a:ext cx="7848295" cy="0"/>
          </a:xfrm>
          <a:prstGeom prst="line">
            <a:avLst/>
          </a:prstGeom>
          <a:noFill/>
          <a:ln w="9525">
            <a:solidFill>
              <a:srgbClr val="E3DCD6"/>
            </a:solidFill>
            <a:prstDash val="solid"/>
          </a:ln>
        </p:spPr>
      </p:sp>
      <p:sp>
        <p:nvSpPr>
          <p:cNvPr id="23" name="t-121"/>
          <p:cNvSpPr txBox="1"/>
          <p:nvPr/>
        </p:nvSpPr>
        <p:spPr>
          <a:xfrm>
            <a:off x="3794760" y="5504688"/>
            <a:ext cx="1371600" cy="411480"/>
          </a:xfrm>
          <a:prstGeom prst="rect">
            <a:avLst/>
          </a:prstGeom>
          <a:noFill/>
          <a:ln/>
        </p:spPr>
        <p:txBody>
          <a:bodyPr wrap="square" lIns="0" tIns="0" rIns="0" bIns="0" rtlCol="0" anchor="ctr"/>
          <a:lstStyle/>
          <a:p>
            <a:pPr indent="0" marL="0">
              <a:buNone/>
            </a:pPr>
            <a:r>
              <a:rPr lang="en-US" sz="1300" b="1" dirty="0">
                <a:solidFill>
                  <a:schemeClr val="accent3"/>
                </a:solidFill>
              </a:rPr>
              <a:t>目指す状態</a:t>
            </a:r>
            <a:endParaRPr lang="en-US" sz="1300" dirty="0"/>
          </a:p>
        </p:txBody>
      </p:sp>
      <p:sp>
        <p:nvSpPr>
          <p:cNvPr id="24" name="t-122"/>
          <p:cNvSpPr txBox="1"/>
          <p:nvPr/>
        </p:nvSpPr>
        <p:spPr>
          <a:xfrm>
            <a:off x="5212080" y="5504688"/>
            <a:ext cx="6430975" cy="411480"/>
          </a:xfrm>
          <a:prstGeom prst="rect">
            <a:avLst/>
          </a:prstGeom>
          <a:noFill/>
          <a:ln/>
        </p:spPr>
        <p:txBody>
          <a:bodyPr wrap="square" lIns="0" tIns="0" rIns="0" bIns="0" rtlCol="0" anchor="ctr"/>
          <a:lstStyle/>
          <a:p>
            <a:pPr indent="0" marL="0">
              <a:buNone/>
            </a:pPr>
            <a:r>
              <a:rPr lang="en-US" sz="1400" b="1" dirty="0">
                <a:solidFill>
                  <a:schemeClr val="tx1"/>
                </a:solidFill>
              </a:rPr>
              <a:t>学生・一般の区別なく、相談し合える職場</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04</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設備不具合</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ゆで麺器は</a:t>
            </a:r>
            <a:endParaRPr lang="en-US" sz="1700" dirty="0"/>
          </a:p>
          <a:p>
            <a:pPr algn="l" indent="0" marL="0">
              <a:lnSpc>
                <a:spcPct val="130000"/>
              </a:lnSpc>
              <a:buNone/>
            </a:pPr>
            <a:r>
              <a:rPr lang="en-US" sz="1700" b="1" dirty="0">
                <a:solidFill>
                  <a:schemeClr val="bg1"/>
                </a:solidFill>
              </a:rPr>
              <a:t>提供停止に直結。</a:t>
            </a:r>
            <a:endParaRPr lang="en-US" sz="1700" dirty="0"/>
          </a:p>
          <a:p>
            <a:pPr algn="l" indent="0" marL="0">
              <a:lnSpc>
                <a:spcPct val="130000"/>
              </a:lnSpc>
              <a:buNone/>
            </a:pPr>
            <a:r>
              <a:rPr lang="en-US" sz="1700" b="1" dirty="0">
                <a:solidFill>
                  <a:schemeClr val="bg1"/>
                </a:solidFill>
              </a:rPr>
              <a:t>最優先で修理する。</a:t>
            </a:r>
            <a:endParaRPr lang="en-US" sz="1700" dirty="0"/>
          </a:p>
        </p:txBody>
      </p:sp>
      <p:sp>
        <p:nvSpPr>
          <p:cNvPr id="6" name="t-123"/>
          <p:cNvSpPr txBox="1"/>
          <p:nvPr/>
        </p:nvSpPr>
        <p:spPr>
          <a:xfrm>
            <a:off x="3794760" y="713232"/>
            <a:ext cx="2286000" cy="274320"/>
          </a:xfrm>
          <a:prstGeom prst="rect">
            <a:avLst/>
          </a:prstGeom>
          <a:noFill/>
          <a:ln/>
        </p:spPr>
        <p:txBody>
          <a:bodyPr wrap="square" lIns="0" tIns="0" rIns="0" bIns="0" rtlCol="0" anchor="ctr"/>
          <a:lstStyle/>
          <a:p>
            <a:pPr indent="0" marL="0">
              <a:buNone/>
            </a:pPr>
            <a:r>
              <a:rPr lang="en-US" sz="1100" b="1" spc="100" kern="0" dirty="0">
                <a:solidFill>
                  <a:schemeClr val="tx2"/>
                </a:solidFill>
              </a:rPr>
              <a:t>課題</a:t>
            </a:r>
            <a:endParaRPr lang="en-US" sz="1100" dirty="0"/>
          </a:p>
        </p:txBody>
      </p:sp>
      <p:sp>
        <p:nvSpPr>
          <p:cNvPr id="7" name="t-124"/>
          <p:cNvSpPr txBox="1"/>
          <p:nvPr/>
        </p:nvSpPr>
        <p:spPr>
          <a:xfrm>
            <a:off x="3794760" y="2724912"/>
            <a:ext cx="2286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対策</a:t>
            </a:r>
            <a:endParaRPr lang="en-US" sz="1100" dirty="0"/>
          </a:p>
        </p:txBody>
      </p:sp>
      <p:sp>
        <p:nvSpPr>
          <p:cNvPr id="8" name="issue-bg-125"/>
          <p:cNvSpPr/>
          <p:nvPr/>
        </p:nvSpPr>
        <p:spPr>
          <a:xfrm>
            <a:off x="3794760" y="1097280"/>
            <a:ext cx="2433218" cy="1600200"/>
          </a:xfrm>
          <a:prstGeom prst="rect">
            <a:avLst/>
          </a:prstGeom>
          <a:solidFill>
            <a:srgbClr val="F6F2EF"/>
          </a:solidFill>
          <a:ln w="12700">
            <a:solidFill>
              <a:srgbClr val="F6F2EF"/>
            </a:solidFill>
            <a:prstDash val="solid"/>
          </a:ln>
        </p:spPr>
      </p:sp>
      <p:sp>
        <p:nvSpPr>
          <p:cNvPr id="9" name="tag-bg-126"/>
          <p:cNvSpPr/>
          <p:nvPr/>
        </p:nvSpPr>
        <p:spPr>
          <a:xfrm>
            <a:off x="5569610" y="1298448"/>
            <a:ext cx="548640" cy="256032"/>
          </a:xfrm>
          <a:prstGeom prst="rect">
            <a:avLst/>
          </a:prstGeom>
          <a:solidFill>
            <a:schemeClr val="accent1"/>
          </a:solidFill>
          <a:ln w="12700">
            <a:solidFill>
              <a:schemeClr val="accent1"/>
            </a:solidFill>
            <a:prstDash val="solid"/>
          </a:ln>
        </p:spPr>
      </p:sp>
      <p:sp>
        <p:nvSpPr>
          <p:cNvPr id="10" name="t-127"/>
          <p:cNvSpPr txBox="1"/>
          <p:nvPr/>
        </p:nvSpPr>
        <p:spPr>
          <a:xfrm>
            <a:off x="5569610" y="1298448"/>
            <a:ext cx="548640" cy="256032"/>
          </a:xfrm>
          <a:prstGeom prst="rect">
            <a:avLst/>
          </a:prstGeom>
          <a:noFill/>
          <a:ln/>
        </p:spPr>
        <p:txBody>
          <a:bodyPr wrap="square" lIns="0" tIns="0" rIns="0" bIns="0" rtlCol="0" anchor="ctr"/>
          <a:lstStyle/>
          <a:p>
            <a:pPr algn="ctr" indent="0" marL="0">
              <a:buNone/>
            </a:pPr>
            <a:r>
              <a:rPr lang="en-US" sz="900" b="1" dirty="0">
                <a:solidFill>
                  <a:schemeClr val="bg1"/>
                </a:solidFill>
              </a:rPr>
              <a:t>最優先</a:t>
            </a:r>
            <a:endParaRPr lang="en-US" sz="900" dirty="0"/>
          </a:p>
        </p:txBody>
      </p:sp>
      <p:sp>
        <p:nvSpPr>
          <p:cNvPr id="11" name="t-128"/>
          <p:cNvSpPr txBox="1"/>
          <p:nvPr/>
        </p:nvSpPr>
        <p:spPr>
          <a:xfrm>
            <a:off x="4023360" y="1280160"/>
            <a:ext cx="1518818" cy="411480"/>
          </a:xfrm>
          <a:prstGeom prst="rect">
            <a:avLst/>
          </a:prstGeom>
          <a:noFill/>
          <a:ln/>
        </p:spPr>
        <p:txBody>
          <a:bodyPr wrap="square" lIns="0" tIns="0" rIns="0" bIns="0" rtlCol="0" anchor="t"/>
          <a:lstStyle/>
          <a:p>
            <a:pPr indent="0" marL="0">
              <a:buNone/>
            </a:pPr>
            <a:r>
              <a:rPr lang="en-US" sz="1500" b="1" dirty="0">
                <a:solidFill>
                  <a:schemeClr val="tx1"/>
                </a:solidFill>
              </a:rPr>
              <a:t>ゆで麺器</a:t>
            </a:r>
            <a:endParaRPr lang="en-US" sz="1500" dirty="0"/>
          </a:p>
        </p:txBody>
      </p:sp>
      <p:sp>
        <p:nvSpPr>
          <p:cNvPr id="12" name="t-129"/>
          <p:cNvSpPr txBox="1"/>
          <p:nvPr/>
        </p:nvSpPr>
        <p:spPr>
          <a:xfrm>
            <a:off x="4023360"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急に火力が落ちて沸き上がらないことがある。冷凍麺が増えると提供不可</a:t>
            </a:r>
            <a:endParaRPr lang="en-US" sz="1200" dirty="0"/>
          </a:p>
        </p:txBody>
      </p:sp>
      <p:sp>
        <p:nvSpPr>
          <p:cNvPr id="13" name="arrow-130"/>
          <p:cNvSpPr/>
          <p:nvPr/>
        </p:nvSpPr>
        <p:spPr>
          <a:xfrm rot="10800000">
            <a:off x="4855921" y="2788920"/>
            <a:ext cx="310896" cy="201168"/>
          </a:xfrm>
          <a:prstGeom prst="triangle">
            <a:avLst/>
          </a:prstGeom>
          <a:solidFill>
            <a:schemeClr val="accent1"/>
          </a:solidFill>
          <a:ln w="12700">
            <a:solidFill>
              <a:schemeClr val="accent1"/>
            </a:solidFill>
            <a:prstDash val="solid"/>
          </a:ln>
        </p:spPr>
      </p:sp>
      <p:sp>
        <p:nvSpPr>
          <p:cNvPr id="14" name="act-bg-131"/>
          <p:cNvSpPr/>
          <p:nvPr/>
        </p:nvSpPr>
        <p:spPr>
          <a:xfrm>
            <a:off x="3794760" y="3108960"/>
            <a:ext cx="2433218" cy="2011680"/>
          </a:xfrm>
          <a:prstGeom prst="rect">
            <a:avLst/>
          </a:prstGeom>
          <a:solidFill>
            <a:schemeClr val="accent4"/>
          </a:solidFill>
          <a:ln w="12700">
            <a:solidFill>
              <a:schemeClr val="accent4"/>
            </a:solidFill>
            <a:prstDash val="solid"/>
          </a:ln>
        </p:spPr>
      </p:sp>
      <p:sp>
        <p:nvSpPr>
          <p:cNvPr id="15" name="t-132"/>
          <p:cNvSpPr txBox="1"/>
          <p:nvPr/>
        </p:nvSpPr>
        <p:spPr>
          <a:xfrm>
            <a:off x="4023360"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業者点検を依頼</a:t>
            </a:r>
            <a:endParaRPr lang="en-US" sz="1500" dirty="0"/>
          </a:p>
        </p:txBody>
      </p:sp>
      <p:sp>
        <p:nvSpPr>
          <p:cNvPr id="16" name="t-133"/>
          <p:cNvSpPr txBox="1"/>
          <p:nvPr/>
        </p:nvSpPr>
        <p:spPr>
          <a:xfrm>
            <a:off x="4023360"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10月上旬に点検・修理</a:t>
            </a:r>
            <a:endParaRPr lang="en-US" sz="1200" dirty="0"/>
          </a:p>
          <a:p>
            <a:pPr marL="152400" indent="-152400">
              <a:spcAft>
                <a:spcPts val="600"/>
              </a:spcAft>
              <a:buSzPct val="100000"/>
              <a:buChar char="•"/>
            </a:pPr>
            <a:r>
              <a:rPr lang="en-US" sz="1200" dirty="0">
                <a:solidFill>
                  <a:schemeClr val="tx1"/>
                </a:solidFill>
              </a:rPr>
              <a:t>修理までは鍋で茹でるなど代替手順を決める</a:t>
            </a:r>
            <a:endParaRPr lang="en-US" sz="1200" dirty="0"/>
          </a:p>
        </p:txBody>
      </p:sp>
      <p:sp>
        <p:nvSpPr>
          <p:cNvPr id="17" name="issue-bg-134"/>
          <p:cNvSpPr/>
          <p:nvPr/>
        </p:nvSpPr>
        <p:spPr>
          <a:xfrm>
            <a:off x="6502298" y="1097280"/>
            <a:ext cx="2433218" cy="1600200"/>
          </a:xfrm>
          <a:prstGeom prst="rect">
            <a:avLst/>
          </a:prstGeom>
          <a:solidFill>
            <a:srgbClr val="F6F2EF"/>
          </a:solidFill>
          <a:ln w="12700">
            <a:solidFill>
              <a:srgbClr val="F6F2EF"/>
            </a:solidFill>
            <a:prstDash val="solid"/>
          </a:ln>
        </p:spPr>
      </p:sp>
      <p:sp>
        <p:nvSpPr>
          <p:cNvPr id="18" name="t-135"/>
          <p:cNvSpPr txBox="1"/>
          <p:nvPr/>
        </p:nvSpPr>
        <p:spPr>
          <a:xfrm>
            <a:off x="6730898" y="1280160"/>
            <a:ext cx="2067458" cy="411480"/>
          </a:xfrm>
          <a:prstGeom prst="rect">
            <a:avLst/>
          </a:prstGeom>
          <a:noFill/>
          <a:ln/>
        </p:spPr>
        <p:txBody>
          <a:bodyPr wrap="square" lIns="0" tIns="0" rIns="0" bIns="0" rtlCol="0" anchor="t"/>
          <a:lstStyle/>
          <a:p>
            <a:pPr indent="0" marL="0">
              <a:buNone/>
            </a:pPr>
            <a:r>
              <a:rPr lang="en-US" sz="1500" b="1" dirty="0">
                <a:solidFill>
                  <a:schemeClr val="tx1"/>
                </a:solidFill>
              </a:rPr>
              <a:t>窓側コンセント</a:t>
            </a:r>
            <a:endParaRPr lang="en-US" sz="1500" dirty="0"/>
          </a:p>
        </p:txBody>
      </p:sp>
      <p:sp>
        <p:nvSpPr>
          <p:cNvPr id="19" name="t-136"/>
          <p:cNvSpPr txBox="1"/>
          <p:nvPr/>
        </p:nvSpPr>
        <p:spPr>
          <a:xfrm>
            <a:off x="6730898"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1カ所が不調。テープで使用禁止中（数は足りている）</a:t>
            </a:r>
            <a:endParaRPr lang="en-US" sz="1200" dirty="0"/>
          </a:p>
        </p:txBody>
      </p:sp>
      <p:sp>
        <p:nvSpPr>
          <p:cNvPr id="20" name="arrow-137"/>
          <p:cNvSpPr/>
          <p:nvPr/>
        </p:nvSpPr>
        <p:spPr>
          <a:xfrm rot="10800000">
            <a:off x="7563460" y="2788920"/>
            <a:ext cx="310896" cy="201168"/>
          </a:xfrm>
          <a:prstGeom prst="triangle">
            <a:avLst/>
          </a:prstGeom>
          <a:solidFill>
            <a:schemeClr val="accent1"/>
          </a:solidFill>
          <a:ln w="12700">
            <a:solidFill>
              <a:schemeClr val="accent1"/>
            </a:solidFill>
            <a:prstDash val="solid"/>
          </a:ln>
        </p:spPr>
      </p:sp>
      <p:sp>
        <p:nvSpPr>
          <p:cNvPr id="21" name="act-bg-138"/>
          <p:cNvSpPr/>
          <p:nvPr/>
        </p:nvSpPr>
        <p:spPr>
          <a:xfrm>
            <a:off x="6502298" y="3108960"/>
            <a:ext cx="2433218" cy="2011680"/>
          </a:xfrm>
          <a:prstGeom prst="rect">
            <a:avLst/>
          </a:prstGeom>
          <a:solidFill>
            <a:schemeClr val="accent4"/>
          </a:solidFill>
          <a:ln w="12700">
            <a:solidFill>
              <a:schemeClr val="accent4"/>
            </a:solidFill>
            <a:prstDash val="solid"/>
          </a:ln>
        </p:spPr>
      </p:sp>
      <p:sp>
        <p:nvSpPr>
          <p:cNvPr id="22" name="t-139"/>
          <p:cNvSpPr txBox="1"/>
          <p:nvPr/>
        </p:nvSpPr>
        <p:spPr>
          <a:xfrm>
            <a:off x="6730898"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施設管理に修理依頼</a:t>
            </a:r>
            <a:endParaRPr lang="en-US" sz="1500" dirty="0"/>
          </a:p>
        </p:txBody>
      </p:sp>
      <p:sp>
        <p:nvSpPr>
          <p:cNvPr id="23" name="t-140"/>
          <p:cNvSpPr txBox="1"/>
          <p:nvPr/>
        </p:nvSpPr>
        <p:spPr>
          <a:xfrm>
            <a:off x="6730898"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発火などの危険があるため放置しない</a:t>
            </a:r>
            <a:endParaRPr lang="en-US" sz="1200" dirty="0"/>
          </a:p>
          <a:p>
            <a:pPr marL="152400" indent="-152400">
              <a:spcAft>
                <a:spcPts val="600"/>
              </a:spcAft>
              <a:buSzPct val="100000"/>
              <a:buChar char="•"/>
            </a:pPr>
            <a:r>
              <a:rPr lang="en-US" sz="1200" dirty="0">
                <a:solidFill>
                  <a:schemeClr val="tx1"/>
                </a:solidFill>
              </a:rPr>
              <a:t>修理まで使用禁止の表示を継続</a:t>
            </a:r>
            <a:endParaRPr lang="en-US" sz="1200" dirty="0"/>
          </a:p>
        </p:txBody>
      </p:sp>
      <p:sp>
        <p:nvSpPr>
          <p:cNvPr id="24" name="issue-bg-141"/>
          <p:cNvSpPr/>
          <p:nvPr/>
        </p:nvSpPr>
        <p:spPr>
          <a:xfrm>
            <a:off x="9209837" y="1097280"/>
            <a:ext cx="2433218" cy="1600200"/>
          </a:xfrm>
          <a:prstGeom prst="rect">
            <a:avLst/>
          </a:prstGeom>
          <a:solidFill>
            <a:srgbClr val="F6F2EF"/>
          </a:solidFill>
          <a:ln w="12700">
            <a:solidFill>
              <a:srgbClr val="F6F2EF"/>
            </a:solidFill>
            <a:prstDash val="solid"/>
          </a:ln>
        </p:spPr>
      </p:sp>
      <p:sp>
        <p:nvSpPr>
          <p:cNvPr id="25" name="t-142"/>
          <p:cNvSpPr txBox="1"/>
          <p:nvPr/>
        </p:nvSpPr>
        <p:spPr>
          <a:xfrm>
            <a:off x="9438437" y="1280160"/>
            <a:ext cx="2067458" cy="411480"/>
          </a:xfrm>
          <a:prstGeom prst="rect">
            <a:avLst/>
          </a:prstGeom>
          <a:noFill/>
          <a:ln/>
        </p:spPr>
        <p:txBody>
          <a:bodyPr wrap="square" lIns="0" tIns="0" rIns="0" bIns="0" rtlCol="0" anchor="t"/>
          <a:lstStyle/>
          <a:p>
            <a:pPr indent="0" marL="0">
              <a:buNone/>
            </a:pPr>
            <a:r>
              <a:rPr lang="en-US" sz="1500" b="1" dirty="0">
                <a:solidFill>
                  <a:schemeClr val="tx1"/>
                </a:solidFill>
              </a:rPr>
              <a:t>入口すぐの蛇口</a:t>
            </a:r>
            <a:endParaRPr lang="en-US" sz="1500" dirty="0"/>
          </a:p>
        </p:txBody>
      </p:sp>
      <p:sp>
        <p:nvSpPr>
          <p:cNvPr id="26" name="t-143"/>
          <p:cNvSpPr txBox="1"/>
          <p:nvPr/>
        </p:nvSpPr>
        <p:spPr>
          <a:xfrm>
            <a:off x="9438437" y="1737360"/>
            <a:ext cx="2021738" cy="457200"/>
          </a:xfrm>
          <a:prstGeom prst="rect">
            <a:avLst/>
          </a:prstGeom>
          <a:noFill/>
          <a:ln/>
        </p:spPr>
        <p:txBody>
          <a:bodyPr wrap="square" lIns="0" tIns="0" rIns="0" bIns="0" rtlCol="0" anchor="t"/>
          <a:lstStyle/>
          <a:p>
            <a:pPr indent="0" marL="0">
              <a:buNone/>
            </a:pPr>
            <a:r>
              <a:rPr lang="en-US" sz="1200" dirty="0">
                <a:solidFill>
                  <a:schemeClr val="tx2"/>
                </a:solidFill>
              </a:rPr>
              <a:t>キッチンに入ってすぐの蛇口に不具合</a:t>
            </a:r>
            <a:endParaRPr lang="en-US" sz="1200" dirty="0"/>
          </a:p>
        </p:txBody>
      </p:sp>
      <p:sp>
        <p:nvSpPr>
          <p:cNvPr id="27" name="arrow-144"/>
          <p:cNvSpPr/>
          <p:nvPr/>
        </p:nvSpPr>
        <p:spPr>
          <a:xfrm rot="10800000">
            <a:off x="10270998" y="2788920"/>
            <a:ext cx="310896" cy="201168"/>
          </a:xfrm>
          <a:prstGeom prst="triangle">
            <a:avLst/>
          </a:prstGeom>
          <a:solidFill>
            <a:schemeClr val="accent1"/>
          </a:solidFill>
          <a:ln w="12700">
            <a:solidFill>
              <a:schemeClr val="accent1"/>
            </a:solidFill>
            <a:prstDash val="solid"/>
          </a:ln>
        </p:spPr>
      </p:sp>
      <p:sp>
        <p:nvSpPr>
          <p:cNvPr id="28" name="act-bg-145"/>
          <p:cNvSpPr/>
          <p:nvPr/>
        </p:nvSpPr>
        <p:spPr>
          <a:xfrm>
            <a:off x="9209837" y="3108960"/>
            <a:ext cx="2433218" cy="2011680"/>
          </a:xfrm>
          <a:prstGeom prst="rect">
            <a:avLst/>
          </a:prstGeom>
          <a:solidFill>
            <a:schemeClr val="accent4"/>
          </a:solidFill>
          <a:ln w="12700">
            <a:solidFill>
              <a:schemeClr val="accent4"/>
            </a:solidFill>
            <a:prstDash val="solid"/>
          </a:ln>
        </p:spPr>
      </p:sp>
      <p:sp>
        <p:nvSpPr>
          <p:cNvPr id="29" name="t-146"/>
          <p:cNvSpPr txBox="1"/>
          <p:nvPr/>
        </p:nvSpPr>
        <p:spPr>
          <a:xfrm>
            <a:off x="9438437" y="3291840"/>
            <a:ext cx="2067458" cy="685800"/>
          </a:xfrm>
          <a:prstGeom prst="rect">
            <a:avLst/>
          </a:prstGeom>
          <a:noFill/>
          <a:ln/>
        </p:spPr>
        <p:txBody>
          <a:bodyPr wrap="square" lIns="0" tIns="0" rIns="0" bIns="0" rtlCol="0" anchor="t"/>
          <a:lstStyle/>
          <a:p>
            <a:pPr indent="0" marL="0">
              <a:buNone/>
            </a:pPr>
            <a:r>
              <a:rPr lang="en-US" sz="1500" b="1" dirty="0">
                <a:solidFill>
                  <a:schemeClr val="accent1"/>
                </a:solidFill>
              </a:rPr>
              <a:t>症状を確認し修理依頼</a:t>
            </a:r>
            <a:endParaRPr lang="en-US" sz="1500" dirty="0"/>
          </a:p>
        </p:txBody>
      </p:sp>
      <p:sp>
        <p:nvSpPr>
          <p:cNvPr id="30" name="t-147"/>
          <p:cNvSpPr txBox="1"/>
          <p:nvPr/>
        </p:nvSpPr>
        <p:spPr>
          <a:xfrm>
            <a:off x="9438437" y="3794760"/>
            <a:ext cx="2021738" cy="118872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chemeClr val="tx1"/>
                </a:solidFill>
              </a:rPr>
              <a:t>水漏れ・閉まりにくい等の症状を記録</a:t>
            </a:r>
            <a:endParaRPr lang="en-US" sz="1200" dirty="0"/>
          </a:p>
          <a:p>
            <a:pPr marL="152400" indent="-152400">
              <a:spcAft>
                <a:spcPts val="600"/>
              </a:spcAft>
              <a:buSzPct val="100000"/>
              <a:buChar char="•"/>
            </a:pPr>
            <a:r>
              <a:rPr lang="en-US" sz="1200" dirty="0">
                <a:solidFill>
                  <a:schemeClr val="tx1"/>
                </a:solidFill>
              </a:rPr>
              <a:t>コンセントと合わせて依頼</a:t>
            </a:r>
            <a:endParaRPr lang="en-US" sz="1200" dirty="0"/>
          </a:p>
        </p:txBody>
      </p:sp>
      <p:sp>
        <p:nvSpPr>
          <p:cNvPr id="31" name="rule-148"/>
          <p:cNvSpPr/>
          <p:nvPr/>
        </p:nvSpPr>
        <p:spPr>
          <a:xfrm>
            <a:off x="3794760" y="5394960"/>
            <a:ext cx="7848295" cy="0"/>
          </a:xfrm>
          <a:prstGeom prst="line">
            <a:avLst/>
          </a:prstGeom>
          <a:noFill/>
          <a:ln w="9525">
            <a:solidFill>
              <a:srgbClr val="E3DCD6"/>
            </a:solidFill>
            <a:prstDash val="solid"/>
          </a:ln>
        </p:spPr>
      </p:sp>
      <p:sp>
        <p:nvSpPr>
          <p:cNvPr id="32" name="t-149"/>
          <p:cNvSpPr txBox="1"/>
          <p:nvPr/>
        </p:nvSpPr>
        <p:spPr>
          <a:xfrm>
            <a:off x="3794760" y="5504688"/>
            <a:ext cx="1371600" cy="411480"/>
          </a:xfrm>
          <a:prstGeom prst="rect">
            <a:avLst/>
          </a:prstGeom>
          <a:noFill/>
          <a:ln/>
        </p:spPr>
        <p:txBody>
          <a:bodyPr wrap="square" lIns="0" tIns="0" rIns="0" bIns="0" rtlCol="0" anchor="ctr"/>
          <a:lstStyle/>
          <a:p>
            <a:pPr indent="0" marL="0">
              <a:buNone/>
            </a:pPr>
            <a:r>
              <a:rPr lang="en-US" sz="1300" b="1" dirty="0">
                <a:solidFill>
                  <a:schemeClr val="accent3"/>
                </a:solidFill>
              </a:rPr>
              <a:t>目指す状態</a:t>
            </a:r>
            <a:endParaRPr lang="en-US" sz="1300" dirty="0"/>
          </a:p>
        </p:txBody>
      </p:sp>
      <p:sp>
        <p:nvSpPr>
          <p:cNvPr id="33" name="t-150"/>
          <p:cNvSpPr txBox="1"/>
          <p:nvPr/>
        </p:nvSpPr>
        <p:spPr>
          <a:xfrm>
            <a:off x="5212080" y="5504688"/>
            <a:ext cx="6430975" cy="411480"/>
          </a:xfrm>
          <a:prstGeom prst="rect">
            <a:avLst/>
          </a:prstGeom>
          <a:noFill/>
          <a:ln/>
        </p:spPr>
        <p:txBody>
          <a:bodyPr wrap="square" lIns="0" tIns="0" rIns="0" bIns="0" rtlCol="0" anchor="ctr"/>
          <a:lstStyle/>
          <a:p>
            <a:pPr indent="0" marL="0">
              <a:buNone/>
            </a:pPr>
            <a:r>
              <a:rPr lang="en-US" sz="1400" b="1" dirty="0">
                <a:solidFill>
                  <a:schemeClr val="tx1"/>
                </a:solidFill>
              </a:rPr>
              <a:t>コラボの繁忙期でも提供が止まらない厨房</a:t>
            </a:r>
            <a:endParaRPr lang="en-US" sz="1400" dirty="0"/>
          </a:p>
        </p:txBody>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02920" y="685800"/>
            <a:ext cx="2377440" cy="914400"/>
          </a:xfrm>
          <a:prstGeom prst="rect">
            <a:avLst/>
          </a:prstGeom>
          <a:noFill/>
          <a:ln/>
        </p:spPr>
        <p:txBody>
          <a:bodyPr wrap="square" lIns="0" tIns="0" rIns="0" bIns="0" rtlCol="0" anchor="t"/>
          <a:lstStyle/>
          <a:p>
            <a:pPr algn="l" indent="0" marL="0">
              <a:buNone/>
            </a:pPr>
            <a:r>
              <a:rPr lang="en-US" sz="5400" b="1" dirty="0">
                <a:solidFill>
                  <a:schemeClr val="accent4"/>
                </a:solidFill>
              </a:rPr>
              <a:t>05</a:t>
            </a:r>
            <a:endParaRPr lang="en-US" sz="5400" dirty="0"/>
          </a:p>
        </p:txBody>
      </p:sp>
      <p:sp>
        <p:nvSpPr>
          <p:cNvPr id="3" name="Text 1"/>
          <p:cNvSpPr/>
          <p:nvPr>
            <p:ph idx="102" type="title" hasCustomPrompt="1"/>
          </p:nvPr>
        </p:nvSpPr>
        <p:spPr>
          <a:xfrm>
            <a:off x="502920" y="1691640"/>
            <a:ext cx="2377440" cy="548640"/>
          </a:xfrm>
          <a:prstGeom prst="rect">
            <a:avLst/>
          </a:prstGeom>
          <a:noFill/>
          <a:ln/>
        </p:spPr>
        <p:txBody>
          <a:bodyPr wrap="square" lIns="0" tIns="0" rIns="0" bIns="0" rtlCol="0" anchor="t"/>
          <a:lstStyle/>
          <a:p>
            <a:pPr algn="l" indent="0" marL="0">
              <a:buNone/>
            </a:pPr>
            <a:r>
              <a:rPr lang="en-US" sz="2600" b="1" dirty="0">
                <a:solidFill>
                  <a:schemeClr val="bg1"/>
                </a:solidFill>
              </a:rPr>
              <a:t>10月の動き</a:t>
            </a:r>
            <a:endParaRPr lang="en-US" sz="2600" dirty="0"/>
          </a:p>
        </p:txBody>
      </p:sp>
      <p:sp>
        <p:nvSpPr>
          <p:cNvPr id="4" name="Text 1"/>
          <p:cNvSpPr/>
          <p:nvPr>
            <p:ph idx="103" type="body" hasCustomPrompt="1"/>
          </p:nvPr>
        </p:nvSpPr>
        <p:spPr>
          <a:xfrm>
            <a:off x="502920" y="2514600"/>
            <a:ext cx="2377440" cy="2377440"/>
          </a:xfrm>
          <a:prstGeom prst="rect">
            <a:avLst/>
          </a:prstGeom>
          <a:noFill/>
          <a:ln/>
        </p:spPr>
        <p:txBody>
          <a:bodyPr wrap="square" lIns="0" tIns="0" rIns="0" bIns="0" rtlCol="0" anchor="t"/>
          <a:lstStyle/>
          <a:p>
            <a:pPr algn="l" indent="0" marL="0">
              <a:lnSpc>
                <a:spcPct val="130000"/>
              </a:lnSpc>
              <a:buNone/>
            </a:pPr>
            <a:r>
              <a:rPr lang="en-US" sz="1700" b="1" dirty="0">
                <a:solidFill>
                  <a:schemeClr val="bg1"/>
                </a:solidFill>
              </a:rPr>
              <a:t>上旬に設備、</a:t>
            </a:r>
            <a:endParaRPr lang="en-US" sz="1700" dirty="0"/>
          </a:p>
          <a:p>
            <a:pPr algn="l" indent="0" marL="0">
              <a:lnSpc>
                <a:spcPct val="130000"/>
              </a:lnSpc>
              <a:buNone/>
            </a:pPr>
            <a:r>
              <a:rPr lang="en-US" sz="1700" b="1" dirty="0">
                <a:solidFill>
                  <a:schemeClr val="bg1"/>
                </a:solidFill>
              </a:rPr>
              <a:t>中旬に採用とルール、</a:t>
            </a:r>
            <a:endParaRPr lang="en-US" sz="1700" dirty="0"/>
          </a:p>
          <a:p>
            <a:pPr algn="l" indent="0" marL="0">
              <a:lnSpc>
                <a:spcPct val="130000"/>
              </a:lnSpc>
              <a:buNone/>
            </a:pPr>
            <a:r>
              <a:rPr lang="en-US" sz="1700" b="1" dirty="0">
                <a:solidFill>
                  <a:schemeClr val="bg1"/>
                </a:solidFill>
              </a:rPr>
              <a:t>下旬に面談と</a:t>
            </a:r>
            <a:endParaRPr lang="en-US" sz="1700" dirty="0"/>
          </a:p>
          <a:p>
            <a:pPr algn="l" indent="0" marL="0">
              <a:lnSpc>
                <a:spcPct val="130000"/>
              </a:lnSpc>
              <a:buNone/>
            </a:pPr>
            <a:r>
              <a:rPr lang="en-US" sz="1700" b="1" dirty="0">
                <a:solidFill>
                  <a:schemeClr val="bg1"/>
                </a:solidFill>
              </a:rPr>
              <a:t>スキル表。</a:t>
            </a:r>
            <a:endParaRPr lang="en-US" sz="1700" dirty="0"/>
          </a:p>
        </p:txBody>
      </p:sp>
      <p:sp>
        <p:nvSpPr>
          <p:cNvPr id="6" name="rule-151"/>
          <p:cNvSpPr/>
          <p:nvPr/>
        </p:nvSpPr>
        <p:spPr>
          <a:xfrm>
            <a:off x="3794760" y="1234440"/>
            <a:ext cx="7848295" cy="0"/>
          </a:xfrm>
          <a:prstGeom prst="line">
            <a:avLst/>
          </a:prstGeom>
          <a:noFill/>
          <a:ln w="25400">
            <a:solidFill>
              <a:srgbClr val="B5532F"/>
            </a:solidFill>
            <a:prstDash val="solid"/>
          </a:ln>
        </p:spPr>
      </p:sp>
      <p:sp>
        <p:nvSpPr>
          <p:cNvPr id="7" name="dot-152"/>
          <p:cNvSpPr/>
          <p:nvPr/>
        </p:nvSpPr>
        <p:spPr>
          <a:xfrm>
            <a:off x="3794760" y="1124712"/>
            <a:ext cx="219456" cy="219456"/>
          </a:xfrm>
          <a:prstGeom prst="ellipse">
            <a:avLst/>
          </a:prstGeom>
          <a:solidFill>
            <a:schemeClr val="accent1"/>
          </a:solidFill>
          <a:ln w="25400">
            <a:solidFill>
              <a:schemeClr val="bg1"/>
            </a:solidFill>
            <a:prstDash val="solid"/>
          </a:ln>
        </p:spPr>
      </p:sp>
      <p:sp>
        <p:nvSpPr>
          <p:cNvPr id="8" name="t-153"/>
          <p:cNvSpPr txBox="1"/>
          <p:nvPr/>
        </p:nvSpPr>
        <p:spPr>
          <a:xfrm>
            <a:off x="4114800" y="685800"/>
            <a:ext cx="2067458" cy="365760"/>
          </a:xfrm>
          <a:prstGeom prst="rect">
            <a:avLst/>
          </a:prstGeom>
          <a:noFill/>
          <a:ln/>
        </p:spPr>
        <p:txBody>
          <a:bodyPr wrap="square" lIns="0" tIns="0" rIns="0" bIns="0" rtlCol="0" anchor="ctr"/>
          <a:lstStyle/>
          <a:p>
            <a:pPr indent="0" marL="0">
              <a:buNone/>
            </a:pPr>
            <a:r>
              <a:rPr lang="en-US" sz="1800" b="1" dirty="0">
                <a:solidFill>
                  <a:schemeClr val="accent1"/>
                </a:solidFill>
              </a:rPr>
              <a:t>10月上旬</a:t>
            </a:r>
            <a:endParaRPr lang="en-US" sz="1800" dirty="0"/>
          </a:p>
        </p:txBody>
      </p:sp>
      <p:sp>
        <p:nvSpPr>
          <p:cNvPr id="9" name="task-bg-154"/>
          <p:cNvSpPr/>
          <p:nvPr/>
        </p:nvSpPr>
        <p:spPr>
          <a:xfrm>
            <a:off x="3794760" y="1600200"/>
            <a:ext cx="2433218" cy="1965960"/>
          </a:xfrm>
          <a:prstGeom prst="rect">
            <a:avLst/>
          </a:prstGeom>
          <a:solidFill>
            <a:srgbClr val="F6F2EF"/>
          </a:solidFill>
          <a:ln w="12700">
            <a:solidFill>
              <a:srgbClr val="F6F2EF"/>
            </a:solidFill>
            <a:prstDash val="solid"/>
          </a:ln>
        </p:spPr>
      </p:sp>
      <p:sp>
        <p:nvSpPr>
          <p:cNvPr id="10" name="t-155"/>
          <p:cNvSpPr txBox="1"/>
          <p:nvPr/>
        </p:nvSpPr>
        <p:spPr>
          <a:xfrm>
            <a:off x="4023360" y="178308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設備</a:t>
            </a:r>
            <a:endParaRPr lang="en-US" sz="1100" dirty="0"/>
          </a:p>
        </p:txBody>
      </p:sp>
      <p:sp>
        <p:nvSpPr>
          <p:cNvPr id="11" name="t-156"/>
          <p:cNvSpPr txBox="1"/>
          <p:nvPr/>
        </p:nvSpPr>
        <p:spPr>
          <a:xfrm>
            <a:off x="4023360" y="2103120"/>
            <a:ext cx="1976018" cy="868680"/>
          </a:xfrm>
          <a:prstGeom prst="rect">
            <a:avLst/>
          </a:prstGeom>
          <a:noFill/>
          <a:ln/>
        </p:spPr>
        <p:txBody>
          <a:bodyPr wrap="square" lIns="0" tIns="0" rIns="0" bIns="0" rtlCol="0" anchor="t"/>
          <a:lstStyle/>
          <a:p>
            <a:pPr indent="0" marL="0">
              <a:buNone/>
            </a:pPr>
            <a:r>
              <a:rPr lang="en-US" sz="1500" b="1" dirty="0">
                <a:solidFill>
                  <a:schemeClr val="tx1"/>
                </a:solidFill>
              </a:rPr>
              <a:t>ゆで麺器の業者点検・修理依頼</a:t>
            </a:r>
            <a:endParaRPr lang="en-US" sz="1500" dirty="0"/>
          </a:p>
        </p:txBody>
      </p:sp>
      <p:sp>
        <p:nvSpPr>
          <p:cNvPr id="12" name="t-157"/>
          <p:cNvSpPr txBox="1"/>
          <p:nvPr/>
        </p:nvSpPr>
        <p:spPr>
          <a:xfrm>
            <a:off x="4023360" y="306324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13" name="rule-158"/>
          <p:cNvSpPr/>
          <p:nvPr/>
        </p:nvSpPr>
        <p:spPr>
          <a:xfrm>
            <a:off x="4617720" y="3337560"/>
            <a:ext cx="1381658" cy="0"/>
          </a:xfrm>
          <a:prstGeom prst="line">
            <a:avLst/>
          </a:prstGeom>
          <a:noFill/>
          <a:ln w="9525">
            <a:solidFill>
              <a:srgbClr val="9A918B"/>
            </a:solidFill>
            <a:prstDash val="solid"/>
          </a:ln>
        </p:spPr>
      </p:sp>
      <p:sp>
        <p:nvSpPr>
          <p:cNvPr id="14" name="task-bg-159"/>
          <p:cNvSpPr/>
          <p:nvPr/>
        </p:nvSpPr>
        <p:spPr>
          <a:xfrm>
            <a:off x="3794760" y="3794760"/>
            <a:ext cx="2433218" cy="1965960"/>
          </a:xfrm>
          <a:prstGeom prst="rect">
            <a:avLst/>
          </a:prstGeom>
          <a:solidFill>
            <a:srgbClr val="F6F2EF"/>
          </a:solidFill>
          <a:ln w="12700">
            <a:solidFill>
              <a:srgbClr val="F6F2EF"/>
            </a:solidFill>
            <a:prstDash val="solid"/>
          </a:ln>
        </p:spPr>
      </p:sp>
      <p:sp>
        <p:nvSpPr>
          <p:cNvPr id="15" name="t-160"/>
          <p:cNvSpPr txBox="1"/>
          <p:nvPr/>
        </p:nvSpPr>
        <p:spPr>
          <a:xfrm>
            <a:off x="4023360" y="397764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設備</a:t>
            </a:r>
            <a:endParaRPr lang="en-US" sz="1100" dirty="0"/>
          </a:p>
        </p:txBody>
      </p:sp>
      <p:sp>
        <p:nvSpPr>
          <p:cNvPr id="16" name="t-161"/>
          <p:cNvSpPr txBox="1"/>
          <p:nvPr/>
        </p:nvSpPr>
        <p:spPr>
          <a:xfrm>
            <a:off x="4023360" y="4297680"/>
            <a:ext cx="1976018" cy="868680"/>
          </a:xfrm>
          <a:prstGeom prst="rect">
            <a:avLst/>
          </a:prstGeom>
          <a:noFill/>
          <a:ln/>
        </p:spPr>
        <p:txBody>
          <a:bodyPr wrap="square" lIns="0" tIns="0" rIns="0" bIns="0" rtlCol="0" anchor="t"/>
          <a:lstStyle/>
          <a:p>
            <a:pPr indent="0" marL="0">
              <a:buNone/>
            </a:pPr>
            <a:r>
              <a:rPr lang="en-US" sz="1500" b="1" dirty="0">
                <a:solidFill>
                  <a:schemeClr val="tx1"/>
                </a:solidFill>
              </a:rPr>
              <a:t>コンセント・蛇口の修理依頼</a:t>
            </a:r>
            <a:endParaRPr lang="en-US" sz="1500" dirty="0"/>
          </a:p>
        </p:txBody>
      </p:sp>
      <p:sp>
        <p:nvSpPr>
          <p:cNvPr id="17" name="t-162"/>
          <p:cNvSpPr txBox="1"/>
          <p:nvPr/>
        </p:nvSpPr>
        <p:spPr>
          <a:xfrm>
            <a:off x="4023360" y="525780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18" name="rule-163"/>
          <p:cNvSpPr/>
          <p:nvPr/>
        </p:nvSpPr>
        <p:spPr>
          <a:xfrm>
            <a:off x="4617720" y="5532120"/>
            <a:ext cx="1381658" cy="0"/>
          </a:xfrm>
          <a:prstGeom prst="line">
            <a:avLst/>
          </a:prstGeom>
          <a:noFill/>
          <a:ln w="9525">
            <a:solidFill>
              <a:srgbClr val="9A918B"/>
            </a:solidFill>
            <a:prstDash val="solid"/>
          </a:ln>
        </p:spPr>
      </p:sp>
      <p:sp>
        <p:nvSpPr>
          <p:cNvPr id="19" name="dot-164"/>
          <p:cNvSpPr/>
          <p:nvPr/>
        </p:nvSpPr>
        <p:spPr>
          <a:xfrm>
            <a:off x="6502298" y="1124712"/>
            <a:ext cx="219456" cy="219456"/>
          </a:xfrm>
          <a:prstGeom prst="ellipse">
            <a:avLst/>
          </a:prstGeom>
          <a:solidFill>
            <a:schemeClr val="accent1"/>
          </a:solidFill>
          <a:ln w="25400">
            <a:solidFill>
              <a:schemeClr val="bg1"/>
            </a:solidFill>
            <a:prstDash val="solid"/>
          </a:ln>
        </p:spPr>
      </p:sp>
      <p:sp>
        <p:nvSpPr>
          <p:cNvPr id="20" name="t-165"/>
          <p:cNvSpPr txBox="1"/>
          <p:nvPr/>
        </p:nvSpPr>
        <p:spPr>
          <a:xfrm>
            <a:off x="6822338" y="685800"/>
            <a:ext cx="2067458" cy="365760"/>
          </a:xfrm>
          <a:prstGeom prst="rect">
            <a:avLst/>
          </a:prstGeom>
          <a:noFill/>
          <a:ln/>
        </p:spPr>
        <p:txBody>
          <a:bodyPr wrap="square" lIns="0" tIns="0" rIns="0" bIns="0" rtlCol="0" anchor="ctr"/>
          <a:lstStyle/>
          <a:p>
            <a:pPr indent="0" marL="0">
              <a:buNone/>
            </a:pPr>
            <a:r>
              <a:rPr lang="en-US" sz="1800" b="1" dirty="0">
                <a:solidFill>
                  <a:schemeClr val="accent1"/>
                </a:solidFill>
              </a:rPr>
              <a:t>10月中旬</a:t>
            </a:r>
            <a:endParaRPr lang="en-US" sz="1800" dirty="0"/>
          </a:p>
        </p:txBody>
      </p:sp>
      <p:sp>
        <p:nvSpPr>
          <p:cNvPr id="21" name="task-bg-166"/>
          <p:cNvSpPr/>
          <p:nvPr/>
        </p:nvSpPr>
        <p:spPr>
          <a:xfrm>
            <a:off x="6502298" y="1600200"/>
            <a:ext cx="2433218" cy="1965960"/>
          </a:xfrm>
          <a:prstGeom prst="rect">
            <a:avLst/>
          </a:prstGeom>
          <a:solidFill>
            <a:srgbClr val="F6F2EF"/>
          </a:solidFill>
          <a:ln w="12700">
            <a:solidFill>
              <a:srgbClr val="F6F2EF"/>
            </a:solidFill>
            <a:prstDash val="solid"/>
          </a:ln>
        </p:spPr>
      </p:sp>
      <p:sp>
        <p:nvSpPr>
          <p:cNvPr id="22" name="t-167"/>
          <p:cNvSpPr txBox="1"/>
          <p:nvPr/>
        </p:nvSpPr>
        <p:spPr>
          <a:xfrm>
            <a:off x="6730898" y="178308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採用</a:t>
            </a:r>
            <a:endParaRPr lang="en-US" sz="1100" dirty="0"/>
          </a:p>
        </p:txBody>
      </p:sp>
      <p:sp>
        <p:nvSpPr>
          <p:cNvPr id="23" name="t-168"/>
          <p:cNvSpPr txBox="1"/>
          <p:nvPr/>
        </p:nvSpPr>
        <p:spPr>
          <a:xfrm>
            <a:off x="6730898" y="2103120"/>
            <a:ext cx="1976018" cy="868680"/>
          </a:xfrm>
          <a:prstGeom prst="rect">
            <a:avLst/>
          </a:prstGeom>
          <a:noFill/>
          <a:ln/>
        </p:spPr>
        <p:txBody>
          <a:bodyPr wrap="square" lIns="0" tIns="0" rIns="0" bIns="0" rtlCol="0" anchor="t"/>
          <a:lstStyle/>
          <a:p>
            <a:pPr indent="0" marL="0">
              <a:buNone/>
            </a:pPr>
            <a:r>
              <a:rPr lang="en-US" sz="1500" b="1" dirty="0">
                <a:solidFill>
                  <a:schemeClr val="tx1"/>
                </a:solidFill>
              </a:rPr>
              <a:t>求人掲載（週末・夜間を前面に）</a:t>
            </a:r>
            <a:endParaRPr lang="en-US" sz="1500" dirty="0"/>
          </a:p>
        </p:txBody>
      </p:sp>
      <p:sp>
        <p:nvSpPr>
          <p:cNvPr id="24" name="t-169"/>
          <p:cNvSpPr txBox="1"/>
          <p:nvPr/>
        </p:nvSpPr>
        <p:spPr>
          <a:xfrm>
            <a:off x="6730898" y="306324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25" name="rule-170"/>
          <p:cNvSpPr/>
          <p:nvPr/>
        </p:nvSpPr>
        <p:spPr>
          <a:xfrm>
            <a:off x="7325258" y="3337560"/>
            <a:ext cx="1381658" cy="0"/>
          </a:xfrm>
          <a:prstGeom prst="line">
            <a:avLst/>
          </a:prstGeom>
          <a:noFill/>
          <a:ln w="9525">
            <a:solidFill>
              <a:srgbClr val="9A918B"/>
            </a:solidFill>
            <a:prstDash val="solid"/>
          </a:ln>
        </p:spPr>
      </p:sp>
      <p:sp>
        <p:nvSpPr>
          <p:cNvPr id="26" name="task-bg-171"/>
          <p:cNvSpPr/>
          <p:nvPr/>
        </p:nvSpPr>
        <p:spPr>
          <a:xfrm>
            <a:off x="6502298" y="3794760"/>
            <a:ext cx="2433218" cy="1965960"/>
          </a:xfrm>
          <a:prstGeom prst="rect">
            <a:avLst/>
          </a:prstGeom>
          <a:solidFill>
            <a:srgbClr val="F6F2EF"/>
          </a:solidFill>
          <a:ln w="12700">
            <a:solidFill>
              <a:srgbClr val="F6F2EF"/>
            </a:solidFill>
            <a:prstDash val="solid"/>
          </a:ln>
        </p:spPr>
      </p:sp>
      <p:sp>
        <p:nvSpPr>
          <p:cNvPr id="27" name="t-172"/>
          <p:cNvSpPr txBox="1"/>
          <p:nvPr/>
        </p:nvSpPr>
        <p:spPr>
          <a:xfrm>
            <a:off x="6730898" y="397764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シフト</a:t>
            </a:r>
            <a:endParaRPr lang="en-US" sz="1100" dirty="0"/>
          </a:p>
        </p:txBody>
      </p:sp>
      <p:sp>
        <p:nvSpPr>
          <p:cNvPr id="28" name="t-173"/>
          <p:cNvSpPr txBox="1"/>
          <p:nvPr/>
        </p:nvSpPr>
        <p:spPr>
          <a:xfrm>
            <a:off x="6730898" y="4297680"/>
            <a:ext cx="1976018" cy="868680"/>
          </a:xfrm>
          <a:prstGeom prst="rect">
            <a:avLst/>
          </a:prstGeom>
          <a:noFill/>
          <a:ln/>
        </p:spPr>
        <p:txBody>
          <a:bodyPr wrap="square" lIns="0" tIns="0" rIns="0" bIns="0" rtlCol="0" anchor="t"/>
          <a:lstStyle/>
          <a:p>
            <a:pPr indent="0" marL="0">
              <a:buNone/>
            </a:pPr>
            <a:r>
              <a:rPr lang="en-US" sz="1500" b="1" dirty="0">
                <a:solidFill>
                  <a:schemeClr val="tx1"/>
                </a:solidFill>
              </a:rPr>
              <a:t>週末ルール・当日連絡ルールを決定・周知</a:t>
            </a:r>
            <a:endParaRPr lang="en-US" sz="1500" dirty="0"/>
          </a:p>
        </p:txBody>
      </p:sp>
      <p:sp>
        <p:nvSpPr>
          <p:cNvPr id="29" name="t-174"/>
          <p:cNvSpPr txBox="1"/>
          <p:nvPr/>
        </p:nvSpPr>
        <p:spPr>
          <a:xfrm>
            <a:off x="6730898" y="525780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30" name="rule-175"/>
          <p:cNvSpPr/>
          <p:nvPr/>
        </p:nvSpPr>
        <p:spPr>
          <a:xfrm>
            <a:off x="7325258" y="5532120"/>
            <a:ext cx="1381658" cy="0"/>
          </a:xfrm>
          <a:prstGeom prst="line">
            <a:avLst/>
          </a:prstGeom>
          <a:noFill/>
          <a:ln w="9525">
            <a:solidFill>
              <a:srgbClr val="9A918B"/>
            </a:solidFill>
            <a:prstDash val="solid"/>
          </a:ln>
        </p:spPr>
      </p:sp>
      <p:sp>
        <p:nvSpPr>
          <p:cNvPr id="31" name="dot-176"/>
          <p:cNvSpPr/>
          <p:nvPr/>
        </p:nvSpPr>
        <p:spPr>
          <a:xfrm>
            <a:off x="9209837" y="1124712"/>
            <a:ext cx="219456" cy="219456"/>
          </a:xfrm>
          <a:prstGeom prst="ellipse">
            <a:avLst/>
          </a:prstGeom>
          <a:solidFill>
            <a:schemeClr val="accent1"/>
          </a:solidFill>
          <a:ln w="25400">
            <a:solidFill>
              <a:schemeClr val="bg1"/>
            </a:solidFill>
            <a:prstDash val="solid"/>
          </a:ln>
        </p:spPr>
      </p:sp>
      <p:sp>
        <p:nvSpPr>
          <p:cNvPr id="32" name="t-177"/>
          <p:cNvSpPr txBox="1"/>
          <p:nvPr/>
        </p:nvSpPr>
        <p:spPr>
          <a:xfrm>
            <a:off x="9529877" y="685800"/>
            <a:ext cx="2067458" cy="365760"/>
          </a:xfrm>
          <a:prstGeom prst="rect">
            <a:avLst/>
          </a:prstGeom>
          <a:noFill/>
          <a:ln/>
        </p:spPr>
        <p:txBody>
          <a:bodyPr wrap="square" lIns="0" tIns="0" rIns="0" bIns="0" rtlCol="0" anchor="ctr"/>
          <a:lstStyle/>
          <a:p>
            <a:pPr indent="0" marL="0">
              <a:buNone/>
            </a:pPr>
            <a:r>
              <a:rPr lang="en-US" sz="1800" b="1" dirty="0">
                <a:solidFill>
                  <a:schemeClr val="accent1"/>
                </a:solidFill>
              </a:rPr>
              <a:t>10月下旬</a:t>
            </a:r>
            <a:endParaRPr lang="en-US" sz="1800" dirty="0"/>
          </a:p>
        </p:txBody>
      </p:sp>
      <p:sp>
        <p:nvSpPr>
          <p:cNvPr id="33" name="task-bg-178"/>
          <p:cNvSpPr/>
          <p:nvPr/>
        </p:nvSpPr>
        <p:spPr>
          <a:xfrm>
            <a:off x="9209837" y="1600200"/>
            <a:ext cx="2433218" cy="1965960"/>
          </a:xfrm>
          <a:prstGeom prst="rect">
            <a:avLst/>
          </a:prstGeom>
          <a:solidFill>
            <a:srgbClr val="F6F2EF"/>
          </a:solidFill>
          <a:ln w="12700">
            <a:solidFill>
              <a:srgbClr val="F6F2EF"/>
            </a:solidFill>
            <a:prstDash val="solid"/>
          </a:ln>
        </p:spPr>
      </p:sp>
      <p:sp>
        <p:nvSpPr>
          <p:cNvPr id="34" name="t-179"/>
          <p:cNvSpPr txBox="1"/>
          <p:nvPr/>
        </p:nvSpPr>
        <p:spPr>
          <a:xfrm>
            <a:off x="9438437" y="178308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シフト</a:t>
            </a:r>
            <a:endParaRPr lang="en-US" sz="1100" dirty="0"/>
          </a:p>
        </p:txBody>
      </p:sp>
      <p:sp>
        <p:nvSpPr>
          <p:cNvPr id="35" name="t-180"/>
          <p:cNvSpPr txBox="1"/>
          <p:nvPr/>
        </p:nvSpPr>
        <p:spPr>
          <a:xfrm>
            <a:off x="9438437" y="2103120"/>
            <a:ext cx="1976018" cy="868680"/>
          </a:xfrm>
          <a:prstGeom prst="rect">
            <a:avLst/>
          </a:prstGeom>
          <a:noFill/>
          <a:ln/>
        </p:spPr>
        <p:txBody>
          <a:bodyPr wrap="square" lIns="0" tIns="0" rIns="0" bIns="0" rtlCol="0" anchor="t"/>
          <a:lstStyle/>
          <a:p>
            <a:pPr indent="0" marL="0">
              <a:buNone/>
            </a:pPr>
            <a:r>
              <a:rPr lang="en-US" sz="1500" b="1" dirty="0">
                <a:solidFill>
                  <a:schemeClr val="tx1"/>
                </a:solidFill>
              </a:rPr>
              <a:t>スキル表を作成しシフトに反映</a:t>
            </a:r>
            <a:endParaRPr lang="en-US" sz="1500" dirty="0"/>
          </a:p>
        </p:txBody>
      </p:sp>
      <p:sp>
        <p:nvSpPr>
          <p:cNvPr id="36" name="t-181"/>
          <p:cNvSpPr txBox="1"/>
          <p:nvPr/>
        </p:nvSpPr>
        <p:spPr>
          <a:xfrm>
            <a:off x="9438437" y="306324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37" name="rule-182"/>
          <p:cNvSpPr/>
          <p:nvPr/>
        </p:nvSpPr>
        <p:spPr>
          <a:xfrm>
            <a:off x="10032797" y="3337560"/>
            <a:ext cx="1381658" cy="0"/>
          </a:xfrm>
          <a:prstGeom prst="line">
            <a:avLst/>
          </a:prstGeom>
          <a:noFill/>
          <a:ln w="9525">
            <a:solidFill>
              <a:srgbClr val="9A918B"/>
            </a:solidFill>
            <a:prstDash val="solid"/>
          </a:ln>
        </p:spPr>
      </p:sp>
      <p:sp>
        <p:nvSpPr>
          <p:cNvPr id="38" name="task-bg-183"/>
          <p:cNvSpPr/>
          <p:nvPr/>
        </p:nvSpPr>
        <p:spPr>
          <a:xfrm>
            <a:off x="9209837" y="3794760"/>
            <a:ext cx="2433218" cy="1965960"/>
          </a:xfrm>
          <a:prstGeom prst="rect">
            <a:avLst/>
          </a:prstGeom>
          <a:solidFill>
            <a:srgbClr val="F6F2EF"/>
          </a:solidFill>
          <a:ln w="12700">
            <a:solidFill>
              <a:srgbClr val="F6F2EF"/>
            </a:solidFill>
            <a:prstDash val="solid"/>
          </a:ln>
        </p:spPr>
      </p:sp>
      <p:sp>
        <p:nvSpPr>
          <p:cNvPr id="39" name="t-184"/>
          <p:cNvSpPr txBox="1"/>
          <p:nvPr/>
        </p:nvSpPr>
        <p:spPr>
          <a:xfrm>
            <a:off x="9438437" y="3977640"/>
            <a:ext cx="1976018" cy="274320"/>
          </a:xfrm>
          <a:prstGeom prst="rect">
            <a:avLst/>
          </a:prstGeom>
          <a:noFill/>
          <a:ln/>
        </p:spPr>
        <p:txBody>
          <a:bodyPr wrap="square" lIns="0" tIns="0" rIns="0" bIns="0" rtlCol="0" anchor="ctr"/>
          <a:lstStyle/>
          <a:p>
            <a:pPr indent="0" marL="0">
              <a:buNone/>
            </a:pPr>
            <a:r>
              <a:rPr lang="en-US" sz="1100" b="1" dirty="0">
                <a:solidFill>
                  <a:schemeClr val="accent1"/>
                </a:solidFill>
              </a:rPr>
              <a:t>人間関係</a:t>
            </a:r>
            <a:endParaRPr lang="en-US" sz="1100" dirty="0"/>
          </a:p>
        </p:txBody>
      </p:sp>
      <p:sp>
        <p:nvSpPr>
          <p:cNvPr id="40" name="t-185"/>
          <p:cNvSpPr txBox="1"/>
          <p:nvPr/>
        </p:nvSpPr>
        <p:spPr>
          <a:xfrm>
            <a:off x="9438437" y="4297680"/>
            <a:ext cx="1976018" cy="868680"/>
          </a:xfrm>
          <a:prstGeom prst="rect">
            <a:avLst/>
          </a:prstGeom>
          <a:noFill/>
          <a:ln/>
        </p:spPr>
        <p:txBody>
          <a:bodyPr wrap="square" lIns="0" tIns="0" rIns="0" bIns="0" rtlCol="0" anchor="t"/>
          <a:lstStyle/>
          <a:p>
            <a:pPr indent="0" marL="0">
              <a:buNone/>
            </a:pPr>
            <a:r>
              <a:rPr lang="en-US" sz="1500" b="1" dirty="0">
                <a:solidFill>
                  <a:schemeClr val="tx1"/>
                </a:solidFill>
              </a:rPr>
              <a:t>愚痴が多いメンバーと個別面談</a:t>
            </a:r>
            <a:endParaRPr lang="en-US" sz="1500" dirty="0"/>
          </a:p>
        </p:txBody>
      </p:sp>
      <p:sp>
        <p:nvSpPr>
          <p:cNvPr id="41" name="t-186"/>
          <p:cNvSpPr txBox="1"/>
          <p:nvPr/>
        </p:nvSpPr>
        <p:spPr>
          <a:xfrm>
            <a:off x="9438437" y="5257800"/>
            <a:ext cx="640080" cy="320040"/>
          </a:xfrm>
          <a:prstGeom prst="rect">
            <a:avLst/>
          </a:prstGeom>
          <a:noFill/>
          <a:ln/>
        </p:spPr>
        <p:txBody>
          <a:bodyPr wrap="square" lIns="0" tIns="0" rIns="0" bIns="0" rtlCol="0" anchor="ctr"/>
          <a:lstStyle/>
          <a:p>
            <a:pPr indent="0" marL="0">
              <a:buNone/>
            </a:pPr>
            <a:r>
              <a:rPr lang="en-US" sz="1100" dirty="0">
                <a:solidFill>
                  <a:schemeClr val="tx2"/>
                </a:solidFill>
              </a:rPr>
              <a:t>担当：</a:t>
            </a:r>
            <a:endParaRPr lang="en-US" sz="1100" dirty="0"/>
          </a:p>
        </p:txBody>
      </p:sp>
      <p:sp>
        <p:nvSpPr>
          <p:cNvPr id="42" name="rule-187"/>
          <p:cNvSpPr/>
          <p:nvPr/>
        </p:nvSpPr>
        <p:spPr>
          <a:xfrm>
            <a:off x="10032797" y="5532120"/>
            <a:ext cx="1381658" cy="0"/>
          </a:xfrm>
          <a:prstGeom prst="line">
            <a:avLst/>
          </a:prstGeom>
          <a:noFill/>
          <a:ln w="9525">
            <a:solidFill>
              <a:srgbClr val="9A918B"/>
            </a:solidFill>
            <a:prstDash val="solid"/>
          </a:ln>
        </p:spPr>
      </p:sp>
      <p:sp>
        <p:nvSpPr>
          <p:cNvPr id="25" name="Slide Number Placeholder 0"/>
          <p:cNvSpPr>
            <a:spLocks noGrp="1"/>
          </p:cNvSpPr>
          <p:nvPr>
            <p:ph type="sldNum" sz="quarter" idx="4294967295"/>
          </p:nvPr>
        </p:nvSpPr>
        <p:spPr>
          <a:xfrm>
            <a:off x="11094415" y="6400800"/>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Kanda Terracotta">
  <a:themeElements>
    <a:clrScheme name="Kanda Terracotta">
      <a:dk1>
        <a:srgbClr val="3A3A3A"/>
      </a:dk1>
      <a:lt1>
        <a:srgbClr val="FFFFFF"/>
      </a:lt1>
      <a:dk2>
        <a:srgbClr val="6B6460"/>
      </a:dk2>
      <a:lt2>
        <a:srgbClr val="F6F2EF"/>
      </a:lt2>
      <a:accent1>
        <a:srgbClr val="B5532F"/>
      </a:accent1>
      <a:accent2>
        <a:srgbClr val="C9BFB8"/>
      </a:accent2>
      <a:accent3>
        <a:srgbClr val="2F6B4F"/>
      </a:accent3>
      <a:accent4>
        <a:srgbClr val="FBEDE6"/>
      </a:accent4>
      <a:accent5>
        <a:srgbClr val="9A918B"/>
      </a:accent5>
      <a:accent6>
        <a:srgbClr val="E3DCD6"/>
      </a:accent6>
      <a:hlink>
        <a:srgbClr val="B5532F"/>
      </a:hlink>
      <a:folHlink>
        <a:srgbClr val="6B6460"/>
      </a:folHlink>
    </a:clrScheme>
    <a:fontScheme name="Kanda Terracotta">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RAKUSPA1010神田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2026年9月 現場状況報告と対策</dc:title>
  <dc:subject>PptxGenJS Presentation</dc:subject>
  <dc:creator>RAKUSPA1010神田 飲食部門</dc:creator>
  <cp:lastModifiedBy>RAKUSPA1010神田 飲食部門</cp:lastModifiedBy>
  <cp:revision>1</cp:revision>
  <dcterms:created xsi:type="dcterms:W3CDTF">2026-10-09T12:40:56Z</dcterms:created>
  <dcterms:modified xsi:type="dcterms:W3CDTF">2026-10-09T12:40:56Z</dcterms:modified>
</cp:coreProperties>
</file>