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5870cbdc-ed34-226d-29bd-96ef24833408}">
          <p14:sldIdLst>
            <p14:sldId id="256"/>
          </p14:sldIdLst>
        </p14:section>
        <p14:section name="現場状況" id="{b543844b-99d7-c6d4-008c-4b9add371f9a}">
          <p14:sldIdLst>
            <p14:sldId id="257"/>
            <p14:sldId id="258"/>
            <p14:sldId id="259"/>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現場の状況と、それぞれの対策をまとめた資料です。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4つのテーマのまとめです。採用・シフト・設備の3つを優先度高としています。特に週末のシフト不足は採用と育成の両方で手を打つ必要があります。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募集は18時から23時半の時間帯です。社保加入希望で週末も出られる方が1名見つかれば、週末メインの未加入者1名と合わせて2名。社保加入希望者がいなければ未加入者で3名程度を採用します。求人では週末・夜間を前面に出し、面接で週末出勤の可否を必ず確認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シフトの課題は3つです。週末不足、当日の遅刻からの欠勤、そして日による戦力の偏り。週末シフトの提出ルールと当日連絡ルールを決め、スキル表を使って配置と育成を進めます。◯の部分は会議で決めた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人間関係は大きなトラブルはありませんが、学生とそれ以外で溝があり、愚痴が増えています。まずは個別面談で中身を聞き、配置や情報共有のやり方で改善していきます。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設備は3点です。特にゆで麺器は、今回のように跳ねたコラボで冷凍麺が増えると提供停止になるため最優先で業者点検を依頼します。コンセントは数は足りていますが、安全のため修理を依頼します。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最後にアクションリストです。担当はこの場で決めたいと思います。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103120"/>
            <a:ext cx="8229600" cy="155448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640080" y="3794760"/>
            <a:ext cx="8229600" cy="45720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rtlCol="0"/>
          <a:lstStyle>
            <a:lvl1pPr algn="l" indent="0" marL="0">
              <a:buNone/>
              <a:defRPr lang="en-US" sz="1100" b="1"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640080" y="6473952"/>
            <a:ext cx="6400800" cy="228600"/>
          </a:xfrm>
          <a:prstGeom prst="rect">
            <a:avLst/>
          </a:prstGeom>
          <a:noFill/>
          <a:ln/>
        </p:spPr>
        <p:txBody>
          <a:bodyPr wrap="square" lIns="0" tIns="0" rIns="0" bIns="0" rtlCol="0" anchor="ctr"/>
          <a:lstStyle/>
          <a:p>
            <a:pPr indent="0" marL="0">
              <a:buNone/>
            </a:pPr>
            <a:r>
              <a:rPr lang="en-US" sz="900" dirty="0">
                <a:solidFill>
                  <a:schemeClr val="accent5"/>
                </a:solidFill>
              </a:rPr>
              <a:t>RAKUSPA1010神田　飲食部門　2026年9月 現場状況報告</a:t>
            </a:r>
            <a:endParaRPr lang="en-US" sz="9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1"/>
          <p:cNvSpPr txBox="1"/>
          <p:nvPr/>
        </p:nvSpPr>
        <p:spPr>
          <a:xfrm>
            <a:off x="640080" y="1600200"/>
            <a:ext cx="7315200" cy="365760"/>
          </a:xfrm>
          <a:prstGeom prst="rect">
            <a:avLst/>
          </a:prstGeom>
          <a:noFill/>
          <a:ln/>
        </p:spPr>
        <p:txBody>
          <a:bodyPr wrap="square" lIns="0" tIns="0" rIns="0" bIns="0" rtlCol="0" anchor="ctr"/>
          <a:lstStyle/>
          <a:p>
            <a:pPr indent="0" marL="0">
              <a:buNone/>
            </a:pPr>
            <a:r>
              <a:rPr lang="en-US" sz="1400" b="1" dirty="0">
                <a:solidFill>
                  <a:schemeClr val="accent1"/>
                </a:solidFill>
              </a:rPr>
              <a:t>RAKUSPA1010神田　飲食部門</a:t>
            </a:r>
            <a:endParaRPr lang="en-US" sz="1400" dirty="0"/>
          </a:p>
        </p:txBody>
      </p:sp>
      <p:sp>
        <p:nvSpPr>
          <p:cNvPr id="3" name="Text 0"/>
          <p:cNvSpPr/>
          <p:nvPr>
            <p:ph idx="100" type="title" hasCustomPrompt="1"/>
          </p:nvPr>
        </p:nvSpPr>
        <p:spPr>
          <a:xfrm>
            <a:off x="640080" y="2103120"/>
            <a:ext cx="8229600" cy="1554480"/>
          </a:xfrm>
          <a:prstGeom prst="rect">
            <a:avLst/>
          </a:prstGeom>
          <a:noFill/>
          <a:ln/>
        </p:spPr>
        <p:txBody>
          <a:bodyPr wrap="square" lIns="0" tIns="0" rIns="0" bIns="0" rtlCol="0" anchor="t"/>
          <a:lstStyle/>
          <a:p>
            <a:pPr algn="l" indent="0" marL="0">
              <a:buNone/>
            </a:pPr>
            <a:r>
              <a:rPr lang="en-US" sz="4000" b="1" dirty="0">
                <a:solidFill>
                  <a:schemeClr val="tx1"/>
                </a:solidFill>
              </a:rPr>
              <a:t>2026年9月 現場状況報告と対策</a:t>
            </a:r>
            <a:endParaRPr lang="en-US" sz="4000" dirty="0"/>
          </a:p>
        </p:txBody>
      </p:sp>
      <p:sp>
        <p:nvSpPr>
          <p:cNvPr id="4" name="Text 0"/>
          <p:cNvSpPr/>
          <p:nvPr>
            <p:ph idx="101" type="body" hasCustomPrompt="1"/>
          </p:nvPr>
        </p:nvSpPr>
        <p:spPr>
          <a:xfrm>
            <a:off x="640080" y="3794760"/>
            <a:ext cx="8229600" cy="457200"/>
          </a:xfrm>
          <a:prstGeom prst="rect">
            <a:avLst/>
          </a:prstGeom>
          <a:noFill/>
          <a:ln/>
        </p:spPr>
        <p:txBody>
          <a:bodyPr wrap="square" lIns="0" tIns="0" rIns="0" bIns="0" rtlCol="0" anchor="t"/>
          <a:lstStyle/>
          <a:p>
            <a:pPr algn="l" indent="0" marL="0">
              <a:buNone/>
            </a:pPr>
            <a:r>
              <a:rPr lang="en-US" sz="1600" dirty="0">
                <a:solidFill>
                  <a:schemeClr val="tx2"/>
                </a:solidFill>
              </a:rPr>
              <a:t>採用・人間関係・シフト・設備不具合</a:t>
            </a:r>
            <a:endParaRPr lang="en-US" sz="1600" dirty="0"/>
          </a:p>
        </p:txBody>
      </p:sp>
      <p:sp>
        <p:nvSpPr>
          <p:cNvPr id="5" name="rule-2"/>
          <p:cNvSpPr/>
          <p:nvPr/>
        </p:nvSpPr>
        <p:spPr>
          <a:xfrm>
            <a:off x="640080" y="5577840"/>
            <a:ext cx="10911535" cy="0"/>
          </a:xfrm>
          <a:prstGeom prst="line">
            <a:avLst/>
          </a:prstGeom>
          <a:noFill/>
          <a:ln w="9525">
            <a:solidFill>
              <a:schemeClr val="accent6"/>
            </a:solidFill>
            <a:prstDash val="solid"/>
          </a:ln>
        </p:spPr>
      </p:sp>
      <p:sp>
        <p:nvSpPr>
          <p:cNvPr id="6" name="t-3"/>
          <p:cNvSpPr txBox="1"/>
          <p:nvPr/>
        </p:nvSpPr>
        <p:spPr>
          <a:xfrm>
            <a:off x="640080" y="5715000"/>
            <a:ext cx="3657600" cy="274320"/>
          </a:xfrm>
          <a:prstGeom prst="rect">
            <a:avLst/>
          </a:prstGeom>
          <a:noFill/>
          <a:ln/>
        </p:spPr>
        <p:txBody>
          <a:bodyPr wrap="square" lIns="0" tIns="0" rIns="0" bIns="0" rtlCol="0" anchor="ctr"/>
          <a:lstStyle/>
          <a:p>
            <a:pPr indent="0" marL="0">
              <a:buNone/>
            </a:pPr>
            <a:r>
              <a:rPr lang="en-US" sz="1100" dirty="0">
                <a:solidFill>
                  <a:schemeClr val="tx2"/>
                </a:solidFill>
              </a:rPr>
              <a:t>報告日　2026年10月1日</a:t>
            </a:r>
            <a:endParaRPr lang="en-US" sz="1100" dirty="0"/>
          </a:p>
        </p:txBody>
      </p:sp>
      <p:sp>
        <p:nvSpPr>
          <p:cNvPr id="7" name="t-4"/>
          <p:cNvSpPr txBox="1"/>
          <p:nvPr/>
        </p:nvSpPr>
        <p:spPr>
          <a:xfrm>
            <a:off x="4297680" y="5715000"/>
            <a:ext cx="3657600" cy="274320"/>
          </a:xfrm>
          <a:prstGeom prst="rect">
            <a:avLst/>
          </a:prstGeom>
          <a:noFill/>
          <a:ln/>
        </p:spPr>
        <p:txBody>
          <a:bodyPr wrap="square" lIns="0" tIns="0" rIns="0" bIns="0" rtlCol="0" anchor="ctr"/>
          <a:lstStyle/>
          <a:p>
            <a:pPr indent="0" marL="0">
              <a:buNone/>
            </a:pPr>
            <a:r>
              <a:rPr lang="en-US" sz="1100" dirty="0">
                <a:solidFill>
                  <a:schemeClr val="tx2"/>
                </a:solidFill>
              </a:rPr>
              <a:t>作成　大平</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lIns="0" tIns="0" rIns="0" bIns="0" rtlCol="0" anchor="ctr"/>
          <a:lstStyle/>
          <a:p>
            <a:pPr algn="l" indent="0" marL="0">
              <a:buNone/>
            </a:pPr>
            <a:r>
              <a:rPr lang="en-US" sz="1100" b="1" dirty="0">
                <a:solidFill>
                  <a:schemeClr val="accent1"/>
                </a:solidFill>
              </a:rPr>
              <a:t>01　サマリー</a:t>
            </a: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lIns="0" tIns="0" rIns="0" bIns="0" rtlCol="0" anchor="ctr"/>
          <a:lstStyle/>
          <a:p>
            <a:pPr algn="l" indent="0" marL="0">
              <a:buNone/>
            </a:pPr>
            <a:r>
              <a:rPr lang="en-US" sz="2400" b="1" dirty="0">
                <a:solidFill>
                  <a:schemeClr val="tx1"/>
                </a:solidFill>
              </a:rPr>
              <a:t>最優先は週末シフトの立て直し。採用・育成・設備修理を並行して進める</a:t>
            </a:r>
            <a:endParaRPr lang="en-US" sz="2400" dirty="0"/>
          </a:p>
        </p:txBody>
      </p:sp>
      <p:graphicFrame>
        <p:nvGraphicFramePr>
          <p:cNvPr id="3" name="table-5"/>
          <p:cNvGraphicFramePr>
            <a:graphicFrameLocks noGrp="1"/>
          </p:cNvGraphicFramePr>
          <p:nvPr>
            <p:extLst>
              <p:ext uri="{D42A27DB-BD31-4B8C-83A1-F6EECF244321}">
                <p14:modId xmlns:p14="http://schemas.microsoft.com/office/powerpoint/2010/main" val="1579011935"/>
              </p:ext>
            </p:extLst>
          </p:nvPr>
        </p:nvGraphicFramePr>
        <p:xfrm>
          <a:off x="640080" y="1600200"/>
          <a:ext cx="10911535" cy="914400"/>
        </p:xfrm>
        <a:graphic>
          <a:graphicData uri="http://schemas.openxmlformats.org/drawingml/2006/table">
            <a:tbl>
              <a:tblPr/>
              <a:tblGrid>
                <a:gridCol w="1280160"/>
                <a:gridCol w="4206240"/>
                <a:gridCol w="4572000"/>
                <a:gridCol w="853135"/>
              </a:tblGrid>
              <a:tr h="384048">
                <a:tc>
                  <a:txBody>
                    <a:bodyPr/>
                    <a:lstStyle/>
                    <a:p>
                      <a:pPr algn="l" indent="0" marL="0">
                        <a:buNone/>
                      </a:pPr>
                      <a:r>
                        <a:rPr lang="en-US" sz="1100" b="1" dirty="0">
                          <a:solidFill>
                            <a:schemeClr val="tx2"/>
                          </a:solidFill>
                        </a:rPr>
                        <a:t>テーマ</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現状</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主な対策</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r" indent="0" marL="0">
                        <a:buNone/>
                      </a:pPr>
                      <a:r>
                        <a:rPr lang="en-US" sz="1100" b="1" dirty="0">
                          <a:solidFill>
                            <a:schemeClr val="tx2"/>
                          </a:solidFill>
                        </a:rPr>
                        <a:t>優先度</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r h="868680">
                <a:tc>
                  <a:txBody>
                    <a:bodyPr/>
                    <a:lstStyle/>
                    <a:p>
                      <a:pPr algn="l" indent="0" marL="0">
                        <a:buNone/>
                      </a:pPr>
                      <a:r>
                        <a:rPr lang="en-US" sz="1300" b="1" dirty="0">
                          <a:solidFill>
                            <a:schemeClr val="accent1"/>
                          </a:solidFill>
                        </a:rPr>
                        <a:t>採用</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18:00〜23:30帯で2〜3名不足（週末に出られる人材が必要）</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週末・夜間勤務を前面に出した求人。面接で週末出勤可否を必ず確認</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chemeClr val="accent3"/>
                          </a:solidFill>
                        </a:rPr>
                        <a:t>高</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868680">
                <a:tc>
                  <a:txBody>
                    <a:bodyPr/>
                    <a:lstStyle/>
                    <a:p>
                      <a:pPr algn="l" indent="0" marL="0">
                        <a:buNone/>
                      </a:pPr>
                      <a:r>
                        <a:rPr lang="en-US" sz="1300" b="1" dirty="0">
                          <a:solidFill>
                            <a:schemeClr val="accent1"/>
                          </a:solidFill>
                        </a:rPr>
                        <a:t>シフト</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週末の不足が毎月悪化。当日の遅刻→欠勤も増加。日による戦力の偏り</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週末シフトの提出ルール化、当日連絡ルールの再徹底、スキル表を使った配置</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chemeClr val="accent3"/>
                          </a:solidFill>
                        </a:rPr>
                        <a:t>高</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868680">
                <a:tc>
                  <a:txBody>
                    <a:bodyPr/>
                    <a:lstStyle/>
                    <a:p>
                      <a:pPr algn="l" indent="0" marL="0">
                        <a:buNone/>
                      </a:pPr>
                      <a:r>
                        <a:rPr lang="en-US" sz="1300" b="1" dirty="0">
                          <a:solidFill>
                            <a:schemeClr val="accent1"/>
                          </a:solidFill>
                        </a:rPr>
                        <a:t>人間関係</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大きなトラブルはないが、学生とそれ以外で溝。愚痴が増加</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個別面談で不満の中身を把握。学生・一般を混ぜた配置と情報共有の統一</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chemeClr val="tx1"/>
                          </a:solidFill>
                        </a:rPr>
                        <a:t>中</a:t>
                      </a:r>
                      <a:endParaRPr lang="en-US" sz="13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868680">
                <a:tc>
                  <a:txBody>
                    <a:bodyPr/>
                    <a:lstStyle/>
                    <a:p>
                      <a:pPr algn="l" indent="0" marL="0">
                        <a:buNone/>
                      </a:pPr>
                      <a:r>
                        <a:rPr lang="en-US" sz="1300" b="1" dirty="0">
                          <a:solidFill>
                            <a:schemeClr val="accent1"/>
                          </a:solidFill>
                        </a:rPr>
                        <a:t>設備</a:t>
                      </a:r>
                      <a:endParaRPr lang="en-US" sz="13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300" dirty="0">
                          <a:solidFill>
                            <a:schemeClr val="tx1"/>
                          </a:solidFill>
                        </a:rPr>
                        <a:t>ゆで麺器の火力低下、窓側コンセント1カ所不調、入口付近の蛇口不具合</a:t>
                      </a:r>
                      <a:endParaRPr lang="en-US" sz="13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300" dirty="0">
                          <a:solidFill>
                            <a:schemeClr val="tx1"/>
                          </a:solidFill>
                        </a:rPr>
                        <a:t>ゆで麺器を最優先で業者点検。コンセント・蛇口も修理依頼</a:t>
                      </a:r>
                      <a:endParaRPr lang="en-US" sz="13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ctr" indent="0" marL="0">
                        <a:buNone/>
                      </a:pPr>
                      <a:r>
                        <a:rPr lang="en-US" sz="1300" b="1" dirty="0">
                          <a:solidFill>
                            <a:schemeClr val="accent3"/>
                          </a:solidFill>
                        </a:rPr>
                        <a:t>高</a:t>
                      </a:r>
                      <a:endParaRPr lang="en-US" sz="13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lIns="0" tIns="0" rIns="0" bIns="0" rtlCol="0" anchor="ctr"/>
          <a:lstStyle/>
          <a:p>
            <a:pPr algn="l" indent="0" marL="0">
              <a:buNone/>
            </a:pPr>
            <a:r>
              <a:rPr lang="en-US" sz="1100" b="1" dirty="0">
                <a:solidFill>
                  <a:schemeClr val="accent1"/>
                </a:solidFill>
              </a:rPr>
              <a:t>02　採用（募集人数）</a:t>
            </a: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lIns="0" tIns="0" rIns="0" bIns="0" rtlCol="0" anchor="ctr"/>
          <a:lstStyle/>
          <a:p>
            <a:pPr algn="l" indent="0" marL="0">
              <a:buNone/>
            </a:pPr>
            <a:r>
              <a:rPr lang="en-US" sz="2400" b="1" dirty="0">
                <a:solidFill>
                  <a:schemeClr val="tx1"/>
                </a:solidFill>
              </a:rPr>
              <a:t>18:00〜23:30帯で2〜3名を募集。週末に出られる人材を最優先</a:t>
            </a:r>
            <a:endParaRPr lang="en-US" sz="2400" dirty="0"/>
          </a:p>
        </p:txBody>
      </p:sp>
      <p:sp>
        <p:nvSpPr>
          <p:cNvPr id="4" name="t-6"/>
          <p:cNvSpPr txBox="1"/>
          <p:nvPr/>
        </p:nvSpPr>
        <p:spPr>
          <a:xfrm>
            <a:off x="640080" y="1554480"/>
            <a:ext cx="5486400" cy="320040"/>
          </a:xfrm>
          <a:prstGeom prst="rect">
            <a:avLst/>
          </a:prstGeom>
          <a:noFill/>
          <a:ln/>
        </p:spPr>
        <p:txBody>
          <a:bodyPr wrap="square" lIns="0" tIns="0" rIns="0" bIns="0" rtlCol="0" anchor="ctr"/>
          <a:lstStyle/>
          <a:p>
            <a:pPr indent="0" marL="0">
              <a:buNone/>
            </a:pPr>
            <a:r>
              <a:rPr lang="en-US" sz="1300" b="1" dirty="0">
                <a:solidFill>
                  <a:schemeClr val="tx2"/>
                </a:solidFill>
              </a:rPr>
              <a:t>募集人数（18:00〜23:30）</a:t>
            </a:r>
            <a:endParaRPr lang="en-US" sz="1300" dirty="0"/>
          </a:p>
        </p:txBody>
      </p:sp>
      <p:graphicFrame>
        <p:nvGraphicFramePr>
          <p:cNvPr id="4" name="table-7"/>
          <p:cNvGraphicFramePr>
            <a:graphicFrameLocks noGrp="1"/>
          </p:cNvGraphicFramePr>
          <p:nvPr>
            <p:extLst>
              <p:ext uri="{D42A27DB-BD31-4B8C-83A1-F6EECF244321}">
                <p14:modId xmlns:p14="http://schemas.microsoft.com/office/powerpoint/2010/main" val="1579011935"/>
              </p:ext>
            </p:extLst>
          </p:nvPr>
        </p:nvGraphicFramePr>
        <p:xfrm>
          <a:off x="640080" y="1920240"/>
          <a:ext cx="5760720" cy="914400"/>
        </p:xfrm>
        <a:graphic>
          <a:graphicData uri="http://schemas.openxmlformats.org/drawingml/2006/table">
            <a:tbl>
              <a:tblPr/>
              <a:tblGrid>
                <a:gridCol w="1188720"/>
                <a:gridCol w="3566160"/>
                <a:gridCol w="1005840"/>
              </a:tblGrid>
              <a:tr h="384048">
                <a:tc>
                  <a:txBody>
                    <a:bodyPr/>
                    <a:lstStyle/>
                    <a:p>
                      <a:pPr algn="l" indent="0" marL="0">
                        <a:buNone/>
                      </a:pP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募集内容</a:t>
                      </a: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r" indent="0" marL="0">
                        <a:buNone/>
                      </a:pPr>
                      <a:r>
                        <a:rPr lang="en-US" sz="1100" b="1" dirty="0">
                          <a:solidFill>
                            <a:schemeClr val="tx2"/>
                          </a:solidFill>
                        </a:rPr>
                        <a:t>人数</a:t>
                      </a: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r h="457200">
                <a:tc>
                  <a:txBody>
                    <a:bodyPr/>
                    <a:lstStyle/>
                    <a:p>
                      <a:pPr algn="l" indent="0" marL="0">
                        <a:buNone/>
                      </a:pPr>
                      <a:r>
                        <a:rPr lang="en-US" sz="1300" b="1" dirty="0">
                          <a:solidFill>
                            <a:schemeClr val="accent1"/>
                          </a:solidFill>
                        </a:rPr>
                        <a:t>パターンA</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社保加入希望・週末を含めて出勤できる人</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chemeClr val="tx1"/>
                          </a:solidFill>
                        </a:rPr>
                        <a:t>1名</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57200">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週末メイン・社保未加入</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dirty="0">
                          <a:solidFill>
                            <a:schemeClr val="tx1"/>
                          </a:solidFill>
                        </a:rPr>
                        <a:t>1名</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57200">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b="1" dirty="0">
                          <a:solidFill>
                            <a:schemeClr val="tx1"/>
                          </a:solidFill>
                        </a:rPr>
                        <a:t>合計</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r" indent="0" marL="0">
                        <a:buNone/>
                      </a:pPr>
                      <a:r>
                        <a:rPr lang="en-US" sz="1300" b="1" dirty="0">
                          <a:solidFill>
                            <a:schemeClr val="tx1"/>
                          </a:solidFill>
                        </a:rPr>
                        <a:t>2名</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685800">
                <a:tc>
                  <a:txBody>
                    <a:bodyPr/>
                    <a:lstStyle/>
                    <a:p>
                      <a:pPr algn="l" indent="0" marL="0">
                        <a:buNone/>
                      </a:pPr>
                      <a:r>
                        <a:rPr lang="en-US" sz="1300" b="1" dirty="0">
                          <a:solidFill>
                            <a:schemeClr val="accent1"/>
                          </a:solidFill>
                        </a:rPr>
                        <a:t>パターンB</a:t>
                      </a: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300" dirty="0">
                          <a:solidFill>
                            <a:schemeClr val="tx1"/>
                          </a:solidFill>
                        </a:rPr>
                        <a:t>社保未加入・週末出勤可（社保加入者が見つからない場合）</a:t>
                      </a: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r" indent="0" marL="0">
                        <a:buNone/>
                      </a:pPr>
                      <a:r>
                        <a:rPr lang="en-US" sz="1300" dirty="0">
                          <a:solidFill>
                            <a:schemeClr val="tx1"/>
                          </a:solidFill>
                        </a:rPr>
                        <a:t>3名程度</a:t>
                      </a: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bl>
          </a:graphicData>
        </a:graphic>
      </p:graphicFrame>
      <p:sp>
        <p:nvSpPr>
          <p:cNvPr id="6" name="t-8"/>
          <p:cNvSpPr txBox="1"/>
          <p:nvPr/>
        </p:nvSpPr>
        <p:spPr>
          <a:xfrm>
            <a:off x="640080" y="4526280"/>
            <a:ext cx="5760720" cy="640080"/>
          </a:xfrm>
          <a:prstGeom prst="rect">
            <a:avLst/>
          </a:prstGeom>
          <a:noFill/>
          <a:ln/>
        </p:spPr>
        <p:txBody>
          <a:bodyPr wrap="square" lIns="0" tIns="0" rIns="0" bIns="0" rtlCol="0" anchor="t"/>
          <a:lstStyle/>
          <a:p>
            <a:pPr indent="0" marL="0">
              <a:buNone/>
            </a:pPr>
            <a:r>
              <a:rPr lang="en-US" sz="1200" dirty="0">
                <a:solidFill>
                  <a:schemeClr val="tx2"/>
                </a:solidFill>
              </a:rPr>
              <a:t>社保加入者を1名確保できれば、未加入者は1名で足りる。確保できない場合は人数でカバーする。</a:t>
            </a:r>
            <a:endParaRPr lang="en-US" sz="1200" dirty="0"/>
          </a:p>
        </p:txBody>
      </p:sp>
      <p:sp>
        <p:nvSpPr>
          <p:cNvPr id="7" name="t-9"/>
          <p:cNvSpPr txBox="1"/>
          <p:nvPr/>
        </p:nvSpPr>
        <p:spPr>
          <a:xfrm>
            <a:off x="6949440" y="1554480"/>
            <a:ext cx="4602175" cy="365760"/>
          </a:xfrm>
          <a:prstGeom prst="rect">
            <a:avLst/>
          </a:prstGeom>
          <a:noFill/>
          <a:ln/>
        </p:spPr>
        <p:txBody>
          <a:bodyPr wrap="square" lIns="0" tIns="0" rIns="0" bIns="0" rtlCol="0" anchor="ctr"/>
          <a:lstStyle/>
          <a:p>
            <a:pPr indent="0" marL="0">
              <a:buNone/>
            </a:pPr>
            <a:r>
              <a:rPr lang="en-US" sz="1600" b="1" dirty="0">
                <a:solidFill>
                  <a:schemeClr val="accent1"/>
                </a:solidFill>
              </a:rPr>
              <a:t>対策</a:t>
            </a:r>
            <a:endParaRPr lang="en-US" sz="1600" dirty="0"/>
          </a:p>
        </p:txBody>
      </p:sp>
      <p:sp>
        <p:nvSpPr>
          <p:cNvPr id="8" name="rule-10"/>
          <p:cNvSpPr/>
          <p:nvPr/>
        </p:nvSpPr>
        <p:spPr>
          <a:xfrm>
            <a:off x="6949440" y="1965960"/>
            <a:ext cx="4602175" cy="0"/>
          </a:xfrm>
          <a:prstGeom prst="line">
            <a:avLst/>
          </a:prstGeom>
          <a:noFill/>
          <a:ln w="19050">
            <a:solidFill>
              <a:srgbClr val="2F5D50"/>
            </a:solidFill>
            <a:prstDash val="solid"/>
          </a:ln>
        </p:spPr>
      </p:sp>
      <p:sp>
        <p:nvSpPr>
          <p:cNvPr id="9" name="t-11"/>
          <p:cNvSpPr txBox="1"/>
          <p:nvPr/>
        </p:nvSpPr>
        <p:spPr>
          <a:xfrm>
            <a:off x="6949440" y="2103120"/>
            <a:ext cx="4602175" cy="868680"/>
          </a:xfrm>
          <a:prstGeom prst="rect">
            <a:avLst/>
          </a:prstGeom>
          <a:noFill/>
          <a:ln/>
        </p:spPr>
        <p:txBody>
          <a:bodyPr wrap="square" lIns="0" tIns="0" rIns="0" bIns="0" rtlCol="0" anchor="t"/>
          <a:lstStyle/>
          <a:p>
            <a:pPr indent="0" marL="0">
              <a:buNone/>
            </a:pPr>
            <a:r>
              <a:rPr lang="en-US" sz="1300" b="1" dirty="0">
                <a:solidFill>
                  <a:schemeClr val="tx1"/>
                </a:solidFill>
              </a:rPr>
              <a:t>求人票で週末・夜間を前面に</a:t>
            </a:r>
            <a:endParaRPr lang="en-US" sz="1300" dirty="0"/>
          </a:p>
          <a:p>
            <a:pPr indent="0" marL="0">
              <a:buNone/>
            </a:pPr>
            <a:r>
              <a:rPr lang="en-US" sz="1200" dirty="0">
                <a:solidFill>
                  <a:schemeClr val="tx2"/>
                </a:solidFill>
              </a:rPr>
              <a:t>「週末・夜間に働ける方歓迎」「週末手当」など条件を明記。社保加入の条件（勤務時間など）も記載し、Aパターン人材に届くようにする。</a:t>
            </a:r>
            <a:endParaRPr lang="en-US" sz="1300" dirty="0"/>
          </a:p>
        </p:txBody>
      </p:sp>
      <p:sp>
        <p:nvSpPr>
          <p:cNvPr id="10" name="rule-12"/>
          <p:cNvSpPr/>
          <p:nvPr/>
        </p:nvSpPr>
        <p:spPr>
          <a:xfrm>
            <a:off x="6949440" y="2990088"/>
            <a:ext cx="4602175" cy="0"/>
          </a:xfrm>
          <a:prstGeom prst="line">
            <a:avLst/>
          </a:prstGeom>
          <a:noFill/>
          <a:ln w="9525">
            <a:solidFill>
              <a:schemeClr val="accent6"/>
            </a:solidFill>
            <a:prstDash val="solid"/>
          </a:ln>
        </p:spPr>
      </p:sp>
      <p:sp>
        <p:nvSpPr>
          <p:cNvPr id="11" name="t-13"/>
          <p:cNvSpPr txBox="1"/>
          <p:nvPr/>
        </p:nvSpPr>
        <p:spPr>
          <a:xfrm>
            <a:off x="6949440" y="3063240"/>
            <a:ext cx="4602175" cy="868680"/>
          </a:xfrm>
          <a:prstGeom prst="rect">
            <a:avLst/>
          </a:prstGeom>
          <a:noFill/>
          <a:ln/>
        </p:spPr>
        <p:txBody>
          <a:bodyPr wrap="square" lIns="0" tIns="0" rIns="0" bIns="0" rtlCol="0" anchor="t"/>
          <a:lstStyle/>
          <a:p>
            <a:pPr indent="0" marL="0">
              <a:buNone/>
            </a:pPr>
            <a:r>
              <a:rPr lang="en-US" sz="1300" b="1" dirty="0">
                <a:solidFill>
                  <a:schemeClr val="tx1"/>
                </a:solidFill>
              </a:rPr>
              <a:t>面接で週末出勤を必ず確認</a:t>
            </a:r>
            <a:endParaRPr lang="en-US" sz="1300" dirty="0"/>
          </a:p>
          <a:p>
            <a:pPr indent="0" marL="0">
              <a:buNone/>
            </a:pPr>
            <a:r>
              <a:rPr lang="en-US" sz="1200" dirty="0">
                <a:solidFill>
                  <a:schemeClr val="tx2"/>
                </a:solidFill>
              </a:rPr>
              <a:t>月に何回週末に入れるかを面接時に具体的に確認し、採用基準にする。</a:t>
            </a:r>
            <a:endParaRPr lang="en-US" sz="1300" dirty="0"/>
          </a:p>
        </p:txBody>
      </p:sp>
      <p:sp>
        <p:nvSpPr>
          <p:cNvPr id="12" name="rule-14"/>
          <p:cNvSpPr/>
          <p:nvPr/>
        </p:nvSpPr>
        <p:spPr>
          <a:xfrm>
            <a:off x="6949440" y="3950208"/>
            <a:ext cx="4602175" cy="0"/>
          </a:xfrm>
          <a:prstGeom prst="line">
            <a:avLst/>
          </a:prstGeom>
          <a:noFill/>
          <a:ln w="9525">
            <a:solidFill>
              <a:schemeClr val="accent6"/>
            </a:solidFill>
            <a:prstDash val="solid"/>
          </a:ln>
        </p:spPr>
      </p:sp>
      <p:sp>
        <p:nvSpPr>
          <p:cNvPr id="13" name="t-15"/>
          <p:cNvSpPr txBox="1"/>
          <p:nvPr/>
        </p:nvSpPr>
        <p:spPr>
          <a:xfrm>
            <a:off x="6949440" y="4023360"/>
            <a:ext cx="4602175" cy="868680"/>
          </a:xfrm>
          <a:prstGeom prst="rect">
            <a:avLst/>
          </a:prstGeom>
          <a:noFill/>
          <a:ln/>
        </p:spPr>
        <p:txBody>
          <a:bodyPr wrap="square" lIns="0" tIns="0" rIns="0" bIns="0" rtlCol="0" anchor="t"/>
          <a:lstStyle/>
          <a:p>
            <a:pPr indent="0" marL="0">
              <a:buNone/>
            </a:pPr>
            <a:r>
              <a:rPr lang="en-US" sz="1300" b="1" dirty="0">
                <a:solidFill>
                  <a:schemeClr val="tx1"/>
                </a:solidFill>
              </a:rPr>
              <a:t>紹介・掛け持ちも活用</a:t>
            </a:r>
            <a:endParaRPr lang="en-US" sz="1300" dirty="0"/>
          </a:p>
          <a:p>
            <a:pPr indent="0" marL="0">
              <a:buNone/>
            </a:pPr>
            <a:r>
              <a:rPr lang="en-US" sz="1200" dirty="0">
                <a:solidFill>
                  <a:schemeClr val="tx2"/>
                </a:solidFill>
              </a:rPr>
              <a:t>既存スタッフからの紹介や、平日昼に別の仕事をしている人の夜・週末勤務も対象に広げる。</a:t>
            </a:r>
            <a:endParaRPr lang="en-US" sz="1300" dirty="0"/>
          </a:p>
        </p:txBody>
      </p:sp>
      <p:sp>
        <p:nvSpPr>
          <p:cNvPr id="14" name="rule-16"/>
          <p:cNvSpPr/>
          <p:nvPr/>
        </p:nvSpPr>
        <p:spPr>
          <a:xfrm>
            <a:off x="6949440" y="4910328"/>
            <a:ext cx="4602175" cy="0"/>
          </a:xfrm>
          <a:prstGeom prst="line">
            <a:avLst/>
          </a:prstGeom>
          <a:noFill/>
          <a:ln w="9525">
            <a:solidFill>
              <a:schemeClr val="accent6"/>
            </a:solidFill>
            <a:prstDash val="solid"/>
          </a:ln>
        </p:spPr>
      </p:sp>
      <p:sp>
        <p:nvSpPr>
          <p:cNvPr id="15" name="t-17"/>
          <p:cNvSpPr txBox="1"/>
          <p:nvPr/>
        </p:nvSpPr>
        <p:spPr>
          <a:xfrm>
            <a:off x="6949440" y="4983480"/>
            <a:ext cx="4602175" cy="868680"/>
          </a:xfrm>
          <a:prstGeom prst="rect">
            <a:avLst/>
          </a:prstGeom>
          <a:noFill/>
          <a:ln/>
        </p:spPr>
        <p:txBody>
          <a:bodyPr wrap="square" lIns="0" tIns="0" rIns="0" bIns="0" rtlCol="0" anchor="t"/>
          <a:lstStyle/>
          <a:p>
            <a:pPr indent="0" marL="0">
              <a:buNone/>
            </a:pPr>
            <a:r>
              <a:rPr lang="en-US" sz="1300" b="1" dirty="0">
                <a:solidFill>
                  <a:schemeClr val="tx1"/>
                </a:solidFill>
              </a:rPr>
              <a:t>期限</a:t>
            </a:r>
            <a:endParaRPr lang="en-US" sz="1300" dirty="0"/>
          </a:p>
          <a:p>
            <a:pPr indent="0" marL="0">
              <a:buNone/>
            </a:pPr>
            <a:r>
              <a:rPr lang="en-US" sz="1200" dirty="0">
                <a:solidFill>
                  <a:schemeClr val="tx2"/>
                </a:solidFill>
              </a:rPr>
              <a:t>10月中に求人掲載、11月シフトから戦力化を目指す。</a:t>
            </a:r>
            <a:endParaRPr lang="en-US" sz="13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lIns="0" tIns="0" rIns="0" bIns="0" rtlCol="0" anchor="ctr"/>
          <a:lstStyle/>
          <a:p>
            <a:pPr algn="l" indent="0" marL="0">
              <a:buNone/>
            </a:pPr>
            <a:r>
              <a:rPr lang="en-US" sz="1100" b="1" dirty="0">
                <a:solidFill>
                  <a:schemeClr val="accent1"/>
                </a:solidFill>
              </a:rPr>
              <a:t>03　シフト状況</a:t>
            </a: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lIns="0" tIns="0" rIns="0" bIns="0" rtlCol="0" anchor="ctr"/>
          <a:lstStyle/>
          <a:p>
            <a:pPr algn="l" indent="0" marL="0">
              <a:buNone/>
            </a:pPr>
            <a:r>
              <a:rPr lang="en-US" sz="2400" b="1" dirty="0">
                <a:solidFill>
                  <a:schemeClr val="tx1"/>
                </a:solidFill>
              </a:rPr>
              <a:t>週末の人手不足が毎月悪化。当日の遅刻・欠勤と戦力の偏りも課題</a:t>
            </a:r>
            <a:endParaRPr lang="en-US" sz="2400" dirty="0"/>
          </a:p>
        </p:txBody>
      </p:sp>
      <p:sp>
        <p:nvSpPr>
          <p:cNvPr id="4" name="t-18"/>
          <p:cNvSpPr txBox="1"/>
          <p:nvPr/>
        </p:nvSpPr>
        <p:spPr>
          <a:xfrm>
            <a:off x="640080" y="1600200"/>
            <a:ext cx="4480560" cy="365760"/>
          </a:xfrm>
          <a:prstGeom prst="rect">
            <a:avLst/>
          </a:prstGeom>
          <a:noFill/>
          <a:ln/>
        </p:spPr>
        <p:txBody>
          <a:bodyPr wrap="square" lIns="0" tIns="0" rIns="0" bIns="0" rtlCol="0" anchor="ctr"/>
          <a:lstStyle/>
          <a:p>
            <a:pPr indent="0" marL="0">
              <a:buNone/>
            </a:pPr>
            <a:r>
              <a:rPr lang="en-US" sz="1600" b="1" dirty="0">
                <a:solidFill>
                  <a:schemeClr val="tx2"/>
                </a:solidFill>
              </a:rPr>
              <a:t>現状</a:t>
            </a:r>
            <a:endParaRPr lang="en-US" sz="1600" dirty="0"/>
          </a:p>
        </p:txBody>
      </p:sp>
      <p:sp>
        <p:nvSpPr>
          <p:cNvPr id="5" name="rule-19"/>
          <p:cNvSpPr/>
          <p:nvPr/>
        </p:nvSpPr>
        <p:spPr>
          <a:xfrm>
            <a:off x="640080" y="2029968"/>
            <a:ext cx="4480560" cy="0"/>
          </a:xfrm>
          <a:prstGeom prst="line">
            <a:avLst/>
          </a:prstGeom>
          <a:noFill/>
          <a:ln w="19050">
            <a:solidFill>
              <a:srgbClr val="595959"/>
            </a:solidFill>
            <a:prstDash val="solid"/>
          </a:ln>
        </p:spPr>
      </p:sp>
      <p:sp>
        <p:nvSpPr>
          <p:cNvPr id="6" name="t-20"/>
          <p:cNvSpPr txBox="1"/>
          <p:nvPr/>
        </p:nvSpPr>
        <p:spPr>
          <a:xfrm>
            <a:off x="640080" y="2194560"/>
            <a:ext cx="4480560" cy="777240"/>
          </a:xfrm>
          <a:prstGeom prst="rect">
            <a:avLst/>
          </a:prstGeom>
          <a:noFill/>
          <a:ln/>
        </p:spPr>
        <p:txBody>
          <a:bodyPr wrap="square" lIns="0" tIns="0" rIns="0" bIns="0" rtlCol="0" anchor="t"/>
          <a:lstStyle/>
          <a:p>
            <a:pPr indent="0" marL="0">
              <a:buNone/>
            </a:pPr>
            <a:r>
              <a:rPr lang="en-US" sz="1300" dirty="0">
                <a:solidFill>
                  <a:schemeClr val="tx1"/>
                </a:solidFill>
              </a:rPr>
              <a:t>週末の人手不足が毎月ひどくなっている。</a:t>
            </a:r>
            <a:endParaRPr lang="en-US" sz="1300" dirty="0"/>
          </a:p>
        </p:txBody>
      </p:sp>
      <p:sp>
        <p:nvSpPr>
          <p:cNvPr id="7" name="rule-21"/>
          <p:cNvSpPr/>
          <p:nvPr/>
        </p:nvSpPr>
        <p:spPr>
          <a:xfrm>
            <a:off x="640080" y="2971800"/>
            <a:ext cx="4480560" cy="0"/>
          </a:xfrm>
          <a:prstGeom prst="line">
            <a:avLst/>
          </a:prstGeom>
          <a:noFill/>
          <a:ln w="9525">
            <a:solidFill>
              <a:schemeClr val="accent6"/>
            </a:solidFill>
            <a:prstDash val="solid"/>
          </a:ln>
        </p:spPr>
      </p:sp>
      <p:sp>
        <p:nvSpPr>
          <p:cNvPr id="8" name="t-22"/>
          <p:cNvSpPr txBox="1"/>
          <p:nvPr/>
        </p:nvSpPr>
        <p:spPr>
          <a:xfrm>
            <a:off x="640080" y="3063240"/>
            <a:ext cx="4480560" cy="777240"/>
          </a:xfrm>
          <a:prstGeom prst="rect">
            <a:avLst/>
          </a:prstGeom>
          <a:noFill/>
          <a:ln/>
        </p:spPr>
        <p:txBody>
          <a:bodyPr wrap="square" lIns="0" tIns="0" rIns="0" bIns="0" rtlCol="0" anchor="t"/>
          <a:lstStyle/>
          <a:p>
            <a:pPr indent="0" marL="0">
              <a:buNone/>
            </a:pPr>
            <a:r>
              <a:rPr lang="en-US" sz="1300" dirty="0">
                <a:solidFill>
                  <a:schemeClr val="tx1"/>
                </a:solidFill>
              </a:rPr>
              <a:t>柴山・杉田・酒井など、当日に「忙しくて遅れる」→「休み」になるケースが増えている。</a:t>
            </a:r>
            <a:endParaRPr lang="en-US" sz="1300" dirty="0"/>
          </a:p>
        </p:txBody>
      </p:sp>
      <p:sp>
        <p:nvSpPr>
          <p:cNvPr id="9" name="rule-23"/>
          <p:cNvSpPr/>
          <p:nvPr/>
        </p:nvSpPr>
        <p:spPr>
          <a:xfrm>
            <a:off x="640080" y="3840480"/>
            <a:ext cx="4480560" cy="0"/>
          </a:xfrm>
          <a:prstGeom prst="line">
            <a:avLst/>
          </a:prstGeom>
          <a:noFill/>
          <a:ln w="9525">
            <a:solidFill>
              <a:schemeClr val="accent6"/>
            </a:solidFill>
            <a:prstDash val="solid"/>
          </a:ln>
        </p:spPr>
      </p:sp>
      <p:sp>
        <p:nvSpPr>
          <p:cNvPr id="10" name="t-24"/>
          <p:cNvSpPr txBox="1"/>
          <p:nvPr/>
        </p:nvSpPr>
        <p:spPr>
          <a:xfrm>
            <a:off x="640080" y="3931920"/>
            <a:ext cx="4480560" cy="777240"/>
          </a:xfrm>
          <a:prstGeom prst="rect">
            <a:avLst/>
          </a:prstGeom>
          <a:noFill/>
          <a:ln/>
        </p:spPr>
        <p:txBody>
          <a:bodyPr wrap="square" lIns="0" tIns="0" rIns="0" bIns="0" rtlCol="0" anchor="t"/>
          <a:lstStyle/>
          <a:p>
            <a:pPr indent="0" marL="0">
              <a:buNone/>
            </a:pPr>
            <a:r>
              <a:rPr lang="en-US" sz="1300" dirty="0">
                <a:solidFill>
                  <a:schemeClr val="tx1"/>
                </a:solidFill>
              </a:rPr>
              <a:t>日によって戦力（ベテランと新人）のバランスが取れていない日が多い。</a:t>
            </a:r>
            <a:endParaRPr lang="en-US" sz="1300" dirty="0"/>
          </a:p>
        </p:txBody>
      </p:sp>
      <p:sp>
        <p:nvSpPr>
          <p:cNvPr id="11" name="t-25"/>
          <p:cNvSpPr txBox="1"/>
          <p:nvPr/>
        </p:nvSpPr>
        <p:spPr>
          <a:xfrm>
            <a:off x="5669280" y="1600200"/>
            <a:ext cx="5882335" cy="365760"/>
          </a:xfrm>
          <a:prstGeom prst="rect">
            <a:avLst/>
          </a:prstGeom>
          <a:noFill/>
          <a:ln/>
        </p:spPr>
        <p:txBody>
          <a:bodyPr wrap="square" lIns="0" tIns="0" rIns="0" bIns="0" rtlCol="0" anchor="ctr"/>
          <a:lstStyle/>
          <a:p>
            <a:pPr indent="0" marL="0">
              <a:buNone/>
            </a:pPr>
            <a:r>
              <a:rPr lang="en-US" sz="1600" b="1" dirty="0">
                <a:solidFill>
                  <a:schemeClr val="accent1"/>
                </a:solidFill>
              </a:rPr>
              <a:t>対策</a:t>
            </a:r>
            <a:endParaRPr lang="en-US" sz="1600" dirty="0"/>
          </a:p>
        </p:txBody>
      </p:sp>
      <p:sp>
        <p:nvSpPr>
          <p:cNvPr id="12" name="rule-26"/>
          <p:cNvSpPr/>
          <p:nvPr/>
        </p:nvSpPr>
        <p:spPr>
          <a:xfrm>
            <a:off x="5669280" y="2029968"/>
            <a:ext cx="5882335" cy="0"/>
          </a:xfrm>
          <a:prstGeom prst="line">
            <a:avLst/>
          </a:prstGeom>
          <a:noFill/>
          <a:ln w="19050">
            <a:solidFill>
              <a:srgbClr val="2F5D50"/>
            </a:solidFill>
            <a:prstDash val="solid"/>
          </a:ln>
        </p:spPr>
      </p:sp>
      <p:sp>
        <p:nvSpPr>
          <p:cNvPr id="13" name="t-27"/>
          <p:cNvSpPr txBox="1"/>
          <p:nvPr/>
        </p:nvSpPr>
        <p:spPr>
          <a:xfrm>
            <a:off x="5669280" y="219456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14" name="t-28"/>
          <p:cNvSpPr txBox="1"/>
          <p:nvPr/>
        </p:nvSpPr>
        <p:spPr>
          <a:xfrm>
            <a:off x="6035040" y="2194560"/>
            <a:ext cx="5516575" cy="777240"/>
          </a:xfrm>
          <a:prstGeom prst="rect">
            <a:avLst/>
          </a:prstGeom>
          <a:noFill/>
          <a:ln/>
        </p:spPr>
        <p:txBody>
          <a:bodyPr wrap="square" lIns="0" tIns="0" rIns="0" bIns="0" rtlCol="0" anchor="t"/>
          <a:lstStyle/>
          <a:p>
            <a:pPr indent="0" marL="0">
              <a:buNone/>
            </a:pPr>
            <a:r>
              <a:rPr lang="en-US" sz="1300" b="1" dirty="0">
                <a:solidFill>
                  <a:schemeClr val="tx1"/>
                </a:solidFill>
              </a:rPr>
              <a:t>週末シフトの提出ルールを決める</a:t>
            </a:r>
            <a:endParaRPr lang="en-US" sz="1300" dirty="0"/>
          </a:p>
          <a:p>
            <a:pPr indent="0" marL="0">
              <a:buNone/>
            </a:pPr>
            <a:r>
              <a:rPr lang="en-US" sz="1200" dirty="0">
                <a:solidFill>
                  <a:schemeClr val="tx2"/>
                </a:solidFill>
              </a:rPr>
              <a:t>1人あたり月◯回は週末に入るなど目安を示し、シフト提出の締切も前倒しする。</a:t>
            </a:r>
            <a:endParaRPr lang="en-US" sz="1300" dirty="0"/>
          </a:p>
        </p:txBody>
      </p:sp>
      <p:sp>
        <p:nvSpPr>
          <p:cNvPr id="15" name="rule-29"/>
          <p:cNvSpPr/>
          <p:nvPr/>
        </p:nvSpPr>
        <p:spPr>
          <a:xfrm>
            <a:off x="5669280" y="2971800"/>
            <a:ext cx="5882335" cy="0"/>
          </a:xfrm>
          <a:prstGeom prst="line">
            <a:avLst/>
          </a:prstGeom>
          <a:noFill/>
          <a:ln w="9525">
            <a:solidFill>
              <a:schemeClr val="accent6"/>
            </a:solidFill>
            <a:prstDash val="solid"/>
          </a:ln>
        </p:spPr>
      </p:sp>
      <p:sp>
        <p:nvSpPr>
          <p:cNvPr id="16" name="t-30"/>
          <p:cNvSpPr txBox="1"/>
          <p:nvPr/>
        </p:nvSpPr>
        <p:spPr>
          <a:xfrm>
            <a:off x="5669280" y="306324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7" name="t-31"/>
          <p:cNvSpPr txBox="1"/>
          <p:nvPr/>
        </p:nvSpPr>
        <p:spPr>
          <a:xfrm>
            <a:off x="6035040" y="3063240"/>
            <a:ext cx="5516575" cy="777240"/>
          </a:xfrm>
          <a:prstGeom prst="rect">
            <a:avLst/>
          </a:prstGeom>
          <a:noFill/>
          <a:ln/>
        </p:spPr>
        <p:txBody>
          <a:bodyPr wrap="square" lIns="0" tIns="0" rIns="0" bIns="0" rtlCol="0" anchor="t"/>
          <a:lstStyle/>
          <a:p>
            <a:pPr indent="0" marL="0">
              <a:buNone/>
            </a:pPr>
            <a:r>
              <a:rPr lang="en-US" sz="1300" b="1" dirty="0">
                <a:solidFill>
                  <a:schemeClr val="tx1"/>
                </a:solidFill>
              </a:rPr>
              <a:t>当日の遅刻・欠勤ルールを再徹底</a:t>
            </a:r>
            <a:endParaRPr lang="en-US" sz="1300" dirty="0"/>
          </a:p>
          <a:p>
            <a:pPr indent="0" marL="0">
              <a:buNone/>
            </a:pPr>
            <a:r>
              <a:rPr lang="en-US" sz="1200" dirty="0">
                <a:solidFill>
                  <a:schemeClr val="tx2"/>
                </a:solidFill>
              </a:rPr>
              <a:t>連絡は出勤◯時間前までに電話で。回数を記録し、多い人とは個別に面談する。</a:t>
            </a:r>
            <a:endParaRPr lang="en-US" sz="1300" dirty="0"/>
          </a:p>
        </p:txBody>
      </p:sp>
      <p:sp>
        <p:nvSpPr>
          <p:cNvPr id="18" name="rule-32"/>
          <p:cNvSpPr/>
          <p:nvPr/>
        </p:nvSpPr>
        <p:spPr>
          <a:xfrm>
            <a:off x="5669280" y="3840480"/>
            <a:ext cx="5882335" cy="0"/>
          </a:xfrm>
          <a:prstGeom prst="line">
            <a:avLst/>
          </a:prstGeom>
          <a:noFill/>
          <a:ln w="9525">
            <a:solidFill>
              <a:schemeClr val="accent6"/>
            </a:solidFill>
            <a:prstDash val="solid"/>
          </a:ln>
        </p:spPr>
      </p:sp>
      <p:sp>
        <p:nvSpPr>
          <p:cNvPr id="19" name="t-33"/>
          <p:cNvSpPr txBox="1"/>
          <p:nvPr/>
        </p:nvSpPr>
        <p:spPr>
          <a:xfrm>
            <a:off x="5669280" y="393192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20" name="t-34"/>
          <p:cNvSpPr txBox="1"/>
          <p:nvPr/>
        </p:nvSpPr>
        <p:spPr>
          <a:xfrm>
            <a:off x="6035040" y="3931920"/>
            <a:ext cx="5516575" cy="777240"/>
          </a:xfrm>
          <a:prstGeom prst="rect">
            <a:avLst/>
          </a:prstGeom>
          <a:noFill/>
          <a:ln/>
        </p:spPr>
        <p:txBody>
          <a:bodyPr wrap="square" lIns="0" tIns="0" rIns="0" bIns="0" rtlCol="0" anchor="t"/>
          <a:lstStyle/>
          <a:p>
            <a:pPr indent="0" marL="0">
              <a:buNone/>
            </a:pPr>
            <a:r>
              <a:rPr lang="en-US" sz="1300" b="1" dirty="0">
                <a:solidFill>
                  <a:schemeClr val="tx1"/>
                </a:solidFill>
              </a:rPr>
              <a:t>スキル表をつくって配置する</a:t>
            </a:r>
            <a:endParaRPr lang="en-US" sz="1300" dirty="0"/>
          </a:p>
          <a:p>
            <a:pPr indent="0" marL="0">
              <a:buNone/>
            </a:pPr>
            <a:r>
              <a:rPr lang="en-US" sz="1200" dirty="0">
                <a:solidFill>
                  <a:schemeClr val="tx2"/>
                </a:solidFill>
              </a:rPr>
              <a:t>ポジション別に「できる／練習中」を一覧化。各時間帯にリーダーができる人を1名入れる。</a:t>
            </a:r>
            <a:endParaRPr lang="en-US" sz="1300" dirty="0"/>
          </a:p>
        </p:txBody>
      </p:sp>
      <p:sp>
        <p:nvSpPr>
          <p:cNvPr id="21" name="rule-35"/>
          <p:cNvSpPr/>
          <p:nvPr/>
        </p:nvSpPr>
        <p:spPr>
          <a:xfrm>
            <a:off x="5669280" y="4709160"/>
            <a:ext cx="5882335" cy="0"/>
          </a:xfrm>
          <a:prstGeom prst="line">
            <a:avLst/>
          </a:prstGeom>
          <a:noFill/>
          <a:ln w="9525">
            <a:solidFill>
              <a:schemeClr val="accent6"/>
            </a:solidFill>
            <a:prstDash val="solid"/>
          </a:ln>
        </p:spPr>
      </p:sp>
      <p:sp>
        <p:nvSpPr>
          <p:cNvPr id="22" name="t-36"/>
          <p:cNvSpPr txBox="1"/>
          <p:nvPr/>
        </p:nvSpPr>
        <p:spPr>
          <a:xfrm>
            <a:off x="5669280" y="480060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23" name="t-37"/>
          <p:cNvSpPr txBox="1"/>
          <p:nvPr/>
        </p:nvSpPr>
        <p:spPr>
          <a:xfrm>
            <a:off x="6035040" y="4800600"/>
            <a:ext cx="5516575" cy="777240"/>
          </a:xfrm>
          <a:prstGeom prst="rect">
            <a:avLst/>
          </a:prstGeom>
          <a:noFill/>
          <a:ln/>
        </p:spPr>
        <p:txBody>
          <a:bodyPr wrap="square" lIns="0" tIns="0" rIns="0" bIns="0" rtlCol="0" anchor="t"/>
          <a:lstStyle/>
          <a:p>
            <a:pPr indent="0" marL="0">
              <a:buNone/>
            </a:pPr>
            <a:r>
              <a:rPr lang="en-US" sz="1300" b="1" dirty="0">
                <a:solidFill>
                  <a:schemeClr val="tx1"/>
                </a:solidFill>
              </a:rPr>
              <a:t>育成を計画的に進める</a:t>
            </a:r>
            <a:endParaRPr lang="en-US" sz="1300" dirty="0"/>
          </a:p>
          <a:p>
            <a:pPr indent="0" marL="0">
              <a:buNone/>
            </a:pPr>
            <a:r>
              <a:rPr lang="en-US" sz="1200" dirty="0">
                <a:solidFill>
                  <a:schemeClr val="tx2"/>
                </a:solidFill>
              </a:rPr>
              <a:t>練習中のポジションをチェックリストで管理し、平日の落ち着いた時間にOJTを行う。</a:t>
            </a:r>
            <a:endParaRPr lang="en-US" sz="13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lIns="0" tIns="0" rIns="0" bIns="0" rtlCol="0" anchor="ctr"/>
          <a:lstStyle/>
          <a:p>
            <a:pPr algn="l" indent="0" marL="0">
              <a:buNone/>
            </a:pPr>
            <a:r>
              <a:rPr lang="en-US" sz="1100" b="1" dirty="0">
                <a:solidFill>
                  <a:schemeClr val="accent1"/>
                </a:solidFill>
              </a:rPr>
              <a:t>04　人間関係</a:t>
            </a: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lIns="0" tIns="0" rIns="0" bIns="0" rtlCol="0" anchor="ctr"/>
          <a:lstStyle/>
          <a:p>
            <a:pPr algn="l" indent="0" marL="0">
              <a:buNone/>
            </a:pPr>
            <a:r>
              <a:rPr lang="en-US" sz="2400" b="1" dirty="0">
                <a:solidFill>
                  <a:schemeClr val="tx1"/>
                </a:solidFill>
              </a:rPr>
              <a:t>大きなトラブルはないが、学生とそれ以外の間に溝。愚痴が増えている</a:t>
            </a:r>
            <a:endParaRPr lang="en-US" sz="2400" dirty="0"/>
          </a:p>
        </p:txBody>
      </p:sp>
      <p:sp>
        <p:nvSpPr>
          <p:cNvPr id="4" name="t-38"/>
          <p:cNvSpPr txBox="1"/>
          <p:nvPr/>
        </p:nvSpPr>
        <p:spPr>
          <a:xfrm>
            <a:off x="640080" y="1600200"/>
            <a:ext cx="4480560" cy="365760"/>
          </a:xfrm>
          <a:prstGeom prst="rect">
            <a:avLst/>
          </a:prstGeom>
          <a:noFill/>
          <a:ln/>
        </p:spPr>
        <p:txBody>
          <a:bodyPr wrap="square" lIns="0" tIns="0" rIns="0" bIns="0" rtlCol="0" anchor="ctr"/>
          <a:lstStyle/>
          <a:p>
            <a:pPr indent="0" marL="0">
              <a:buNone/>
            </a:pPr>
            <a:r>
              <a:rPr lang="en-US" sz="1600" b="1" dirty="0">
                <a:solidFill>
                  <a:schemeClr val="tx2"/>
                </a:solidFill>
              </a:rPr>
              <a:t>現状</a:t>
            </a:r>
            <a:endParaRPr lang="en-US" sz="1600" dirty="0"/>
          </a:p>
        </p:txBody>
      </p:sp>
      <p:sp>
        <p:nvSpPr>
          <p:cNvPr id="5" name="rule-39"/>
          <p:cNvSpPr/>
          <p:nvPr/>
        </p:nvSpPr>
        <p:spPr>
          <a:xfrm>
            <a:off x="640080" y="2029968"/>
            <a:ext cx="4480560" cy="0"/>
          </a:xfrm>
          <a:prstGeom prst="line">
            <a:avLst/>
          </a:prstGeom>
          <a:noFill/>
          <a:ln w="19050">
            <a:solidFill>
              <a:srgbClr val="595959"/>
            </a:solidFill>
            <a:prstDash val="solid"/>
          </a:ln>
        </p:spPr>
      </p:sp>
      <p:sp>
        <p:nvSpPr>
          <p:cNvPr id="6" name="t-40"/>
          <p:cNvSpPr txBox="1"/>
          <p:nvPr/>
        </p:nvSpPr>
        <p:spPr>
          <a:xfrm>
            <a:off x="640080" y="2194560"/>
            <a:ext cx="4480560" cy="777240"/>
          </a:xfrm>
          <a:prstGeom prst="rect">
            <a:avLst/>
          </a:prstGeom>
          <a:noFill/>
          <a:ln/>
        </p:spPr>
        <p:txBody>
          <a:bodyPr wrap="square" lIns="0" tIns="0" rIns="0" bIns="0" rtlCol="0" anchor="t"/>
          <a:lstStyle/>
          <a:p>
            <a:pPr indent="0" marL="0">
              <a:buNone/>
            </a:pPr>
            <a:r>
              <a:rPr lang="en-US" sz="1300" dirty="0">
                <a:solidFill>
                  <a:schemeClr val="tx1"/>
                </a:solidFill>
              </a:rPr>
              <a:t>人間関係のトラブルは聞いていない（蓮尾さんなど）。</a:t>
            </a:r>
            <a:endParaRPr lang="en-US" sz="1300" dirty="0"/>
          </a:p>
        </p:txBody>
      </p:sp>
      <p:sp>
        <p:nvSpPr>
          <p:cNvPr id="7" name="rule-41"/>
          <p:cNvSpPr/>
          <p:nvPr/>
        </p:nvSpPr>
        <p:spPr>
          <a:xfrm>
            <a:off x="640080" y="2971800"/>
            <a:ext cx="4480560" cy="0"/>
          </a:xfrm>
          <a:prstGeom prst="line">
            <a:avLst/>
          </a:prstGeom>
          <a:noFill/>
          <a:ln w="9525">
            <a:solidFill>
              <a:schemeClr val="accent6"/>
            </a:solidFill>
            <a:prstDash val="solid"/>
          </a:ln>
        </p:spPr>
      </p:sp>
      <p:sp>
        <p:nvSpPr>
          <p:cNvPr id="8" name="t-42"/>
          <p:cNvSpPr txBox="1"/>
          <p:nvPr/>
        </p:nvSpPr>
        <p:spPr>
          <a:xfrm>
            <a:off x="640080" y="3063240"/>
            <a:ext cx="4480560" cy="777240"/>
          </a:xfrm>
          <a:prstGeom prst="rect">
            <a:avLst/>
          </a:prstGeom>
          <a:noFill/>
          <a:ln/>
        </p:spPr>
        <p:txBody>
          <a:bodyPr wrap="square" lIns="0" tIns="0" rIns="0" bIns="0" rtlCol="0" anchor="t"/>
          <a:lstStyle/>
          <a:p>
            <a:pPr indent="0" marL="0">
              <a:buNone/>
            </a:pPr>
            <a:r>
              <a:rPr lang="en-US" sz="1300" dirty="0">
                <a:solidFill>
                  <a:schemeClr val="tx1"/>
                </a:solidFill>
              </a:rPr>
              <a:t>全体的に、学生とそれ以外のスタッフの間になんとなく溝がある。</a:t>
            </a:r>
            <a:endParaRPr lang="en-US" sz="1300" dirty="0"/>
          </a:p>
        </p:txBody>
      </p:sp>
      <p:sp>
        <p:nvSpPr>
          <p:cNvPr id="9" name="rule-43"/>
          <p:cNvSpPr/>
          <p:nvPr/>
        </p:nvSpPr>
        <p:spPr>
          <a:xfrm>
            <a:off x="640080" y="3840480"/>
            <a:ext cx="4480560" cy="0"/>
          </a:xfrm>
          <a:prstGeom prst="line">
            <a:avLst/>
          </a:prstGeom>
          <a:noFill/>
          <a:ln w="9525">
            <a:solidFill>
              <a:schemeClr val="accent6"/>
            </a:solidFill>
            <a:prstDash val="solid"/>
          </a:ln>
        </p:spPr>
      </p:sp>
      <p:sp>
        <p:nvSpPr>
          <p:cNvPr id="10" name="t-44"/>
          <p:cNvSpPr txBox="1"/>
          <p:nvPr/>
        </p:nvSpPr>
        <p:spPr>
          <a:xfrm>
            <a:off x="640080" y="3931920"/>
            <a:ext cx="4480560" cy="777240"/>
          </a:xfrm>
          <a:prstGeom prst="rect">
            <a:avLst/>
          </a:prstGeom>
          <a:noFill/>
          <a:ln/>
        </p:spPr>
        <p:txBody>
          <a:bodyPr wrap="square" lIns="0" tIns="0" rIns="0" bIns="0" rtlCol="0" anchor="t"/>
          <a:lstStyle/>
          <a:p>
            <a:pPr indent="0" marL="0">
              <a:buNone/>
            </a:pPr>
            <a:r>
              <a:rPr lang="en-US" sz="1300" dirty="0">
                <a:solidFill>
                  <a:schemeClr val="tx1"/>
                </a:solidFill>
              </a:rPr>
              <a:t>萩原・篠原・青山・堀川・高嶋あたりから愚痴を聞くことが増えている。</a:t>
            </a:r>
            <a:endParaRPr lang="en-US" sz="1300" dirty="0"/>
          </a:p>
        </p:txBody>
      </p:sp>
      <p:sp>
        <p:nvSpPr>
          <p:cNvPr id="11" name="t-45"/>
          <p:cNvSpPr txBox="1"/>
          <p:nvPr/>
        </p:nvSpPr>
        <p:spPr>
          <a:xfrm>
            <a:off x="5669280" y="1600200"/>
            <a:ext cx="5882335" cy="365760"/>
          </a:xfrm>
          <a:prstGeom prst="rect">
            <a:avLst/>
          </a:prstGeom>
          <a:noFill/>
          <a:ln/>
        </p:spPr>
        <p:txBody>
          <a:bodyPr wrap="square" lIns="0" tIns="0" rIns="0" bIns="0" rtlCol="0" anchor="ctr"/>
          <a:lstStyle/>
          <a:p>
            <a:pPr indent="0" marL="0">
              <a:buNone/>
            </a:pPr>
            <a:r>
              <a:rPr lang="en-US" sz="1600" b="1" dirty="0">
                <a:solidFill>
                  <a:schemeClr val="accent1"/>
                </a:solidFill>
              </a:rPr>
              <a:t>対策</a:t>
            </a:r>
            <a:endParaRPr lang="en-US" sz="1600" dirty="0"/>
          </a:p>
        </p:txBody>
      </p:sp>
      <p:sp>
        <p:nvSpPr>
          <p:cNvPr id="12" name="rule-46"/>
          <p:cNvSpPr/>
          <p:nvPr/>
        </p:nvSpPr>
        <p:spPr>
          <a:xfrm>
            <a:off x="5669280" y="2029968"/>
            <a:ext cx="5882335" cy="0"/>
          </a:xfrm>
          <a:prstGeom prst="line">
            <a:avLst/>
          </a:prstGeom>
          <a:noFill/>
          <a:ln w="19050">
            <a:solidFill>
              <a:srgbClr val="2F5D50"/>
            </a:solidFill>
            <a:prstDash val="solid"/>
          </a:ln>
        </p:spPr>
      </p:sp>
      <p:sp>
        <p:nvSpPr>
          <p:cNvPr id="13" name="t-47"/>
          <p:cNvSpPr txBox="1"/>
          <p:nvPr/>
        </p:nvSpPr>
        <p:spPr>
          <a:xfrm>
            <a:off x="5669280" y="219456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14" name="t-48"/>
          <p:cNvSpPr txBox="1"/>
          <p:nvPr/>
        </p:nvSpPr>
        <p:spPr>
          <a:xfrm>
            <a:off x="6035040" y="2194560"/>
            <a:ext cx="5516575" cy="777240"/>
          </a:xfrm>
          <a:prstGeom prst="rect">
            <a:avLst/>
          </a:prstGeom>
          <a:noFill/>
          <a:ln/>
        </p:spPr>
        <p:txBody>
          <a:bodyPr wrap="square" lIns="0" tIns="0" rIns="0" bIns="0" rtlCol="0" anchor="t"/>
          <a:lstStyle/>
          <a:p>
            <a:pPr indent="0" marL="0">
              <a:buNone/>
            </a:pPr>
            <a:r>
              <a:rPr lang="en-US" sz="1300" b="1" dirty="0">
                <a:solidFill>
                  <a:schemeClr val="tx1"/>
                </a:solidFill>
              </a:rPr>
              <a:t>個別に話を聞く</a:t>
            </a:r>
            <a:endParaRPr lang="en-US" sz="1300" dirty="0"/>
          </a:p>
          <a:p>
            <a:pPr indent="0" marL="0">
              <a:buNone/>
            </a:pPr>
            <a:r>
              <a:rPr lang="en-US" sz="1200" dirty="0">
                <a:solidFill>
                  <a:schemeClr val="tx2"/>
                </a:solidFill>
              </a:rPr>
              <a:t>愚痴が増えているメンバーと10月中に1人15分程度の面談を行い、不満の中身（仕事量・シフト・人）を整理する。</a:t>
            </a:r>
            <a:endParaRPr lang="en-US" sz="1300" dirty="0"/>
          </a:p>
        </p:txBody>
      </p:sp>
      <p:sp>
        <p:nvSpPr>
          <p:cNvPr id="15" name="rule-49"/>
          <p:cNvSpPr/>
          <p:nvPr/>
        </p:nvSpPr>
        <p:spPr>
          <a:xfrm>
            <a:off x="5669280" y="2971800"/>
            <a:ext cx="5882335" cy="0"/>
          </a:xfrm>
          <a:prstGeom prst="line">
            <a:avLst/>
          </a:prstGeom>
          <a:noFill/>
          <a:ln w="9525">
            <a:solidFill>
              <a:schemeClr val="accent6"/>
            </a:solidFill>
            <a:prstDash val="solid"/>
          </a:ln>
        </p:spPr>
      </p:sp>
      <p:sp>
        <p:nvSpPr>
          <p:cNvPr id="16" name="t-50"/>
          <p:cNvSpPr txBox="1"/>
          <p:nvPr/>
        </p:nvSpPr>
        <p:spPr>
          <a:xfrm>
            <a:off x="5669280" y="306324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7" name="t-51"/>
          <p:cNvSpPr txBox="1"/>
          <p:nvPr/>
        </p:nvSpPr>
        <p:spPr>
          <a:xfrm>
            <a:off x="6035040" y="3063240"/>
            <a:ext cx="5516575" cy="777240"/>
          </a:xfrm>
          <a:prstGeom prst="rect">
            <a:avLst/>
          </a:prstGeom>
          <a:noFill/>
          <a:ln/>
        </p:spPr>
        <p:txBody>
          <a:bodyPr wrap="square" lIns="0" tIns="0" rIns="0" bIns="0" rtlCol="0" anchor="t"/>
          <a:lstStyle/>
          <a:p>
            <a:pPr indent="0" marL="0">
              <a:buNone/>
            </a:pPr>
            <a:r>
              <a:rPr lang="en-US" sz="1300" b="1" dirty="0">
                <a:solidFill>
                  <a:schemeClr val="tx1"/>
                </a:solidFill>
              </a:rPr>
              <a:t>学生と一般スタッフを混ぜて配置</a:t>
            </a:r>
            <a:endParaRPr lang="en-US" sz="1300" dirty="0"/>
          </a:p>
          <a:p>
            <a:pPr indent="0" marL="0">
              <a:buNone/>
            </a:pPr>
            <a:r>
              <a:rPr lang="en-US" sz="1200" dirty="0">
                <a:solidFill>
                  <a:schemeClr val="tx2"/>
                </a:solidFill>
              </a:rPr>
              <a:t>同じ属性で固まらないよう、シフトやペア作業で組み合わせを意識する。</a:t>
            </a:r>
            <a:endParaRPr lang="en-US" sz="1300" dirty="0"/>
          </a:p>
        </p:txBody>
      </p:sp>
      <p:sp>
        <p:nvSpPr>
          <p:cNvPr id="18" name="rule-52"/>
          <p:cNvSpPr/>
          <p:nvPr/>
        </p:nvSpPr>
        <p:spPr>
          <a:xfrm>
            <a:off x="5669280" y="3840480"/>
            <a:ext cx="5882335" cy="0"/>
          </a:xfrm>
          <a:prstGeom prst="line">
            <a:avLst/>
          </a:prstGeom>
          <a:noFill/>
          <a:ln w="9525">
            <a:solidFill>
              <a:schemeClr val="accent6"/>
            </a:solidFill>
            <a:prstDash val="solid"/>
          </a:ln>
        </p:spPr>
      </p:sp>
      <p:sp>
        <p:nvSpPr>
          <p:cNvPr id="19" name="t-53"/>
          <p:cNvSpPr txBox="1"/>
          <p:nvPr/>
        </p:nvSpPr>
        <p:spPr>
          <a:xfrm>
            <a:off x="5669280" y="393192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20" name="t-54"/>
          <p:cNvSpPr txBox="1"/>
          <p:nvPr/>
        </p:nvSpPr>
        <p:spPr>
          <a:xfrm>
            <a:off x="6035040" y="3931920"/>
            <a:ext cx="5516575" cy="777240"/>
          </a:xfrm>
          <a:prstGeom prst="rect">
            <a:avLst/>
          </a:prstGeom>
          <a:noFill/>
          <a:ln/>
        </p:spPr>
        <p:txBody>
          <a:bodyPr wrap="square" lIns="0" tIns="0" rIns="0" bIns="0" rtlCol="0" anchor="t"/>
          <a:lstStyle/>
          <a:p>
            <a:pPr indent="0" marL="0">
              <a:buNone/>
            </a:pPr>
            <a:r>
              <a:rPr lang="en-US" sz="1300" b="1" dirty="0">
                <a:solidFill>
                  <a:schemeClr val="tx1"/>
                </a:solidFill>
              </a:rPr>
              <a:t>情報共有のやり方をそろえる</a:t>
            </a:r>
            <a:endParaRPr lang="en-US" sz="1300" dirty="0"/>
          </a:p>
          <a:p>
            <a:pPr indent="0" marL="0">
              <a:buNone/>
            </a:pPr>
            <a:r>
              <a:rPr lang="en-US" sz="1200" dirty="0">
                <a:solidFill>
                  <a:schemeClr val="tx2"/>
                </a:solidFill>
              </a:rPr>
              <a:t>連絡はノートやグループLINEに一本化し、「聞いていない」による不満をなくす。</a:t>
            </a:r>
            <a:endParaRPr lang="en-US" sz="1300" dirty="0"/>
          </a:p>
        </p:txBody>
      </p:sp>
      <p:sp>
        <p:nvSpPr>
          <p:cNvPr id="21" name="rule-55"/>
          <p:cNvSpPr/>
          <p:nvPr/>
        </p:nvSpPr>
        <p:spPr>
          <a:xfrm>
            <a:off x="5669280" y="4709160"/>
            <a:ext cx="5882335" cy="0"/>
          </a:xfrm>
          <a:prstGeom prst="line">
            <a:avLst/>
          </a:prstGeom>
          <a:noFill/>
          <a:ln w="9525">
            <a:solidFill>
              <a:schemeClr val="accent6"/>
            </a:solidFill>
            <a:prstDash val="solid"/>
          </a:ln>
        </p:spPr>
      </p:sp>
      <p:sp>
        <p:nvSpPr>
          <p:cNvPr id="22" name="t-56"/>
          <p:cNvSpPr txBox="1"/>
          <p:nvPr/>
        </p:nvSpPr>
        <p:spPr>
          <a:xfrm>
            <a:off x="5669280" y="4800600"/>
            <a:ext cx="320040" cy="365760"/>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23" name="t-57"/>
          <p:cNvSpPr txBox="1"/>
          <p:nvPr/>
        </p:nvSpPr>
        <p:spPr>
          <a:xfrm>
            <a:off x="6035040" y="4800600"/>
            <a:ext cx="5516575" cy="777240"/>
          </a:xfrm>
          <a:prstGeom prst="rect">
            <a:avLst/>
          </a:prstGeom>
          <a:noFill/>
          <a:ln/>
        </p:spPr>
        <p:txBody>
          <a:bodyPr wrap="square" lIns="0" tIns="0" rIns="0" bIns="0" rtlCol="0" anchor="t"/>
          <a:lstStyle/>
          <a:p>
            <a:pPr indent="0" marL="0">
              <a:buNone/>
            </a:pPr>
            <a:r>
              <a:rPr lang="en-US" sz="1300" b="1" dirty="0">
                <a:solidFill>
                  <a:schemeClr val="tx1"/>
                </a:solidFill>
              </a:rPr>
              <a:t>社員は中立を保つ</a:t>
            </a:r>
            <a:endParaRPr lang="en-US" sz="1300" dirty="0"/>
          </a:p>
          <a:p>
            <a:pPr indent="0" marL="0">
              <a:buNone/>
            </a:pPr>
            <a:r>
              <a:rPr lang="en-US" sz="1200" dirty="0">
                <a:solidFill>
                  <a:schemeClr val="tx2"/>
                </a:solidFill>
              </a:rPr>
              <a:t>愚痴は受け止めつつ同調はせず、内容は社員間で共有して対応を決める。</a:t>
            </a:r>
            <a:endParaRPr lang="en-US" sz="13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lIns="0" tIns="0" rIns="0" bIns="0" rtlCol="0" anchor="ctr"/>
          <a:lstStyle/>
          <a:p>
            <a:pPr algn="l" indent="0" marL="0">
              <a:buNone/>
            </a:pPr>
            <a:r>
              <a:rPr lang="en-US" sz="1100" b="1" dirty="0">
                <a:solidFill>
                  <a:schemeClr val="accent1"/>
                </a:solidFill>
              </a:rPr>
              <a:t>05　設備不具合</a:t>
            </a: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lIns="0" tIns="0" rIns="0" bIns="0" rtlCol="0" anchor="ctr"/>
          <a:lstStyle/>
          <a:p>
            <a:pPr algn="l" indent="0" marL="0">
              <a:buNone/>
            </a:pPr>
            <a:r>
              <a:rPr lang="en-US" sz="2400" b="1" dirty="0">
                <a:solidFill>
                  <a:schemeClr val="tx1"/>
                </a:solidFill>
              </a:rPr>
              <a:t>ゆで麺器の火力低下は提供停止につながるため最優先で対応</a:t>
            </a:r>
            <a:endParaRPr lang="en-US" sz="2400" dirty="0"/>
          </a:p>
        </p:txBody>
      </p:sp>
      <p:graphicFrame>
        <p:nvGraphicFramePr>
          <p:cNvPr id="7" name="table-58"/>
          <p:cNvGraphicFramePr>
            <a:graphicFrameLocks noGrp="1"/>
          </p:cNvGraphicFramePr>
          <p:nvPr>
            <p:extLst>
              <p:ext uri="{D42A27DB-BD31-4B8C-83A1-F6EECF244321}">
                <p14:modId xmlns:p14="http://schemas.microsoft.com/office/powerpoint/2010/main" val="1579011935"/>
              </p:ext>
            </p:extLst>
          </p:nvPr>
        </p:nvGraphicFramePr>
        <p:xfrm>
          <a:off x="640080" y="1600200"/>
          <a:ext cx="10911535" cy="914400"/>
        </p:xfrm>
        <a:graphic>
          <a:graphicData uri="http://schemas.openxmlformats.org/drawingml/2006/table">
            <a:tbl>
              <a:tblPr/>
              <a:tblGrid>
                <a:gridCol w="2103120"/>
                <a:gridCol w="2377440"/>
                <a:gridCol w="2377440"/>
                <a:gridCol w="3291840"/>
                <a:gridCol w="761695"/>
              </a:tblGrid>
              <a:tr h="384048">
                <a:tc>
                  <a:txBody>
                    <a:bodyPr/>
                    <a:lstStyle/>
                    <a:p>
                      <a:pPr algn="l" indent="0" marL="0">
                        <a:buNone/>
                      </a:pPr>
                      <a:r>
                        <a:rPr lang="en-US" sz="1100" b="1" dirty="0">
                          <a:solidFill>
                            <a:schemeClr val="tx2"/>
                          </a:solidFill>
                        </a:rPr>
                        <a:t>設備</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症状</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現在の対応</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対策</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r" indent="0" marL="0">
                        <a:buNone/>
                      </a:pPr>
                      <a:r>
                        <a:rPr lang="en-US" sz="1100" b="1" dirty="0">
                          <a:solidFill>
                            <a:schemeClr val="tx2"/>
                          </a:solidFill>
                        </a:rPr>
                        <a:t>優先度</a:t>
                      </a:r>
                      <a:endParaRPr lang="en-US" sz="11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r h="1005840">
                <a:tc>
                  <a:txBody>
                    <a:bodyPr/>
                    <a:lstStyle/>
                    <a:p>
                      <a:pPr algn="l" indent="0" marL="0">
                        <a:buNone/>
                      </a:pPr>
                      <a:r>
                        <a:rPr lang="en-US" sz="1200" b="1" dirty="0">
                          <a:solidFill>
                            <a:schemeClr val="tx1"/>
                          </a:solidFill>
                        </a:rPr>
                        <a:t>ゆで麺器</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200" dirty="0">
                          <a:solidFill>
                            <a:schemeClr val="tx1"/>
                          </a:solidFill>
                        </a:rPr>
                        <a:t>急に火力が落ち、お湯が沸き上がらないことがある</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200" dirty="0">
                          <a:solidFill>
                            <a:schemeClr val="tx1"/>
                          </a:solidFill>
                        </a:rPr>
                        <a:t>その都度様子を見て対応</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200" dirty="0">
                          <a:solidFill>
                            <a:schemeClr val="tx1"/>
                          </a:solidFill>
                        </a:rPr>
                        <a:t>業者に点検・修理を依頼。修理までは鍋での茹で対応など代替手順を決め、コラボ前に点検を終える</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accent3"/>
                          </a:solidFill>
                        </a:rPr>
                        <a:t>高</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1005840">
                <a:tc>
                  <a:txBody>
                    <a:bodyPr/>
                    <a:lstStyle/>
                    <a:p>
                      <a:pPr algn="l" indent="0" marL="0">
                        <a:buNone/>
                      </a:pPr>
                      <a:r>
                        <a:rPr lang="en-US" sz="1200" b="1" dirty="0">
                          <a:solidFill>
                            <a:schemeClr val="tx1"/>
                          </a:solidFill>
                        </a:rPr>
                        <a:t>キッチン窓側のコンセント（1カ所）</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200" dirty="0">
                          <a:solidFill>
                            <a:schemeClr val="tx1"/>
                          </a:solidFill>
                        </a:rPr>
                        <a:t>通電が不安定</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200" dirty="0">
                          <a:solidFill>
                            <a:schemeClr val="tx1"/>
                          </a:solidFill>
                        </a:rPr>
                        <a:t>テープを貼って使用禁止にしている（数は足りている）</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200" dirty="0">
                          <a:solidFill>
                            <a:schemeClr val="tx1"/>
                          </a:solidFill>
                        </a:rPr>
                        <a:t>発火などの危険もあるため、施設管理に修理を依頼。修理まで使用禁止の表示を続ける</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tx1"/>
                          </a:solidFill>
                        </a:rPr>
                        <a:t>中</a:t>
                      </a:r>
                      <a:endParaRPr lang="en-US" sz="1200" dirty="0"/>
                    </a:p>
                  </a:txBody>
                  <a:tcPr marL="91440" marR="91440" marT="54864" marB="54864"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731520">
                <a:tc>
                  <a:txBody>
                    <a:bodyPr/>
                    <a:lstStyle/>
                    <a:p>
                      <a:pPr algn="l" indent="0" marL="0">
                        <a:buNone/>
                      </a:pPr>
                      <a:r>
                        <a:rPr lang="en-US" sz="1200" b="1" dirty="0">
                          <a:solidFill>
                            <a:schemeClr val="tx1"/>
                          </a:solidFill>
                        </a:rPr>
                        <a:t>キッチン入ってすぐの蛇口</a:t>
                      </a:r>
                      <a:endParaRPr lang="en-US" sz="12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200" dirty="0">
                          <a:solidFill>
                            <a:schemeClr val="tx1"/>
                          </a:solidFill>
                        </a:rPr>
                        <a:t>不具合あり</a:t>
                      </a:r>
                      <a:endParaRPr lang="en-US" sz="12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200" dirty="0">
                          <a:solidFill>
                            <a:schemeClr val="tx1"/>
                          </a:solidFill>
                        </a:rPr>
                        <a:t>－</a:t>
                      </a:r>
                      <a:endParaRPr lang="en-US" sz="12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200" dirty="0">
                          <a:solidFill>
                            <a:schemeClr val="tx1"/>
                          </a:solidFill>
                        </a:rPr>
                        <a:t>症状（水漏れ・閉まりにくい等）を確認し、修理を依頼</a:t>
                      </a:r>
                      <a:endParaRPr lang="en-US" sz="12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ctr" indent="0" marL="0">
                        <a:buNone/>
                      </a:pPr>
                      <a:r>
                        <a:rPr lang="en-US" sz="1200" b="1" dirty="0">
                          <a:solidFill>
                            <a:schemeClr val="tx1"/>
                          </a:solidFill>
                        </a:rPr>
                        <a:t>中</a:t>
                      </a:r>
                      <a:endParaRPr lang="en-US" sz="1200" dirty="0"/>
                    </a:p>
                  </a:txBody>
                  <a:tcPr marL="91440" marR="91440" marT="54864" marB="54864"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bl>
          </a:graphicData>
        </a:graphic>
      </p:graphicFrame>
      <p:sp>
        <p:nvSpPr>
          <p:cNvPr id="5" name="t-59"/>
          <p:cNvSpPr txBox="1"/>
          <p:nvPr/>
        </p:nvSpPr>
        <p:spPr>
          <a:xfrm>
            <a:off x="640080" y="4983480"/>
            <a:ext cx="10911535" cy="365760"/>
          </a:xfrm>
          <a:prstGeom prst="rect">
            <a:avLst/>
          </a:prstGeom>
          <a:noFill/>
          <a:ln/>
        </p:spPr>
        <p:txBody>
          <a:bodyPr wrap="square" lIns="0" tIns="0" rIns="0" bIns="0" rtlCol="0" anchor="ctr"/>
          <a:lstStyle/>
          <a:p>
            <a:pPr indent="0" marL="0">
              <a:buNone/>
            </a:pPr>
            <a:r>
              <a:rPr lang="en-US" sz="1200" dirty="0">
                <a:solidFill>
                  <a:schemeClr val="accent3"/>
                </a:solidFill>
              </a:rPr>
              <a:t>※ 今回のようにコラボが好調で冷凍麺の注文が増えると、ゆで麺器が使えない場合は提供できなくなる。</a:t>
            </a:r>
            <a:endParaRPr lang="en-US" sz="12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10911535" cy="274320"/>
          </a:xfrm>
          <a:prstGeom prst="rect">
            <a:avLst/>
          </a:prstGeom>
          <a:noFill/>
          <a:ln/>
        </p:spPr>
        <p:txBody>
          <a:bodyPr wrap="square" lIns="0" tIns="0" rIns="0" bIns="0" rtlCol="0" anchor="ctr"/>
          <a:lstStyle/>
          <a:p>
            <a:pPr algn="l" indent="0" marL="0">
              <a:buNone/>
            </a:pPr>
            <a:r>
              <a:rPr lang="en-US" sz="1100" b="1" dirty="0">
                <a:solidFill>
                  <a:schemeClr val="accent1"/>
                </a:solidFill>
              </a:rPr>
              <a:t>06　アクションリスト</a:t>
            </a:r>
            <a:endParaRPr lang="en-US" sz="1100" dirty="0"/>
          </a:p>
        </p:txBody>
      </p:sp>
      <p:sp>
        <p:nvSpPr>
          <p:cNvPr id="3" name="Text 0"/>
          <p:cNvSpPr/>
          <p:nvPr>
            <p:ph idx="101" type="title" hasCustomPrompt="1"/>
          </p:nvPr>
        </p:nvSpPr>
        <p:spPr>
          <a:xfrm>
            <a:off x="640080" y="621792"/>
            <a:ext cx="10911535" cy="594360"/>
          </a:xfrm>
          <a:prstGeom prst="rect">
            <a:avLst/>
          </a:prstGeom>
          <a:noFill/>
          <a:ln/>
        </p:spPr>
        <p:txBody>
          <a:bodyPr wrap="square" lIns="0" tIns="0" rIns="0" bIns="0" rtlCol="0" anchor="ctr"/>
          <a:lstStyle/>
          <a:p>
            <a:pPr algn="l" indent="0" marL="0">
              <a:buNone/>
            </a:pPr>
            <a:r>
              <a:rPr lang="en-US" sz="2400" b="1" dirty="0">
                <a:solidFill>
                  <a:schemeClr val="tx1"/>
                </a:solidFill>
              </a:rPr>
              <a:t>10月中に着手する対策と担当</a:t>
            </a:r>
            <a:endParaRPr lang="en-US" sz="2400" dirty="0"/>
          </a:p>
        </p:txBody>
      </p:sp>
      <p:graphicFrame>
        <p:nvGraphicFramePr>
          <p:cNvPr id="8" name="table-60"/>
          <p:cNvGraphicFramePr>
            <a:graphicFrameLocks noGrp="1"/>
          </p:cNvGraphicFramePr>
          <p:nvPr>
            <p:extLst>
              <p:ext uri="{D42A27DB-BD31-4B8C-83A1-F6EECF244321}">
                <p14:modId xmlns:p14="http://schemas.microsoft.com/office/powerpoint/2010/main" val="1579011935"/>
              </p:ext>
            </p:extLst>
          </p:nvPr>
        </p:nvGraphicFramePr>
        <p:xfrm>
          <a:off x="640080" y="1600200"/>
          <a:ext cx="10911535" cy="914400"/>
        </p:xfrm>
        <a:graphic>
          <a:graphicData uri="http://schemas.openxmlformats.org/drawingml/2006/table">
            <a:tbl>
              <a:tblPr/>
              <a:tblGrid>
                <a:gridCol w="548640"/>
                <a:gridCol w="5852160"/>
                <a:gridCol w="1371600"/>
                <a:gridCol w="1463040"/>
                <a:gridCol w="1676095"/>
              </a:tblGrid>
              <a:tr h="475488">
                <a:tc>
                  <a:txBody>
                    <a:bodyPr/>
                    <a:lstStyle/>
                    <a:p>
                      <a:pPr algn="l" indent="0" marL="0">
                        <a:buNone/>
                      </a:pPr>
                      <a:r>
                        <a:rPr lang="en-US" sz="1100" b="1" dirty="0">
                          <a:solidFill>
                            <a:schemeClr val="tx2"/>
                          </a:solidFill>
                        </a:rPr>
                        <a:t>No</a:t>
                      </a: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対策</a:t>
                      </a: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テーマ</a:t>
                      </a: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期限</a:t>
                      </a: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100" b="1" dirty="0">
                          <a:solidFill>
                            <a:schemeClr val="tx2"/>
                          </a:solidFill>
                        </a:rPr>
                        <a:t>担当</a:t>
                      </a:r>
                      <a:endParaRPr lang="en-US" sz="11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r h="475488">
                <a:tc>
                  <a:txBody>
                    <a:bodyPr/>
                    <a:lstStyle/>
                    <a:p>
                      <a:pPr algn="l" indent="0" marL="0">
                        <a:buNone/>
                      </a:pPr>
                      <a:r>
                        <a:rPr lang="en-US" sz="1300" dirty="0">
                          <a:solidFill>
                            <a:schemeClr val="tx1"/>
                          </a:solidFill>
                        </a:rPr>
                        <a:t>1</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ゆで麺器の業者点検・修理依頼／代替手順の決定</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設備</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10月上旬</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75488">
                <a:tc>
                  <a:txBody>
                    <a:bodyPr/>
                    <a:lstStyle/>
                    <a:p>
                      <a:pPr algn="l" indent="0" marL="0">
                        <a:buNone/>
                      </a:pPr>
                      <a:r>
                        <a:rPr lang="en-US" sz="1300" dirty="0">
                          <a:solidFill>
                            <a:schemeClr val="tx1"/>
                          </a:solidFill>
                        </a:rPr>
                        <a:t>2</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求人掲載（18:00〜23:30、週末勤務を前面に）</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採用</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10月中旬</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75488">
                <a:tc>
                  <a:txBody>
                    <a:bodyPr/>
                    <a:lstStyle/>
                    <a:p>
                      <a:pPr algn="l" indent="0" marL="0">
                        <a:buNone/>
                      </a:pPr>
                      <a:r>
                        <a:rPr lang="en-US" sz="1300" dirty="0">
                          <a:solidFill>
                            <a:schemeClr val="tx1"/>
                          </a:solidFill>
                        </a:rPr>
                        <a:t>3</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週末シフト提出ルール・当日連絡ルールの決定と周知</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シフト</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10月中旬</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75488">
                <a:tc>
                  <a:txBody>
                    <a:bodyPr/>
                    <a:lstStyle/>
                    <a:p>
                      <a:pPr algn="l" indent="0" marL="0">
                        <a:buNone/>
                      </a:pPr>
                      <a:r>
                        <a:rPr lang="en-US" sz="1300" dirty="0">
                          <a:solidFill>
                            <a:schemeClr val="tx1"/>
                          </a:solidFill>
                        </a:rPr>
                        <a:t>4</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スキル表の作成とシフト配置への反映</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シフト</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10月末</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75488">
                <a:tc>
                  <a:txBody>
                    <a:bodyPr/>
                    <a:lstStyle/>
                    <a:p>
                      <a:pPr algn="l" indent="0" marL="0">
                        <a:buNone/>
                      </a:pPr>
                      <a:r>
                        <a:rPr lang="en-US" sz="1300" dirty="0">
                          <a:solidFill>
                            <a:schemeClr val="tx1"/>
                          </a:solidFill>
                        </a:rPr>
                        <a:t>5</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愚痴が多いメンバーとの個別面談</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人間関係</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r>
                        <a:rPr lang="en-US" sz="1300" dirty="0">
                          <a:solidFill>
                            <a:schemeClr val="tx1"/>
                          </a:solidFill>
                        </a:rPr>
                        <a:t>10月末</a:t>
                      </a: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75488">
                <a:tc>
                  <a:txBody>
                    <a:bodyPr/>
                    <a:lstStyle/>
                    <a:p>
                      <a:pPr algn="l" indent="0" marL="0">
                        <a:buNone/>
                      </a:pPr>
                      <a:r>
                        <a:rPr lang="en-US" sz="1300" dirty="0">
                          <a:solidFill>
                            <a:schemeClr val="tx1"/>
                          </a:solidFill>
                        </a:rPr>
                        <a:t>6</a:t>
                      </a: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300" dirty="0">
                          <a:solidFill>
                            <a:schemeClr val="tx1"/>
                          </a:solidFill>
                        </a:rPr>
                        <a:t>窓側コンセント・入口蛇口の修理依頼</a:t>
                      </a: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300" dirty="0">
                          <a:solidFill>
                            <a:schemeClr val="tx1"/>
                          </a:solidFill>
                        </a:rPr>
                        <a:t>設備</a:t>
                      </a: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r>
                        <a:rPr lang="en-US" sz="1300" dirty="0">
                          <a:solidFill>
                            <a:schemeClr val="tx1"/>
                          </a:solidFill>
                        </a:rPr>
                        <a:t>10月中</a:t>
                      </a: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c>
                  <a:txBody>
                    <a:bodyPr/>
                    <a:lstStyle/>
                    <a:p>
                      <a:pPr algn="l" indent="0" marL="0">
                        <a:buNone/>
                      </a:pPr>
                      <a:endParaRPr lang="en-US" sz="1300" dirty="0"/>
                    </a:p>
                  </a:txBody>
                  <a:tcPr marL="91440" marR="91440" marT="0" marB="0" anchor="ctr">
                    <a:lnL w="0" cap="flat" cmpd="sng" algn="ctr">
                      <a:noFill/>
                    </a:lnL>
                    <a:lnR w="0" cap="flat" cmpd="sng" algn="ctr">
                      <a:noFill/>
                    </a:lnR>
                    <a:lnT w="0" cap="flat" cmpd="sng" algn="ctr">
                      <a:noFill/>
                    </a:lnT>
                    <a:lnB w="12700" cap="flat" cmpd="sng" algn="ctr">
                      <a:solidFill>
                        <a:srgbClr val="595959"/>
                      </a:solidFill>
                      <a:prstDash val="solid"/>
                      <a:round/>
                      <a:headEnd type="none" w="med" len="med"/>
                      <a:tailEnd type="none" w="med" len="med"/>
                    </a:lnB>
                  </a:tcPr>
                </a:tc>
              </a:tr>
            </a:tbl>
          </a:graphicData>
        </a:graphic>
      </p:graphicFrame>
      <p:sp>
        <p:nvSpPr>
          <p:cNvPr id="5" name="t-61"/>
          <p:cNvSpPr txBox="1"/>
          <p:nvPr/>
        </p:nvSpPr>
        <p:spPr>
          <a:xfrm>
            <a:off x="640080" y="5074920"/>
            <a:ext cx="10911535" cy="274320"/>
          </a:xfrm>
          <a:prstGeom prst="rect">
            <a:avLst/>
          </a:prstGeom>
          <a:noFill/>
          <a:ln/>
        </p:spPr>
        <p:txBody>
          <a:bodyPr wrap="square" lIns="0" tIns="0" rIns="0" bIns="0" rtlCol="0" anchor="ctr"/>
          <a:lstStyle/>
          <a:p>
            <a:pPr indent="0" marL="0">
              <a:buNone/>
            </a:pPr>
            <a:r>
              <a:rPr lang="en-US" sz="1100" dirty="0">
                <a:solidFill>
                  <a:schemeClr val="accent5"/>
                </a:solidFill>
              </a:rPr>
              <a:t>担当欄は会議で決定する。</a:t>
            </a:r>
            <a:endParaRPr lang="en-US" sz="1100" dirty="0"/>
          </a:p>
        </p:txBody>
      </p:sp>
      <p:sp>
        <p:nvSpPr>
          <p:cNvPr id="25" name="Slide Number Placeholder 0"/>
          <p:cNvSpPr>
            <a:spLocks noGrp="1"/>
          </p:cNvSpPr>
          <p:nvPr>
            <p:ph type="sldNum" sz="quarter" idx="4294967295"/>
          </p:nvPr>
        </p:nvSpPr>
        <p:spPr>
          <a:xfrm>
            <a:off x="11002975"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Kanda Monthly">
  <a:themeElements>
    <a:clrScheme name="Kanda Monthly">
      <a:dk1>
        <a:srgbClr val="262626"/>
      </a:dk1>
      <a:lt1>
        <a:srgbClr val="FFFFFF"/>
      </a:lt1>
      <a:dk2>
        <a:srgbClr val="595959"/>
      </a:dk2>
      <a:lt2>
        <a:srgbClr val="F3F5F4"/>
      </a:lt2>
      <a:accent1>
        <a:srgbClr val="2F5D50"/>
      </a:accent1>
      <a:accent2>
        <a:srgbClr val="BFBFBF"/>
      </a:accent2>
      <a:accent3>
        <a:srgbClr val="B23A3A"/>
      </a:accent3>
      <a:accent4>
        <a:srgbClr val="E6EEEB"/>
      </a:accent4>
      <a:accent5>
        <a:srgbClr val="8C8C8C"/>
      </a:accent5>
      <a:accent6>
        <a:srgbClr val="D9D9D9"/>
      </a:accent6>
      <a:hlink>
        <a:srgbClr val="2F5D50"/>
      </a:hlink>
      <a:folHlink>
        <a:srgbClr val="595959"/>
      </a:folHlink>
    </a:clrScheme>
    <a:fontScheme name="Kanda Monthly">
      <a:majorFont>
        <a:latin typeface="Meiry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eiry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RAKUSPA1010神田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2026年9月 現場状況報告と対策</dc:title>
  <dc:subject>PptxGenJS Presentation</dc:subject>
  <dc:creator>RAKUSPA1010神田 飲食部門</dc:creator>
  <cp:lastModifiedBy>RAKUSPA1010神田 飲食部門</cp:lastModifiedBy>
  <cp:revision>1</cp:revision>
  <dcterms:created xsi:type="dcterms:W3CDTF">2026-10-09T11:57:44Z</dcterms:created>
  <dcterms:modified xsi:type="dcterms:W3CDTF">2026-10-09T11:57:44Z</dcterms:modified>
</cp:coreProperties>
</file>