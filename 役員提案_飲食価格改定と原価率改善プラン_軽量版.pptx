
<file path=[Content_Types].xml><?xml version="1.0" encoding="utf-8"?>
<Types xmlns="http://schemas.openxmlformats.org/package/2006/content-types"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役員の皆さまに、飲食メニューの価格改定と原価率改善プランをご提案します。数値は予実管理表（2026年4〜9月）とPOS期間報（4〜6月、税抜）の実績に基づいています。新価格の販売開始は12月中旬を予定しています。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上期の飲食原価率は36.4%で予算を3.0pt超過しました。主因はコラボ売上の不振と原価圧迫です。GMを12月中旬に値上げし、平年度で粗利を約167万円改善します。今期は約3.5か月分の効果となるため、原価コントロールで下期99万円を削減し、下期原価率を予算水準の33.4%に戻します。通期の予算内着地には、上期超過分166万円の回収が別途必要です。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原価額は予算比96.9%と予算内です。一方、売上が予算比88.9%にとどまったため、原価率は36.4%に上昇しました。売上不足の大半はコラボです。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予算の区分別原価率（コラボ32%、食事35%）を実績の売上構成に当てはめて分解しました。構成変化0.2pt、在庫取崩し0.85pt、残り約2.0ptが原価圧迫とロスです。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コラボは前期から1,291万円減少し、予算比78%です。GMは予算比101%、前期比99%と安定しています。4〜6月はご飯類が前年比129%、麺類が107%です。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4〜6月の出数に原価単価を掛け、原価への寄与が大きい品目を並べました。上位10品でGM原価の48%を占めます。ビール3種は原価率40%前後ですが、減税とアルコール低迷を踏まえ据え置きます。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外食の物価は2025年度に前年比+4.2%、食品の値上げは2026年も2万品目を超えています。10月のビール減税と米価の下落を踏まえ、ビールは据え置き、ご飯類は小幅改定にとどめています。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神田周辺の飲食店と都内温浴施設の価格を比べました。カレー、うどん、揚げ物は温浴施設の相場内で、ロースカツカレーは改定後も神田の専門店の上位帯より下です。ビールは温浴施設の上限帯のため据え置きます。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A案は税込10〜50円を中心とした改定です。B案として、競合比で余地がある、または原価率が高い4品を上乗せします。ビール4種と1010セットは据え置きます。効果は平年度ベースです。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競合比で割安な品目、出数の多い品目、原価率が高い品目に絞って上乗せします。サウナカリーは価格表外のため改定対象に加えます。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値上げ率1%あたりの出数の減り方（価格弾力性）を4段階で試算しました。標準ケース-0.3では出数1.6%減で、平年度の売上は146万円、粗利は167万円増えます。出数が5.4%減っても粗利は54万円のプラスです。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上期36.4%から在庫取崩しの一時要因を除くと下期ベースは35.6%です。12月中旬の値上げは今期約3.5か月分の効果で0.38pt下がり35.2%。予算水準33.4%には原価コントロールで下期99万円、原価の5.1%の削減が必要です。値上げだけで達成するにはGM全体で平均+21%が必要で現実的ではありません。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下期を33.4%で着地させた場合、通期は34.9%で予算を1.5pt上回ります。通期累計を予算内にするには下期を30.4%まで下げる必要があり、上期超過額166万円と同額の追加改善が必要です。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GMの理論原価率30.9%に対し、飲食全体の実績は36.4%です。この差を縮める3つの施策で下期99万円の削減を目指します。金額配分は目標値で、毎月の理論原価との差で進捗を管理します。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客離れは、出数が5%減っても粗利はプラスの試算です。アルコールはビールを据え置き、注文を増やす施策を併用します。価格は相場内であることを確認済みです。毎月のKPIで検知し、基準を超えたら見直します。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ご承認後、11月から12月上旬にメニュー表、POS、店内告知を準備し、12月中旬から新価格で販売を開始します。原価コントロールは承認後すぐに着手します。開始約1か月後の1月下旬に初回の効果検証、3月に通期着地を確認します。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jpe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97280" y="3364230"/>
            <a:ext cx="84124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5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EXECUTIVE PROPOSAL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7280" y="4023360"/>
            <a:ext cx="859536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飲食メニュー価格改定および</a:t>
            </a:r>
          </a:p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原価率改善プランのご提案</a:t>
            </a:r>
          </a:p>
        </p:txBody>
      </p:sp>
      <p:sp>
        <p:nvSpPr>
          <p:cNvPr id="5" name="AutoShape 5"/>
          <p:cNvSpPr/>
          <p:nvPr/>
        </p:nvSpPr>
        <p:spPr>
          <a:xfrm rot="152040">
            <a:off x="1071315" y="6482715"/>
            <a:ext cx="1149201" cy="0"/>
          </a:xfrm>
          <a:prstGeom prst="line">
            <a:avLst/>
          </a:prstGeom>
          <a:ln w="1905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097280" y="6776085"/>
            <a:ext cx="8229600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GMの値上げと原価コントロールで、下期の飲食原価率を予算水準33.4%へ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2D3EE"/>
                </a:solidFill>
                <a:latin typeface="Meiryo"/>
                <a:ea typeface="Meiryo"/>
                <a:cs typeface="Meiryo"/>
                <a:sym typeface="Meiryo"/>
              </a:rPr>
              <a:t>RAKU SPA 1010 神田　2026年10月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7280" y="9216390"/>
            <a:ext cx="73152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399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BOARD MEETING  //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EXECUTIVE 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GM値上げ＋原価管理で、下期原価率を予算水準33.4%へ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2550795"/>
            <a:ext cx="3859530" cy="2396490"/>
            <a:chOff x="0" y="0"/>
            <a:chExt cx="5146040" cy="3195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46040" cy="3195320"/>
            </a:xfrm>
            <a:custGeom>
              <a:avLst/>
              <a:gdLst/>
              <a:ahLst/>
              <a:cxnLst/>
              <a:rect l="l" t="t" r="r" b="b"/>
              <a:pathLst>
                <a:path w="51460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98593" y="0"/>
                  </a:lnTo>
                  <a:cubicBezTo>
                    <a:pt x="5080000" y="0"/>
                    <a:pt x="5146040" y="66040"/>
                    <a:pt x="5146040" y="147447"/>
                  </a:cubicBezTo>
                  <a:lnTo>
                    <a:pt x="5146040" y="3047873"/>
                  </a:lnTo>
                  <a:cubicBezTo>
                    <a:pt x="5146040" y="3129280"/>
                    <a:pt x="5080000" y="3195320"/>
                    <a:pt x="49985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43584" y="2834640"/>
            <a:ext cx="31821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H1 COST RATIO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3584" y="3272790"/>
            <a:ext cx="329184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36.4%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3584" y="4242816"/>
            <a:ext cx="32918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上期 飲食原価率（予算33.4%）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019675" y="2550795"/>
            <a:ext cx="3859530" cy="2396490"/>
            <a:chOff x="0" y="0"/>
            <a:chExt cx="5146040" cy="31953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46040" cy="3195320"/>
            </a:xfrm>
            <a:custGeom>
              <a:avLst/>
              <a:gdLst/>
              <a:ahLst/>
              <a:cxnLst/>
              <a:rect l="l" t="t" r="r" b="b"/>
              <a:pathLst>
                <a:path w="51460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98593" y="0"/>
                  </a:lnTo>
                  <a:cubicBezTo>
                    <a:pt x="5080000" y="0"/>
                    <a:pt x="5146040" y="66040"/>
                    <a:pt x="5146040" y="147447"/>
                  </a:cubicBezTo>
                  <a:lnTo>
                    <a:pt x="5146040" y="3047873"/>
                  </a:lnTo>
                  <a:cubicBezTo>
                    <a:pt x="5146040" y="3129280"/>
                    <a:pt x="5080000" y="3195320"/>
                    <a:pt x="49985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58384" y="2834640"/>
            <a:ext cx="31821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PRICE UP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8384" y="3272790"/>
            <a:ext cx="329184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+3.7%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8384" y="4242816"/>
            <a:ext cx="32918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GM実効値上げ率（コラボ抜き売上比）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34475" y="2550795"/>
            <a:ext cx="3859530" cy="2396490"/>
            <a:chOff x="0" y="0"/>
            <a:chExt cx="5146040" cy="31953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46040" cy="3195320"/>
            </a:xfrm>
            <a:custGeom>
              <a:avLst/>
              <a:gdLst/>
              <a:ahLst/>
              <a:cxnLst/>
              <a:rect l="l" t="t" r="r" b="b"/>
              <a:pathLst>
                <a:path w="51460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98593" y="0"/>
                  </a:lnTo>
                  <a:cubicBezTo>
                    <a:pt x="5080000" y="0"/>
                    <a:pt x="5146040" y="66040"/>
                    <a:pt x="5146040" y="147447"/>
                  </a:cubicBezTo>
                  <a:lnTo>
                    <a:pt x="5146040" y="3047873"/>
                  </a:lnTo>
                  <a:cubicBezTo>
                    <a:pt x="5146040" y="3129280"/>
                    <a:pt x="5080000" y="3195320"/>
                    <a:pt x="49985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73184" y="2834640"/>
            <a:ext cx="31821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GROSS PROFIT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3184" y="3272790"/>
            <a:ext cx="329184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+167万円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3184" y="4242816"/>
            <a:ext cx="32918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平年度の粗利改善（出数減込み）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249275" y="2550795"/>
            <a:ext cx="4133850" cy="2396490"/>
            <a:chOff x="0" y="0"/>
            <a:chExt cx="5511800" cy="31953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11800" cy="3195320"/>
            </a:xfrm>
            <a:custGeom>
              <a:avLst/>
              <a:gdLst/>
              <a:ahLst/>
              <a:cxnLst/>
              <a:rect l="l" t="t" r="r" b="b"/>
              <a:pathLst>
                <a:path w="551180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364353" y="0"/>
                  </a:lnTo>
                  <a:cubicBezTo>
                    <a:pt x="5445760" y="0"/>
                    <a:pt x="5511800" y="66040"/>
                    <a:pt x="5511800" y="147447"/>
                  </a:cubicBezTo>
                  <a:lnTo>
                    <a:pt x="5511800" y="3047873"/>
                  </a:lnTo>
                  <a:cubicBezTo>
                    <a:pt x="5511800" y="3129280"/>
                    <a:pt x="5445760" y="3195320"/>
                    <a:pt x="536435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587984" y="2834640"/>
            <a:ext cx="345643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H2 TARGET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87984" y="3272790"/>
            <a:ext cx="356616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33.4%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87984" y="4242816"/>
            <a:ext cx="356616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下期原価率（予算水準）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95350" y="5503926"/>
            <a:ext cx="659892" cy="659892"/>
            <a:chOff x="0" y="0"/>
            <a:chExt cx="879856" cy="8798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522976"/>
            <a:ext cx="621792" cy="621792"/>
            <a:chOff x="0" y="0"/>
            <a:chExt cx="829056" cy="8290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29056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828800" y="5614416"/>
            <a:ext cx="1828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現状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57600" y="5614416"/>
            <a:ext cx="137160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コラボ売上は予算比78%。GMは予算比101%と安定。原価は予算内だが売上不足で原価率が上昇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95350" y="6418326"/>
            <a:ext cx="659892" cy="659892"/>
            <a:chOff x="0" y="0"/>
            <a:chExt cx="879856" cy="8798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6437376"/>
            <a:ext cx="621792" cy="621792"/>
            <a:chOff x="0" y="0"/>
            <a:chExt cx="829056" cy="8290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829056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828800" y="6528816"/>
            <a:ext cx="1828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施策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57600" y="6528816"/>
            <a:ext cx="137160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GM141品の価格改定（A案＋強化4品のB案）を12月中旬に開始＋原価コントロール 下期99万円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95350" y="7332726"/>
            <a:ext cx="659892" cy="659892"/>
            <a:chOff x="0" y="0"/>
            <a:chExt cx="879856" cy="879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4400" y="7351776"/>
            <a:ext cx="621792" cy="621792"/>
            <a:chOff x="0" y="0"/>
            <a:chExt cx="829056" cy="8290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29056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828800" y="7443216"/>
            <a:ext cx="1828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効果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657600" y="7443216"/>
            <a:ext cx="137160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下期原価率 35.6% → 33.4%（値上げ -0.38pt［3.5か月分］、原価管理 -1.80pt）。平年度 売上+146万円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895350" y="8247126"/>
            <a:ext cx="659892" cy="659892"/>
            <a:chOff x="0" y="0"/>
            <a:chExt cx="879856" cy="8798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" y="8266176"/>
            <a:ext cx="621792" cy="621792"/>
            <a:chOff x="0" y="0"/>
            <a:chExt cx="829056" cy="82905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829056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BBF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828800" y="8357616"/>
            <a:ext cx="1828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FBBF24"/>
                </a:solidFill>
                <a:latin typeface="Meiryo Bold"/>
                <a:ea typeface="Meiryo Bold"/>
                <a:cs typeface="Meiryo Bold"/>
                <a:sym typeface="Meiryo Bold"/>
              </a:rPr>
              <a:t>判断事項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657600" y="8357616"/>
            <a:ext cx="137160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①価格改定の承認　②原価削減目標の設定　③通期予算内に向けた追加施策（上期超過166万円の回収）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869680" y="948690"/>
            <a:ext cx="548640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9"/>
              </a:lnSpc>
            </a:pPr>
            <a:r>
              <a:rPr lang="en-US" sz="15999" b="1">
                <a:solidFill>
                  <a:srgbClr val="0E749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61120" y="3364230"/>
            <a:ext cx="84124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5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SECTION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61120" y="4023360"/>
            <a:ext cx="859536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現状と課題</a:t>
            </a:r>
          </a:p>
        </p:txBody>
      </p:sp>
      <p:sp>
        <p:nvSpPr>
          <p:cNvPr id="6" name="AutoShape 6"/>
          <p:cNvSpPr/>
          <p:nvPr/>
        </p:nvSpPr>
        <p:spPr>
          <a:xfrm rot="152040">
            <a:off x="8935155" y="6482715"/>
            <a:ext cx="1149201" cy="0"/>
          </a:xfrm>
          <a:prstGeom prst="line">
            <a:avLst/>
          </a:prstGeom>
          <a:ln w="1905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961120" y="6776085"/>
            <a:ext cx="8229600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上期の飲食実績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原価率超過の要因分解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コラボ不振とGMの安定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01 // H1 PERFORMANCE（2026年4〜9月）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原価は予算内。コラボ不振による売上不足が原価率を押し上げ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2550795"/>
            <a:ext cx="3859530" cy="2396490"/>
            <a:chOff x="0" y="0"/>
            <a:chExt cx="5146040" cy="3195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46040" cy="3195320"/>
            </a:xfrm>
            <a:custGeom>
              <a:avLst/>
              <a:gdLst/>
              <a:ahLst/>
              <a:cxnLst/>
              <a:rect l="l" t="t" r="r" b="b"/>
              <a:pathLst>
                <a:path w="51460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98593" y="0"/>
                  </a:lnTo>
                  <a:cubicBezTo>
                    <a:pt x="5080000" y="0"/>
                    <a:pt x="5146040" y="66040"/>
                    <a:pt x="5146040" y="147447"/>
                  </a:cubicBezTo>
                  <a:lnTo>
                    <a:pt x="5146040" y="3047873"/>
                  </a:lnTo>
                  <a:cubicBezTo>
                    <a:pt x="5146040" y="3129280"/>
                    <a:pt x="5080000" y="3195320"/>
                    <a:pt x="49985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43584" y="2834640"/>
            <a:ext cx="31821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SALES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3584" y="3282315"/>
            <a:ext cx="329184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5,494万円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3584" y="4242816"/>
            <a:ext cx="32918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予算比88.9%（▲688万円）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019675" y="2550795"/>
            <a:ext cx="3859530" cy="2396490"/>
            <a:chOff x="0" y="0"/>
            <a:chExt cx="5146040" cy="31953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46040" cy="3195320"/>
            </a:xfrm>
            <a:custGeom>
              <a:avLst/>
              <a:gdLst/>
              <a:ahLst/>
              <a:cxnLst/>
              <a:rect l="l" t="t" r="r" b="b"/>
              <a:pathLst>
                <a:path w="51460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98593" y="0"/>
                  </a:lnTo>
                  <a:cubicBezTo>
                    <a:pt x="5080000" y="0"/>
                    <a:pt x="5146040" y="66040"/>
                    <a:pt x="5146040" y="147447"/>
                  </a:cubicBezTo>
                  <a:lnTo>
                    <a:pt x="5146040" y="3047873"/>
                  </a:lnTo>
                  <a:cubicBezTo>
                    <a:pt x="5146040" y="3129280"/>
                    <a:pt x="5080000" y="3195320"/>
                    <a:pt x="49985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58384" y="2834640"/>
            <a:ext cx="31821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COGS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8384" y="3282315"/>
            <a:ext cx="329184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2,001万円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8384" y="4242816"/>
            <a:ext cx="32918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予算比96.9%（▲64万円）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34475" y="2550795"/>
            <a:ext cx="3859530" cy="2396490"/>
            <a:chOff x="0" y="0"/>
            <a:chExt cx="5146040" cy="31953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46040" cy="3195320"/>
            </a:xfrm>
            <a:custGeom>
              <a:avLst/>
              <a:gdLst/>
              <a:ahLst/>
              <a:cxnLst/>
              <a:rect l="l" t="t" r="r" b="b"/>
              <a:pathLst>
                <a:path w="51460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98593" y="0"/>
                  </a:lnTo>
                  <a:cubicBezTo>
                    <a:pt x="5080000" y="0"/>
                    <a:pt x="5146040" y="66040"/>
                    <a:pt x="5146040" y="147447"/>
                  </a:cubicBezTo>
                  <a:lnTo>
                    <a:pt x="5146040" y="3047873"/>
                  </a:lnTo>
                  <a:cubicBezTo>
                    <a:pt x="5146040" y="3129280"/>
                    <a:pt x="5080000" y="3195320"/>
                    <a:pt x="49985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73184" y="2834640"/>
            <a:ext cx="31821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COST RATIO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3184" y="3272790"/>
            <a:ext cx="329184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36.4%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3184" y="4242816"/>
            <a:ext cx="32918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予算 33.4%（+3.0pt）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249275" y="2550795"/>
            <a:ext cx="4133850" cy="2396490"/>
            <a:chOff x="0" y="0"/>
            <a:chExt cx="5511800" cy="31953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11800" cy="3195320"/>
            </a:xfrm>
            <a:custGeom>
              <a:avLst/>
              <a:gdLst/>
              <a:ahLst/>
              <a:cxnLst/>
              <a:rect l="l" t="t" r="r" b="b"/>
              <a:pathLst>
                <a:path w="551180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364353" y="0"/>
                  </a:lnTo>
                  <a:cubicBezTo>
                    <a:pt x="5445760" y="0"/>
                    <a:pt x="5511800" y="66040"/>
                    <a:pt x="5511800" y="147447"/>
                  </a:cubicBezTo>
                  <a:lnTo>
                    <a:pt x="5511800" y="3047873"/>
                  </a:lnTo>
                  <a:cubicBezTo>
                    <a:pt x="5511800" y="3129280"/>
                    <a:pt x="5445760" y="3195320"/>
                    <a:pt x="536435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587984" y="2834640"/>
            <a:ext cx="345643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GROSS PROFIT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87984" y="3282315"/>
            <a:ext cx="356616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3,493万円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87984" y="4242816"/>
            <a:ext cx="356616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予算比84.8%（▲625万円）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4320" y="4297680"/>
            <a:ext cx="12070080" cy="585216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11146155" y="5476875"/>
            <a:ext cx="6236970" cy="3402330"/>
            <a:chOff x="0" y="0"/>
            <a:chExt cx="8315960" cy="4536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315960" cy="4536440"/>
            </a:xfrm>
            <a:custGeom>
              <a:avLst/>
              <a:gdLst/>
              <a:ahLst/>
              <a:cxnLst/>
              <a:rect l="l" t="t" r="r" b="b"/>
              <a:pathLst>
                <a:path w="8315960" h="453644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8168894" y="0"/>
                  </a:lnTo>
                  <a:cubicBezTo>
                    <a:pt x="8250174" y="0"/>
                    <a:pt x="8315960" y="65913"/>
                    <a:pt x="8315960" y="147066"/>
                  </a:cubicBezTo>
                  <a:lnTo>
                    <a:pt x="8315960" y="4389374"/>
                  </a:lnTo>
                  <a:cubicBezTo>
                    <a:pt x="8315960" y="4470654"/>
                    <a:pt x="8250047" y="4536440"/>
                    <a:pt x="8168894" y="4536440"/>
                  </a:cubicBezTo>
                  <a:lnTo>
                    <a:pt x="147066" y="4536440"/>
                  </a:lnTo>
                  <a:cubicBezTo>
                    <a:pt x="65913" y="4536440"/>
                    <a:pt x="0" y="4470527"/>
                    <a:pt x="0" y="4389374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472167" y="5784599"/>
            <a:ext cx="793499" cy="793499"/>
            <a:chOff x="0" y="0"/>
            <a:chExt cx="1057999" cy="105799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8037" cy="1058037"/>
            </a:xfrm>
            <a:custGeom>
              <a:avLst/>
              <a:gdLst/>
              <a:ahLst/>
              <a:cxnLst/>
              <a:rect l="l" t="t" r="r" b="b"/>
              <a:pathLst>
                <a:path w="1058037" h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692252" y="6004684"/>
            <a:ext cx="353320" cy="353320"/>
            <a:chOff x="0" y="0"/>
            <a:chExt cx="471094" cy="471094"/>
          </a:xfrm>
        </p:grpSpPr>
        <p:sp>
          <p:nvSpPr>
            <p:cNvPr id="34" name="Freeform 34" descr="magnify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472416" y="5970651"/>
            <a:ext cx="438912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400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INSIGHT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84864" y="6858000"/>
            <a:ext cx="5577840" cy="1920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コラボ売上は予算比78%（▲727万円）。GMは予算比101%と安定しており、価格改定の受け皿になります。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出典：予実管理表 2026年9月（累計）。千円単位を万円に換算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02 // ROOT CAUSE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超過3.0ptの内訳：原価圧迫・ロス2.0pt、在庫取崩し0.85pt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468880"/>
            <a:ext cx="106070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飲食原価率（%）の要因分解</a:t>
            </a:r>
          </a:p>
        </p:txBody>
      </p:sp>
      <p:sp>
        <p:nvSpPr>
          <p:cNvPr id="9" name="AutoShape 9"/>
          <p:cNvSpPr/>
          <p:nvPr/>
        </p:nvSpPr>
        <p:spPr>
          <a:xfrm rot="6180">
            <a:off x="904865" y="8133397"/>
            <a:ext cx="10626109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414015" y="5863533"/>
            <a:ext cx="1122178" cy="2284152"/>
            <a:chOff x="0" y="0"/>
            <a:chExt cx="1496238" cy="30455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96187" cy="3045587"/>
            </a:xfrm>
            <a:custGeom>
              <a:avLst/>
              <a:gdLst/>
              <a:ahLst/>
              <a:cxnLst/>
              <a:rect l="l" t="t" r="r" b="b"/>
              <a:pathLst>
                <a:path w="1496187" h="3045587">
                  <a:moveTo>
                    <a:pt x="0" y="0"/>
                  </a:moveTo>
                  <a:lnTo>
                    <a:pt x="1496187" y="0"/>
                  </a:lnTo>
                  <a:lnTo>
                    <a:pt x="1496187" y="3045587"/>
                  </a:lnTo>
                  <a:lnTo>
                    <a:pt x="0" y="3045587"/>
                  </a:lnTo>
                  <a:close/>
                </a:path>
              </a:pathLst>
            </a:custGeom>
            <a:solidFill>
              <a:srgbClr val="475569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74900" y="5341944"/>
            <a:ext cx="22004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33.4%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8247888"/>
            <a:ext cx="2121408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予算</a:t>
            </a:r>
          </a:p>
        </p:txBody>
      </p:sp>
      <p:sp>
        <p:nvSpPr>
          <p:cNvPr id="14" name="AutoShape 14"/>
          <p:cNvSpPr/>
          <p:nvPr/>
        </p:nvSpPr>
        <p:spPr>
          <a:xfrm rot="42360">
            <a:off x="2520277" y="5868295"/>
            <a:ext cx="1031053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3535423" y="5730297"/>
            <a:ext cx="1122178" cy="152295"/>
            <a:chOff x="0" y="0"/>
            <a:chExt cx="1496238" cy="2030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96187" cy="203073"/>
            </a:xfrm>
            <a:custGeom>
              <a:avLst/>
              <a:gdLst/>
              <a:ahLst/>
              <a:cxnLst/>
              <a:rect l="l" t="t" r="r" b="b"/>
              <a:pathLst>
                <a:path w="1496187" h="203073">
                  <a:moveTo>
                    <a:pt x="0" y="0"/>
                  </a:moveTo>
                  <a:lnTo>
                    <a:pt x="1496187" y="0"/>
                  </a:lnTo>
                  <a:lnTo>
                    <a:pt x="1496187" y="203073"/>
                  </a:lnTo>
                  <a:lnTo>
                    <a:pt x="0" y="203073"/>
                  </a:ln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996308" y="5208708"/>
            <a:ext cx="22004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+0.20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35808" y="8247888"/>
            <a:ext cx="2121408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コラボ不振</a:t>
            </a:r>
          </a:p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（構成変化）</a:t>
            </a:r>
          </a:p>
        </p:txBody>
      </p:sp>
      <p:sp>
        <p:nvSpPr>
          <p:cNvPr id="19" name="AutoShape 19"/>
          <p:cNvSpPr/>
          <p:nvPr/>
        </p:nvSpPr>
        <p:spPr>
          <a:xfrm rot="42360">
            <a:off x="4641685" y="5735060"/>
            <a:ext cx="1031053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20" name="Group 20"/>
          <p:cNvGrpSpPr/>
          <p:nvPr/>
        </p:nvGrpSpPr>
        <p:grpSpPr>
          <a:xfrm>
            <a:off x="5656831" y="5170684"/>
            <a:ext cx="1122178" cy="578663"/>
            <a:chOff x="0" y="0"/>
            <a:chExt cx="1496238" cy="7715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96187" cy="771525"/>
            </a:xfrm>
            <a:custGeom>
              <a:avLst/>
              <a:gdLst/>
              <a:ahLst/>
              <a:cxnLst/>
              <a:rect l="l" t="t" r="r" b="b"/>
              <a:pathLst>
                <a:path w="1496187" h="771525">
                  <a:moveTo>
                    <a:pt x="0" y="0"/>
                  </a:moveTo>
                  <a:lnTo>
                    <a:pt x="1496187" y="0"/>
                  </a:lnTo>
                  <a:lnTo>
                    <a:pt x="1496187" y="771525"/>
                  </a:lnTo>
                  <a:lnTo>
                    <a:pt x="0" y="771525"/>
                  </a:ln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117716" y="4649095"/>
            <a:ext cx="22004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+0.85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57216" y="8247888"/>
            <a:ext cx="2121408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在庫取崩し</a:t>
            </a:r>
          </a:p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（一時要因）</a:t>
            </a:r>
          </a:p>
        </p:txBody>
      </p:sp>
      <p:sp>
        <p:nvSpPr>
          <p:cNvPr id="24" name="AutoShape 24"/>
          <p:cNvSpPr/>
          <p:nvPr/>
        </p:nvSpPr>
        <p:spPr>
          <a:xfrm rot="42360">
            <a:off x="6763093" y="5175447"/>
            <a:ext cx="1031053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778239" y="3851596"/>
            <a:ext cx="1122178" cy="1338139"/>
            <a:chOff x="0" y="0"/>
            <a:chExt cx="1496238" cy="17841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96187" cy="1784223"/>
            </a:xfrm>
            <a:custGeom>
              <a:avLst/>
              <a:gdLst/>
              <a:ahLst/>
              <a:cxnLst/>
              <a:rect l="l" t="t" r="r" b="b"/>
              <a:pathLst>
                <a:path w="1496187" h="1784223">
                  <a:moveTo>
                    <a:pt x="0" y="0"/>
                  </a:moveTo>
                  <a:lnTo>
                    <a:pt x="1496187" y="0"/>
                  </a:lnTo>
                  <a:lnTo>
                    <a:pt x="1496187" y="1784223"/>
                  </a:lnTo>
                  <a:lnTo>
                    <a:pt x="0" y="1784223"/>
                  </a:ln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239124" y="3330007"/>
            <a:ext cx="22004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+1.98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78624" y="8247888"/>
            <a:ext cx="2121408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原価圧迫・</a:t>
            </a:r>
          </a:p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ロス等</a:t>
            </a:r>
          </a:p>
        </p:txBody>
      </p:sp>
      <p:sp>
        <p:nvSpPr>
          <p:cNvPr id="29" name="AutoShape 29"/>
          <p:cNvSpPr/>
          <p:nvPr/>
        </p:nvSpPr>
        <p:spPr>
          <a:xfrm rot="42360">
            <a:off x="8884501" y="3856358"/>
            <a:ext cx="1031053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9899647" y="3851596"/>
            <a:ext cx="1122178" cy="4296089"/>
            <a:chOff x="0" y="0"/>
            <a:chExt cx="1496238" cy="57281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96187" cy="5728081"/>
            </a:xfrm>
            <a:custGeom>
              <a:avLst/>
              <a:gdLst/>
              <a:ahLst/>
              <a:cxnLst/>
              <a:rect l="l" t="t" r="r" b="b"/>
              <a:pathLst>
                <a:path w="1496187" h="5728081">
                  <a:moveTo>
                    <a:pt x="0" y="0"/>
                  </a:moveTo>
                  <a:lnTo>
                    <a:pt x="1496187" y="0"/>
                  </a:lnTo>
                  <a:lnTo>
                    <a:pt x="1496187" y="5728081"/>
                  </a:lnTo>
                  <a:lnTo>
                    <a:pt x="0" y="5728081"/>
                  </a:lnTo>
                  <a:close/>
                </a:path>
              </a:pathLst>
            </a:custGeom>
            <a:solidFill>
              <a:srgbClr val="0E7490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360532" y="3330007"/>
            <a:ext cx="22004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36.4%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00032" y="8247888"/>
            <a:ext cx="2121408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上期実績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1969115" y="2642235"/>
            <a:ext cx="5414010" cy="1939290"/>
            <a:chOff x="0" y="0"/>
            <a:chExt cx="7218680" cy="2585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18680" cy="2585720"/>
            </a:xfrm>
            <a:custGeom>
              <a:avLst/>
              <a:gdLst/>
              <a:ahLst/>
              <a:cxnLst/>
              <a:rect l="l" t="t" r="r" b="b"/>
              <a:pathLst>
                <a:path w="7218680" h="25857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070979" y="0"/>
                  </a:lnTo>
                  <a:cubicBezTo>
                    <a:pt x="7152640" y="0"/>
                    <a:pt x="7218680" y="66167"/>
                    <a:pt x="7218680" y="147701"/>
                  </a:cubicBezTo>
                  <a:lnTo>
                    <a:pt x="7218680" y="2438019"/>
                  </a:lnTo>
                  <a:cubicBezTo>
                    <a:pt x="7218680" y="2519680"/>
                    <a:pt x="7152513" y="2585720"/>
                    <a:pt x="707097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289536" y="2871216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原価圧迫・ロス等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96160" y="2815590"/>
            <a:ext cx="2103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sz="26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+1.98pt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89536" y="3474720"/>
            <a:ext cx="484632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108.8万円｜仕入価格の上昇、コラボ食材の消化不良などのロス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969115" y="4800219"/>
            <a:ext cx="5414010" cy="1939290"/>
            <a:chOff x="0" y="0"/>
            <a:chExt cx="7218680" cy="25857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18680" cy="2585720"/>
            </a:xfrm>
            <a:custGeom>
              <a:avLst/>
              <a:gdLst/>
              <a:ahLst/>
              <a:cxnLst/>
              <a:rect l="l" t="t" r="r" b="b"/>
              <a:pathLst>
                <a:path w="7218680" h="25857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070979" y="0"/>
                  </a:lnTo>
                  <a:cubicBezTo>
                    <a:pt x="7152640" y="0"/>
                    <a:pt x="7218680" y="66167"/>
                    <a:pt x="7218680" y="147701"/>
                  </a:cubicBezTo>
                  <a:lnTo>
                    <a:pt x="7218680" y="2438019"/>
                  </a:lnTo>
                  <a:cubicBezTo>
                    <a:pt x="7218680" y="2519680"/>
                    <a:pt x="7152513" y="2585720"/>
                    <a:pt x="707097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289536" y="5029200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在庫取崩し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996160" y="4973574"/>
            <a:ext cx="2103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sz="26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+0.85pt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289536" y="5632704"/>
            <a:ext cx="484632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46.5万円｜期首183万円→期末136万円。下期は一巡の見込み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969115" y="6958203"/>
            <a:ext cx="5414010" cy="1939290"/>
            <a:chOff x="0" y="0"/>
            <a:chExt cx="7218680" cy="2585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218680" cy="2585720"/>
            </a:xfrm>
            <a:custGeom>
              <a:avLst/>
              <a:gdLst/>
              <a:ahLst/>
              <a:cxnLst/>
              <a:rect l="l" t="t" r="r" b="b"/>
              <a:pathLst>
                <a:path w="7218680" h="25857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070979" y="0"/>
                  </a:lnTo>
                  <a:cubicBezTo>
                    <a:pt x="7152640" y="0"/>
                    <a:pt x="7218680" y="66167"/>
                    <a:pt x="7218680" y="147701"/>
                  </a:cubicBezTo>
                  <a:lnTo>
                    <a:pt x="7218680" y="2438019"/>
                  </a:lnTo>
                  <a:cubicBezTo>
                    <a:pt x="7218680" y="2519680"/>
                    <a:pt x="7152513" y="2585720"/>
                    <a:pt x="707097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289536" y="7187184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コラボ不振（構成変化）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996160" y="7131558"/>
            <a:ext cx="2103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sz="26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+0.20pt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289536" y="7790688"/>
            <a:ext cx="484632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10.8万円｜低原価のコラボ売上の比率低下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試算：役員提案_根拠データ.xlsx「要因分解」。予算原価率＝上期予算原価2,065万円÷予算売上6,183万円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03 // COLLAB vs GM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コラボは前期比67%。GMは前期並みを維持し値上げの受け皿に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6032" y="1481328"/>
            <a:ext cx="11850624" cy="855878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1810512"/>
            <a:ext cx="7900416" cy="790041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出典：予実管理表 2026年9月（累計）／期間報 分類別 2026/4/1〜6/30 税抜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869680" y="948690"/>
            <a:ext cx="548640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9"/>
              </a:lnSpc>
            </a:pPr>
            <a:r>
              <a:rPr lang="en-US" sz="15999" b="1">
                <a:solidFill>
                  <a:srgbClr val="0E749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61120" y="3364230"/>
            <a:ext cx="84124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5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SECTION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61120" y="4023360"/>
            <a:ext cx="859536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値上げの根拠</a:t>
            </a:r>
          </a:p>
        </p:txBody>
      </p:sp>
      <p:sp>
        <p:nvSpPr>
          <p:cNvPr id="6" name="AutoShape 6"/>
          <p:cNvSpPr/>
          <p:nvPr/>
        </p:nvSpPr>
        <p:spPr>
          <a:xfrm rot="152040">
            <a:off x="8935155" y="6482715"/>
            <a:ext cx="1149201" cy="0"/>
          </a:xfrm>
          <a:prstGeom prst="line">
            <a:avLst/>
          </a:prstGeom>
          <a:ln w="1905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961120" y="6776085"/>
            <a:ext cx="8229600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出数×原価の分析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外部環境（物価・値上げ動向）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競合価格との比較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04 // EVIDENCE 1：VOLUME × COST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原価上位10品でGM原価の48%。主力の食事メニュー改定が効く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14400" y="2468880"/>
          <a:ext cx="11303000" cy="6426200"/>
        </p:xfrm>
        <a:graphic>
          <a:graphicData uri="http://schemas.openxmlformats.org/drawingml/2006/table">
            <a:tbl>
              <a:tblPr/>
              <a:tblGrid>
                <a:gridCol w="3828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4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品目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出数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改定前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改定後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原価率(前→後)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原価額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プレミアムロースかつカレー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843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1,518円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1,598円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36%→34%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41.5万円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釜玉チーズカレーうどん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677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1,078円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1,128円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35%→33%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22.9万円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リポスパ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2,134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473円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493円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22%→21%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20.1万円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揚げ物盛り合わせ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299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1,408円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1,458円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35%→34%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13.4万円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ローストビーフベジボウル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217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1,518円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1,568円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42%→40%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バターチキンカレー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336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1,188円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1,218円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33%→33%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12.1万円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アサヒスーパードライ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416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855円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855円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37%（据置）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11.8万円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サーモンアボカドベジボウル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338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1,408円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1,458円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27%→26%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マルエフ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327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855円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855円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40%（据置）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熟撰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281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855円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855円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41%（据置）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9.0万円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12700635" y="2459355"/>
            <a:ext cx="4682490" cy="6419850"/>
            <a:chOff x="0" y="0"/>
            <a:chExt cx="6243320" cy="8559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43320" cy="8559800"/>
            </a:xfrm>
            <a:custGeom>
              <a:avLst/>
              <a:gdLst/>
              <a:ahLst/>
              <a:cxnLst/>
              <a:rect l="l" t="t" r="r" b="b"/>
              <a:pathLst>
                <a:path w="6243320" h="85598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096381" y="0"/>
                  </a:lnTo>
                  <a:cubicBezTo>
                    <a:pt x="6177534" y="0"/>
                    <a:pt x="6243320" y="65786"/>
                    <a:pt x="6243320" y="146939"/>
                  </a:cubicBezTo>
                  <a:lnTo>
                    <a:pt x="6243320" y="8412861"/>
                  </a:lnTo>
                  <a:cubicBezTo>
                    <a:pt x="6243320" y="8494014"/>
                    <a:pt x="6177534" y="8559800"/>
                    <a:pt x="6096381" y="8559800"/>
                  </a:cubicBezTo>
                  <a:lnTo>
                    <a:pt x="146939" y="8559800"/>
                  </a:lnTo>
                  <a:cubicBezTo>
                    <a:pt x="65786" y="8559800"/>
                    <a:pt x="0" y="8494014"/>
                    <a:pt x="0" y="8412861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075920" y="2806065"/>
            <a:ext cx="4023360" cy="1125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48%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75920" y="4032885"/>
            <a:ext cx="402336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上位10品が占めるGM原価の割合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75920" y="5193030"/>
            <a:ext cx="4023360" cy="331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30.9%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GMの理論原価率（レシピ原価）。実績36.4%との差はロス・在庫・コラボ食材を示唆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出典：期間報 商品別 2026/4/1〜6/30 × メニュー原価一覧（2024 GMレシピ）。価格は税込、原価額は4〜6月の出数×原価単価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05 // EVIDENCE 2：MARKET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外食の値上げは定着。一方でビール減税・米価下落には配慮が必要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2550795"/>
            <a:ext cx="8157210" cy="2945130"/>
            <a:chOff x="0" y="0"/>
            <a:chExt cx="10876280" cy="3926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76280" cy="3926840"/>
            </a:xfrm>
            <a:custGeom>
              <a:avLst/>
              <a:gdLst/>
              <a:ahLst/>
              <a:cxnLst/>
              <a:rect l="l" t="t" r="r" b="b"/>
              <a:pathLst>
                <a:path w="10876280" h="39268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28960" y="0"/>
                  </a:lnTo>
                  <a:cubicBezTo>
                    <a:pt x="10810240" y="0"/>
                    <a:pt x="10876280" y="65913"/>
                    <a:pt x="10876280" y="147193"/>
                  </a:cubicBezTo>
                  <a:lnTo>
                    <a:pt x="10876280" y="3779520"/>
                  </a:lnTo>
                  <a:cubicBezTo>
                    <a:pt x="10876280" y="3860800"/>
                    <a:pt x="10810367" y="3926840"/>
                    <a:pt x="10728960" y="3926840"/>
                  </a:cubicBezTo>
                  <a:lnTo>
                    <a:pt x="147193" y="3926840"/>
                  </a:lnTo>
                  <a:cubicBezTo>
                    <a:pt x="65913" y="3926840"/>
                    <a:pt x="0" y="3860927"/>
                    <a:pt x="0" y="3779520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8903" y="3096263"/>
            <a:ext cx="1305563" cy="1305563"/>
            <a:chOff x="0" y="0"/>
            <a:chExt cx="1740751" cy="17407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cubicBezTo>
                    <a:pt x="389636" y="1740662"/>
                    <a:pt x="0" y="1351026"/>
                    <a:pt x="0" y="87033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7243" y="3454603"/>
            <a:ext cx="588874" cy="588874"/>
            <a:chOff x="0" y="0"/>
            <a:chExt cx="785165" cy="785165"/>
          </a:xfrm>
        </p:grpSpPr>
        <p:sp>
          <p:nvSpPr>
            <p:cNvPr id="13" name="Freeform 13" descr="chart"/>
            <p:cNvSpPr/>
            <p:nvPr/>
          </p:nvSpPr>
          <p:spPr>
            <a:xfrm>
              <a:off x="0" y="0"/>
              <a:ext cx="785114" cy="785114"/>
            </a:xfrm>
            <a:custGeom>
              <a:avLst/>
              <a:gdLst/>
              <a:ahLst/>
              <a:cxnLst/>
              <a:rect l="l" t="t" r="r" b="b"/>
              <a:pathLst>
                <a:path w="785114" h="785114">
                  <a:moveTo>
                    <a:pt x="0" y="0"/>
                  </a:moveTo>
                  <a:lnTo>
                    <a:pt x="785114" y="0"/>
                  </a:lnTo>
                  <a:lnTo>
                    <a:pt x="785114" y="785114"/>
                  </a:lnTo>
                  <a:lnTo>
                    <a:pt x="0" y="785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017520" y="2943606"/>
            <a:ext cx="566928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300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FOOD SERVICE CPI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17520" y="3455670"/>
            <a:ext cx="566928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+4.2%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17520" y="4425696"/>
            <a:ext cx="576072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外食CPI 前年比。2025年度平均（総務省）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25915" y="2550795"/>
            <a:ext cx="8157210" cy="2945130"/>
            <a:chOff x="0" y="0"/>
            <a:chExt cx="10876280" cy="39268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76280" cy="3926840"/>
            </a:xfrm>
            <a:custGeom>
              <a:avLst/>
              <a:gdLst/>
              <a:ahLst/>
              <a:cxnLst/>
              <a:rect l="l" t="t" r="r" b="b"/>
              <a:pathLst>
                <a:path w="10876280" h="39268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28960" y="0"/>
                  </a:lnTo>
                  <a:cubicBezTo>
                    <a:pt x="10810240" y="0"/>
                    <a:pt x="10876280" y="65913"/>
                    <a:pt x="10876280" y="147193"/>
                  </a:cubicBezTo>
                  <a:lnTo>
                    <a:pt x="10876280" y="3779520"/>
                  </a:lnTo>
                  <a:cubicBezTo>
                    <a:pt x="10876280" y="3860800"/>
                    <a:pt x="10810367" y="3926840"/>
                    <a:pt x="10728960" y="3926840"/>
                  </a:cubicBezTo>
                  <a:lnTo>
                    <a:pt x="147193" y="3926840"/>
                  </a:lnTo>
                  <a:cubicBezTo>
                    <a:pt x="65913" y="3926840"/>
                    <a:pt x="0" y="3860927"/>
                    <a:pt x="0" y="3779520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79943" y="3096263"/>
            <a:ext cx="1305563" cy="1305563"/>
            <a:chOff x="0" y="0"/>
            <a:chExt cx="1740751" cy="174075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cubicBezTo>
                    <a:pt x="389636" y="1740662"/>
                    <a:pt x="0" y="1351026"/>
                    <a:pt x="0" y="87033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38283" y="3454603"/>
            <a:ext cx="588874" cy="588874"/>
            <a:chOff x="0" y="0"/>
            <a:chExt cx="785165" cy="785165"/>
          </a:xfrm>
        </p:grpSpPr>
        <p:sp>
          <p:nvSpPr>
            <p:cNvPr id="22" name="Freeform 22" descr="box"/>
            <p:cNvSpPr/>
            <p:nvPr/>
          </p:nvSpPr>
          <p:spPr>
            <a:xfrm>
              <a:off x="0" y="0"/>
              <a:ext cx="785114" cy="785114"/>
            </a:xfrm>
            <a:custGeom>
              <a:avLst/>
              <a:gdLst/>
              <a:ahLst/>
              <a:cxnLst/>
              <a:rect l="l" t="t" r="r" b="b"/>
              <a:pathLst>
                <a:path w="785114" h="785114">
                  <a:moveTo>
                    <a:pt x="0" y="0"/>
                  </a:moveTo>
                  <a:lnTo>
                    <a:pt x="785114" y="0"/>
                  </a:lnTo>
                  <a:lnTo>
                    <a:pt x="785114" y="785114"/>
                  </a:lnTo>
                  <a:lnTo>
                    <a:pt x="0" y="785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6" b="-6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338560" y="2943606"/>
            <a:ext cx="566928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300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PRICE REVISIONS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38560" y="3455670"/>
            <a:ext cx="566928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20,187品目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38560" y="4425696"/>
            <a:ext cx="576072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2026年の食品値上げ（9/30時点・帝国データバンク）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04875" y="5751195"/>
            <a:ext cx="8157210" cy="2945130"/>
            <a:chOff x="0" y="0"/>
            <a:chExt cx="10876280" cy="3926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876280" cy="3926840"/>
            </a:xfrm>
            <a:custGeom>
              <a:avLst/>
              <a:gdLst/>
              <a:ahLst/>
              <a:cxnLst/>
              <a:rect l="l" t="t" r="r" b="b"/>
              <a:pathLst>
                <a:path w="10876280" h="39268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28960" y="0"/>
                  </a:lnTo>
                  <a:cubicBezTo>
                    <a:pt x="10810240" y="0"/>
                    <a:pt x="10876280" y="65913"/>
                    <a:pt x="10876280" y="147193"/>
                  </a:cubicBezTo>
                  <a:lnTo>
                    <a:pt x="10876280" y="3779520"/>
                  </a:lnTo>
                  <a:cubicBezTo>
                    <a:pt x="10876280" y="3860800"/>
                    <a:pt x="10810367" y="3926840"/>
                    <a:pt x="10728960" y="3926840"/>
                  </a:cubicBezTo>
                  <a:lnTo>
                    <a:pt x="147193" y="3926840"/>
                  </a:lnTo>
                  <a:cubicBezTo>
                    <a:pt x="65913" y="3926840"/>
                    <a:pt x="0" y="3860927"/>
                    <a:pt x="0" y="3779520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58903" y="6296663"/>
            <a:ext cx="1305563" cy="1305563"/>
            <a:chOff x="0" y="0"/>
            <a:chExt cx="1740751" cy="174075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cubicBezTo>
                    <a:pt x="389636" y="1740662"/>
                    <a:pt x="0" y="1351026"/>
                    <a:pt x="0" y="87033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17243" y="6655003"/>
            <a:ext cx="588874" cy="588874"/>
            <a:chOff x="0" y="0"/>
            <a:chExt cx="785165" cy="785165"/>
          </a:xfrm>
        </p:grpSpPr>
        <p:sp>
          <p:nvSpPr>
            <p:cNvPr id="31" name="Freeform 31" descr="shop"/>
            <p:cNvSpPr/>
            <p:nvPr/>
          </p:nvSpPr>
          <p:spPr>
            <a:xfrm>
              <a:off x="0" y="0"/>
              <a:ext cx="785114" cy="785114"/>
            </a:xfrm>
            <a:custGeom>
              <a:avLst/>
              <a:gdLst/>
              <a:ahLst/>
              <a:cxnLst/>
              <a:rect l="l" t="t" r="r" b="b"/>
              <a:pathLst>
                <a:path w="785114" h="785114">
                  <a:moveTo>
                    <a:pt x="0" y="0"/>
                  </a:moveTo>
                  <a:lnTo>
                    <a:pt x="785114" y="0"/>
                  </a:lnTo>
                  <a:lnTo>
                    <a:pt x="785114" y="785114"/>
                  </a:lnTo>
                  <a:lnTo>
                    <a:pt x="0" y="785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6" b="-6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017520" y="6144006"/>
            <a:ext cx="566928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300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NEARBY CHAINS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17520" y="6656070"/>
            <a:ext cx="566928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相次ぐ改定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17520" y="7626096"/>
            <a:ext cx="576072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鳥貴族 390→410円（2026/10）、丸亀製麺（2026/1）、はなまる（2026/2）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25915" y="5751195"/>
            <a:ext cx="8157210" cy="2945130"/>
            <a:chOff x="0" y="0"/>
            <a:chExt cx="10876280" cy="3926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876280" cy="3926840"/>
            </a:xfrm>
            <a:custGeom>
              <a:avLst/>
              <a:gdLst/>
              <a:ahLst/>
              <a:cxnLst/>
              <a:rect l="l" t="t" r="r" b="b"/>
              <a:pathLst>
                <a:path w="10876280" h="39268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28960" y="0"/>
                  </a:lnTo>
                  <a:cubicBezTo>
                    <a:pt x="10810240" y="0"/>
                    <a:pt x="10876280" y="65913"/>
                    <a:pt x="10876280" y="147193"/>
                  </a:cubicBezTo>
                  <a:lnTo>
                    <a:pt x="10876280" y="3779520"/>
                  </a:lnTo>
                  <a:cubicBezTo>
                    <a:pt x="10876280" y="3860800"/>
                    <a:pt x="10810367" y="3926840"/>
                    <a:pt x="10728960" y="3926840"/>
                  </a:cubicBezTo>
                  <a:lnTo>
                    <a:pt x="147193" y="3926840"/>
                  </a:lnTo>
                  <a:cubicBezTo>
                    <a:pt x="65913" y="3926840"/>
                    <a:pt x="0" y="3860927"/>
                    <a:pt x="0" y="3779520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679943" y="6296663"/>
            <a:ext cx="1305563" cy="1305563"/>
            <a:chOff x="0" y="0"/>
            <a:chExt cx="1740751" cy="174075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cubicBezTo>
                    <a:pt x="389636" y="1740662"/>
                    <a:pt x="0" y="1351026"/>
                    <a:pt x="0" y="870331"/>
                  </a:cubicBezTo>
                  <a:close/>
                </a:path>
              </a:pathLst>
            </a:custGeom>
            <a:solidFill>
              <a:srgbClr val="B45309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38283" y="6655003"/>
            <a:ext cx="588874" cy="588874"/>
            <a:chOff x="0" y="0"/>
            <a:chExt cx="785165" cy="785165"/>
          </a:xfrm>
        </p:grpSpPr>
        <p:sp>
          <p:nvSpPr>
            <p:cNvPr id="40" name="Freeform 40" descr="beer"/>
            <p:cNvSpPr/>
            <p:nvPr/>
          </p:nvSpPr>
          <p:spPr>
            <a:xfrm>
              <a:off x="0" y="0"/>
              <a:ext cx="785114" cy="785114"/>
            </a:xfrm>
            <a:custGeom>
              <a:avLst/>
              <a:gdLst/>
              <a:ahLst/>
              <a:cxnLst/>
              <a:rect l="l" t="t" r="r" b="b"/>
              <a:pathLst>
                <a:path w="785114" h="785114">
                  <a:moveTo>
                    <a:pt x="0" y="0"/>
                  </a:moveTo>
                  <a:lnTo>
                    <a:pt x="785114" y="0"/>
                  </a:lnTo>
                  <a:lnTo>
                    <a:pt x="785114" y="785114"/>
                  </a:lnTo>
                  <a:lnTo>
                    <a:pt x="0" y="785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6" b="-6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338560" y="6144006"/>
            <a:ext cx="566928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300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BEER TAX (350ml)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38560" y="6656070"/>
            <a:ext cx="566928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▲9.1円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38560" y="7626096"/>
            <a:ext cx="576072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2026年10月に減税。ビールは据え置きが妥当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出典：総務省 消費者物価指数／帝国データバンク 価格改定動向調査（2026/9/30）／各社発表（2026年10月 Web調査）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06 // EVIDENCE 3：BENCHMARK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食事メニューは温浴施設の相場内。カツカレーは専門店より割安</a:t>
            </a:r>
          </a:p>
        </p:txBody>
      </p:sp>
      <p:sp>
        <p:nvSpPr>
          <p:cNvPr id="8" name="AutoShape 8"/>
          <p:cNvSpPr/>
          <p:nvPr/>
        </p:nvSpPr>
        <p:spPr>
          <a:xfrm rot="5392320">
            <a:off x="1913887" y="5573078"/>
            <a:ext cx="5681996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23360" y="8430006"/>
            <a:ext cx="146304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0円</a:t>
            </a:r>
          </a:p>
        </p:txBody>
      </p:sp>
      <p:sp>
        <p:nvSpPr>
          <p:cNvPr id="10" name="AutoShape 10"/>
          <p:cNvSpPr/>
          <p:nvPr/>
        </p:nvSpPr>
        <p:spPr>
          <a:xfrm rot="5392320">
            <a:off x="4794247" y="5573078"/>
            <a:ext cx="5681996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903720" y="8430006"/>
            <a:ext cx="146304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500円</a:t>
            </a:r>
          </a:p>
        </p:txBody>
      </p:sp>
      <p:sp>
        <p:nvSpPr>
          <p:cNvPr id="12" name="AutoShape 12"/>
          <p:cNvSpPr/>
          <p:nvPr/>
        </p:nvSpPr>
        <p:spPr>
          <a:xfrm rot="5392320">
            <a:off x="7674607" y="5573078"/>
            <a:ext cx="5681996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9784080" y="8430006"/>
            <a:ext cx="146304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1,000円</a:t>
            </a:r>
          </a:p>
        </p:txBody>
      </p:sp>
      <p:sp>
        <p:nvSpPr>
          <p:cNvPr id="14" name="AutoShape 14"/>
          <p:cNvSpPr/>
          <p:nvPr/>
        </p:nvSpPr>
        <p:spPr>
          <a:xfrm rot="5392320">
            <a:off x="10554967" y="5573078"/>
            <a:ext cx="5681996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2664440" y="8430006"/>
            <a:ext cx="146304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1,500円</a:t>
            </a:r>
          </a:p>
        </p:txBody>
      </p:sp>
      <p:sp>
        <p:nvSpPr>
          <p:cNvPr id="16" name="AutoShape 16"/>
          <p:cNvSpPr/>
          <p:nvPr/>
        </p:nvSpPr>
        <p:spPr>
          <a:xfrm rot="5392320">
            <a:off x="13435327" y="5573078"/>
            <a:ext cx="5681996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5544800" y="8430006"/>
            <a:ext cx="146304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2,000円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2798064"/>
            <a:ext cx="35661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ロースカツカレー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3227451"/>
            <a:ext cx="3749040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神田のカツカレー 780〜1,940円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75090" y="2871216"/>
            <a:ext cx="6828739" cy="292608"/>
            <a:chOff x="0" y="0"/>
            <a:chExt cx="9104986" cy="3901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05011" cy="390144"/>
            </a:xfrm>
            <a:custGeom>
              <a:avLst/>
              <a:gdLst/>
              <a:ahLst/>
              <a:cxnLst/>
              <a:rect l="l" t="t" r="r" b="b"/>
              <a:pathLst>
                <a:path w="9105011" h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909939" y="0"/>
                  </a:lnTo>
                  <a:cubicBezTo>
                    <a:pt x="9017635" y="0"/>
                    <a:pt x="9105011" y="87376"/>
                    <a:pt x="9105011" y="195072"/>
                  </a:cubicBezTo>
                  <a:cubicBezTo>
                    <a:pt x="9105011" y="302768"/>
                    <a:pt x="9017635" y="390144"/>
                    <a:pt x="8909939" y="390144"/>
                  </a:cubicBezTo>
                  <a:lnTo>
                    <a:pt x="195072" y="390144"/>
                  </a:ln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475569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740289" y="2961894"/>
            <a:ext cx="440436" cy="440436"/>
            <a:chOff x="0" y="0"/>
            <a:chExt cx="587248" cy="5872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7248" cy="587248"/>
            </a:xfrm>
            <a:custGeom>
              <a:avLst/>
              <a:gdLst/>
              <a:ahLst/>
              <a:cxnLst/>
              <a:rect l="l" t="t" r="r" b="b"/>
              <a:pathLst>
                <a:path w="587248" h="587248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cubicBezTo>
                    <a:pt x="455803" y="0"/>
                    <a:pt x="587248" y="131445"/>
                    <a:pt x="587248" y="293624"/>
                  </a:cubicBezTo>
                  <a:cubicBezTo>
                    <a:pt x="587248" y="455803"/>
                    <a:pt x="455803" y="587248"/>
                    <a:pt x="293624" y="587248"/>
                  </a:cubicBezTo>
                  <a:cubicBezTo>
                    <a:pt x="131445" y="587248"/>
                    <a:pt x="0" y="455803"/>
                    <a:pt x="0" y="293624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070D1A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216539" y="2907030"/>
            <a:ext cx="14630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1,598円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3895344"/>
            <a:ext cx="35661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カレー（一般）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" y="4324731"/>
            <a:ext cx="3749040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温浴施設 1,100〜1,290円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018520" y="4297680"/>
            <a:ext cx="1240841" cy="292608"/>
            <a:chOff x="0" y="0"/>
            <a:chExt cx="1654454" cy="3901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54429" cy="390144"/>
            </a:xfrm>
            <a:custGeom>
              <a:avLst/>
              <a:gdLst/>
              <a:ahLst/>
              <a:cxnLst/>
              <a:rect l="l" t="t" r="r" b="b"/>
              <a:pathLst>
                <a:path w="1654429" h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59357" y="0"/>
                  </a:lnTo>
                  <a:cubicBezTo>
                    <a:pt x="1567053" y="0"/>
                    <a:pt x="1654429" y="87376"/>
                    <a:pt x="1654429" y="195072"/>
                  </a:cubicBezTo>
                  <a:cubicBezTo>
                    <a:pt x="1654429" y="302768"/>
                    <a:pt x="1567053" y="390144"/>
                    <a:pt x="1459357" y="390144"/>
                  </a:cubicBezTo>
                  <a:lnTo>
                    <a:pt x="195072" y="390144"/>
                  </a:ln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0E7490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51215" y="4059174"/>
            <a:ext cx="440436" cy="440436"/>
            <a:chOff x="0" y="0"/>
            <a:chExt cx="587248" cy="587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87248" cy="587248"/>
            </a:xfrm>
            <a:custGeom>
              <a:avLst/>
              <a:gdLst/>
              <a:ahLst/>
              <a:cxnLst/>
              <a:rect l="l" t="t" r="r" b="b"/>
              <a:pathLst>
                <a:path w="587248" h="587248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cubicBezTo>
                    <a:pt x="455803" y="0"/>
                    <a:pt x="587248" y="131445"/>
                    <a:pt x="587248" y="293624"/>
                  </a:cubicBezTo>
                  <a:cubicBezTo>
                    <a:pt x="587248" y="455803"/>
                    <a:pt x="455803" y="587248"/>
                    <a:pt x="293624" y="587248"/>
                  </a:cubicBezTo>
                  <a:cubicBezTo>
                    <a:pt x="131445" y="587248"/>
                    <a:pt x="0" y="455803"/>
                    <a:pt x="0" y="293624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070D1A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027465" y="4004310"/>
            <a:ext cx="14630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1,218円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400" y="4992624"/>
            <a:ext cx="35661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うどん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5422011"/>
            <a:ext cx="3749040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チェーン550円／ラクーア1,100円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850124" y="5065776"/>
            <a:ext cx="146304" cy="292608"/>
            <a:chOff x="0" y="0"/>
            <a:chExt cx="195072" cy="3901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5072" cy="390144"/>
            </a:xfrm>
            <a:custGeom>
              <a:avLst/>
              <a:gdLst/>
              <a:ahLst/>
              <a:cxnLst/>
              <a:rect l="l" t="t" r="r" b="b"/>
              <a:pathLst>
                <a:path w="195072" h="390144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292608"/>
                  </a:lnTo>
                  <a:cubicBezTo>
                    <a:pt x="195072" y="346456"/>
                    <a:pt x="151384" y="390144"/>
                    <a:pt x="97536" y="390144"/>
                  </a:cubicBezTo>
                  <a:cubicBezTo>
                    <a:pt x="43688" y="390144"/>
                    <a:pt x="0" y="346456"/>
                    <a:pt x="0" y="292608"/>
                  </a:cubicBezTo>
                  <a:close/>
                </a:path>
              </a:pathLst>
            </a:custGeom>
            <a:solidFill>
              <a:srgbClr val="475569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18520" y="5394960"/>
            <a:ext cx="146304" cy="292608"/>
            <a:chOff x="0" y="0"/>
            <a:chExt cx="195072" cy="39014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5072" cy="390144"/>
            </a:xfrm>
            <a:custGeom>
              <a:avLst/>
              <a:gdLst/>
              <a:ahLst/>
              <a:cxnLst/>
              <a:rect l="l" t="t" r="r" b="b"/>
              <a:pathLst>
                <a:path w="195072" h="390144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lnTo>
                    <a:pt x="195072" y="292608"/>
                  </a:lnTo>
                  <a:cubicBezTo>
                    <a:pt x="195072" y="346456"/>
                    <a:pt x="151384" y="390144"/>
                    <a:pt x="97536" y="390144"/>
                  </a:cubicBezTo>
                  <a:cubicBezTo>
                    <a:pt x="43688" y="390144"/>
                    <a:pt x="0" y="346456"/>
                    <a:pt x="0" y="292608"/>
                  </a:cubicBezTo>
                  <a:close/>
                </a:path>
              </a:pathLst>
            </a:custGeom>
            <a:solidFill>
              <a:srgbClr val="0E7490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32750" y="5156454"/>
            <a:ext cx="440436" cy="440436"/>
            <a:chOff x="0" y="0"/>
            <a:chExt cx="587248" cy="5872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7248" cy="587248"/>
            </a:xfrm>
            <a:custGeom>
              <a:avLst/>
              <a:gdLst/>
              <a:ahLst/>
              <a:cxnLst/>
              <a:rect l="l" t="t" r="r" b="b"/>
              <a:pathLst>
                <a:path w="587248" h="587248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cubicBezTo>
                    <a:pt x="455803" y="0"/>
                    <a:pt x="587248" y="131445"/>
                    <a:pt x="587248" y="293624"/>
                  </a:cubicBezTo>
                  <a:cubicBezTo>
                    <a:pt x="587248" y="455803"/>
                    <a:pt x="455803" y="587248"/>
                    <a:pt x="293624" y="587248"/>
                  </a:cubicBezTo>
                  <a:cubicBezTo>
                    <a:pt x="131445" y="587248"/>
                    <a:pt x="0" y="455803"/>
                    <a:pt x="0" y="293624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070D1A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509000" y="5101590"/>
            <a:ext cx="14630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1,128円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400" y="6089904"/>
            <a:ext cx="35661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生ビール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4400" y="6519291"/>
            <a:ext cx="3749040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神田 390〜499円／温浴 500〜850円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928409" y="6163056"/>
            <a:ext cx="774221" cy="292608"/>
            <a:chOff x="0" y="0"/>
            <a:chExt cx="1032294" cy="3901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32256" cy="390144"/>
            </a:xfrm>
            <a:custGeom>
              <a:avLst/>
              <a:gdLst/>
              <a:ahLst/>
              <a:cxnLst/>
              <a:rect l="l" t="t" r="r" b="b"/>
              <a:pathLst>
                <a:path w="1032256" h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37184" y="0"/>
                  </a:lnTo>
                  <a:cubicBezTo>
                    <a:pt x="944880" y="0"/>
                    <a:pt x="1032256" y="87376"/>
                    <a:pt x="1032256" y="195072"/>
                  </a:cubicBezTo>
                  <a:cubicBezTo>
                    <a:pt x="1032256" y="302768"/>
                    <a:pt x="945007" y="390144"/>
                    <a:pt x="837184" y="390144"/>
                  </a:cubicBezTo>
                  <a:lnTo>
                    <a:pt x="195072" y="390144"/>
                  </a:ln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475569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62088" y="6492240"/>
            <a:ext cx="2162556" cy="292608"/>
            <a:chOff x="0" y="0"/>
            <a:chExt cx="2883408" cy="39014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883408" cy="390144"/>
            </a:xfrm>
            <a:custGeom>
              <a:avLst/>
              <a:gdLst/>
              <a:ahLst/>
              <a:cxnLst/>
              <a:rect l="l" t="t" r="r" b="b"/>
              <a:pathLst>
                <a:path w="2883408" h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688336" y="0"/>
                  </a:lnTo>
                  <a:cubicBezTo>
                    <a:pt x="2796032" y="0"/>
                    <a:pt x="2883408" y="87376"/>
                    <a:pt x="2883408" y="195072"/>
                  </a:cubicBezTo>
                  <a:cubicBezTo>
                    <a:pt x="2883408" y="302768"/>
                    <a:pt x="2796032" y="390144"/>
                    <a:pt x="2688336" y="390144"/>
                  </a:cubicBezTo>
                  <a:lnTo>
                    <a:pt x="195072" y="390144"/>
                  </a:ln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0E7490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60078" y="6253734"/>
            <a:ext cx="440436" cy="440436"/>
            <a:chOff x="0" y="0"/>
            <a:chExt cx="587248" cy="5872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7248" cy="587248"/>
            </a:xfrm>
            <a:custGeom>
              <a:avLst/>
              <a:gdLst/>
              <a:ahLst/>
              <a:cxnLst/>
              <a:rect l="l" t="t" r="r" b="b"/>
              <a:pathLst>
                <a:path w="587248" h="587248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cubicBezTo>
                    <a:pt x="455803" y="0"/>
                    <a:pt x="587248" y="131445"/>
                    <a:pt x="587248" y="293624"/>
                  </a:cubicBezTo>
                  <a:cubicBezTo>
                    <a:pt x="587248" y="455803"/>
                    <a:pt x="455803" y="587248"/>
                    <a:pt x="293624" y="587248"/>
                  </a:cubicBezTo>
                  <a:cubicBezTo>
                    <a:pt x="131445" y="587248"/>
                    <a:pt x="0" y="455803"/>
                    <a:pt x="0" y="293624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070D1A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936328" y="6198870"/>
            <a:ext cx="14630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855円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400" y="7187184"/>
            <a:ext cx="35661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揚げ物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4400" y="7616571"/>
            <a:ext cx="3749040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温浴施設 550〜650円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7850124" y="7589520"/>
            <a:ext cx="722376" cy="292608"/>
            <a:chOff x="0" y="0"/>
            <a:chExt cx="963168" cy="39014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63168" cy="390144"/>
            </a:xfrm>
            <a:custGeom>
              <a:avLst/>
              <a:gdLst/>
              <a:ahLst/>
              <a:cxnLst/>
              <a:rect l="l" t="t" r="r" b="b"/>
              <a:pathLst>
                <a:path w="963168" h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68096" y="0"/>
                  </a:lnTo>
                  <a:cubicBezTo>
                    <a:pt x="875792" y="0"/>
                    <a:pt x="963168" y="87376"/>
                    <a:pt x="963168" y="195072"/>
                  </a:cubicBezTo>
                  <a:cubicBezTo>
                    <a:pt x="963168" y="302768"/>
                    <a:pt x="875792" y="390144"/>
                    <a:pt x="768096" y="390144"/>
                  </a:cubicBezTo>
                  <a:lnTo>
                    <a:pt x="195072" y="390144"/>
                  </a:ln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0E7490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82819" y="7351014"/>
            <a:ext cx="440436" cy="440436"/>
            <a:chOff x="0" y="0"/>
            <a:chExt cx="587248" cy="5872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87248" cy="587248"/>
            </a:xfrm>
            <a:custGeom>
              <a:avLst/>
              <a:gdLst/>
              <a:ahLst/>
              <a:cxnLst/>
              <a:rect l="l" t="t" r="r" b="b"/>
              <a:pathLst>
                <a:path w="587248" h="587248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cubicBezTo>
                    <a:pt x="455803" y="0"/>
                    <a:pt x="587248" y="131445"/>
                    <a:pt x="587248" y="293624"/>
                  </a:cubicBezTo>
                  <a:cubicBezTo>
                    <a:pt x="587248" y="455803"/>
                    <a:pt x="455803" y="587248"/>
                    <a:pt x="293624" y="587248"/>
                  </a:cubicBezTo>
                  <a:cubicBezTo>
                    <a:pt x="131445" y="587248"/>
                    <a:pt x="0" y="455803"/>
                    <a:pt x="0" y="293624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070D1A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859069" y="7296150"/>
            <a:ext cx="14630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668円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7315200" y="2231136"/>
            <a:ext cx="640080" cy="256032"/>
            <a:chOff x="0" y="0"/>
            <a:chExt cx="853440" cy="34137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53440" cy="341376"/>
            </a:xfrm>
            <a:custGeom>
              <a:avLst/>
              <a:gdLst/>
              <a:ahLst/>
              <a:cxnLst/>
              <a:rect l="l" t="t" r="r" b="b"/>
              <a:pathLst>
                <a:path w="853440" h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682752" y="0"/>
                  </a:lnTo>
                  <a:cubicBezTo>
                    <a:pt x="776986" y="0"/>
                    <a:pt x="853440" y="76454"/>
                    <a:pt x="853440" y="170688"/>
                  </a:cubicBezTo>
                  <a:cubicBezTo>
                    <a:pt x="853440" y="264922"/>
                    <a:pt x="776986" y="341376"/>
                    <a:pt x="682752" y="341376"/>
                  </a:cubicBezTo>
                  <a:lnTo>
                    <a:pt x="170688" y="341376"/>
                  </a:ln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475569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8138160" y="2157984"/>
            <a:ext cx="292608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神田周辺・チェーン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0698480" y="2231136"/>
            <a:ext cx="640080" cy="256032"/>
            <a:chOff x="0" y="0"/>
            <a:chExt cx="853440" cy="34137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53440" cy="341376"/>
            </a:xfrm>
            <a:custGeom>
              <a:avLst/>
              <a:gdLst/>
              <a:ahLst/>
              <a:cxnLst/>
              <a:rect l="l" t="t" r="r" b="b"/>
              <a:pathLst>
                <a:path w="853440" h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682752" y="0"/>
                  </a:lnTo>
                  <a:cubicBezTo>
                    <a:pt x="776986" y="0"/>
                    <a:pt x="853440" y="76454"/>
                    <a:pt x="853440" y="170688"/>
                  </a:cubicBezTo>
                  <a:cubicBezTo>
                    <a:pt x="853440" y="264922"/>
                    <a:pt x="776986" y="341376"/>
                    <a:pt x="682752" y="341376"/>
                  </a:cubicBezTo>
                  <a:lnTo>
                    <a:pt x="170688" y="341376"/>
                  </a:ln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0E7490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521440" y="2157984"/>
            <a:ext cx="292608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都内温浴施設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4081760" y="2231136"/>
            <a:ext cx="292608" cy="256032"/>
            <a:chOff x="0" y="0"/>
            <a:chExt cx="390144" cy="34137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90144" cy="341376"/>
            </a:xfrm>
            <a:custGeom>
              <a:avLst/>
              <a:gdLst/>
              <a:ahLst/>
              <a:cxnLst/>
              <a:rect l="l" t="t" r="r" b="b"/>
              <a:pathLst>
                <a:path w="390144" h="341376">
                  <a:moveTo>
                    <a:pt x="0" y="170688"/>
                  </a:moveTo>
                  <a:cubicBezTo>
                    <a:pt x="0" y="76454"/>
                    <a:pt x="87376" y="0"/>
                    <a:pt x="195072" y="0"/>
                  </a:cubicBezTo>
                  <a:cubicBezTo>
                    <a:pt x="302768" y="0"/>
                    <a:pt x="390144" y="76454"/>
                    <a:pt x="390144" y="170688"/>
                  </a:cubicBezTo>
                  <a:cubicBezTo>
                    <a:pt x="390144" y="264922"/>
                    <a:pt x="302768" y="341376"/>
                    <a:pt x="195072" y="341376"/>
                  </a:cubicBezTo>
                  <a:cubicBezTo>
                    <a:pt x="87376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4538960" y="2157984"/>
            <a:ext cx="292608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当店（改定後）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出典：食べログ・kanda-curry.com・各施設紹介記事ほか（2026年10月 Web調査・税込）。詳細は根拠データ「競合価格」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869680" y="948690"/>
            <a:ext cx="548640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9"/>
              </a:lnSpc>
            </a:pPr>
            <a:r>
              <a:rPr lang="en-US" sz="15999" b="1">
                <a:solidFill>
                  <a:srgbClr val="0E749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61120" y="3364230"/>
            <a:ext cx="84124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5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SECTION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61120" y="4023360"/>
            <a:ext cx="859536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改定案と効果</a:t>
            </a:r>
          </a:p>
        </p:txBody>
      </p:sp>
      <p:sp>
        <p:nvSpPr>
          <p:cNvPr id="6" name="AutoShape 6"/>
          <p:cNvSpPr/>
          <p:nvPr/>
        </p:nvSpPr>
        <p:spPr>
          <a:xfrm rot="152040">
            <a:off x="8935155" y="6482715"/>
            <a:ext cx="1149201" cy="0"/>
          </a:xfrm>
          <a:prstGeom prst="line">
            <a:avLst/>
          </a:prstGeom>
          <a:ln w="1905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961120" y="6776085"/>
            <a:ext cx="8229600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価格改定案の全体像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強化案（B案）4品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出数を加味した効果試算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07 // PRICING 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GM141品を改定。コラボ抜き売上に対して実効+3.7%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14400" y="2560320"/>
          <a:ext cx="16357600" cy="6096000"/>
        </p:xfrm>
        <a:graphic>
          <a:graphicData uri="http://schemas.openxmlformats.org/drawingml/2006/table">
            <a:tbl>
              <a:tblPr/>
              <a:tblGrid>
                <a:gridCol w="2544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8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0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0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分類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主な改定（税込）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1品平均の値上げ率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平年度 売上増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平年度 粗利増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ご飯類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カレー+30円・ボウル+50円・サウナカリー+50円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+4.8%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+54万円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+62万円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一品料理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おつまみ+10円・サラダ+20円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+4.6%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+27万円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+31万円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ソフトドリンク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+10円・リポスパ+20円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+5.6%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+23万円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+25万円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麺類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うどん・パスタ+50円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+4.1%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+21万円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+23万円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アルコール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サワー+30円・ハイボール+20円（ビール据置）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+2.4%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+13万円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+15万円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デザート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パフェ+20円・トルティーヤ+20円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+5.3%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+10万円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1F5F9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合計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GM141品（B案4品を含む）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+3.7%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+146万円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22D3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+167万円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試算：根拠データ「効果サマリー」。4〜6月の出数×改定額に弾力性-0.3を織り込み平年度換算。+3.7%はコラボ抜き売上全体に対する率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08 // OPTION B：4 ITEMS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4品の上乗せで、平年度の売上を+55万円上積みします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2550795"/>
            <a:ext cx="3932682" cy="6328410"/>
            <a:chOff x="0" y="0"/>
            <a:chExt cx="5243576" cy="8437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43576" cy="8437880"/>
            </a:xfrm>
            <a:custGeom>
              <a:avLst/>
              <a:gdLst/>
              <a:ahLst/>
              <a:cxnLst/>
              <a:rect l="l" t="t" r="r" b="b"/>
              <a:pathLst>
                <a:path w="5243576" h="84378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6510" y="0"/>
                  </a:lnTo>
                  <a:cubicBezTo>
                    <a:pt x="5177663" y="0"/>
                    <a:pt x="5243576" y="65786"/>
                    <a:pt x="5243576" y="147066"/>
                  </a:cubicBezTo>
                  <a:lnTo>
                    <a:pt x="5243576" y="8290814"/>
                  </a:lnTo>
                  <a:cubicBezTo>
                    <a:pt x="5243576" y="8371967"/>
                    <a:pt x="5177790" y="8437880"/>
                    <a:pt x="5096510" y="8437880"/>
                  </a:cubicBezTo>
                  <a:lnTo>
                    <a:pt x="147066" y="8437880"/>
                  </a:lnTo>
                  <a:cubicBezTo>
                    <a:pt x="65786" y="8437880"/>
                    <a:pt x="0" y="8372094"/>
                    <a:pt x="0" y="8290814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67463" y="2913383"/>
            <a:ext cx="1122683" cy="1122683"/>
            <a:chOff x="0" y="0"/>
            <a:chExt cx="1496911" cy="14969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6426" y="3222346"/>
            <a:ext cx="504749" cy="504749"/>
            <a:chOff x="0" y="0"/>
            <a:chExt cx="672998" cy="672998"/>
          </a:xfrm>
        </p:grpSpPr>
        <p:sp>
          <p:nvSpPr>
            <p:cNvPr id="13" name="Freeform 13" descr="bowl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0160" y="4307205"/>
            <a:ext cx="33832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プレミアムロースかつカレー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0160" y="5257419"/>
            <a:ext cx="338328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1,548円 → 1,598円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0160" y="5815584"/>
            <a:ext cx="33832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BBF24"/>
                </a:solidFill>
                <a:latin typeface="Meiryo Bold"/>
                <a:ea typeface="Meiryo Bold"/>
                <a:cs typeface="Meiryo Bold"/>
                <a:sym typeface="Meiryo Bold"/>
              </a:rPr>
              <a:t>A案から+50円上乗せ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160" y="6364224"/>
            <a:ext cx="329184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神田のカツカレー上位帯（1,650〜1,940円）より下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0160" y="7835265"/>
            <a:ext cx="2560320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+16万円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66160" y="8083296"/>
            <a:ext cx="9144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/年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074539" y="2550795"/>
            <a:ext cx="3932682" cy="6328410"/>
            <a:chOff x="0" y="0"/>
            <a:chExt cx="5243576" cy="8437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43576" cy="8437880"/>
            </a:xfrm>
            <a:custGeom>
              <a:avLst/>
              <a:gdLst/>
              <a:ahLst/>
              <a:cxnLst/>
              <a:rect l="l" t="t" r="r" b="b"/>
              <a:pathLst>
                <a:path w="5243576" h="84378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6510" y="0"/>
                  </a:lnTo>
                  <a:cubicBezTo>
                    <a:pt x="5177663" y="0"/>
                    <a:pt x="5243576" y="65786"/>
                    <a:pt x="5243576" y="147066"/>
                  </a:cubicBezTo>
                  <a:lnTo>
                    <a:pt x="5243576" y="8290814"/>
                  </a:lnTo>
                  <a:cubicBezTo>
                    <a:pt x="5243576" y="8371967"/>
                    <a:pt x="5177790" y="8437880"/>
                    <a:pt x="5096510" y="8437880"/>
                  </a:cubicBezTo>
                  <a:lnTo>
                    <a:pt x="147066" y="8437880"/>
                  </a:lnTo>
                  <a:cubicBezTo>
                    <a:pt x="65786" y="8437880"/>
                    <a:pt x="0" y="8372094"/>
                    <a:pt x="0" y="8290814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37127" y="2913383"/>
            <a:ext cx="1122683" cy="1122683"/>
            <a:chOff x="0" y="0"/>
            <a:chExt cx="1496911" cy="14969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46090" y="3222346"/>
            <a:ext cx="504749" cy="504749"/>
            <a:chOff x="0" y="0"/>
            <a:chExt cx="672998" cy="672998"/>
          </a:xfrm>
        </p:grpSpPr>
        <p:sp>
          <p:nvSpPr>
            <p:cNvPr id="25" name="Freeform 25" descr="utensils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449824" y="4307205"/>
            <a:ext cx="33832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近江牛サウナカリー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49824" y="5257419"/>
            <a:ext cx="338328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1,355円 → 1,405円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49824" y="5815584"/>
            <a:ext cx="33832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BBF24"/>
                </a:solidFill>
                <a:latin typeface="Meiryo Bold"/>
                <a:ea typeface="Meiryo Bold"/>
                <a:cs typeface="Meiryo Bold"/>
                <a:sym typeface="Meiryo Bold"/>
              </a:rPr>
              <a:t>価格表外の売上1位を追加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49824" y="6364224"/>
            <a:ext cx="329184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3か月964食。温浴施設のカレー相場の範囲内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49824" y="7835265"/>
            <a:ext cx="2560320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+18万円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35824" y="8083296"/>
            <a:ext cx="9144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/年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44203" y="2550795"/>
            <a:ext cx="3932682" cy="6328410"/>
            <a:chOff x="0" y="0"/>
            <a:chExt cx="5243576" cy="84378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43576" cy="8437880"/>
            </a:xfrm>
            <a:custGeom>
              <a:avLst/>
              <a:gdLst/>
              <a:ahLst/>
              <a:cxnLst/>
              <a:rect l="l" t="t" r="r" b="b"/>
              <a:pathLst>
                <a:path w="5243576" h="84378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6510" y="0"/>
                  </a:lnTo>
                  <a:cubicBezTo>
                    <a:pt x="5177663" y="0"/>
                    <a:pt x="5243576" y="65786"/>
                    <a:pt x="5243576" y="147066"/>
                  </a:cubicBezTo>
                  <a:lnTo>
                    <a:pt x="5243576" y="8290814"/>
                  </a:lnTo>
                  <a:cubicBezTo>
                    <a:pt x="5243576" y="8371967"/>
                    <a:pt x="5177790" y="8437880"/>
                    <a:pt x="5096510" y="8437880"/>
                  </a:cubicBezTo>
                  <a:lnTo>
                    <a:pt x="147066" y="8437880"/>
                  </a:lnTo>
                  <a:cubicBezTo>
                    <a:pt x="65786" y="8437880"/>
                    <a:pt x="0" y="8372094"/>
                    <a:pt x="0" y="8290814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6791" y="2913383"/>
            <a:ext cx="1122683" cy="1122683"/>
            <a:chOff x="0" y="0"/>
            <a:chExt cx="1496911" cy="149691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15754" y="3222346"/>
            <a:ext cx="504749" cy="504749"/>
            <a:chOff x="0" y="0"/>
            <a:chExt cx="672998" cy="672998"/>
          </a:xfrm>
        </p:grpSpPr>
        <p:sp>
          <p:nvSpPr>
            <p:cNvPr id="37" name="Freeform 37" descr="chart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619488" y="4307205"/>
            <a:ext cx="33832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リポスパ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19488" y="5257419"/>
            <a:ext cx="338328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473円 → 493円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19488" y="5815584"/>
            <a:ext cx="33832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BBF24"/>
                </a:solidFill>
                <a:latin typeface="Meiryo Bold"/>
                <a:ea typeface="Meiryo Bold"/>
                <a:cs typeface="Meiryo Bold"/>
                <a:sym typeface="Meiryo Bold"/>
              </a:rPr>
              <a:t>出数1位を改定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19488" y="6364224"/>
            <a:ext cx="329184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3か月2,134杯。原価率22%で割安感を維持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19488" y="7835265"/>
            <a:ext cx="2560320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+16万円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905488" y="8083296"/>
            <a:ext cx="9144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/年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3413867" y="2550795"/>
            <a:ext cx="3932682" cy="6328410"/>
            <a:chOff x="0" y="0"/>
            <a:chExt cx="5243576" cy="84378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243576" cy="8437880"/>
            </a:xfrm>
            <a:custGeom>
              <a:avLst/>
              <a:gdLst/>
              <a:ahLst/>
              <a:cxnLst/>
              <a:rect l="l" t="t" r="r" b="b"/>
              <a:pathLst>
                <a:path w="5243576" h="84378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6510" y="0"/>
                  </a:lnTo>
                  <a:cubicBezTo>
                    <a:pt x="5177663" y="0"/>
                    <a:pt x="5243576" y="65786"/>
                    <a:pt x="5243576" y="147066"/>
                  </a:cubicBezTo>
                  <a:lnTo>
                    <a:pt x="5243576" y="8290814"/>
                  </a:lnTo>
                  <a:cubicBezTo>
                    <a:pt x="5243576" y="8371967"/>
                    <a:pt x="5177790" y="8437880"/>
                    <a:pt x="5096510" y="8437880"/>
                  </a:cubicBezTo>
                  <a:lnTo>
                    <a:pt x="147066" y="8437880"/>
                  </a:lnTo>
                  <a:cubicBezTo>
                    <a:pt x="65786" y="8437880"/>
                    <a:pt x="0" y="8372094"/>
                    <a:pt x="0" y="8290814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776455" y="2913383"/>
            <a:ext cx="1122683" cy="1122683"/>
            <a:chOff x="0" y="0"/>
            <a:chExt cx="1496911" cy="149691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085418" y="3222346"/>
            <a:ext cx="504749" cy="504749"/>
            <a:chOff x="0" y="0"/>
            <a:chExt cx="672998" cy="672998"/>
          </a:xfrm>
        </p:grpSpPr>
        <p:sp>
          <p:nvSpPr>
            <p:cNvPr id="49" name="Freeform 49" descr="gauge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789152" y="4307205"/>
            <a:ext cx="33832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ごはん大盛り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789152" y="5257419"/>
            <a:ext cx="338328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185円 → 220円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789152" y="5815584"/>
            <a:ext cx="33832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BBF24"/>
                </a:solidFill>
                <a:latin typeface="Meiryo Bold"/>
                <a:ea typeface="Meiryo Bold"/>
                <a:cs typeface="Meiryo Bold"/>
                <a:sym typeface="Meiryo Bold"/>
              </a:rPr>
              <a:t>原価率56% → 42%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789152" y="6364224"/>
            <a:ext cx="329184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3か月357食。単品の原価率が最も高い部類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789152" y="7835265"/>
            <a:ext cx="2560320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+5万円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075152" y="8083296"/>
            <a:ext cx="9144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/年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平年度効果は売上ベース（出数変化なし、4〜6月×半期換算係数2.07×2）。サウナカリーの改定前価格はPOS実売単価からの推定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09 // SENSITIVITY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出数が5%減っても粗利はプラス。標準ケースで平年度+167万円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2608" y="1444752"/>
            <a:ext cx="12289536" cy="8631936"/>
          </a:xfrm>
          <a:prstGeom prst="rect">
            <a:avLst/>
          </a:prstGeom>
        </p:spPr>
      </p:pic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430000" y="2651760"/>
          <a:ext cx="5918200" cy="3048000"/>
        </p:xfrm>
        <a:graphic>
          <a:graphicData uri="http://schemas.openxmlformats.org/drawingml/2006/table">
            <a:tbl>
              <a:tblPr/>
              <a:tblGrid>
                <a:gridCol w="182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ケース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弾力性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出数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22D3EE"/>
                          </a:solidFill>
                          <a:latin typeface="Meiryo Bold"/>
                          <a:ea typeface="Meiryo Bold"/>
                          <a:cs typeface="Meiryo Bold"/>
                          <a:sym typeface="Meiryo Bold"/>
                        </a:rPr>
                        <a:t>理論原価率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出数変化なし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±0%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29.7%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標準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-0.3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-1.6%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29.7%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慎重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-0.6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-3.3%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29.7%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悲観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-1.0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-5.4%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29.7%</a:t>
                      </a:r>
                      <a:endParaRPr lang="en-US" sz="1100"/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1420475" y="6116955"/>
            <a:ext cx="5962650" cy="2762250"/>
            <a:chOff x="0" y="0"/>
            <a:chExt cx="7950200" cy="368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50200" cy="3683000"/>
            </a:xfrm>
            <a:custGeom>
              <a:avLst/>
              <a:gdLst/>
              <a:ahLst/>
              <a:cxnLst/>
              <a:rect l="l" t="t" r="r" b="b"/>
              <a:pathLst>
                <a:path w="7950200" h="368300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7802880" y="0"/>
                  </a:lnTo>
                  <a:cubicBezTo>
                    <a:pt x="7884287" y="0"/>
                    <a:pt x="7950200" y="65913"/>
                    <a:pt x="7950200" y="147320"/>
                  </a:cubicBezTo>
                  <a:lnTo>
                    <a:pt x="7950200" y="3535680"/>
                  </a:lnTo>
                  <a:cubicBezTo>
                    <a:pt x="7950200" y="3617087"/>
                    <a:pt x="7884287" y="3683000"/>
                    <a:pt x="780288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795760" y="6400800"/>
            <a:ext cx="530352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1品あたり原価は不変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出数が減っても1品あたりの粗利が増えるため、粗利額はプラスを維持。理論原価率は30.9%→29.7%に改善します。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試算：根拠データ「品目別試算」。4〜6月の出数×（1＋弾力性×値上げ率）。原価はメニュー原価一覧のレシピ原価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869680" y="948690"/>
            <a:ext cx="548640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9"/>
              </a:lnSpc>
            </a:pPr>
            <a:r>
              <a:rPr lang="en-US" sz="15999" b="1">
                <a:solidFill>
                  <a:srgbClr val="0E7490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61120" y="3364230"/>
            <a:ext cx="84124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5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SECTION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61120" y="4023360"/>
            <a:ext cx="859536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原価率改善プラン</a:t>
            </a:r>
          </a:p>
        </p:txBody>
      </p:sp>
      <p:sp>
        <p:nvSpPr>
          <p:cNvPr id="6" name="AutoShape 6"/>
          <p:cNvSpPr/>
          <p:nvPr/>
        </p:nvSpPr>
        <p:spPr>
          <a:xfrm rot="152040">
            <a:off x="8935155" y="6482715"/>
            <a:ext cx="1149201" cy="0"/>
          </a:xfrm>
          <a:prstGeom prst="line">
            <a:avLst/>
          </a:prstGeom>
          <a:ln w="1905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961120" y="6776085"/>
            <a:ext cx="8229600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下期の原価率改善ブリッジ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通期の着地見通し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原価コントロール・リスク・実行計画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10 // H2 BRIDGE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値上げ−0.38pt、原価管理−1.80ptで下期原価率を33.4%へ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468880"/>
            <a:ext cx="107899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飲食原価率（%）　上期実績 → 下期計画</a:t>
            </a:r>
          </a:p>
        </p:txBody>
      </p:sp>
      <p:sp>
        <p:nvSpPr>
          <p:cNvPr id="9" name="AutoShape 9"/>
          <p:cNvSpPr/>
          <p:nvPr/>
        </p:nvSpPr>
        <p:spPr>
          <a:xfrm rot="6060">
            <a:off x="904865" y="8133397"/>
            <a:ext cx="10808989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422787" y="3851596"/>
            <a:ext cx="1141200" cy="4296089"/>
            <a:chOff x="0" y="0"/>
            <a:chExt cx="1521600" cy="57281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1587" cy="5728081"/>
            </a:xfrm>
            <a:custGeom>
              <a:avLst/>
              <a:gdLst/>
              <a:ahLst/>
              <a:cxnLst/>
              <a:rect l="l" t="t" r="r" b="b"/>
              <a:pathLst>
                <a:path w="1521587" h="5728081">
                  <a:moveTo>
                    <a:pt x="0" y="0"/>
                  </a:moveTo>
                  <a:lnTo>
                    <a:pt x="1521587" y="0"/>
                  </a:lnTo>
                  <a:lnTo>
                    <a:pt x="1521587" y="5728081"/>
                  </a:lnTo>
                  <a:lnTo>
                    <a:pt x="0" y="5728081"/>
                  </a:lnTo>
                  <a:close/>
                </a:path>
              </a:pathLst>
            </a:custGeom>
            <a:solidFill>
              <a:srgbClr val="475569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3672" y="3330007"/>
            <a:ext cx="22194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36.4%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8247888"/>
            <a:ext cx="2157984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上期実績</a:t>
            </a:r>
          </a:p>
        </p:txBody>
      </p:sp>
      <p:sp>
        <p:nvSpPr>
          <p:cNvPr id="14" name="AutoShape 14"/>
          <p:cNvSpPr/>
          <p:nvPr/>
        </p:nvSpPr>
        <p:spPr>
          <a:xfrm rot="41640">
            <a:off x="2548080" y="3856358"/>
            <a:ext cx="1048607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3580771" y="3851596"/>
            <a:ext cx="1141200" cy="585321"/>
            <a:chOff x="0" y="0"/>
            <a:chExt cx="1521600" cy="7804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1587" cy="780415"/>
            </a:xfrm>
            <a:custGeom>
              <a:avLst/>
              <a:gdLst/>
              <a:ahLst/>
              <a:cxnLst/>
              <a:rect l="l" t="t" r="r" b="b"/>
              <a:pathLst>
                <a:path w="1521587" h="780415">
                  <a:moveTo>
                    <a:pt x="0" y="0"/>
                  </a:moveTo>
                  <a:lnTo>
                    <a:pt x="1521587" y="0"/>
                  </a:lnTo>
                  <a:lnTo>
                    <a:pt x="1521587" y="780415"/>
                  </a:lnTo>
                  <a:lnTo>
                    <a:pt x="0" y="780415"/>
                  </a:lnTo>
                  <a:close/>
                </a:path>
              </a:pathLst>
            </a:custGeom>
            <a:solidFill>
              <a:srgbClr val="0E7490">
                <a:alpha val="35686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41656" y="3330007"/>
            <a:ext cx="22194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-0.85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72384" y="8247888"/>
            <a:ext cx="2157984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在庫取崩し</a:t>
            </a:r>
          </a:p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の一巡</a:t>
            </a:r>
          </a:p>
        </p:txBody>
      </p:sp>
      <p:sp>
        <p:nvSpPr>
          <p:cNvPr id="19" name="AutoShape 19"/>
          <p:cNvSpPr/>
          <p:nvPr/>
        </p:nvSpPr>
        <p:spPr>
          <a:xfrm rot="41640">
            <a:off x="4706064" y="4422629"/>
            <a:ext cx="1048607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20" name="Group 20"/>
          <p:cNvGrpSpPr/>
          <p:nvPr/>
        </p:nvGrpSpPr>
        <p:grpSpPr>
          <a:xfrm>
            <a:off x="5738755" y="4417866"/>
            <a:ext cx="1141200" cy="272205"/>
            <a:chOff x="0" y="0"/>
            <a:chExt cx="1521600" cy="3629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1587" cy="362966"/>
            </a:xfrm>
            <a:custGeom>
              <a:avLst/>
              <a:gdLst/>
              <a:ahLst/>
              <a:cxnLst/>
              <a:rect l="l" t="t" r="r" b="b"/>
              <a:pathLst>
                <a:path w="1521587" h="362966">
                  <a:moveTo>
                    <a:pt x="0" y="0"/>
                  </a:moveTo>
                  <a:lnTo>
                    <a:pt x="1521587" y="0"/>
                  </a:lnTo>
                  <a:lnTo>
                    <a:pt x="1521587" y="362966"/>
                  </a:lnTo>
                  <a:lnTo>
                    <a:pt x="0" y="362966"/>
                  </a:lnTo>
                  <a:close/>
                </a:path>
              </a:pathLst>
            </a:custGeom>
            <a:solidFill>
              <a:srgbClr val="0E7490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199640" y="3896277"/>
            <a:ext cx="22194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-0.38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0368" y="8247888"/>
            <a:ext cx="2157984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GM値上げ</a:t>
            </a:r>
          </a:p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（12月中旬〜）</a:t>
            </a:r>
          </a:p>
        </p:txBody>
      </p:sp>
      <p:sp>
        <p:nvSpPr>
          <p:cNvPr id="24" name="AutoShape 24"/>
          <p:cNvSpPr/>
          <p:nvPr/>
        </p:nvSpPr>
        <p:spPr>
          <a:xfrm rot="41640">
            <a:off x="6864048" y="4675794"/>
            <a:ext cx="1048607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896739" y="4671031"/>
            <a:ext cx="1141200" cy="1211561"/>
            <a:chOff x="0" y="0"/>
            <a:chExt cx="1521600" cy="16154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21587" cy="1615440"/>
            </a:xfrm>
            <a:custGeom>
              <a:avLst/>
              <a:gdLst/>
              <a:ahLst/>
              <a:cxnLst/>
              <a:rect l="l" t="t" r="r" b="b"/>
              <a:pathLst>
                <a:path w="1521587" h="1615440">
                  <a:moveTo>
                    <a:pt x="0" y="0"/>
                  </a:moveTo>
                  <a:lnTo>
                    <a:pt x="1521587" y="0"/>
                  </a:lnTo>
                  <a:lnTo>
                    <a:pt x="1521587" y="1615440"/>
                  </a:lnTo>
                  <a:lnTo>
                    <a:pt x="0" y="1615440"/>
                  </a:lnTo>
                  <a:close/>
                </a:path>
              </a:pathLst>
            </a:custGeom>
            <a:solidFill>
              <a:srgbClr val="0E7490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357624" y="4149442"/>
            <a:ext cx="22194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-1.80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88352" y="8247888"/>
            <a:ext cx="2157984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原価</a:t>
            </a:r>
          </a:p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コントロール</a:t>
            </a:r>
          </a:p>
        </p:txBody>
      </p:sp>
      <p:sp>
        <p:nvSpPr>
          <p:cNvPr id="29" name="AutoShape 29"/>
          <p:cNvSpPr/>
          <p:nvPr/>
        </p:nvSpPr>
        <p:spPr>
          <a:xfrm rot="41640">
            <a:off x="9022032" y="5868295"/>
            <a:ext cx="1048607" cy="0"/>
          </a:xfrm>
          <a:prstGeom prst="line">
            <a:avLst/>
          </a:prstGeom>
          <a:ln w="9525" cap="rnd">
            <a:solidFill>
              <a:srgbClr val="94A3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0054723" y="5863533"/>
            <a:ext cx="1141200" cy="2284152"/>
            <a:chOff x="0" y="0"/>
            <a:chExt cx="1521600" cy="304553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1587" cy="3045587"/>
            </a:xfrm>
            <a:custGeom>
              <a:avLst/>
              <a:gdLst/>
              <a:ahLst/>
              <a:cxnLst/>
              <a:rect l="l" t="t" r="r" b="b"/>
              <a:pathLst>
                <a:path w="1521587" h="3045587">
                  <a:moveTo>
                    <a:pt x="0" y="0"/>
                  </a:moveTo>
                  <a:lnTo>
                    <a:pt x="1521587" y="0"/>
                  </a:lnTo>
                  <a:lnTo>
                    <a:pt x="1521587" y="3045587"/>
                  </a:lnTo>
                  <a:lnTo>
                    <a:pt x="0" y="3045587"/>
                  </a:ln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515608" y="5341944"/>
            <a:ext cx="22194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33.4%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46336" y="8247888"/>
            <a:ext cx="2157984" cy="7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下期計画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151995" y="2550795"/>
            <a:ext cx="5231130" cy="2396490"/>
            <a:chOff x="0" y="0"/>
            <a:chExt cx="6974840" cy="31953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74840" cy="3195320"/>
            </a:xfrm>
            <a:custGeom>
              <a:avLst/>
              <a:gdLst/>
              <a:ahLst/>
              <a:cxnLst/>
              <a:rect l="l" t="t" r="r" b="b"/>
              <a:pathLst>
                <a:path w="69748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27393" y="0"/>
                  </a:lnTo>
                  <a:cubicBezTo>
                    <a:pt x="6908800" y="0"/>
                    <a:pt x="6974840" y="66040"/>
                    <a:pt x="6974840" y="147447"/>
                  </a:cubicBezTo>
                  <a:lnTo>
                    <a:pt x="6974840" y="3047873"/>
                  </a:lnTo>
                  <a:cubicBezTo>
                    <a:pt x="6974840" y="3129280"/>
                    <a:pt x="6908800" y="3195320"/>
                    <a:pt x="68273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490704" y="2834640"/>
            <a:ext cx="45537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COST CONTROL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490704" y="3272790"/>
            <a:ext cx="466344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99万円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490704" y="4242816"/>
            <a:ext cx="46634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下期の必要削減額（月17万円・原価の5.1%）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2151995" y="5293995"/>
            <a:ext cx="5231130" cy="2396490"/>
            <a:chOff x="0" y="0"/>
            <a:chExt cx="6974840" cy="31953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974840" cy="3195320"/>
            </a:xfrm>
            <a:custGeom>
              <a:avLst/>
              <a:gdLst/>
              <a:ahLst/>
              <a:cxnLst/>
              <a:rect l="l" t="t" r="r" b="b"/>
              <a:pathLst>
                <a:path w="6974840" h="319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27393" y="0"/>
                  </a:lnTo>
                  <a:cubicBezTo>
                    <a:pt x="6908800" y="0"/>
                    <a:pt x="6974840" y="66040"/>
                    <a:pt x="6974840" y="147447"/>
                  </a:cubicBezTo>
                  <a:lnTo>
                    <a:pt x="6974840" y="3047873"/>
                  </a:lnTo>
                  <a:cubicBezTo>
                    <a:pt x="6974840" y="3129280"/>
                    <a:pt x="6908800" y="3195320"/>
                    <a:pt x="6827393" y="3195320"/>
                  </a:cubicBezTo>
                  <a:lnTo>
                    <a:pt x="147447" y="3195320"/>
                  </a:lnTo>
                  <a:cubicBezTo>
                    <a:pt x="66040" y="3195320"/>
                    <a:pt x="0" y="3129280"/>
                    <a:pt x="0" y="3047873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490704" y="5577840"/>
            <a:ext cx="455371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spc="200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PRICE ONLY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490704" y="6015990"/>
            <a:ext cx="466344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+21%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90704" y="6986016"/>
            <a:ext cx="466344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値上げのみで達成する場合のGM平均値上げ率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161520" y="8138160"/>
            <a:ext cx="521208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→ 値上げと原価管理の両輪で達成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試算：根拠データ「原価率プラン」。下期の売上・出数は上期と同水準、在庫横ばい、値上げ適用は12/15〜3/31（約3.5か月）、弾力性-0.3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11 // FULL-YEAR OUTLOOK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通期見通しは34.9%。予算内には166万円の追加改善が必要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6032" y="1481328"/>
            <a:ext cx="11850624" cy="8558784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1054715" y="2550795"/>
            <a:ext cx="6328410" cy="6328410"/>
            <a:chOff x="0" y="0"/>
            <a:chExt cx="8437880" cy="8437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37880" cy="8437880"/>
            </a:xfrm>
            <a:custGeom>
              <a:avLst/>
              <a:gdLst/>
              <a:ahLst/>
              <a:cxnLst/>
              <a:rect l="l" t="t" r="r" b="b"/>
              <a:pathLst>
                <a:path w="8437880" h="84378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8291195" y="0"/>
                  </a:lnTo>
                  <a:cubicBezTo>
                    <a:pt x="8372221" y="0"/>
                    <a:pt x="8437880" y="65659"/>
                    <a:pt x="8437880" y="146685"/>
                  </a:cubicBezTo>
                  <a:lnTo>
                    <a:pt x="8437880" y="8291195"/>
                  </a:lnTo>
                  <a:cubicBezTo>
                    <a:pt x="8437880" y="8372221"/>
                    <a:pt x="8372221" y="8437880"/>
                    <a:pt x="8291195" y="8437880"/>
                  </a:cubicBezTo>
                  <a:lnTo>
                    <a:pt x="146685" y="8437880"/>
                  </a:lnTo>
                  <a:cubicBezTo>
                    <a:pt x="65659" y="8437880"/>
                    <a:pt x="0" y="8372221"/>
                    <a:pt x="0" y="8291195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30000" y="2844165"/>
            <a:ext cx="576072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OPTIONS // 通期予算内に向けた追加施策（案）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10950" y="3675126"/>
            <a:ext cx="586740" cy="586740"/>
            <a:chOff x="0" y="0"/>
            <a:chExt cx="782320" cy="782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2320" cy="782320"/>
            </a:xfrm>
            <a:custGeom>
              <a:avLst/>
              <a:gdLst/>
              <a:ahLst/>
              <a:cxnLst/>
              <a:rect l="l" t="t" r="r" b="b"/>
              <a:pathLst>
                <a:path w="782320" h="782320">
                  <a:moveTo>
                    <a:pt x="0" y="391160"/>
                  </a:moveTo>
                  <a:cubicBezTo>
                    <a:pt x="0" y="175133"/>
                    <a:pt x="175133" y="0"/>
                    <a:pt x="391160" y="0"/>
                  </a:cubicBezTo>
                  <a:cubicBezTo>
                    <a:pt x="607187" y="0"/>
                    <a:pt x="782320" y="175133"/>
                    <a:pt x="782320" y="391160"/>
                  </a:cubicBezTo>
                  <a:cubicBezTo>
                    <a:pt x="782320" y="607187"/>
                    <a:pt x="607187" y="782320"/>
                    <a:pt x="391160" y="782320"/>
                  </a:cubicBezTo>
                  <a:cubicBezTo>
                    <a:pt x="175133" y="782320"/>
                    <a:pt x="0" y="607187"/>
                    <a:pt x="0" y="391160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30000" y="3694176"/>
            <a:ext cx="548640" cy="548640"/>
            <a:chOff x="0" y="0"/>
            <a:chExt cx="73152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BBF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16384" y="3657600"/>
            <a:ext cx="493776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コラボ売上の回復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16384" y="4206240"/>
            <a:ext cx="493776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下期コラボが予算水準（半期3,301万円）に戻れば原価率は約0.6pt改善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410950" y="5412486"/>
            <a:ext cx="586740" cy="586740"/>
            <a:chOff x="0" y="0"/>
            <a:chExt cx="782320" cy="7823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2320" cy="782320"/>
            </a:xfrm>
            <a:custGeom>
              <a:avLst/>
              <a:gdLst/>
              <a:ahLst/>
              <a:cxnLst/>
              <a:rect l="l" t="t" r="r" b="b"/>
              <a:pathLst>
                <a:path w="782320" h="782320">
                  <a:moveTo>
                    <a:pt x="0" y="391160"/>
                  </a:moveTo>
                  <a:cubicBezTo>
                    <a:pt x="0" y="175133"/>
                    <a:pt x="175133" y="0"/>
                    <a:pt x="391160" y="0"/>
                  </a:cubicBezTo>
                  <a:cubicBezTo>
                    <a:pt x="607187" y="0"/>
                    <a:pt x="782320" y="175133"/>
                    <a:pt x="782320" y="391160"/>
                  </a:cubicBezTo>
                  <a:cubicBezTo>
                    <a:pt x="782320" y="607187"/>
                    <a:pt x="607187" y="782320"/>
                    <a:pt x="391160" y="782320"/>
                  </a:cubicBezTo>
                  <a:cubicBezTo>
                    <a:pt x="175133" y="782320"/>
                    <a:pt x="0" y="607187"/>
                    <a:pt x="0" y="391160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0" y="5431536"/>
            <a:ext cx="548640" cy="548640"/>
            <a:chOff x="0" y="0"/>
            <a:chExt cx="73152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BBF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216384" y="5394960"/>
            <a:ext cx="493776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原価コントロールの上積み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16384" y="5943600"/>
            <a:ext cx="493776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必要額99万円に加え、さらに166万円（上期超過分）の削減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410950" y="7149846"/>
            <a:ext cx="586740" cy="586740"/>
            <a:chOff x="0" y="0"/>
            <a:chExt cx="782320" cy="7823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82320" cy="782320"/>
            </a:xfrm>
            <a:custGeom>
              <a:avLst/>
              <a:gdLst/>
              <a:ahLst/>
              <a:cxnLst/>
              <a:rect l="l" t="t" r="r" b="b"/>
              <a:pathLst>
                <a:path w="782320" h="782320">
                  <a:moveTo>
                    <a:pt x="0" y="391160"/>
                  </a:moveTo>
                  <a:cubicBezTo>
                    <a:pt x="0" y="175133"/>
                    <a:pt x="175133" y="0"/>
                    <a:pt x="391160" y="0"/>
                  </a:cubicBezTo>
                  <a:cubicBezTo>
                    <a:pt x="607187" y="0"/>
                    <a:pt x="782320" y="175133"/>
                    <a:pt x="782320" y="391160"/>
                  </a:cubicBezTo>
                  <a:cubicBezTo>
                    <a:pt x="782320" y="607187"/>
                    <a:pt x="607187" y="782320"/>
                    <a:pt x="391160" y="782320"/>
                  </a:cubicBezTo>
                  <a:cubicBezTo>
                    <a:pt x="175133" y="782320"/>
                    <a:pt x="0" y="607187"/>
                    <a:pt x="0" y="391160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430000" y="7168896"/>
            <a:ext cx="548640" cy="548640"/>
            <a:chOff x="0" y="0"/>
            <a:chExt cx="7315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BBF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216384" y="7132320"/>
            <a:ext cx="493776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下期中の追加改定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16384" y="7680960"/>
            <a:ext cx="493776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効果検証後、2〜3月に相場内で再改定を検討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試算：根拠データ「原価率プラン」。コラボ回復効果は予算の区分別原価率（コラボ32%）で概算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12 // COST CONTROL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理論原価との差を縮め、下期99万円（月17万円）を削減します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2550795"/>
            <a:ext cx="16478250" cy="1939290"/>
            <a:chOff x="0" y="0"/>
            <a:chExt cx="21971000" cy="25857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71000" cy="2585720"/>
            </a:xfrm>
            <a:custGeom>
              <a:avLst/>
              <a:gdLst/>
              <a:ahLst/>
              <a:cxnLst/>
              <a:rect l="l" t="t" r="r" b="b"/>
              <a:pathLst>
                <a:path w="21971000" h="25857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823299" y="0"/>
                  </a:lnTo>
                  <a:cubicBezTo>
                    <a:pt x="21904961" y="0"/>
                    <a:pt x="21971000" y="66167"/>
                    <a:pt x="21971000" y="147701"/>
                  </a:cubicBezTo>
                  <a:lnTo>
                    <a:pt x="21971000" y="2438019"/>
                  </a:lnTo>
                  <a:cubicBezTo>
                    <a:pt x="21971000" y="2519680"/>
                    <a:pt x="21904833" y="2585720"/>
                    <a:pt x="2182329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4039" y="2913383"/>
            <a:ext cx="1214123" cy="1214123"/>
            <a:chOff x="0" y="0"/>
            <a:chExt cx="1618831" cy="16188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18742" cy="1618742"/>
            </a:xfrm>
            <a:custGeom>
              <a:avLst/>
              <a:gdLst/>
              <a:ahLst/>
              <a:cxnLst/>
              <a:rect l="l" t="t" r="r" b="b"/>
              <a:pathLst>
                <a:path w="1618742" h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7690" y="3247034"/>
            <a:ext cx="546811" cy="546811"/>
            <a:chOff x="0" y="0"/>
            <a:chExt cx="729082" cy="729082"/>
          </a:xfrm>
        </p:grpSpPr>
        <p:sp>
          <p:nvSpPr>
            <p:cNvPr id="13" name="Freeform 13" descr="recycle"/>
            <p:cNvSpPr/>
            <p:nvPr/>
          </p:nvSpPr>
          <p:spPr>
            <a:xfrm>
              <a:off x="0" y="0"/>
              <a:ext cx="729107" cy="729107"/>
            </a:xfrm>
            <a:custGeom>
              <a:avLst/>
              <a:gdLst/>
              <a:ahLst/>
              <a:cxnLst/>
              <a:rect l="l" t="t" r="r" b="b"/>
              <a:pathLst>
                <a:path w="729107" h="729107">
                  <a:moveTo>
                    <a:pt x="0" y="0"/>
                  </a:moveTo>
                  <a:lnTo>
                    <a:pt x="729107" y="0"/>
                  </a:lnTo>
                  <a:lnTo>
                    <a:pt x="729107" y="729107"/>
                  </a:lnTo>
                  <a:lnTo>
                    <a:pt x="0" y="729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3" b="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26080" y="2871216"/>
            <a:ext cx="5486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廃棄・ロスの削減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26080" y="3520821"/>
            <a:ext cx="841248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コラボ食材の消化計画、仕込み量の標準化、日次の廃棄記録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12880" y="2907030"/>
            <a:ext cx="9144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KPI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12880" y="3392805"/>
            <a:ext cx="329184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廃棄率・コラボ食材の残在庫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30400" y="3062859"/>
            <a:ext cx="246888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45万円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4875" y="4708779"/>
            <a:ext cx="16478250" cy="1939290"/>
            <a:chOff x="0" y="0"/>
            <a:chExt cx="21971000" cy="2585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71000" cy="2585720"/>
            </a:xfrm>
            <a:custGeom>
              <a:avLst/>
              <a:gdLst/>
              <a:ahLst/>
              <a:cxnLst/>
              <a:rect l="l" t="t" r="r" b="b"/>
              <a:pathLst>
                <a:path w="21971000" h="25857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823299" y="0"/>
                  </a:lnTo>
                  <a:cubicBezTo>
                    <a:pt x="21904961" y="0"/>
                    <a:pt x="21971000" y="66167"/>
                    <a:pt x="21971000" y="147701"/>
                  </a:cubicBezTo>
                  <a:lnTo>
                    <a:pt x="21971000" y="2438019"/>
                  </a:lnTo>
                  <a:cubicBezTo>
                    <a:pt x="21971000" y="2519680"/>
                    <a:pt x="21904833" y="2585720"/>
                    <a:pt x="2182329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4039" y="5071367"/>
            <a:ext cx="1214123" cy="1214123"/>
            <a:chOff x="0" y="0"/>
            <a:chExt cx="1618831" cy="1618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18742" cy="1618742"/>
            </a:xfrm>
            <a:custGeom>
              <a:avLst/>
              <a:gdLst/>
              <a:ahLst/>
              <a:cxnLst/>
              <a:rect l="l" t="t" r="r" b="b"/>
              <a:pathLst>
                <a:path w="1618742" h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37690" y="5405018"/>
            <a:ext cx="546811" cy="546811"/>
            <a:chOff x="0" y="0"/>
            <a:chExt cx="729082" cy="729082"/>
          </a:xfrm>
        </p:grpSpPr>
        <p:sp>
          <p:nvSpPr>
            <p:cNvPr id="24" name="Freeform 24" descr="coins"/>
            <p:cNvSpPr/>
            <p:nvPr/>
          </p:nvSpPr>
          <p:spPr>
            <a:xfrm>
              <a:off x="0" y="0"/>
              <a:ext cx="729107" cy="729107"/>
            </a:xfrm>
            <a:custGeom>
              <a:avLst/>
              <a:gdLst/>
              <a:ahLst/>
              <a:cxnLst/>
              <a:rect l="l" t="t" r="r" b="b"/>
              <a:pathLst>
                <a:path w="729107" h="729107">
                  <a:moveTo>
                    <a:pt x="0" y="0"/>
                  </a:moveTo>
                  <a:lnTo>
                    <a:pt x="729107" y="0"/>
                  </a:lnTo>
                  <a:lnTo>
                    <a:pt x="729107" y="729107"/>
                  </a:lnTo>
                  <a:lnTo>
                    <a:pt x="0" y="729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926080" y="5029200"/>
            <a:ext cx="5486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仕入れの見直し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26080" y="5678805"/>
            <a:ext cx="841248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米価下落の反映、主要食材の相見積、規格の見直し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12880" y="5065014"/>
            <a:ext cx="9144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KPI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12880" y="5550789"/>
            <a:ext cx="329184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主要20品の仕入単価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630400" y="5220843"/>
            <a:ext cx="246888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30万円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04875" y="6866763"/>
            <a:ext cx="16478250" cy="1939290"/>
            <a:chOff x="0" y="0"/>
            <a:chExt cx="21971000" cy="25857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71000" cy="2585720"/>
            </a:xfrm>
            <a:custGeom>
              <a:avLst/>
              <a:gdLst/>
              <a:ahLst/>
              <a:cxnLst/>
              <a:rect l="l" t="t" r="r" b="b"/>
              <a:pathLst>
                <a:path w="21971000" h="25857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823299" y="0"/>
                  </a:lnTo>
                  <a:cubicBezTo>
                    <a:pt x="21904961" y="0"/>
                    <a:pt x="21971000" y="66167"/>
                    <a:pt x="21971000" y="147701"/>
                  </a:cubicBezTo>
                  <a:lnTo>
                    <a:pt x="21971000" y="2438019"/>
                  </a:lnTo>
                  <a:cubicBezTo>
                    <a:pt x="21971000" y="2519680"/>
                    <a:pt x="21904833" y="2585720"/>
                    <a:pt x="2182329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04039" y="7229351"/>
            <a:ext cx="1214123" cy="1214123"/>
            <a:chOff x="0" y="0"/>
            <a:chExt cx="1618831" cy="161883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18742" cy="1618742"/>
            </a:xfrm>
            <a:custGeom>
              <a:avLst/>
              <a:gdLst/>
              <a:ahLst/>
              <a:cxnLst/>
              <a:rect l="l" t="t" r="r" b="b"/>
              <a:pathLst>
                <a:path w="1618742" h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0E7490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37690" y="7563002"/>
            <a:ext cx="546811" cy="546811"/>
            <a:chOff x="0" y="0"/>
            <a:chExt cx="729082" cy="729082"/>
          </a:xfrm>
        </p:grpSpPr>
        <p:sp>
          <p:nvSpPr>
            <p:cNvPr id="35" name="Freeform 35" descr="scale"/>
            <p:cNvSpPr/>
            <p:nvPr/>
          </p:nvSpPr>
          <p:spPr>
            <a:xfrm>
              <a:off x="0" y="0"/>
              <a:ext cx="729107" cy="729107"/>
            </a:xfrm>
            <a:custGeom>
              <a:avLst/>
              <a:gdLst/>
              <a:ahLst/>
              <a:cxnLst/>
              <a:rect l="l" t="t" r="r" b="b"/>
              <a:pathLst>
                <a:path w="729107" h="729107">
                  <a:moveTo>
                    <a:pt x="0" y="0"/>
                  </a:moveTo>
                  <a:lnTo>
                    <a:pt x="729107" y="0"/>
                  </a:lnTo>
                  <a:lnTo>
                    <a:pt x="729107" y="729107"/>
                  </a:lnTo>
                  <a:lnTo>
                    <a:pt x="0" y="729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926080" y="7187184"/>
            <a:ext cx="5486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盛付基準の徹底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26080" y="7836789"/>
            <a:ext cx="841248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レシピ量の再周知、計量の徹底、月次の理論原価差異の確認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12880" y="7222998"/>
            <a:ext cx="9144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KPI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12880" y="7708773"/>
            <a:ext cx="3291840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理論原価との差（pt）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630400" y="7378827"/>
            <a:ext cx="246888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1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24万円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400" y="9198864"/>
            <a:ext cx="164592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75569"/>
                </a:solidFill>
                <a:latin typeface="Meiryo"/>
                <a:ea typeface="Meiryo"/>
                <a:cs typeface="Meiryo"/>
                <a:sym typeface="Meiryo"/>
              </a:rPr>
              <a:t>金額配分は目標値。月次で「理論原価（出数×レシピ原価）」と「実績原価」の差を確認し、配分を見直します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13 // RISK &amp; MITIGATION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客離れリスクは限定的。月次KPIで早期に検知し、見直します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2550795"/>
            <a:ext cx="5322570" cy="4773930"/>
            <a:chOff x="0" y="0"/>
            <a:chExt cx="7096760" cy="6365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96760" cy="6365240"/>
            </a:xfrm>
            <a:custGeom>
              <a:avLst/>
              <a:gdLst/>
              <a:ahLst/>
              <a:cxnLst/>
              <a:rect l="l" t="t" r="r" b="b"/>
              <a:pathLst>
                <a:path w="7096760" h="63652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949821" y="0"/>
                  </a:lnTo>
                  <a:cubicBezTo>
                    <a:pt x="7030974" y="0"/>
                    <a:pt x="7096760" y="65786"/>
                    <a:pt x="7096760" y="146939"/>
                  </a:cubicBezTo>
                  <a:lnTo>
                    <a:pt x="7096760" y="6218301"/>
                  </a:lnTo>
                  <a:cubicBezTo>
                    <a:pt x="7096760" y="6299454"/>
                    <a:pt x="7030974" y="6365240"/>
                    <a:pt x="6949821" y="6365240"/>
                  </a:cubicBezTo>
                  <a:lnTo>
                    <a:pt x="146939" y="6365240"/>
                  </a:lnTo>
                  <a:cubicBezTo>
                    <a:pt x="65786" y="6365240"/>
                    <a:pt x="0" y="6299454"/>
                    <a:pt x="0" y="6218301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67463" y="2913383"/>
            <a:ext cx="1122683" cy="1122683"/>
            <a:chOff x="0" y="0"/>
            <a:chExt cx="1496911" cy="14969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B45309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6426" y="3222346"/>
            <a:ext cx="504749" cy="504749"/>
            <a:chOff x="0" y="0"/>
            <a:chExt cx="672998" cy="672998"/>
          </a:xfrm>
        </p:grpSpPr>
        <p:sp>
          <p:nvSpPr>
            <p:cNvPr id="13" name="Freeform 13" descr="users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51760" y="3200400"/>
            <a:ext cx="338328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客離れ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0160" y="4370070"/>
            <a:ext cx="45720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RISK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0160" y="4800981"/>
            <a:ext cx="466344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悲観ケース（出数-5.4%）でも平年度粗利+54万円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160" y="5741670"/>
            <a:ext cx="45720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ACTION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0160" y="6172581"/>
            <a:ext cx="4663440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飲食者数・出数が前年比-5%を超えたら品目別に見直し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482715" y="2550795"/>
            <a:ext cx="5322570" cy="4773930"/>
            <a:chOff x="0" y="0"/>
            <a:chExt cx="7096760" cy="6365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96760" cy="6365240"/>
            </a:xfrm>
            <a:custGeom>
              <a:avLst/>
              <a:gdLst/>
              <a:ahLst/>
              <a:cxnLst/>
              <a:rect l="l" t="t" r="r" b="b"/>
              <a:pathLst>
                <a:path w="7096760" h="63652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949821" y="0"/>
                  </a:lnTo>
                  <a:cubicBezTo>
                    <a:pt x="7030974" y="0"/>
                    <a:pt x="7096760" y="65786"/>
                    <a:pt x="7096760" y="146939"/>
                  </a:cubicBezTo>
                  <a:lnTo>
                    <a:pt x="7096760" y="6218301"/>
                  </a:lnTo>
                  <a:cubicBezTo>
                    <a:pt x="7096760" y="6299454"/>
                    <a:pt x="7030974" y="6365240"/>
                    <a:pt x="6949821" y="6365240"/>
                  </a:cubicBezTo>
                  <a:lnTo>
                    <a:pt x="146939" y="6365240"/>
                  </a:lnTo>
                  <a:cubicBezTo>
                    <a:pt x="65786" y="6365240"/>
                    <a:pt x="0" y="6299454"/>
                    <a:pt x="0" y="6218301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45303" y="2913383"/>
            <a:ext cx="1122683" cy="1122683"/>
            <a:chOff x="0" y="0"/>
            <a:chExt cx="1496911" cy="149691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B45309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54266" y="3222346"/>
            <a:ext cx="504749" cy="504749"/>
            <a:chOff x="0" y="0"/>
            <a:chExt cx="672998" cy="672998"/>
          </a:xfrm>
        </p:grpSpPr>
        <p:sp>
          <p:nvSpPr>
            <p:cNvPr id="24" name="Freeform 24" descr="beer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229600" y="3200400"/>
            <a:ext cx="338328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アルコール低迷の加速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58000" y="4370070"/>
            <a:ext cx="45720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RISK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58000" y="4800981"/>
            <a:ext cx="466344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ビール4種は据え置き（減税局面での値上げを回避）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0" y="5741670"/>
            <a:ext cx="45720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ACTION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58000" y="6172581"/>
            <a:ext cx="4663440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ハッピーアワー・「食事＋1杯」セットで注文率を回復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060555" y="2550795"/>
            <a:ext cx="5322570" cy="4773930"/>
            <a:chOff x="0" y="0"/>
            <a:chExt cx="7096760" cy="63652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96760" cy="6365240"/>
            </a:xfrm>
            <a:custGeom>
              <a:avLst/>
              <a:gdLst/>
              <a:ahLst/>
              <a:cxnLst/>
              <a:rect l="l" t="t" r="r" b="b"/>
              <a:pathLst>
                <a:path w="7096760" h="63652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949821" y="0"/>
                  </a:lnTo>
                  <a:cubicBezTo>
                    <a:pt x="7030974" y="0"/>
                    <a:pt x="7096760" y="65786"/>
                    <a:pt x="7096760" y="146939"/>
                  </a:cubicBezTo>
                  <a:lnTo>
                    <a:pt x="7096760" y="6218301"/>
                  </a:lnTo>
                  <a:cubicBezTo>
                    <a:pt x="7096760" y="6299454"/>
                    <a:pt x="7030974" y="6365240"/>
                    <a:pt x="6949821" y="6365240"/>
                  </a:cubicBezTo>
                  <a:lnTo>
                    <a:pt x="146939" y="6365240"/>
                  </a:lnTo>
                  <a:cubicBezTo>
                    <a:pt x="65786" y="6365240"/>
                    <a:pt x="0" y="6299454"/>
                    <a:pt x="0" y="6218301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23143" y="2913383"/>
            <a:ext cx="1122683" cy="1122683"/>
            <a:chOff x="0" y="0"/>
            <a:chExt cx="1496911" cy="149691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B45309">
                <a:alpha val="72157"/>
              </a:srgbClr>
            </a:solidFill>
            <a:ln w="254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732106" y="3222346"/>
            <a:ext cx="504749" cy="504749"/>
            <a:chOff x="0" y="0"/>
            <a:chExt cx="672998" cy="672998"/>
          </a:xfrm>
        </p:grpSpPr>
        <p:sp>
          <p:nvSpPr>
            <p:cNvPr id="35" name="Freeform 35" descr="shield"/>
            <p:cNvSpPr/>
            <p:nvPr/>
          </p:nvSpPr>
          <p:spPr>
            <a:xfrm>
              <a:off x="0" y="0"/>
              <a:ext cx="672973" cy="672973"/>
            </a:xfrm>
            <a:custGeom>
              <a:avLst/>
              <a:gdLst/>
              <a:ahLst/>
              <a:cxnLst/>
              <a:rect l="l" t="t" r="r" b="b"/>
              <a:pathLst>
                <a:path w="672973" h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3" b="-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3807440" y="3200400"/>
            <a:ext cx="3383280" cy="58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値上げへの印象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435840" y="4370070"/>
            <a:ext cx="45720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FBBF24"/>
                </a:solidFill>
                <a:latin typeface="Arial Bold"/>
                <a:ea typeface="Arial Bold"/>
                <a:cs typeface="Arial Bold"/>
                <a:sym typeface="Arial Bold"/>
              </a:rPr>
              <a:t>RISK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435840" y="4800981"/>
            <a:ext cx="466344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食事メニューは温浴施設の相場内、カツカレーは専門店より割安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435840" y="5741670"/>
            <a:ext cx="4572000" cy="42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 spc="3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ACTION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35840" y="6172581"/>
            <a:ext cx="4663440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CBD5E1"/>
                </a:solidFill>
                <a:latin typeface="Meiryo"/>
                <a:ea typeface="Meiryo"/>
                <a:cs typeface="Meiryo"/>
                <a:sym typeface="Meiryo"/>
              </a:rPr>
              <a:t>改定理由の店内告知、セット・クーポンで割安感を維持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04875" y="7579995"/>
            <a:ext cx="16478250" cy="1299210"/>
            <a:chOff x="0" y="0"/>
            <a:chExt cx="21971000" cy="1732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71000" cy="1732280"/>
            </a:xfrm>
            <a:custGeom>
              <a:avLst/>
              <a:gdLst/>
              <a:ahLst/>
              <a:cxnLst/>
              <a:rect l="l" t="t" r="r" b="b"/>
              <a:pathLst>
                <a:path w="21971000" h="17322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1822538" y="0"/>
                  </a:lnTo>
                  <a:cubicBezTo>
                    <a:pt x="21904579" y="0"/>
                    <a:pt x="21971000" y="66421"/>
                    <a:pt x="21971000" y="148463"/>
                  </a:cubicBezTo>
                  <a:lnTo>
                    <a:pt x="21971000" y="1583817"/>
                  </a:lnTo>
                  <a:cubicBezTo>
                    <a:pt x="21971000" y="1665859"/>
                    <a:pt x="21904579" y="1732280"/>
                    <a:pt x="21822538" y="1732280"/>
                  </a:cubicBezTo>
                  <a:lnTo>
                    <a:pt x="148463" y="1732280"/>
                  </a:lnTo>
                  <a:cubicBezTo>
                    <a:pt x="66421" y="1732280"/>
                    <a:pt x="0" y="1665859"/>
                    <a:pt x="0" y="1583817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71600" y="7589520"/>
            <a:ext cx="15727680" cy="1280160"/>
            <a:chOff x="0" y="0"/>
            <a:chExt cx="20970240" cy="17068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970239" cy="1706880"/>
            </a:xfrm>
            <a:custGeom>
              <a:avLst/>
              <a:gdLst/>
              <a:ahLst/>
              <a:cxnLst/>
              <a:rect l="l" t="t" r="r" b="b"/>
              <a:pathLst>
                <a:path w="20970239" h="1706880">
                  <a:moveTo>
                    <a:pt x="0" y="0"/>
                  </a:moveTo>
                  <a:lnTo>
                    <a:pt x="20970239" y="0"/>
                  </a:lnTo>
                  <a:lnTo>
                    <a:pt x="20970239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387" b="-189387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2097024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D3EE"/>
                  </a:solidFill>
                  <a:latin typeface="Meiryo Bold"/>
                  <a:ea typeface="Meiryo Bold"/>
                  <a:cs typeface="Meiryo Bold"/>
                  <a:sym typeface="Meiryo Bold"/>
                </a:rPr>
                <a:t>MONTHLY KPI　</a:t>
              </a:r>
              <a:r>
                <a:rPr lang="en-US" sz="2100">
                  <a:solidFill>
                    <a:srgbClr val="CBD5E1"/>
                  </a:solidFill>
                  <a:latin typeface="Meiryo"/>
                  <a:ea typeface="Meiryo"/>
                  <a:cs typeface="Meiryo"/>
                  <a:sym typeface="Meiryo"/>
                </a:rPr>
                <a:t>飲食原価率／理論原価との差／品目別出数（前年比）／飲食客単価／アルコール注文率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9637776"/>
            <a:ext cx="10972800" cy="365760"/>
            <a:chOff x="0" y="0"/>
            <a:chExt cx="14630400" cy="4876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487680"/>
            </a:xfrm>
            <a:custGeom>
              <a:avLst/>
              <a:gdLst/>
              <a:ahLst/>
              <a:cxnLst/>
              <a:rect l="l" t="t" r="r" b="b"/>
              <a:pathLst>
                <a:path w="14630400" h="48768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6304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spc="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RAKU SPA 1010 KANDA  //  F&amp;B PRICING &amp; COST PLAN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85013"/>
            <a:ext cx="14630400" cy="4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spc="399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14 // ROADMAP &amp; DECISION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987552"/>
            <a:ext cx="16459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12月中旬から新価格で販売開始します（案）</a:t>
            </a:r>
          </a:p>
        </p:txBody>
      </p:sp>
      <p:sp>
        <p:nvSpPr>
          <p:cNvPr id="8" name="AutoShape 8"/>
          <p:cNvSpPr/>
          <p:nvPr/>
        </p:nvSpPr>
        <p:spPr>
          <a:xfrm rot="12840">
            <a:off x="1565605" y="3373755"/>
            <a:ext cx="13584012" cy="0"/>
          </a:xfrm>
          <a:prstGeom prst="line">
            <a:avLst/>
          </a:prstGeom>
          <a:ln w="19050" cap="rnd">
            <a:solidFill>
              <a:srgbClr val="0E74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261110" y="3053334"/>
            <a:ext cx="659892" cy="659892"/>
            <a:chOff x="0" y="0"/>
            <a:chExt cx="879856" cy="879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3840480"/>
            <a:ext cx="3200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10月末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4425696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CBD5E1"/>
                </a:solidFill>
                <a:latin typeface="Meiryo Bold"/>
                <a:ea typeface="Meiryo Bold"/>
                <a:cs typeface="Meiryo Bold"/>
                <a:sym typeface="Meiryo Bold"/>
              </a:rPr>
              <a:t>ご承認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4974336"/>
            <a:ext cx="310896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本提案の決裁・原価管理に着手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644390" y="3053334"/>
            <a:ext cx="659892" cy="659892"/>
            <a:chOff x="0" y="0"/>
            <a:chExt cx="879856" cy="8798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97680" y="3840480"/>
            <a:ext cx="3200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11月〜12月上旬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97680" y="4425696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CBD5E1"/>
                </a:solidFill>
                <a:latin typeface="Meiryo Bold"/>
                <a:ea typeface="Meiryo Bold"/>
                <a:cs typeface="Meiryo Bold"/>
                <a:sym typeface="Meiryo Bold"/>
              </a:rPr>
              <a:t>準備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97680" y="4974336"/>
            <a:ext cx="310896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メニュー表・POS設定・告知物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027670" y="3053334"/>
            <a:ext cx="659892" cy="659892"/>
            <a:chOff x="0" y="0"/>
            <a:chExt cx="879856" cy="8798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80960" y="3840480"/>
            <a:ext cx="3200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12月中旬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0" y="4425696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2D3EE"/>
                </a:solidFill>
                <a:latin typeface="Meiryo Bold"/>
                <a:ea typeface="Meiryo Bold"/>
                <a:cs typeface="Meiryo Bold"/>
                <a:sym typeface="Meiryo Bold"/>
              </a:rPr>
              <a:t>新価格で販売開始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80960" y="4974336"/>
            <a:ext cx="310896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A案＋B案（予定）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410950" y="3053334"/>
            <a:ext cx="659892" cy="659892"/>
            <a:chOff x="0" y="0"/>
            <a:chExt cx="879856" cy="8798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064240" y="3840480"/>
            <a:ext cx="3200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1月下旬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64240" y="4425696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CBD5E1"/>
                </a:solidFill>
                <a:latin typeface="Meiryo Bold"/>
                <a:ea typeface="Meiryo Bold"/>
                <a:cs typeface="Meiryo Bold"/>
                <a:sym typeface="Meiryo Bold"/>
              </a:rPr>
              <a:t>初回効果検証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64240" y="4974336"/>
            <a:ext cx="310896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出数・原価率・客単価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4794230" y="3053334"/>
            <a:ext cx="659892" cy="659892"/>
            <a:chOff x="0" y="0"/>
            <a:chExt cx="879856" cy="8798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79856" cy="879856"/>
            </a:xfrm>
            <a:custGeom>
              <a:avLst/>
              <a:gdLst/>
              <a:ahLst/>
              <a:cxnLst/>
              <a:rect l="l" t="t" r="r" b="b"/>
              <a:pathLst>
                <a:path w="879856" h="879856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cubicBezTo>
                    <a:pt x="682879" y="0"/>
                    <a:pt x="879856" y="196977"/>
                    <a:pt x="879856" y="439928"/>
                  </a:cubicBezTo>
                  <a:cubicBezTo>
                    <a:pt x="879856" y="682879"/>
                    <a:pt x="682879" y="879856"/>
                    <a:pt x="439928" y="879856"/>
                  </a:cubicBezTo>
                  <a:cubicBezTo>
                    <a:pt x="196977" y="879856"/>
                    <a:pt x="0" y="682879"/>
                    <a:pt x="0" y="439928"/>
                  </a:cubicBezTo>
                  <a:close/>
                </a:path>
              </a:pathLst>
            </a:custGeom>
            <a:solidFill>
              <a:srgbClr val="070D1A"/>
            </a:solidFill>
            <a:ln w="3810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447520" y="3840480"/>
            <a:ext cx="32004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3月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447520" y="4425696"/>
            <a:ext cx="3200400" cy="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CBD5E1"/>
                </a:solidFill>
                <a:latin typeface="Meiryo Bold"/>
                <a:ea typeface="Meiryo Bold"/>
                <a:cs typeface="Meiryo Bold"/>
                <a:sym typeface="Meiryo Bold"/>
              </a:rPr>
              <a:t>通期着地の確認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447520" y="4974336"/>
            <a:ext cx="310896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Meiryo"/>
                <a:ea typeface="Meiryo"/>
                <a:cs typeface="Meiryo"/>
                <a:sym typeface="Meiryo"/>
              </a:rPr>
              <a:t>追加施策の要否判断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04875" y="6025515"/>
            <a:ext cx="16478250" cy="2853690"/>
            <a:chOff x="0" y="0"/>
            <a:chExt cx="21971000" cy="38049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71000" cy="3804920"/>
            </a:xfrm>
            <a:custGeom>
              <a:avLst/>
              <a:gdLst/>
              <a:ahLst/>
              <a:cxnLst/>
              <a:rect l="l" t="t" r="r" b="b"/>
              <a:pathLst>
                <a:path w="21971000" h="380492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21823680" y="0"/>
                  </a:lnTo>
                  <a:cubicBezTo>
                    <a:pt x="21905088" y="0"/>
                    <a:pt x="21971000" y="65913"/>
                    <a:pt x="21971000" y="147320"/>
                  </a:cubicBezTo>
                  <a:lnTo>
                    <a:pt x="21971000" y="3657600"/>
                  </a:lnTo>
                  <a:cubicBezTo>
                    <a:pt x="21971000" y="3739007"/>
                    <a:pt x="21905088" y="3804920"/>
                    <a:pt x="21823680" y="3804920"/>
                  </a:cubicBezTo>
                  <a:lnTo>
                    <a:pt x="147320" y="3804920"/>
                  </a:lnTo>
                  <a:cubicBezTo>
                    <a:pt x="65913" y="3804920"/>
                    <a:pt x="0" y="3739007"/>
                    <a:pt x="0" y="3657600"/>
                  </a:cubicBezTo>
                  <a:close/>
                </a:path>
              </a:pathLst>
            </a:custGeom>
            <a:solidFill>
              <a:srgbClr val="0E1729">
                <a:alpha val="84314"/>
              </a:srgbClr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371600" y="6254496"/>
            <a:ext cx="10972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FBBF24"/>
                </a:solidFill>
                <a:latin typeface="Meiryo Bold"/>
                <a:ea typeface="Meiryo Bold"/>
                <a:cs typeface="Meiryo Bold"/>
                <a:sym typeface="Meiryo Bold"/>
              </a:rPr>
              <a:t>DECISION // ご判断いただきたいこと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71600" y="6912864"/>
            <a:ext cx="15727680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AutoNum type="arabicPeriod"/>
            </a:pPr>
            <a:r>
              <a:rPr lang="en-US" sz="2199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価格改定（A案＋B案、GM141品・実効+3.7%）の承認と、12月中旬の販売開始</a:t>
            </a:r>
          </a:p>
          <a:p>
            <a:pPr marL="530859" lvl="1" indent="-265430" algn="l">
              <a:lnSpc>
                <a:spcPts val="2639"/>
              </a:lnSpc>
              <a:buAutoNum type="arabicPeriod"/>
            </a:pPr>
            <a:r>
              <a:rPr lang="en-US" sz="2199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下期の原価削減目標99万円（月17万円）と、月次KPI管理の設定</a:t>
            </a:r>
          </a:p>
          <a:p>
            <a:pPr marL="530859" lvl="1" indent="-265430" algn="l">
              <a:lnSpc>
                <a:spcPts val="2639"/>
              </a:lnSpc>
              <a:buAutoNum type="arabicPeriod"/>
            </a:pPr>
            <a:r>
              <a:rPr lang="en-US" sz="2199">
                <a:solidFill>
                  <a:srgbClr val="F1F5F9"/>
                </a:solidFill>
                <a:latin typeface="Meiryo"/>
                <a:ea typeface="Meiryo"/>
                <a:cs typeface="Meiryo"/>
                <a:sym typeface="Meiryo"/>
              </a:rPr>
              <a:t>通期予算内に向けた追加施策（上期超過166万円の回収方法）の方針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50640" y="9664446"/>
            <a:ext cx="7315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97280" y="3364230"/>
            <a:ext cx="84124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599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7280" y="4023360"/>
            <a:ext cx="859536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ご審議のほど、</a:t>
            </a:r>
          </a:p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1F5F9"/>
                </a:solidFill>
                <a:latin typeface="Meiryo Bold"/>
                <a:ea typeface="Meiryo Bold"/>
                <a:cs typeface="Meiryo Bold"/>
                <a:sym typeface="Meiryo Bold"/>
              </a:rPr>
              <a:t>よろしくお願いいたします</a:t>
            </a:r>
          </a:p>
        </p:txBody>
      </p:sp>
      <p:sp>
        <p:nvSpPr>
          <p:cNvPr id="5" name="AutoShape 5"/>
          <p:cNvSpPr/>
          <p:nvPr/>
        </p:nvSpPr>
        <p:spPr>
          <a:xfrm rot="152040">
            <a:off x="1071315" y="6482715"/>
            <a:ext cx="1149201" cy="0"/>
          </a:xfrm>
          <a:prstGeom prst="line">
            <a:avLst/>
          </a:prstGeom>
          <a:ln w="1905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097280" y="6776085"/>
            <a:ext cx="8229600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2D3EE"/>
                </a:solidFill>
                <a:latin typeface="Meiryo"/>
                <a:ea typeface="Meiryo"/>
                <a:cs typeface="Meiryo"/>
                <a:sym typeface="Meiryo"/>
              </a:rPr>
              <a:t>RAKU SPA 1010 神田　2026年10月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Microsoft Office PowerPoint</Application>
  <PresentationFormat>ユーザー設定</PresentationFormat>
  <Paragraphs>518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7" baseType="lpstr">
      <vt:lpstr>Arial Bold</vt:lpstr>
      <vt:lpstr>Arial</vt:lpstr>
      <vt:lpstr>Meiryo</vt:lpstr>
      <vt:lpstr>Meiryo Bold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役員提案_飲食価格改定と原価率改善プラン_HT.pptx</dc:title>
  <cp:lastModifiedBy>神田業務用2</cp:lastModifiedBy>
  <cp:revision>2</cp:revision>
  <dcterms:created xsi:type="dcterms:W3CDTF">2006-08-16T00:00:00Z</dcterms:created>
  <dcterms:modified xsi:type="dcterms:W3CDTF">2026-10-18T07:48:33Z</dcterms:modified>
  <dc:identifier>DAHYShuN0Vk</dc:identifier>
</cp:coreProperties>
</file>