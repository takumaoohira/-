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e6d671eb-4e32-a501-f9a1-0ee004ff15e6}">
          <p14:sldIdLst>
            <p14:sldId id="256"/>
          </p14:sldIdLst>
        </p14:section>
        <p14:section name="サマリー" id="{9dd1cfc3-9e95-773c-a1bb-ced281c8b94d}">
          <p14:sldIdLst>
            <p14:sldId id="257"/>
          </p14:sldIdLst>
        </p14:section>
        <p14:section name="現状と課題" id="{a4287d27-64a5-a879-8582-9db9c4ef3ca9}">
          <p14:sldIdLst>
            <p14:sldId id="258"/>
            <p14:sldId id="259"/>
            <p14:sldId id="260"/>
            <p14:sldId id="261"/>
          </p14:sldIdLst>
        </p14:section>
        <p14:section name="値上げの根拠" id="{e82609bd-baa7-2800-f18f-e1adc657308a}">
          <p14:sldIdLst>
            <p14:sldId id="262"/>
            <p14:sldId id="263"/>
            <p14:sldId id="264"/>
            <p14:sldId id="265"/>
          </p14:sldIdLst>
        </p14:section>
        <p14:section name="改定案と効果" id="{4659181a-a53b-3f34-3c69-17feffd58d10}">
          <p14:sldIdLst>
            <p14:sldId id="266"/>
            <p14:sldId id="267"/>
            <p14:sldId id="268"/>
            <p14:sldId id="269"/>
          </p14:sldIdLst>
        </p14:section>
        <p14:section name="原価率改善プラン" id="{5c948c7d-2db6-66fa-2789-d3b18f4a0984}">
          <p14:sldIdLst>
            <p14:sldId id="270"/>
            <p14:sldId id="271"/>
            <p14:sldId id="272"/>
            <p14:sldId id="273"/>
          </p14:sldIdLst>
        </p14:section>
        <p14:section name="リスクと実行計画" id="{c200e0e6-d33d-b809-4542-c8310de97225}">
          <p14:sldIdLst>
            <p14:sldId id="274"/>
            <p14:sldId id="275"/>
            <p14:sldId id="276"/>
          </p14:sldIdLst>
        </p14:section>
        <p14:section name="参考資料" id="{46ff153e-5bf1-c518-82ed-34a9f59011c1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役員の皆さまに、飲食メニューの価格改定と原価率改善プランをご提案します。数値は予実管理表（2026年4〜9月）とPOS期間報（4〜6月、税抜）の実績に基づいています。新価格の販売開始は12月中旬を予定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期の飲食原価率は36.4%で予算を3.0pt超過しました。主因はコラボ売上の不振と原価圧迫です。GMを12月中旬に値上げし、平年度で粗利を約167万円改善します。今期は約3.5か月分の効果となるため、原価コントロールで下期99万円を削減し、下期原価率を予算水準の33.4%に戻します。通期の予算内着地には、上期超過分166万円の回収が別途必要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原価額は予算比96.9%と予算内です。一方、売上が予算比88.9%にとどまったため、原価率は36.4%に上昇しました。売上不足の大半はコラボです。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予算の区分別原価率（コラボ32%、食事35%）を実績の売上構成に当てはめて分解しました。構成変化0.2pt、在庫取崩し0.85pt、残り約2.0ptが原価圧迫とロスです。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コラボは前期から1,291万円減少し、予算比78%です。GMは予算比101%、前期比99%と安定しています。4〜6月はご飯類が前年比129%、麺類が107%です。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4〜6月の出数に原価単価を掛け、原価への寄与が大きい品目を並べました。上位10品でGM原価の48%を占めます。ビール3種は原価率40%前後ですが、減税とアルコール低迷を踏まえ据え置きます。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外食の物価は2025年度に前年比+4.2%、食品の値上げは2026年も2万品目を超えています。10月のビール減税と米価の下落を踏まえ、ビールは据え置き、ご飯類は小幅改定にとどめています。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神田周辺の飲食店と都内温浴施設の価格を比べました。カレー、うどん、揚げ物は温浴施設の相場内で、ロースカツカレーは改定後も神田の専門店の上位帯より下です。ビールは温浴施設の上限帯のため据え置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A案は税込10〜50円を中心とした改定です。B案として、競合比で余地がある、または原価率が高い4品を上乗せします。ビール4種と1010セットは据え置きます。効果は平年度ベースです。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競合比で割安な品目、出数の多い品目、原価率が高い品目に絞って上乗せします。サウナカリーは価格表外のため改定対象に加えます。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値上げ率1%あたりの出数の減り方（価格弾力性）を4段階で試算しました。標準ケース-0.3では出数1.6%減で、平年度の売上は146万円、粗利は167万円増えます。出数が5.4%減っても粗利は54万円のプラスです。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期36.4%から在庫取崩しの一時要因を除くと下期ベースは35.6%です。12月中旬の値上げは今期約3.5か月分の効果で0.38pt下がり35.2%。予算水準33.4%には原価コントロールで下期99万円、原価の5.1%の削減が必要です。値上げだけで達成するにはGM全体で平均+21%が必要で現実的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下期を33.4%で着地させた場合、通期は34.9%で予算を1.5pt上回ります。通期累計を予算内にするには下期を30.4%まで下げる必要があり、上期超過額166万円と同額の追加改善が必要です。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GMの理論原価率30.9%に対し、飲食全体の実績は36.4%です。この差を縮める3つの施策で下期99万円の削減を目指します。金額配分は目標値で、毎月の理論原価との差で進捗を管理します。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離れは、出数が5%減っても粗利はプラスの試算です。アルコールはビールを据え置き、注文を増やす施策を併用します。価格は相場内であることを確認済みです。毎月のKPIで検知し、基準を超えたら見直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ご承認後、11月から12月上旬にメニュー表、POS、店内告知を準備し、12月中旬から新価格で販売を開始します。原価コントロールは承認後すぐに着手します。開始約1か月後の1月下旬に初回の効果検証、3月に通期着地を確認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試算の前提です。数値は「役員提案_根拠データ.xlsx」で再計算でき、前提を変えれば結果も連動します。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5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100" dirty="0"/>
          </a:p>
        </p:txBody>
      </p:sp>
      <p:sp>
        <p:nvSpPr>
          <p:cNvPr id="4" name="Text 0"/>
          <p:cNvSpPr/>
          <p:nvPr/>
        </p:nvSpPr>
        <p:spPr>
          <a:xfrm>
            <a:off x="457200" y="48188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RAKU SPA 1010 KANDA  //  F&amp;B PRICING &amp; COST PLAN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PROPOSAL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</a:rPr>
              <a:t>飲食メニュー価格改定および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</a:rPr>
              <a:t>原価率改善プランのご提案</a:t>
            </a:r>
            <a:endParaRPr lang="en-US" sz="2400" dirty="0"/>
          </a:p>
        </p:txBody>
      </p:sp>
      <p:sp>
        <p:nvSpPr>
          <p:cNvPr id="4" name="hud-line"/>
          <p:cNvSpPr/>
          <p:nvPr/>
        </p:nvSpPr>
        <p:spPr>
          <a:xfrm>
            <a:off x="548640" y="3246120"/>
            <a:ext cx="5486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3832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GMの値上げと原価コントロールで、下期の飲食原価率を予算水準33.4%へ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D3EE"/>
                </a:solidFill>
              </a:rPr>
              <a:t>RAKU SPA 1010 神田　2026年10月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617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MEETING  //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EXECUTIVE SUMMARY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GM値上げ＋原価管理で、下期原価率を予算水準33.4%へ</a:t>
            </a:r>
            <a:endParaRPr lang="en-US" sz="2100" dirty="0"/>
          </a:p>
        </p:txBody>
      </p:sp>
      <p:sp>
        <p:nvSpPr>
          <p:cNvPr id="5" name="kpi"/>
          <p:cNvSpPr/>
          <p:nvPr/>
        </p:nvSpPr>
        <p:spPr>
          <a:xfrm>
            <a:off x="457200" y="128016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14173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accent1"/>
                </a:solidFill>
              </a:rPr>
              <a:t>H1 COST RATIO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上期 飲食原価率（予算33.4%）</a:t>
            </a:r>
            <a:endParaRPr lang="en-US" sz="850" dirty="0"/>
          </a:p>
        </p:txBody>
      </p:sp>
      <p:sp>
        <p:nvSpPr>
          <p:cNvPr id="9" name="kpi"/>
          <p:cNvSpPr/>
          <p:nvPr/>
        </p:nvSpPr>
        <p:spPr>
          <a:xfrm>
            <a:off x="2514600" y="128016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79192" y="14173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accent1"/>
                </a:solidFill>
              </a:rPr>
              <a:t>PRICE UP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2679192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+3.7%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2679192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GM実効値上げ率（コラボ抜き売上比）</a:t>
            </a:r>
            <a:endParaRPr lang="en-US" sz="850" dirty="0"/>
          </a:p>
        </p:txBody>
      </p:sp>
      <p:sp>
        <p:nvSpPr>
          <p:cNvPr id="13" name="kpi"/>
          <p:cNvSpPr/>
          <p:nvPr/>
        </p:nvSpPr>
        <p:spPr>
          <a:xfrm>
            <a:off x="4572000" y="128016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36592" y="14173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accent1"/>
                </a:solidFill>
              </a:rPr>
              <a:t>GROSS PROFIT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736592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+167万円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4736592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平年度の粗利改善（出数減込み）</a:t>
            </a:r>
            <a:endParaRPr lang="en-US" sz="850" dirty="0"/>
          </a:p>
        </p:txBody>
      </p:sp>
      <p:sp>
        <p:nvSpPr>
          <p:cNvPr id="17" name="kpi"/>
          <p:cNvSpPr/>
          <p:nvPr/>
        </p:nvSpPr>
        <p:spPr>
          <a:xfrm>
            <a:off x="6629400" y="1280160"/>
            <a:ext cx="2057400" cy="1188720"/>
          </a:xfrm>
          <a:prstGeom prst="roundRect">
            <a:avLst>
              <a:gd name="adj" fmla="val 4615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93992" y="1417320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accent1"/>
                </a:solidFill>
              </a:rPr>
              <a:t>H2 TARGET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793992" y="1645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33.4%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793992" y="21214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下期原価率（予算水準）</a:t>
            </a:r>
            <a:endParaRPr lang="en-US" sz="850" dirty="0"/>
          </a:p>
        </p:txBody>
      </p:sp>
      <p:sp>
        <p:nvSpPr>
          <p:cNvPr id="21" name="dot"/>
          <p:cNvSpPr/>
          <p:nvPr/>
        </p:nvSpPr>
        <p:spPr>
          <a:xfrm>
            <a:off x="457200" y="2761488"/>
            <a:ext cx="310896" cy="310896"/>
          </a:xfrm>
          <a:prstGeom prst="ellipse">
            <a:avLst/>
          </a:prstGeom>
          <a:solidFill>
            <a:srgbClr val="070D1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2807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現状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828800" y="28072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コラボ売上は予算比78%。GMは予算比101%と安定。原価は予算内だが売上不足で原価率が上昇</a:t>
            </a:r>
            <a:endParaRPr lang="en-US" sz="1050" dirty="0"/>
          </a:p>
        </p:txBody>
      </p:sp>
      <p:sp>
        <p:nvSpPr>
          <p:cNvPr id="25" name="dot"/>
          <p:cNvSpPr/>
          <p:nvPr/>
        </p:nvSpPr>
        <p:spPr>
          <a:xfrm>
            <a:off x="457200" y="3218688"/>
            <a:ext cx="310896" cy="310896"/>
          </a:xfrm>
          <a:prstGeom prst="ellipse">
            <a:avLst/>
          </a:prstGeom>
          <a:solidFill>
            <a:srgbClr val="070D1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" y="3264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施策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828800" y="32644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GM141品の価格改定（A案＋強化4品のB案）を12月中旬に開始＋原価コントロール 下期99万円</a:t>
            </a:r>
            <a:endParaRPr lang="en-US" sz="1050" dirty="0"/>
          </a:p>
        </p:txBody>
      </p:sp>
      <p:sp>
        <p:nvSpPr>
          <p:cNvPr id="29" name="dot"/>
          <p:cNvSpPr/>
          <p:nvPr/>
        </p:nvSpPr>
        <p:spPr>
          <a:xfrm>
            <a:off x="457200" y="3675888"/>
            <a:ext cx="310896" cy="310896"/>
          </a:xfrm>
          <a:prstGeom prst="ellipse">
            <a:avLst/>
          </a:prstGeom>
          <a:solidFill>
            <a:srgbClr val="070D1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57200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14400" y="3721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効果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1828800" y="37216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下期原価率 35.6% → 33.4%（値上げ -0.38pt［3.5か月分］、原価管理 -1.80pt）。平年度 売上+146万円</a:t>
            </a:r>
            <a:endParaRPr lang="en-US" sz="1050" dirty="0"/>
          </a:p>
        </p:txBody>
      </p:sp>
      <p:sp>
        <p:nvSpPr>
          <p:cNvPr id="33" name="dot"/>
          <p:cNvSpPr/>
          <p:nvPr/>
        </p:nvSpPr>
        <p:spPr>
          <a:xfrm>
            <a:off x="457200" y="4133088"/>
            <a:ext cx="310896" cy="310896"/>
          </a:xfrm>
          <a:prstGeom prst="ellipse">
            <a:avLst/>
          </a:prstGeom>
          <a:solidFill>
            <a:srgbClr val="070D1A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57200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914400" y="4178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判断事項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1828800" y="41788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①価格改定の承認　②原価削減目標の設定　③通期予算内に向けた追加施策（上期超過166万円の回収）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4840" y="5029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448056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480560" y="20116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</a:rPr>
              <a:t>現状と課題</a:t>
            </a:r>
            <a:endParaRPr lang="en-US" sz="3400" dirty="0"/>
          </a:p>
        </p:txBody>
      </p:sp>
      <p:sp>
        <p:nvSpPr>
          <p:cNvPr id="5" name="hud-line"/>
          <p:cNvSpPr/>
          <p:nvPr/>
        </p:nvSpPr>
        <p:spPr>
          <a:xfrm>
            <a:off x="4480560" y="3246120"/>
            <a:ext cx="5486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80560" y="33832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上期の飲食実績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原価率超過の要因分解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コラボ不振とGMの安定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01 // H1 PERFORMANCE（2026年4〜9月）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原価は予算内。コラボ不振による売上不足が原価率を押し上げ</a:t>
            </a:r>
            <a:endParaRPr lang="en-US" sz="2100" dirty="0"/>
          </a:p>
        </p:txBody>
      </p:sp>
      <p:sp>
        <p:nvSpPr>
          <p:cNvPr id="5" name="kpi"/>
          <p:cNvSpPr/>
          <p:nvPr/>
        </p:nvSpPr>
        <p:spPr>
          <a:xfrm>
            <a:off x="457200" y="128016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14173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accent1"/>
                </a:solidFill>
              </a:rPr>
              <a:t>SALES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5,494万円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予算比88.9%（▲688万円）</a:t>
            </a:r>
            <a:endParaRPr lang="en-US" sz="850" dirty="0"/>
          </a:p>
        </p:txBody>
      </p:sp>
      <p:sp>
        <p:nvSpPr>
          <p:cNvPr id="9" name="kpi"/>
          <p:cNvSpPr/>
          <p:nvPr/>
        </p:nvSpPr>
        <p:spPr>
          <a:xfrm>
            <a:off x="2514600" y="128016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79192" y="14173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accent1"/>
                </a:solidFill>
              </a:rPr>
              <a:t>COGS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2679192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2,001万円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2679192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予算比96.9%（▲64万円）</a:t>
            </a:r>
            <a:endParaRPr lang="en-US" sz="850" dirty="0"/>
          </a:p>
        </p:txBody>
      </p:sp>
      <p:sp>
        <p:nvSpPr>
          <p:cNvPr id="13" name="kpi"/>
          <p:cNvSpPr/>
          <p:nvPr/>
        </p:nvSpPr>
        <p:spPr>
          <a:xfrm>
            <a:off x="4572000" y="128016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36592" y="14173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accent1"/>
                </a:solidFill>
              </a:rPr>
              <a:t>COST RATIO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736592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4736592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予算 33.4%（+3.0pt）</a:t>
            </a:r>
            <a:endParaRPr lang="en-US" sz="850" dirty="0"/>
          </a:p>
        </p:txBody>
      </p:sp>
      <p:sp>
        <p:nvSpPr>
          <p:cNvPr id="17" name="kpi"/>
          <p:cNvSpPr/>
          <p:nvPr/>
        </p:nvSpPr>
        <p:spPr>
          <a:xfrm>
            <a:off x="6629400" y="1280160"/>
            <a:ext cx="2057400" cy="1188720"/>
          </a:xfrm>
          <a:prstGeom prst="roundRect">
            <a:avLst>
              <a:gd name="adj" fmla="val 4615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93992" y="1417320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accent1"/>
                </a:solidFill>
              </a:rPr>
              <a:t>GROSS PROFIT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793992" y="1645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3,493万円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793992" y="21214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予算比84.8%（▲625万円）</a:t>
            </a:r>
            <a:endParaRPr lang="en-US" sz="850" dirty="0"/>
          </a:p>
        </p:txBody>
      </p:sp>
      <p:pic>
        <p:nvPicPr>
          <p:cNvPr id="21" name="Image 0" descr="予算比（上期累計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651760"/>
            <a:ext cx="5029200" cy="1920240"/>
          </a:xfrm>
          <a:prstGeom prst="rect">
            <a:avLst/>
          </a:prstGeom>
        </p:spPr>
      </p:pic>
      <p:sp>
        <p:nvSpPr>
          <p:cNvPr id="22" name="insight"/>
          <p:cNvSpPr/>
          <p:nvPr/>
        </p:nvSpPr>
        <p:spPr>
          <a:xfrm>
            <a:off x="5577840" y="2743200"/>
            <a:ext cx="3108960" cy="1691640"/>
          </a:xfrm>
          <a:prstGeom prst="roundRect">
            <a:avLst>
              <a:gd name="adj" fmla="val 3243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3" name="icon-bg"/>
          <p:cNvSpPr/>
          <p:nvPr/>
        </p:nvSpPr>
        <p:spPr>
          <a:xfrm>
            <a:off x="5742432" y="2898648"/>
            <a:ext cx="384048" cy="384048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4" name="Image 1" descr="magnif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125" y="3002341"/>
            <a:ext cx="176662" cy="17666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236208" y="29900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5742432" y="342900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コラボ売上は予算比78%（▲727万円）。GMは予算比101%と安定しており、価格改定の受け皿になります。</a:t>
            </a:r>
            <a:endParaRPr lang="en-US" sz="1000" dirty="0"/>
          </a:p>
        </p:txBody>
      </p:sp>
      <p:sp>
        <p:nvSpPr>
          <p:cNvPr id="27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出典：予実管理表 2026年9月（累計）。千円単位を万円に換算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02 // ROOT CAUSE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超過3.0ptの内訳：原価圧迫・ロス2.0pt、在庫取崩し0.85pt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344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飲食原価率（%）の要因分解</a:t>
            </a:r>
            <a:endParaRPr lang="en-US" sz="1000" dirty="0"/>
          </a:p>
        </p:txBody>
      </p:sp>
      <p:sp>
        <p:nvSpPr>
          <p:cNvPr id="6" name="wf-axis"/>
          <p:cNvSpPr/>
          <p:nvPr/>
        </p:nvSpPr>
        <p:spPr>
          <a:xfrm>
            <a:off x="457200" y="4069080"/>
            <a:ext cx="530352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7" name="wf-bar"/>
          <p:cNvSpPr/>
          <p:nvPr/>
        </p:nvSpPr>
        <p:spPr>
          <a:xfrm>
            <a:off x="711769" y="2936530"/>
            <a:ext cx="551566" cy="1132550"/>
          </a:xfrm>
          <a:prstGeom prst="rect">
            <a:avLst/>
          </a:prstGeom>
          <a:solidFill>
            <a:srgbClr val="475569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37449" y="2680498"/>
            <a:ext cx="1100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33.4%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23944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予算</a:t>
            </a:r>
            <a:endParaRPr lang="en-US" sz="850" dirty="0"/>
          </a:p>
        </p:txBody>
      </p:sp>
      <p:sp>
        <p:nvSpPr>
          <p:cNvPr id="10" name="wf-link"/>
          <p:cNvSpPr/>
          <p:nvPr/>
        </p:nvSpPr>
        <p:spPr>
          <a:xfrm>
            <a:off x="1263335" y="2936530"/>
            <a:ext cx="509138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11" name="wf-bar"/>
          <p:cNvSpPr/>
          <p:nvPr/>
        </p:nvSpPr>
        <p:spPr>
          <a:xfrm>
            <a:off x="1772473" y="2869910"/>
            <a:ext cx="551566" cy="66621"/>
          </a:xfrm>
          <a:prstGeom prst="rect">
            <a:avLst/>
          </a:prstGeom>
          <a:solidFill>
            <a:srgbClr val="FBBF24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498153" y="2613878"/>
            <a:ext cx="1100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+0.20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517904" y="4123944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コラボ不振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（構成変化）</a:t>
            </a:r>
            <a:endParaRPr lang="en-US" sz="850" dirty="0"/>
          </a:p>
        </p:txBody>
      </p:sp>
      <p:sp>
        <p:nvSpPr>
          <p:cNvPr id="14" name="wf-link"/>
          <p:cNvSpPr/>
          <p:nvPr/>
        </p:nvSpPr>
        <p:spPr>
          <a:xfrm>
            <a:off x="2324039" y="2869910"/>
            <a:ext cx="509138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15" name="wf-bar"/>
          <p:cNvSpPr/>
          <p:nvPr/>
        </p:nvSpPr>
        <p:spPr>
          <a:xfrm>
            <a:off x="2833177" y="2590103"/>
            <a:ext cx="551566" cy="279806"/>
          </a:xfrm>
          <a:prstGeom prst="rect">
            <a:avLst/>
          </a:prstGeom>
          <a:solidFill>
            <a:srgbClr val="FBBF24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558857" y="2334071"/>
            <a:ext cx="1100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+0.85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578608" y="4123944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在庫取崩し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（一時要因）</a:t>
            </a:r>
            <a:endParaRPr lang="en-US" sz="850" dirty="0"/>
          </a:p>
        </p:txBody>
      </p:sp>
      <p:sp>
        <p:nvSpPr>
          <p:cNvPr id="18" name="wf-link"/>
          <p:cNvSpPr/>
          <p:nvPr/>
        </p:nvSpPr>
        <p:spPr>
          <a:xfrm>
            <a:off x="3384743" y="2590103"/>
            <a:ext cx="509138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19" name="wf-bar"/>
          <p:cNvSpPr/>
          <p:nvPr/>
        </p:nvSpPr>
        <p:spPr>
          <a:xfrm>
            <a:off x="3893881" y="1930560"/>
            <a:ext cx="551566" cy="659544"/>
          </a:xfrm>
          <a:prstGeom prst="rect">
            <a:avLst/>
          </a:prstGeom>
          <a:solidFill>
            <a:srgbClr val="FBBF24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19561" y="1674528"/>
            <a:ext cx="1100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+1.98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639312" y="4123944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原価圧迫・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ロス等</a:t>
            </a:r>
            <a:endParaRPr lang="en-US" sz="850" dirty="0"/>
          </a:p>
        </p:txBody>
      </p:sp>
      <p:sp>
        <p:nvSpPr>
          <p:cNvPr id="22" name="wf-link"/>
          <p:cNvSpPr/>
          <p:nvPr/>
        </p:nvSpPr>
        <p:spPr>
          <a:xfrm>
            <a:off x="4445447" y="1930560"/>
            <a:ext cx="509138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23" name="wf-bar"/>
          <p:cNvSpPr/>
          <p:nvPr/>
        </p:nvSpPr>
        <p:spPr>
          <a:xfrm>
            <a:off x="4954585" y="1930560"/>
            <a:ext cx="551566" cy="2138520"/>
          </a:xfrm>
          <a:prstGeom prst="rect">
            <a:avLst/>
          </a:prstGeom>
          <a:solidFill>
            <a:srgbClr val="0E749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80265" y="1674528"/>
            <a:ext cx="1100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700016" y="4123944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上期実績</a:t>
            </a:r>
            <a:endParaRPr lang="en-US" sz="850" dirty="0"/>
          </a:p>
        </p:txBody>
      </p:sp>
      <p:sp>
        <p:nvSpPr>
          <p:cNvPr id="26" name="factor"/>
          <p:cNvSpPr/>
          <p:nvPr/>
        </p:nvSpPr>
        <p:spPr>
          <a:xfrm>
            <a:off x="5989320" y="132588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144768" y="14356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原価圧迫・ロス等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498080" y="1417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+1.98pt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144768" y="1737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108.8万円｜仕入価格の上昇、コラボ食材の消化不良などのロス</a:t>
            </a:r>
            <a:endParaRPr lang="en-US" sz="850" dirty="0"/>
          </a:p>
        </p:txBody>
      </p:sp>
      <p:sp>
        <p:nvSpPr>
          <p:cNvPr id="30" name="factor"/>
          <p:cNvSpPr/>
          <p:nvPr/>
        </p:nvSpPr>
        <p:spPr>
          <a:xfrm>
            <a:off x="5989320" y="2404872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144768" y="25146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在庫取崩し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7498080" y="24963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+0.85pt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144768" y="28163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46.5万円｜期首183万円→期末136万円。下期は一巡の見込み</a:t>
            </a:r>
            <a:endParaRPr lang="en-US" sz="850" dirty="0"/>
          </a:p>
        </p:txBody>
      </p:sp>
      <p:sp>
        <p:nvSpPr>
          <p:cNvPr id="34" name="factor"/>
          <p:cNvSpPr/>
          <p:nvPr/>
        </p:nvSpPr>
        <p:spPr>
          <a:xfrm>
            <a:off x="5989320" y="3483864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144768" y="35935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コラボ不振（構成変化）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7498080" y="35753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+0.20pt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6144768" y="389534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10.8万円｜低原価のコラボ売上の比率低下</a:t>
            </a:r>
            <a:endParaRPr lang="en-US" sz="850" dirty="0"/>
          </a:p>
        </p:txBody>
      </p:sp>
      <p:sp>
        <p:nvSpPr>
          <p:cNvPr id="38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試算：役員提案_根拠データ.xlsx「要因分解」。予算原価率＝上期予算原価2,065万円÷予算売上6,183万円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03 // COLLAB vs GM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コラボは前期比67%。GMは前期並みを維持し値上げの受け皿に</a:t>
            </a:r>
            <a:endParaRPr lang="en-US" sz="2100" dirty="0"/>
          </a:p>
        </p:txBody>
      </p:sp>
      <p:pic>
        <p:nvPicPr>
          <p:cNvPr id="5" name="Image 0" descr="上期累計売上（万円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4937760" cy="3291840"/>
          </a:xfrm>
          <a:prstGeom prst="rect">
            <a:avLst/>
          </a:prstGeom>
        </p:spPr>
      </p:pic>
      <p:pic>
        <p:nvPicPr>
          <p:cNvPr id="6" name="Image 1" descr="GM分類別 売上前年比（4〜6月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291840" cy="3291840"/>
          </a:xfrm>
          <a:prstGeom prst="rect">
            <a:avLst/>
          </a:prstGeom>
        </p:spPr>
      </p:pic>
      <p:sp>
        <p:nvSpPr>
          <p:cNvPr id="7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出典：予実管理表 2026年9月（累計）／期間報 分類別 2026/4/1〜6/30 税抜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4840" y="5029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448056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480560" y="20116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</a:rPr>
              <a:t>値上げの根拠</a:t>
            </a:r>
            <a:endParaRPr lang="en-US" sz="3400" dirty="0"/>
          </a:p>
        </p:txBody>
      </p:sp>
      <p:sp>
        <p:nvSpPr>
          <p:cNvPr id="5" name="hud-line"/>
          <p:cNvSpPr/>
          <p:nvPr/>
        </p:nvSpPr>
        <p:spPr>
          <a:xfrm>
            <a:off x="4480560" y="3246120"/>
            <a:ext cx="5486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80560" y="33832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出数×原価の分析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外部環境（物価・値上げ動向）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競合価格との比較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04 // EVIDENCE 1：VOLUME × COST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原価上位10品でGM原価の48%。主力の食事メニュー改定が効く</a:t>
            </a:r>
            <a:endParaRPr lang="en-US" sz="2100" dirty="0"/>
          </a:p>
        </p:txBody>
      </p:sp>
      <p:graphicFrame>
        <p:nvGraphicFramePr>
          <p:cNvPr id="9" name="table-top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6692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48640"/>
                <a:gridCol w="777240"/>
                <a:gridCol w="777240"/>
                <a:gridCol w="960120"/>
                <a:gridCol w="685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D3EE"/>
                          </a:solidFill>
                        </a:rPr>
                        <a:t>品目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D3EE"/>
                          </a:solidFill>
                        </a:rPr>
                        <a:t>出数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D3EE"/>
                          </a:solidFill>
                        </a:rPr>
                        <a:t>改定前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D3EE"/>
                          </a:solidFill>
                        </a:rPr>
                        <a:t>改定後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D3EE"/>
                          </a:solidFill>
                        </a:rPr>
                        <a:t>原価率(前→後)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D3EE"/>
                          </a:solidFill>
                        </a:rPr>
                        <a:t>原価額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プレミアムロースかつカレー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1,518円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1,598円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36%→34%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41.5万円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釜玉チーズカレーうどん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1,078円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1,128円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35%→33%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22.9万円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リポスパ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473円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22%→21%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20.1万円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揚げ物盛り合わせ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1,408円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1,458円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35%→34%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13.4万円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ローストビーフベジボウル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1,518円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1,568円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42%→40%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12.5万円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バターチキンカレー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1,188円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1,218円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33%→33%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12.1万円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アサヒスーパードライ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37%（据置）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11.8万円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サーモンアボカドベジボウル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1,408円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1,458円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27%→26%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11.6万円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マルエフ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40%（据置）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10.0万円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熟撰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41%（据置）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9.0万円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</a:tbl>
          </a:graphicData>
        </a:graphic>
      </p:graphicFrame>
      <p:sp>
        <p:nvSpPr>
          <p:cNvPr id="6" name="insight"/>
          <p:cNvSpPr/>
          <p:nvPr/>
        </p:nvSpPr>
        <p:spPr>
          <a:xfrm>
            <a:off x="6355080" y="1234440"/>
            <a:ext cx="2331720" cy="3200400"/>
          </a:xfrm>
          <a:prstGeom prst="roundRect">
            <a:avLst>
              <a:gd name="adj" fmla="val 2353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537960" y="1417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653796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上位10品が占めるGM原価の割合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6537960" y="260604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30.9%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GMの理論原価率（レシピ原価）。実績36.4%との差はロス・在庫・コラボ食材を示唆</a:t>
            </a:r>
            <a:endParaRPr lang="en-US" sz="1100" dirty="0"/>
          </a:p>
        </p:txBody>
      </p:sp>
      <p:sp>
        <p:nvSpPr>
          <p:cNvPr id="10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出典：期間報 商品別 2026/4/1〜6/30 × メニュー原価一覧（2024 GMレシピ）。価格は税込、原価額は4〜6月の出数×原価単価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05 // EVIDENCE 2：MARKET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外食の値上げは定着。一方でビール減税・米価下落には配慮が必要</a:t>
            </a:r>
            <a:endParaRPr lang="en-US" sz="2100" dirty="0"/>
          </a:p>
        </p:txBody>
      </p:sp>
      <p:sp>
        <p:nvSpPr>
          <p:cNvPr id="5" name="macro"/>
          <p:cNvSpPr/>
          <p:nvPr/>
        </p:nvSpPr>
        <p:spPr>
          <a:xfrm>
            <a:off x="457200" y="1280160"/>
            <a:ext cx="4069080" cy="1463040"/>
          </a:xfrm>
          <a:prstGeom prst="roundRect">
            <a:avLst>
              <a:gd name="adj" fmla="val 3750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icon-bg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7" name="Image 0" descr="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622" y="1727302"/>
            <a:ext cx="294437" cy="29443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4813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SERVICE CPI</a:t>
            </a:r>
            <a:endParaRPr lang="en-US" sz="850" dirty="0"/>
          </a:p>
        </p:txBody>
      </p:sp>
      <p:sp>
        <p:nvSpPr>
          <p:cNvPr id="9" name="Text 5"/>
          <p:cNvSpPr txBox="1"/>
          <p:nvPr/>
        </p:nvSpPr>
        <p:spPr>
          <a:xfrm>
            <a:off x="150876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+4.2%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22128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外食CPI 前年比。2025年度平均（総務省）</a:t>
            </a:r>
            <a:endParaRPr lang="en-US" sz="900" dirty="0"/>
          </a:p>
        </p:txBody>
      </p:sp>
      <p:sp>
        <p:nvSpPr>
          <p:cNvPr id="11" name="macro"/>
          <p:cNvSpPr/>
          <p:nvPr/>
        </p:nvSpPr>
        <p:spPr>
          <a:xfrm>
            <a:off x="4617720" y="1280160"/>
            <a:ext cx="4069080" cy="1463040"/>
          </a:xfrm>
          <a:prstGeom prst="roundRect">
            <a:avLst>
              <a:gd name="adj" fmla="val 3750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2" name="icon-bg"/>
          <p:cNvSpPr/>
          <p:nvPr/>
        </p:nvSpPr>
        <p:spPr>
          <a:xfrm>
            <a:off x="4846320" y="1554480"/>
            <a:ext cx="640080" cy="640080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3" name="Image 1" descr="bo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142" y="1727302"/>
            <a:ext cx="294437" cy="29443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669280" y="14813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REVISIONS</a:t>
            </a:r>
            <a:endParaRPr lang="en-US" sz="850" dirty="0"/>
          </a:p>
        </p:txBody>
      </p:sp>
      <p:sp>
        <p:nvSpPr>
          <p:cNvPr id="15" name="Text 10"/>
          <p:cNvSpPr txBox="1"/>
          <p:nvPr/>
        </p:nvSpPr>
        <p:spPr>
          <a:xfrm>
            <a:off x="566928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20,187品目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5669280" y="22128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2026年の食品値上げ（9/30時点・帝国データバンク）</a:t>
            </a:r>
            <a:endParaRPr lang="en-US" sz="900" dirty="0"/>
          </a:p>
        </p:txBody>
      </p:sp>
      <p:sp>
        <p:nvSpPr>
          <p:cNvPr id="17" name="macro"/>
          <p:cNvSpPr/>
          <p:nvPr/>
        </p:nvSpPr>
        <p:spPr>
          <a:xfrm>
            <a:off x="457200" y="2880360"/>
            <a:ext cx="4069080" cy="1463040"/>
          </a:xfrm>
          <a:prstGeom prst="roundRect">
            <a:avLst>
              <a:gd name="adj" fmla="val 3750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8" name="icon-bg"/>
          <p:cNvSpPr/>
          <p:nvPr/>
        </p:nvSpPr>
        <p:spPr>
          <a:xfrm>
            <a:off x="685800" y="3154680"/>
            <a:ext cx="640080" cy="640080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9" name="Image 2" descr="sh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2" y="3327502"/>
            <a:ext cx="294437" cy="29443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508760" y="30815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NEARBY CHAINS</a:t>
            </a:r>
            <a:endParaRPr lang="en-US" sz="850" dirty="0"/>
          </a:p>
        </p:txBody>
      </p:sp>
      <p:sp>
        <p:nvSpPr>
          <p:cNvPr id="21" name="Text 15"/>
          <p:cNvSpPr txBox="1"/>
          <p:nvPr/>
        </p:nvSpPr>
        <p:spPr>
          <a:xfrm>
            <a:off x="1508760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相次ぐ改定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1508760" y="38130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鳥貴族 390→410円（2026/10）、丸亀製麺（2026/1）、はなまる（2026/2）</a:t>
            </a:r>
            <a:endParaRPr lang="en-US" sz="900" dirty="0"/>
          </a:p>
        </p:txBody>
      </p:sp>
      <p:sp>
        <p:nvSpPr>
          <p:cNvPr id="23" name="macro"/>
          <p:cNvSpPr/>
          <p:nvPr/>
        </p:nvSpPr>
        <p:spPr>
          <a:xfrm>
            <a:off x="4617720" y="2880360"/>
            <a:ext cx="4069080" cy="1463040"/>
          </a:xfrm>
          <a:prstGeom prst="roundRect">
            <a:avLst>
              <a:gd name="adj" fmla="val 3750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4" name="icon-bg"/>
          <p:cNvSpPr/>
          <p:nvPr/>
        </p:nvSpPr>
        <p:spPr>
          <a:xfrm>
            <a:off x="4846320" y="3154680"/>
            <a:ext cx="640080" cy="640080"/>
          </a:xfrm>
          <a:prstGeom prst="ellipse">
            <a:avLst/>
          </a:prstGeom>
          <a:solidFill>
            <a:srgbClr val="B45309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5" name="Image 3" descr="be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142" y="3327502"/>
            <a:ext cx="294437" cy="29443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669280" y="30815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BEER TAX (350ml)</a:t>
            </a:r>
            <a:endParaRPr lang="en-US" sz="850" dirty="0"/>
          </a:p>
        </p:txBody>
      </p:sp>
      <p:sp>
        <p:nvSpPr>
          <p:cNvPr id="27" name="Text 20"/>
          <p:cNvSpPr txBox="1"/>
          <p:nvPr/>
        </p:nvSpPr>
        <p:spPr>
          <a:xfrm>
            <a:off x="5669280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▲9.1円</a:t>
            </a:r>
            <a:endParaRPr lang="en-US" sz="2200" dirty="0"/>
          </a:p>
        </p:txBody>
      </p:sp>
      <p:sp>
        <p:nvSpPr>
          <p:cNvPr id="28" name="Text 21"/>
          <p:cNvSpPr txBox="1"/>
          <p:nvPr/>
        </p:nvSpPr>
        <p:spPr>
          <a:xfrm>
            <a:off x="5669280" y="38130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2026年10月に減税。ビールは据え置きが妥当</a:t>
            </a:r>
            <a:endParaRPr lang="en-US" sz="900" dirty="0"/>
          </a:p>
        </p:txBody>
      </p:sp>
      <p:sp>
        <p:nvSpPr>
          <p:cNvPr id="29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出典：総務省 消費者物価指数／帝国データバンク 価格改定動向調査（2026/9/30）／各社発表（2026年10月 Web調査）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06 // EVIDENCE 3：BENCHMARK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食事メニューは温浴施設の相場内。カツカレーは専門店より割安</a:t>
            </a:r>
            <a:endParaRPr lang="en-US" sz="2100" dirty="0"/>
          </a:p>
        </p:txBody>
      </p:sp>
      <p:sp>
        <p:nvSpPr>
          <p:cNvPr id="5" name="grid"/>
          <p:cNvSpPr/>
          <p:nvPr/>
        </p:nvSpPr>
        <p:spPr>
          <a:xfrm>
            <a:off x="2377440" y="1371600"/>
            <a:ext cx="0" cy="2834640"/>
          </a:xfrm>
          <a:prstGeom prst="line">
            <a:avLst/>
          </a:prstGeom>
          <a:noFill/>
          <a:ln w="6350">
            <a:solidFill>
              <a:srgbClr val="1E3A5F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2011680" y="4224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0円</a:t>
            </a:r>
            <a:endParaRPr lang="en-US" sz="800" dirty="0"/>
          </a:p>
        </p:txBody>
      </p:sp>
      <p:sp>
        <p:nvSpPr>
          <p:cNvPr id="7" name="grid"/>
          <p:cNvSpPr/>
          <p:nvPr/>
        </p:nvSpPr>
        <p:spPr>
          <a:xfrm>
            <a:off x="3817620" y="1371600"/>
            <a:ext cx="0" cy="2834640"/>
          </a:xfrm>
          <a:prstGeom prst="line">
            <a:avLst/>
          </a:prstGeom>
          <a:noFill/>
          <a:ln w="6350">
            <a:solidFill>
              <a:srgbClr val="1E3A5F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3451860" y="4224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500円</a:t>
            </a:r>
            <a:endParaRPr lang="en-US" sz="800" dirty="0"/>
          </a:p>
        </p:txBody>
      </p:sp>
      <p:sp>
        <p:nvSpPr>
          <p:cNvPr id="9" name="grid"/>
          <p:cNvSpPr/>
          <p:nvPr/>
        </p:nvSpPr>
        <p:spPr>
          <a:xfrm>
            <a:off x="5257800" y="1371600"/>
            <a:ext cx="0" cy="2834640"/>
          </a:xfrm>
          <a:prstGeom prst="line">
            <a:avLst/>
          </a:prstGeom>
          <a:noFill/>
          <a:ln w="6350">
            <a:solidFill>
              <a:srgbClr val="1E3A5F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4892040" y="4224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1,000円</a:t>
            </a:r>
            <a:endParaRPr lang="en-US" sz="800" dirty="0"/>
          </a:p>
        </p:txBody>
      </p:sp>
      <p:sp>
        <p:nvSpPr>
          <p:cNvPr id="11" name="grid"/>
          <p:cNvSpPr/>
          <p:nvPr/>
        </p:nvSpPr>
        <p:spPr>
          <a:xfrm>
            <a:off x="6697980" y="1371600"/>
            <a:ext cx="0" cy="2834640"/>
          </a:xfrm>
          <a:prstGeom prst="line">
            <a:avLst/>
          </a:prstGeom>
          <a:noFill/>
          <a:ln w="6350">
            <a:solidFill>
              <a:srgbClr val="1E3A5F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6332220" y="4224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1,500円</a:t>
            </a:r>
            <a:endParaRPr lang="en-US" sz="800" dirty="0"/>
          </a:p>
        </p:txBody>
      </p:sp>
      <p:sp>
        <p:nvSpPr>
          <p:cNvPr id="13" name="grid"/>
          <p:cNvSpPr/>
          <p:nvPr/>
        </p:nvSpPr>
        <p:spPr>
          <a:xfrm>
            <a:off x="8138160" y="1371600"/>
            <a:ext cx="0" cy="2834640"/>
          </a:xfrm>
          <a:prstGeom prst="line">
            <a:avLst/>
          </a:prstGeom>
          <a:noFill/>
          <a:ln w="6350">
            <a:solidFill>
              <a:srgbClr val="1E3A5F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7772400" y="4224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2,000円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3990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ロースカツカレー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16184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神田のカツカレー 780〜1,940円</a:t>
            </a:r>
            <a:endParaRPr lang="en-US" sz="750" dirty="0"/>
          </a:p>
        </p:txBody>
      </p:sp>
      <p:sp>
        <p:nvSpPr>
          <p:cNvPr id="17" name="range-town"/>
          <p:cNvSpPr/>
          <p:nvPr/>
        </p:nvSpPr>
        <p:spPr>
          <a:xfrm>
            <a:off x="4587545" y="1435608"/>
            <a:ext cx="3414370" cy="146304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</p:sp>
      <p:sp>
        <p:nvSpPr>
          <p:cNvPr id="18" name="ours"/>
          <p:cNvSpPr/>
          <p:nvPr/>
        </p:nvSpPr>
        <p:spPr>
          <a:xfrm>
            <a:off x="6879671" y="1490472"/>
            <a:ext cx="201168" cy="201168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70D1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08271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1,598円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19476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カレー（一般）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21671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温浴施設 1,100〜1,290円</a:t>
            </a:r>
            <a:endParaRPr lang="en-US" sz="750" dirty="0"/>
          </a:p>
        </p:txBody>
      </p:sp>
      <p:sp>
        <p:nvSpPr>
          <p:cNvPr id="22" name="range-spa"/>
          <p:cNvSpPr/>
          <p:nvPr/>
        </p:nvSpPr>
        <p:spPr>
          <a:xfrm>
            <a:off x="5509260" y="2148840"/>
            <a:ext cx="620420" cy="146304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23" name="ours"/>
          <p:cNvSpPr/>
          <p:nvPr/>
        </p:nvSpPr>
        <p:spPr>
          <a:xfrm>
            <a:off x="5785134" y="2039112"/>
            <a:ext cx="201168" cy="201168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70D1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13734" y="2011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1,218円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24963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うどん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27157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チェーン550円／ラクーア1,100円</a:t>
            </a:r>
            <a:endParaRPr lang="en-US" sz="750" dirty="0"/>
          </a:p>
        </p:txBody>
      </p:sp>
      <p:sp>
        <p:nvSpPr>
          <p:cNvPr id="27" name="range-town"/>
          <p:cNvSpPr/>
          <p:nvPr/>
        </p:nvSpPr>
        <p:spPr>
          <a:xfrm>
            <a:off x="3925062" y="2532888"/>
            <a:ext cx="73152" cy="146304"/>
          </a:xfrm>
          <a:prstGeom prst="roundRect">
            <a:avLst>
              <a:gd name="adj" fmla="val 100000"/>
            </a:avLst>
          </a:prstGeom>
          <a:solidFill>
            <a:srgbClr val="475569"/>
          </a:solidFill>
          <a:ln/>
        </p:spPr>
      </p:sp>
      <p:sp>
        <p:nvSpPr>
          <p:cNvPr id="28" name="range-spa"/>
          <p:cNvSpPr/>
          <p:nvPr/>
        </p:nvSpPr>
        <p:spPr>
          <a:xfrm>
            <a:off x="5509260" y="2697480"/>
            <a:ext cx="73152" cy="146304"/>
          </a:xfrm>
          <a:prstGeom prst="roundRect">
            <a:avLst>
              <a:gd name="adj" fmla="val 100000"/>
            </a:avLst>
          </a:prstGeom>
          <a:solidFill>
            <a:srgbClr val="0E7490"/>
          </a:solidFill>
          <a:ln/>
        </p:spPr>
      </p:sp>
      <p:sp>
        <p:nvSpPr>
          <p:cNvPr id="29" name="ours"/>
          <p:cNvSpPr/>
          <p:nvPr/>
        </p:nvSpPr>
        <p:spPr>
          <a:xfrm>
            <a:off x="5525902" y="2587752"/>
            <a:ext cx="201168" cy="201168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70D1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754502" y="2560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1,128円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30449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生ビール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326440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神田 390〜499円／温浴 500〜850円</a:t>
            </a:r>
            <a:endParaRPr lang="en-US" sz="750" dirty="0"/>
          </a:p>
        </p:txBody>
      </p:sp>
      <p:sp>
        <p:nvSpPr>
          <p:cNvPr id="33" name="range-town"/>
          <p:cNvSpPr/>
          <p:nvPr/>
        </p:nvSpPr>
        <p:spPr>
          <a:xfrm>
            <a:off x="3464204" y="3081528"/>
            <a:ext cx="387111" cy="146304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</p:sp>
      <p:sp>
        <p:nvSpPr>
          <p:cNvPr id="34" name="range-spa"/>
          <p:cNvSpPr/>
          <p:nvPr/>
        </p:nvSpPr>
        <p:spPr>
          <a:xfrm>
            <a:off x="3781044" y="3246120"/>
            <a:ext cx="1081278" cy="146304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35" name="ours"/>
          <p:cNvSpPr/>
          <p:nvPr/>
        </p:nvSpPr>
        <p:spPr>
          <a:xfrm>
            <a:off x="4739564" y="3136392"/>
            <a:ext cx="201168" cy="201168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70D1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68164" y="3108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855円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359359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揚げ物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38130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温浴施設 550〜650円</a:t>
            </a:r>
            <a:endParaRPr lang="en-US" sz="750" dirty="0"/>
          </a:p>
        </p:txBody>
      </p:sp>
      <p:sp>
        <p:nvSpPr>
          <p:cNvPr id="39" name="range-spa"/>
          <p:cNvSpPr/>
          <p:nvPr/>
        </p:nvSpPr>
        <p:spPr>
          <a:xfrm>
            <a:off x="3925062" y="3794760"/>
            <a:ext cx="361188" cy="146304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40" name="ours"/>
          <p:cNvSpPr/>
          <p:nvPr/>
        </p:nvSpPr>
        <p:spPr>
          <a:xfrm>
            <a:off x="4200936" y="3685032"/>
            <a:ext cx="201168" cy="201168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70D1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429536" y="3657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668円</a:t>
            </a:r>
            <a:endParaRPr lang="en-US" sz="900" dirty="0"/>
          </a:p>
        </p:txBody>
      </p:sp>
      <p:sp>
        <p:nvSpPr>
          <p:cNvPr id="42" name="legend"/>
          <p:cNvSpPr/>
          <p:nvPr/>
        </p:nvSpPr>
        <p:spPr>
          <a:xfrm>
            <a:off x="3657600" y="1115568"/>
            <a:ext cx="320040" cy="128016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069080" y="10789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神田周辺・チェーン</a:t>
            </a:r>
            <a:endParaRPr lang="en-US" sz="850" dirty="0"/>
          </a:p>
        </p:txBody>
      </p:sp>
      <p:sp>
        <p:nvSpPr>
          <p:cNvPr id="44" name="legend"/>
          <p:cNvSpPr/>
          <p:nvPr/>
        </p:nvSpPr>
        <p:spPr>
          <a:xfrm>
            <a:off x="5349240" y="1115568"/>
            <a:ext cx="320040" cy="12801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5760720" y="10789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都内温浴施設</a:t>
            </a:r>
            <a:endParaRPr lang="en-US" sz="850" dirty="0"/>
          </a:p>
        </p:txBody>
      </p:sp>
      <p:sp>
        <p:nvSpPr>
          <p:cNvPr id="46" name="legend"/>
          <p:cNvSpPr/>
          <p:nvPr/>
        </p:nvSpPr>
        <p:spPr>
          <a:xfrm>
            <a:off x="7040880" y="1115568"/>
            <a:ext cx="146304" cy="128016"/>
          </a:xfrm>
          <a:prstGeom prst="ellipse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7269480" y="10789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当店（改定後）</a:t>
            </a:r>
            <a:endParaRPr lang="en-US" sz="850" dirty="0"/>
          </a:p>
        </p:txBody>
      </p:sp>
      <p:sp>
        <p:nvSpPr>
          <p:cNvPr id="48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出典：食べログ・kanda-curry.com・各施設紹介記事ほか（2026年10月 Web調査・税込）。詳細は根拠データ「競合価格」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4840" y="5029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448056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480560" y="20116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</a:rPr>
              <a:t>改定案と効果</a:t>
            </a:r>
            <a:endParaRPr lang="en-US" sz="3400" dirty="0"/>
          </a:p>
        </p:txBody>
      </p:sp>
      <p:sp>
        <p:nvSpPr>
          <p:cNvPr id="5" name="hud-line"/>
          <p:cNvSpPr/>
          <p:nvPr/>
        </p:nvSpPr>
        <p:spPr>
          <a:xfrm>
            <a:off x="4480560" y="3246120"/>
            <a:ext cx="5486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80560" y="33832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価格改定案の全体像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強化案（B案）4品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出数を加味した効果試算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07 // PRICING PLAN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GM141品を改定。コラボ抜き売上に対して実効+3.7%</a:t>
            </a:r>
            <a:endParaRPr lang="en-US" sz="2100" dirty="0"/>
          </a:p>
        </p:txBody>
      </p:sp>
      <p:graphicFrame>
        <p:nvGraphicFramePr>
          <p:cNvPr id="13" name="table-pl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566160"/>
                <a:gridCol w="1280160"/>
                <a:gridCol w="105156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</a:rPr>
                        <a:t>分類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</a:rPr>
                        <a:t>主な改定（税込）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</a:rPr>
                        <a:t>1品平均の値上げ率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</a:rPr>
                        <a:t>平年度 売上増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</a:rPr>
                        <a:t>平年度 粗利増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ご飯類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カレー+30円・ボウル+50円・サウナカリー+50円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一品料理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おつまみ+10円・サラダ+20円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ソフトドリンク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+10円・リポスパ+20円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麺類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うどん・パスタ+50円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アルコール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サワー+30円・ハイボール+20円（ビール据置）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デザート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パフェ+20円・トルティーヤ+20円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合計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</a:rPr>
                        <a:t>GM141品（B案4品を含む）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+146万円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+167万円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0"/>
                    </a:solidFill>
                  </a:tcPr>
                </a:tc>
              </a:tr>
            </a:tbl>
          </a:graphicData>
        </a:graphic>
      </p:graphicFrame>
      <p:sp>
        <p:nvSpPr>
          <p:cNvPr id="6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試算：根拠データ「効果サマリー」。4〜6月の出数×改定額に弾力性-0.3を織り込み平年度換算。+3.7%はコラボ抜き売上全体に対する率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08 // OPTION B：4 ITEMS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4品の上乗せで、平年度の売上を+55万円上積みします</a:t>
            </a:r>
            <a:endParaRPr lang="en-US" sz="2100" dirty="0"/>
          </a:p>
        </p:txBody>
      </p:sp>
      <p:sp>
        <p:nvSpPr>
          <p:cNvPr id="5" name="bcard"/>
          <p:cNvSpPr/>
          <p:nvPr/>
        </p:nvSpPr>
        <p:spPr>
          <a:xfrm>
            <a:off x="457200" y="1280160"/>
            <a:ext cx="1956816" cy="3154680"/>
          </a:xfrm>
          <a:prstGeom prst="roundRect">
            <a:avLst>
              <a:gd name="adj" fmla="val 2804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icon-bg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7" name="Image 0" descr="b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1611173"/>
            <a:ext cx="252374" cy="2523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プレミアムロースかつカレー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6334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1,548円 → 1,598円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9077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A案から+50円上乗せ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318211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神田のカツカレー上位帯（1,650〜1,940円）より下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+16万円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783080" y="4041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/年</a:t>
            </a:r>
            <a:endParaRPr lang="en-US" sz="900" dirty="0"/>
          </a:p>
        </p:txBody>
      </p:sp>
      <p:sp>
        <p:nvSpPr>
          <p:cNvPr id="14" name="bcard"/>
          <p:cNvSpPr/>
          <p:nvPr/>
        </p:nvSpPr>
        <p:spPr>
          <a:xfrm>
            <a:off x="2542032" y="1280160"/>
            <a:ext cx="1956816" cy="3154680"/>
          </a:xfrm>
          <a:prstGeom prst="roundRect">
            <a:avLst>
              <a:gd name="adj" fmla="val 2804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5" name="icon-bg"/>
          <p:cNvSpPr/>
          <p:nvPr/>
        </p:nvSpPr>
        <p:spPr>
          <a:xfrm>
            <a:off x="2724912" y="1463040"/>
            <a:ext cx="548640" cy="548640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6" name="Image 1" descr="utensi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045" y="161117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724912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近江牛サウナカリー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2724912" y="26334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1,355円 → 1,405円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2724912" y="29077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価格表外の売上1位を追加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2724912" y="318211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3か月964食。温浴施設のカレー相場の範囲内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2724912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+18万円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3867912" y="4041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/年</a:t>
            </a:r>
            <a:endParaRPr lang="en-US" sz="900" dirty="0"/>
          </a:p>
        </p:txBody>
      </p:sp>
      <p:sp>
        <p:nvSpPr>
          <p:cNvPr id="23" name="bcard"/>
          <p:cNvSpPr/>
          <p:nvPr/>
        </p:nvSpPr>
        <p:spPr>
          <a:xfrm>
            <a:off x="4626864" y="1280160"/>
            <a:ext cx="1956816" cy="3154680"/>
          </a:xfrm>
          <a:prstGeom prst="roundRect">
            <a:avLst>
              <a:gd name="adj" fmla="val 2804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4" name="icon-bg"/>
          <p:cNvSpPr/>
          <p:nvPr/>
        </p:nvSpPr>
        <p:spPr>
          <a:xfrm>
            <a:off x="4809744" y="1463040"/>
            <a:ext cx="548640" cy="548640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5" name="Image 2" descr="ch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877" y="1611173"/>
            <a:ext cx="252374" cy="25237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809744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リポスパ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4809744" y="26334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473円 → 493円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4809744" y="29077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出数1位を改定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4809744" y="318211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3か月2,134杯。原価率22%で割安感を維持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4809744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+16万円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5952744" y="4041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/年</a:t>
            </a:r>
            <a:endParaRPr lang="en-US" sz="900" dirty="0"/>
          </a:p>
        </p:txBody>
      </p:sp>
      <p:sp>
        <p:nvSpPr>
          <p:cNvPr id="32" name="bcard"/>
          <p:cNvSpPr/>
          <p:nvPr/>
        </p:nvSpPr>
        <p:spPr>
          <a:xfrm>
            <a:off x="6711696" y="1280160"/>
            <a:ext cx="1956816" cy="3154680"/>
          </a:xfrm>
          <a:prstGeom prst="roundRect">
            <a:avLst>
              <a:gd name="adj" fmla="val 2804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3" name="icon-bg"/>
          <p:cNvSpPr/>
          <p:nvPr/>
        </p:nvSpPr>
        <p:spPr>
          <a:xfrm>
            <a:off x="6894576" y="1463040"/>
            <a:ext cx="548640" cy="548640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4" name="Image 3" descr="gau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2709" y="1611173"/>
            <a:ext cx="252374" cy="25237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6894576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ごはん大盛り</a:t>
            </a:r>
            <a:endParaRPr lang="en-US" sz="1150" dirty="0"/>
          </a:p>
        </p:txBody>
      </p:sp>
      <p:sp>
        <p:nvSpPr>
          <p:cNvPr id="36" name="Text 29"/>
          <p:cNvSpPr txBox="1"/>
          <p:nvPr/>
        </p:nvSpPr>
        <p:spPr>
          <a:xfrm>
            <a:off x="6894576" y="26334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185円 → 220円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6894576" y="29077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原価率56% → 42%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6894576" y="318211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3か月357食。単品の原価率が最も高い部類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6894576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+5万円</a:t>
            </a:r>
            <a:endParaRPr lang="en-US" sz="1800" dirty="0"/>
          </a:p>
        </p:txBody>
      </p:sp>
      <p:sp>
        <p:nvSpPr>
          <p:cNvPr id="40" name="Text 33"/>
          <p:cNvSpPr txBox="1"/>
          <p:nvPr/>
        </p:nvSpPr>
        <p:spPr>
          <a:xfrm>
            <a:off x="8037576" y="4041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/年</a:t>
            </a:r>
            <a:endParaRPr lang="en-US" sz="900" dirty="0"/>
          </a:p>
        </p:txBody>
      </p:sp>
      <p:sp>
        <p:nvSpPr>
          <p:cNvPr id="41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平年度効果は売上ベース（出数変化なし、4〜6月×半期換算係数2.07×2）。サウナカリーの改定前価格はPOS実売単価からの推定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09 // SENSITIVITY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出数が5%減っても粗利はプラス。標準ケースで平年度+167万円</a:t>
            </a:r>
            <a:endParaRPr lang="en-US" sz="2100" dirty="0"/>
          </a:p>
        </p:txBody>
      </p:sp>
      <p:pic>
        <p:nvPicPr>
          <p:cNvPr id="5" name="Image 0" descr="平年度の増減（万円・コラボ抜き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120640" cy="3291840"/>
          </a:xfrm>
          <a:prstGeom prst="rect">
            <a:avLst/>
          </a:prstGeom>
        </p:spPr>
      </p:pic>
      <p:graphicFrame>
        <p:nvGraphicFramePr>
          <p:cNvPr id="15" name="table-elasticit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325880"/>
          <a:ext cx="2971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40080"/>
                <a:gridCol w="640080"/>
                <a:gridCol w="7772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</a:rPr>
                        <a:t>ケース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</a:rPr>
                        <a:t>弾力性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</a:rPr>
                        <a:t>出数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</a:rPr>
                        <a:t>理論原価率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出数変化なし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標準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慎重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悲観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-5.4%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</a:tbl>
          </a:graphicData>
        </a:graphic>
      </p:graphicFrame>
      <p:sp>
        <p:nvSpPr>
          <p:cNvPr id="7" name="note"/>
          <p:cNvSpPr/>
          <p:nvPr/>
        </p:nvSpPr>
        <p:spPr>
          <a:xfrm>
            <a:off x="5715000" y="3063240"/>
            <a:ext cx="2971800" cy="1371600"/>
          </a:xfrm>
          <a:prstGeom prst="roundRect">
            <a:avLst>
              <a:gd name="adj" fmla="val 4000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897880" y="32004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1品あたり原価は不変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出数が減っても1品あたりの粗利が増えるため、粗利額はプラスを維持。理論原価率は30.9%→29.7%に改善します。</a:t>
            </a:r>
            <a:endParaRPr lang="en-US" sz="1100" dirty="0"/>
          </a:p>
        </p:txBody>
      </p:sp>
      <p:sp>
        <p:nvSpPr>
          <p:cNvPr id="9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試算：根拠データ「品目別試算」。4〜6月の出数×（1＋弾力性×値上げ率）。原価はメニュー原価一覧のレシピ原価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4840" y="5029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448056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480560" y="20116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</a:rPr>
              <a:t>原価率改善プラン</a:t>
            </a:r>
            <a:endParaRPr lang="en-US" sz="3400" dirty="0"/>
          </a:p>
        </p:txBody>
      </p:sp>
      <p:sp>
        <p:nvSpPr>
          <p:cNvPr id="5" name="hud-line"/>
          <p:cNvSpPr/>
          <p:nvPr/>
        </p:nvSpPr>
        <p:spPr>
          <a:xfrm>
            <a:off x="4480560" y="3246120"/>
            <a:ext cx="5486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80560" y="33832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下期の原価率改善ブリッジ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通期の着地見通し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原価コントロール・リスク・実行計画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10 // H2 BRIDGE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値上げ−0.38pt、原価管理−1.80ptで下期原価率を33.4%へ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344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飲食原価率（%）　上期実績 → 下期計画</a:t>
            </a:r>
            <a:endParaRPr lang="en-US" sz="1000" dirty="0"/>
          </a:p>
        </p:txBody>
      </p:sp>
      <p:sp>
        <p:nvSpPr>
          <p:cNvPr id="6" name="wf-axis"/>
          <p:cNvSpPr/>
          <p:nvPr/>
        </p:nvSpPr>
        <p:spPr>
          <a:xfrm>
            <a:off x="457200" y="4069080"/>
            <a:ext cx="539496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7" name="wf-bar"/>
          <p:cNvSpPr/>
          <p:nvPr/>
        </p:nvSpPr>
        <p:spPr>
          <a:xfrm>
            <a:off x="716158" y="1930560"/>
            <a:ext cx="561076" cy="2138520"/>
          </a:xfrm>
          <a:prstGeom prst="rect">
            <a:avLst/>
          </a:prstGeom>
          <a:solidFill>
            <a:srgbClr val="475569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1838" y="1674528"/>
            <a:ext cx="110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2394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上期実績</a:t>
            </a:r>
            <a:endParaRPr lang="en-US" sz="850" dirty="0"/>
          </a:p>
        </p:txBody>
      </p:sp>
      <p:sp>
        <p:nvSpPr>
          <p:cNvPr id="10" name="wf-link"/>
          <p:cNvSpPr/>
          <p:nvPr/>
        </p:nvSpPr>
        <p:spPr>
          <a:xfrm>
            <a:off x="1277234" y="1930560"/>
            <a:ext cx="517916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11" name="wf-bar"/>
          <p:cNvSpPr/>
          <p:nvPr/>
        </p:nvSpPr>
        <p:spPr>
          <a:xfrm>
            <a:off x="1795150" y="1930560"/>
            <a:ext cx="561076" cy="283137"/>
          </a:xfrm>
          <a:prstGeom prst="rect">
            <a:avLst/>
          </a:prstGeom>
          <a:solidFill>
            <a:srgbClr val="0E7490">
              <a:alpha val="6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20830" y="1674528"/>
            <a:ext cx="110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-0.85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536192" y="412394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在庫取崩し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の一巡</a:t>
            </a:r>
            <a:endParaRPr lang="en-US" sz="850" dirty="0"/>
          </a:p>
        </p:txBody>
      </p:sp>
      <p:sp>
        <p:nvSpPr>
          <p:cNvPr id="14" name="wf-link"/>
          <p:cNvSpPr/>
          <p:nvPr/>
        </p:nvSpPr>
        <p:spPr>
          <a:xfrm>
            <a:off x="2356226" y="2213697"/>
            <a:ext cx="517916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15" name="wf-bar"/>
          <p:cNvSpPr/>
          <p:nvPr/>
        </p:nvSpPr>
        <p:spPr>
          <a:xfrm>
            <a:off x="2874142" y="2213697"/>
            <a:ext cx="561076" cy="126579"/>
          </a:xfrm>
          <a:prstGeom prst="rect">
            <a:avLst/>
          </a:prstGeom>
          <a:solidFill>
            <a:srgbClr val="0E749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599822" y="1957665"/>
            <a:ext cx="110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-0.38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615184" y="412394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GM値上げ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（12月中旬〜）</a:t>
            </a:r>
            <a:endParaRPr lang="en-US" sz="850" dirty="0"/>
          </a:p>
        </p:txBody>
      </p:sp>
      <p:sp>
        <p:nvSpPr>
          <p:cNvPr id="18" name="wf-link"/>
          <p:cNvSpPr/>
          <p:nvPr/>
        </p:nvSpPr>
        <p:spPr>
          <a:xfrm>
            <a:off x="3435218" y="2340276"/>
            <a:ext cx="517916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19" name="wf-bar"/>
          <p:cNvSpPr/>
          <p:nvPr/>
        </p:nvSpPr>
        <p:spPr>
          <a:xfrm>
            <a:off x="3953134" y="2340276"/>
            <a:ext cx="561076" cy="596254"/>
          </a:xfrm>
          <a:prstGeom prst="rect">
            <a:avLst/>
          </a:prstGeom>
          <a:solidFill>
            <a:srgbClr val="0E749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78814" y="2084244"/>
            <a:ext cx="110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-1.80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694176" y="412394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原価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コントロール</a:t>
            </a:r>
            <a:endParaRPr lang="en-US" sz="850" dirty="0"/>
          </a:p>
        </p:txBody>
      </p:sp>
      <p:sp>
        <p:nvSpPr>
          <p:cNvPr id="22" name="wf-link"/>
          <p:cNvSpPr/>
          <p:nvPr/>
        </p:nvSpPr>
        <p:spPr>
          <a:xfrm>
            <a:off x="4514210" y="2936530"/>
            <a:ext cx="517916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23" name="wf-bar"/>
          <p:cNvSpPr/>
          <p:nvPr/>
        </p:nvSpPr>
        <p:spPr>
          <a:xfrm>
            <a:off x="5032126" y="2936530"/>
            <a:ext cx="561076" cy="1132550"/>
          </a:xfrm>
          <a:prstGeom prst="rect">
            <a:avLst/>
          </a:prstGeom>
          <a:solidFill>
            <a:srgbClr val="22D3EE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757806" y="2680498"/>
            <a:ext cx="110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33.4%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773168" y="412394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下期計画</a:t>
            </a:r>
            <a:endParaRPr lang="en-US" sz="850" dirty="0"/>
          </a:p>
        </p:txBody>
      </p:sp>
      <p:sp>
        <p:nvSpPr>
          <p:cNvPr id="26" name="kpi"/>
          <p:cNvSpPr/>
          <p:nvPr/>
        </p:nvSpPr>
        <p:spPr>
          <a:xfrm>
            <a:off x="6080760" y="128016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45352" y="1417320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accent1"/>
                </a:solidFill>
              </a:rPr>
              <a:t>COST CONTROL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6245352" y="1645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99万円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6245352" y="21214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下期の必要削減額（月17万円・原価の5.1%）</a:t>
            </a:r>
            <a:endParaRPr lang="en-US" sz="850" dirty="0"/>
          </a:p>
        </p:txBody>
      </p:sp>
      <p:sp>
        <p:nvSpPr>
          <p:cNvPr id="30" name="kpi"/>
          <p:cNvSpPr/>
          <p:nvPr/>
        </p:nvSpPr>
        <p:spPr>
          <a:xfrm>
            <a:off x="6080760" y="265176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45352" y="2788920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accent1"/>
                </a:solidFill>
              </a:rPr>
              <a:t>PRICE ONLY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6245352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</a:t>
            </a:r>
            <a:endParaRPr lang="en-US" sz="2400" dirty="0"/>
          </a:p>
        </p:txBody>
      </p:sp>
      <p:sp>
        <p:nvSpPr>
          <p:cNvPr id="33" name="Text 30"/>
          <p:cNvSpPr txBox="1"/>
          <p:nvPr/>
        </p:nvSpPr>
        <p:spPr>
          <a:xfrm>
            <a:off x="6245352" y="34930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値上げのみで達成する場合のGM平均値上げ率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6080760" y="4069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→ 値上げと原価管理の両輪で達成</a:t>
            </a:r>
            <a:endParaRPr lang="en-US" sz="1050" dirty="0"/>
          </a:p>
        </p:txBody>
      </p:sp>
      <p:sp>
        <p:nvSpPr>
          <p:cNvPr id="35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試算：根拠データ「原価率プラン」。下期の売上・出数は上期と同水準、在庫横ばい、値上げ適用は12/15〜3/31（約3.5か月）、弾力性-0.3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11 // FULL-YEAR OUTLOOK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通期見通しは34.9%。予算内には166万円の追加改善が必要</a:t>
            </a:r>
            <a:endParaRPr lang="en-US" sz="2100" dirty="0"/>
          </a:p>
        </p:txBody>
      </p:sp>
      <p:pic>
        <p:nvPicPr>
          <p:cNvPr id="5" name="Image 0" descr="飲食原価率（予算 33.4%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4937760" cy="3291840"/>
          </a:xfrm>
          <a:prstGeom prst="rect">
            <a:avLst/>
          </a:prstGeom>
        </p:spPr>
      </p:pic>
      <p:sp>
        <p:nvSpPr>
          <p:cNvPr id="6" name="options"/>
          <p:cNvSpPr/>
          <p:nvPr/>
        </p:nvSpPr>
        <p:spPr>
          <a:xfrm>
            <a:off x="5532120" y="1280160"/>
            <a:ext cx="3154680" cy="3154680"/>
          </a:xfrm>
          <a:prstGeom prst="roundRect">
            <a:avLst>
              <a:gd name="adj" fmla="val 1739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715000" y="1417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OPTIONS // 通期予算内に向けた追加施策（案）</a:t>
            </a:r>
            <a:endParaRPr lang="en-US" sz="950" dirty="0"/>
          </a:p>
        </p:txBody>
      </p:sp>
      <p:sp>
        <p:nvSpPr>
          <p:cNvPr id="8" name="dot"/>
          <p:cNvSpPr/>
          <p:nvPr/>
        </p:nvSpPr>
        <p:spPr>
          <a:xfrm>
            <a:off x="5715000" y="1847088"/>
            <a:ext cx="274320" cy="274320"/>
          </a:xfrm>
          <a:prstGeom prst="ellipse">
            <a:avLst/>
          </a:prstGeom>
          <a:solidFill>
            <a:srgbClr val="070D1A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715000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6108192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コラボ売上の回復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6108192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下期コラボが予算水準（半期3,301万円）に戻れば原価率は約0.6pt改善</a:t>
            </a:r>
            <a:endParaRPr lang="en-US" sz="900" dirty="0"/>
          </a:p>
        </p:txBody>
      </p:sp>
      <p:sp>
        <p:nvSpPr>
          <p:cNvPr id="12" name="dot"/>
          <p:cNvSpPr/>
          <p:nvPr/>
        </p:nvSpPr>
        <p:spPr>
          <a:xfrm>
            <a:off x="5715000" y="2715768"/>
            <a:ext cx="274320" cy="274320"/>
          </a:xfrm>
          <a:prstGeom prst="ellipse">
            <a:avLst/>
          </a:prstGeom>
          <a:solidFill>
            <a:srgbClr val="070D1A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715000" y="2715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6108192" y="2697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原価コントロールの上積み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6108192" y="2971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必要額99万円に加え、さらに166万円（上期超過分）の削減</a:t>
            </a:r>
            <a:endParaRPr lang="en-US" sz="900" dirty="0"/>
          </a:p>
        </p:txBody>
      </p:sp>
      <p:sp>
        <p:nvSpPr>
          <p:cNvPr id="16" name="dot"/>
          <p:cNvSpPr/>
          <p:nvPr/>
        </p:nvSpPr>
        <p:spPr>
          <a:xfrm>
            <a:off x="5715000" y="3584448"/>
            <a:ext cx="274320" cy="274320"/>
          </a:xfrm>
          <a:prstGeom prst="ellipse">
            <a:avLst/>
          </a:prstGeom>
          <a:solidFill>
            <a:srgbClr val="070D1A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715000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6108192" y="3566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下期中の追加改定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6108192" y="3840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効果検証後、2〜3月に相場内で再改定を検討</a:t>
            </a:r>
            <a:endParaRPr lang="en-US" sz="900" dirty="0"/>
          </a:p>
        </p:txBody>
      </p:sp>
      <p:sp>
        <p:nvSpPr>
          <p:cNvPr id="20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試算：根拠データ「原価率プラン」。コラボ回復効果は予算の区分別原価率（コラボ32%）で概算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12 // COST CONTROL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理論原価との差を縮め、下期99万円（月17万円）を削減します</a:t>
            </a:r>
            <a:endParaRPr lang="en-US" sz="2100" dirty="0"/>
          </a:p>
        </p:txBody>
      </p:sp>
      <p:sp>
        <p:nvSpPr>
          <p:cNvPr id="5" name="cc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icon-bg"/>
          <p:cNvSpPr/>
          <p:nvPr/>
        </p:nvSpPr>
        <p:spPr>
          <a:xfrm>
            <a:off x="658368" y="1463040"/>
            <a:ext cx="594360" cy="594360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7" name="Image 0" descr="recy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845" y="1623517"/>
            <a:ext cx="273406" cy="27340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435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廃棄・ロスの削減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463040" y="17556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コラボ食材の消化計画、仕込み量の標準化、日次の廃棄記録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5806440" y="1463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580644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廃棄率・コラボ食材の残在庫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7315200" y="15361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45万円</a:t>
            </a:r>
            <a:endParaRPr lang="en-US" sz="2000" dirty="0"/>
          </a:p>
        </p:txBody>
      </p:sp>
      <p:sp>
        <p:nvSpPr>
          <p:cNvPr id="13" name="cc"/>
          <p:cNvSpPr/>
          <p:nvPr/>
        </p:nvSpPr>
        <p:spPr>
          <a:xfrm>
            <a:off x="457200" y="2359152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4" name="icon-bg"/>
          <p:cNvSpPr/>
          <p:nvPr/>
        </p:nvSpPr>
        <p:spPr>
          <a:xfrm>
            <a:off x="658368" y="2542032"/>
            <a:ext cx="594360" cy="594360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5" name="Image 1" descr="coi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45" y="2702509"/>
            <a:ext cx="273406" cy="27340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仕入れの見直し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2834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米価下落の反映、主要食材の相見積、規格の見直し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5806440" y="2542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800" dirty="0"/>
          </a:p>
        </p:txBody>
      </p:sp>
      <p:sp>
        <p:nvSpPr>
          <p:cNvPr id="19" name="Text 14"/>
          <p:cNvSpPr txBox="1"/>
          <p:nvPr/>
        </p:nvSpPr>
        <p:spPr>
          <a:xfrm>
            <a:off x="5806440" y="27706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主要20品の仕入単価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7315200" y="261518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30万円</a:t>
            </a:r>
            <a:endParaRPr lang="en-US" sz="2000" dirty="0"/>
          </a:p>
        </p:txBody>
      </p:sp>
      <p:sp>
        <p:nvSpPr>
          <p:cNvPr id="21" name="cc"/>
          <p:cNvSpPr/>
          <p:nvPr/>
        </p:nvSpPr>
        <p:spPr>
          <a:xfrm>
            <a:off x="457200" y="3438144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2" name="icon-bg"/>
          <p:cNvSpPr/>
          <p:nvPr/>
        </p:nvSpPr>
        <p:spPr>
          <a:xfrm>
            <a:off x="658368" y="3621024"/>
            <a:ext cx="594360" cy="594360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3" name="Image 2" descr="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45" y="3781501"/>
            <a:ext cx="273406" cy="27340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63040" y="3593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盛付基準の徹底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463040" y="39136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レシピ量の再周知、計量の徹底、月次の理論原価差異の確認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5806440" y="36210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5806440" y="384962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理論原価との差（pt）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7315200" y="369417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24万円</a:t>
            </a:r>
            <a:endParaRPr lang="en-US" sz="2000" dirty="0"/>
          </a:p>
        </p:txBody>
      </p:sp>
      <p:sp>
        <p:nvSpPr>
          <p:cNvPr id="29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金額配分は目標値。月次で「理論原価（出数×レシピ原価）」と「実績原価」の差を確認し、配分を見直します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13 // RISK &amp; MITIGATION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客離れリスクは限定的。月次KPIで早期に検知し、見直します</a:t>
            </a:r>
            <a:endParaRPr lang="en-US" sz="2100" dirty="0"/>
          </a:p>
        </p:txBody>
      </p:sp>
      <p:sp>
        <p:nvSpPr>
          <p:cNvPr id="5" name="risk"/>
          <p:cNvSpPr/>
          <p:nvPr/>
        </p:nvSpPr>
        <p:spPr>
          <a:xfrm>
            <a:off x="457200" y="128016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icon-bg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B45309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7" name="Image 0" descr="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1611173"/>
            <a:ext cx="252374" cy="2523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6002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客離れ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194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395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悲観ケース（出数-5.4%）でも平年度粗利+54万円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880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30815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飲食者数・出数が前年比-5%を超えたら品目別に見直し</a:t>
            </a:r>
            <a:endParaRPr lang="en-US" sz="950" dirty="0"/>
          </a:p>
        </p:txBody>
      </p:sp>
      <p:sp>
        <p:nvSpPr>
          <p:cNvPr id="13" name="risk"/>
          <p:cNvSpPr/>
          <p:nvPr/>
        </p:nvSpPr>
        <p:spPr>
          <a:xfrm>
            <a:off x="3246120" y="128016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4" name="icon-bg"/>
          <p:cNvSpPr/>
          <p:nvPr/>
        </p:nvSpPr>
        <p:spPr>
          <a:xfrm>
            <a:off x="3429000" y="1463040"/>
            <a:ext cx="548640" cy="548640"/>
          </a:xfrm>
          <a:prstGeom prst="ellipse">
            <a:avLst/>
          </a:prstGeom>
          <a:solidFill>
            <a:srgbClr val="B45309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5" name="Image 1" descr="b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133" y="1611173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114800" y="16002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アルコール低迷の加速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429000" y="2194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3429000" y="2395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ビール4種は据え置き（減税局面での値上げを回避）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3429000" y="2880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3429000" y="30815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ハッピーアワー・「食事＋1杯」セットで注文率を回復</a:t>
            </a:r>
            <a:endParaRPr lang="en-US" sz="950" dirty="0"/>
          </a:p>
        </p:txBody>
      </p:sp>
      <p:sp>
        <p:nvSpPr>
          <p:cNvPr id="21" name="risk"/>
          <p:cNvSpPr/>
          <p:nvPr/>
        </p:nvSpPr>
        <p:spPr>
          <a:xfrm>
            <a:off x="6035040" y="128016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2" name="icon-bg"/>
          <p:cNvSpPr/>
          <p:nvPr/>
        </p:nvSpPr>
        <p:spPr>
          <a:xfrm>
            <a:off x="6217920" y="1463040"/>
            <a:ext cx="548640" cy="548640"/>
          </a:xfrm>
          <a:prstGeom prst="ellipse">
            <a:avLst/>
          </a:prstGeom>
          <a:solidFill>
            <a:srgbClr val="B45309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3" name="Image 2" descr="shie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53" y="1611173"/>
            <a:ext cx="252374" cy="25237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03720" y="16002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値上げへの印象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217920" y="2194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0"/>
          <p:cNvSpPr txBox="1"/>
          <p:nvPr/>
        </p:nvSpPr>
        <p:spPr>
          <a:xfrm>
            <a:off x="6217920" y="2395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食事メニューは温浴施設の相場内、カツカレーは専門店より割安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6217920" y="2880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00" dirty="0"/>
          </a:p>
        </p:txBody>
      </p:sp>
      <p:sp>
        <p:nvSpPr>
          <p:cNvPr id="28" name="Text 22"/>
          <p:cNvSpPr txBox="1"/>
          <p:nvPr/>
        </p:nvSpPr>
        <p:spPr>
          <a:xfrm>
            <a:off x="6217920" y="30815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改定理由の店内告知、セット・クーポンで割安感を維持</a:t>
            </a:r>
            <a:endParaRPr lang="en-US" sz="950" dirty="0"/>
          </a:p>
        </p:txBody>
      </p:sp>
      <p:sp>
        <p:nvSpPr>
          <p:cNvPr id="29" name="kpi-bar"/>
          <p:cNvSpPr/>
          <p:nvPr/>
        </p:nvSpPr>
        <p:spPr>
          <a:xfrm>
            <a:off x="457200" y="37947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85800" y="3794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KPI　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飲食原価率／理論原価との差／品目別出数（前年比）／飲食客単価／アルコール注文率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14 // ROADMAP &amp; DECISION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12月中旬から新価格で販売開始します（案）</a:t>
            </a:r>
            <a:endParaRPr lang="en-US" sz="2100" dirty="0"/>
          </a:p>
        </p:txBody>
      </p:sp>
      <p:sp>
        <p:nvSpPr>
          <p:cNvPr id="5" name="timeline"/>
          <p:cNvSpPr/>
          <p:nvPr/>
        </p:nvSpPr>
        <p:spPr>
          <a:xfrm>
            <a:off x="795528" y="1691640"/>
            <a:ext cx="676656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6" name="tl-dot"/>
          <p:cNvSpPr/>
          <p:nvPr/>
        </p:nvSpPr>
        <p:spPr>
          <a:xfrm>
            <a:off x="640080" y="1536192"/>
            <a:ext cx="310896" cy="310896"/>
          </a:xfrm>
          <a:prstGeom prst="ellipse">
            <a:avLst/>
          </a:prstGeom>
          <a:solidFill>
            <a:srgbClr val="070D1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10月末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2128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ご承認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487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本提案の決裁・原価管理に着手</a:t>
            </a:r>
            <a:endParaRPr lang="en-US" sz="900" dirty="0"/>
          </a:p>
        </p:txBody>
      </p:sp>
      <p:sp>
        <p:nvSpPr>
          <p:cNvPr id="10" name="tl-dot"/>
          <p:cNvSpPr/>
          <p:nvPr/>
        </p:nvSpPr>
        <p:spPr>
          <a:xfrm>
            <a:off x="2331720" y="1536192"/>
            <a:ext cx="310896" cy="310896"/>
          </a:xfrm>
          <a:prstGeom prst="ellipse">
            <a:avLst/>
          </a:prstGeom>
          <a:solidFill>
            <a:srgbClr val="070D1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4884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11月〜12月上旬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148840" y="22128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準備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2148840" y="2487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メニュー表・POS設定・告知物</a:t>
            </a:r>
            <a:endParaRPr lang="en-US" sz="900" dirty="0"/>
          </a:p>
        </p:txBody>
      </p:sp>
      <p:sp>
        <p:nvSpPr>
          <p:cNvPr id="14" name="tl-dot"/>
          <p:cNvSpPr/>
          <p:nvPr/>
        </p:nvSpPr>
        <p:spPr>
          <a:xfrm>
            <a:off x="4023360" y="1536192"/>
            <a:ext cx="310896" cy="310896"/>
          </a:xfrm>
          <a:prstGeom prst="ellipse">
            <a:avLst/>
          </a:prstGeom>
          <a:solidFill>
            <a:srgbClr val="22D3E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4048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12月中旬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22128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新価格で販売開始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3840480" y="2487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A案＋B案（予定）</a:t>
            </a:r>
            <a:endParaRPr lang="en-US" sz="900" dirty="0"/>
          </a:p>
        </p:txBody>
      </p:sp>
      <p:sp>
        <p:nvSpPr>
          <p:cNvPr id="18" name="tl-dot"/>
          <p:cNvSpPr/>
          <p:nvPr/>
        </p:nvSpPr>
        <p:spPr>
          <a:xfrm>
            <a:off x="5715000" y="1536192"/>
            <a:ext cx="310896" cy="310896"/>
          </a:xfrm>
          <a:prstGeom prst="ellipse">
            <a:avLst/>
          </a:prstGeom>
          <a:solidFill>
            <a:srgbClr val="070D1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3212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1月下旬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532120" y="22128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初回効果検証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87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出数・原価率・客単価</a:t>
            </a:r>
            <a:endParaRPr lang="en-US" sz="900" dirty="0"/>
          </a:p>
        </p:txBody>
      </p:sp>
      <p:sp>
        <p:nvSpPr>
          <p:cNvPr id="22" name="tl-dot"/>
          <p:cNvSpPr/>
          <p:nvPr/>
        </p:nvSpPr>
        <p:spPr>
          <a:xfrm>
            <a:off x="7406640" y="1536192"/>
            <a:ext cx="310896" cy="310896"/>
          </a:xfrm>
          <a:prstGeom prst="ellipse">
            <a:avLst/>
          </a:prstGeom>
          <a:solidFill>
            <a:srgbClr val="070D1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2376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3月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223760" y="22128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通期着地の確認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223760" y="2487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追加施策の要否判断</a:t>
            </a:r>
            <a:endParaRPr lang="en-US" sz="900" dirty="0"/>
          </a:p>
        </p:txBody>
      </p:sp>
      <p:sp>
        <p:nvSpPr>
          <p:cNvPr id="26" name="decision"/>
          <p:cNvSpPr/>
          <p:nvPr/>
        </p:nvSpPr>
        <p:spPr>
          <a:xfrm>
            <a:off x="457200" y="3017520"/>
            <a:ext cx="8229600" cy="1417320"/>
          </a:xfrm>
          <a:prstGeom prst="roundRect">
            <a:avLst>
              <a:gd name="adj" fmla="val 3871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" y="3127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DECISION // ご判断いただきたいこと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345643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F1F5F9"/>
                </a:solidFill>
              </a:rPr>
              <a:t>価格改定（A案＋B案、GM141品・実効+3.7%）の承認と、12月中旬の販売開始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F1F5F9"/>
                </a:solidFill>
              </a:rPr>
              <a:t>下期の原価削減目標99万円（月17万円）と、月次KPI管理の設定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F1F5F9"/>
                </a:solidFill>
              </a:rPr>
              <a:t>通期予算内に向けた追加施策（上期超過166万円の回収方法）の方針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</a:rPr>
              <a:t>ご審議のほど、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</a:rPr>
              <a:t>よろしくお願いいたします</a:t>
            </a:r>
            <a:endParaRPr lang="en-US" sz="2400" dirty="0"/>
          </a:p>
        </p:txBody>
      </p:sp>
      <p:sp>
        <p:nvSpPr>
          <p:cNvPr id="4" name="hud-line"/>
          <p:cNvSpPr/>
          <p:nvPr/>
        </p:nvSpPr>
        <p:spPr>
          <a:xfrm>
            <a:off x="548640" y="3246120"/>
            <a:ext cx="5486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3832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D3EE"/>
                </a:solidFill>
              </a:rPr>
              <a:t>RAKU SPA 1010 神田　2026年10月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APPENDIX // ASSUMPTIONS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試算はすべて実績データに基づき、根拠データで再計算できます</a:t>
            </a:r>
            <a:endParaRPr lang="en-US" sz="2100" dirty="0"/>
          </a:p>
        </p:txBody>
      </p:sp>
      <p:graphicFrame>
        <p:nvGraphicFramePr>
          <p:cNvPr id="23" name="table-append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6751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</a:rPr>
                        <a:t>項目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</a:rPr>
                        <a:t>内容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使用データ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予実管理表 2026年9月（上期累計）／期間報 分類別・商品別 2026/4/1〜6/30（税抜）／メニュー原価一覧（2024 GMレシピ）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出数ベース試算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4〜6月の商品別出数×（改定後税抜−改定前税抜）。POS商品名とメニュー名を照合（GM150品＋近江牛サウナカリー）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価格弾力性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標準-0.3（値上げ率5%で出数1.5%減）。0／-0.6／-1.0で感度分析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半期・平年度換算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4〜6月のコラボ抜き売上1,410万円 → 上期食事売上2,921万円（係数2.07）。平年度は×2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販売開始時期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12月中旬（12/15想定）。今期の値上げ効果は12/15〜3/31の約3.5か月分（半期効果×3.5/6）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原価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レシピ原価（1品あたり不変）。原価未登録品とサウナカリーは登録品平均31%で仮置き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下期ベース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売上・出数は上期と同水準。在庫は横ばい（上期の取崩し46.5万円は一時要因として除外）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競合価格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2026年10月のWeb調査（税込）。各店の最新価格は要確認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kuSpa HighTech">
  <a:themeElements>
    <a:clrScheme name="RakuSpa HighTech">
      <a:dk1>
        <a:srgbClr val="070D1A"/>
      </a:dk1>
      <a:lt1>
        <a:srgbClr val="F1F5F9"/>
      </a:lt1>
      <a:dk2>
        <a:srgbClr val="0E1729"/>
      </a:dk2>
      <a:lt2>
        <a:srgbClr val="94A3B8"/>
      </a:lt2>
      <a:accent1>
        <a:srgbClr val="22D3EE"/>
      </a:accent1>
      <a:accent2>
        <a:srgbClr val="FBBF24"/>
      </a:accent2>
      <a:accent3>
        <a:srgbClr val="0E7490"/>
      </a:accent3>
      <a:accent4>
        <a:srgbClr val="475569"/>
      </a:accent4>
      <a:accent5>
        <a:srgbClr val="1E3A5F"/>
      </a:accent5>
      <a:accent6>
        <a:srgbClr val="34D399"/>
      </a:accent6>
      <a:hlink>
        <a:srgbClr val="22D3EE"/>
      </a:hlink>
      <a:folHlink>
        <a:srgbClr val="94A3B8"/>
      </a:folHlink>
    </a:clrScheme>
    <a:fontScheme name="RakuSpa HighTech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RAKU SPA 1010 神田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飲食メニュー価格改定および原価率改善プランのご提案</dc:title>
  <dc:subject>PptxGenJS Presentation</dc:subject>
  <dc:creator>PptxGenJS</dc:creator>
  <cp:lastModifiedBy>PptxGenJS</cp:lastModifiedBy>
  <cp:revision>1</cp:revision>
  <dcterms:created xsi:type="dcterms:W3CDTF">2026-10-17T18:12:37Z</dcterms:created>
  <dcterms:modified xsi:type="dcterms:W3CDTF">2026-10-17T18:12:37Z</dcterms:modified>
</cp:coreProperties>
</file>