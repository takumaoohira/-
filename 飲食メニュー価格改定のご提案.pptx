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5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表紙" id="{29831748-43d1-1370-8a4e-d5f921605e9b}">
          <p14:sldIdLst>
            <p14:sldId id="256"/>
          </p14:sldIdLst>
        </p14:section>
        <p14:section name="結論" id="{c4cf6ce3-043b-d436-b3dc-6aa46686f874}">
          <p14:sldIdLst>
            <p14:sldId id="257"/>
          </p14:sldIdLst>
        </p14:section>
        <p14:section name="現状と課題" id="{4c9be2f5-1a62-575a-c60d-e535ed363244}">
          <p14:sldIdLst>
            <p14:sldId id="258"/>
            <p14:sldId id="259"/>
            <p14:sldId id="260"/>
          </p14:sldIdLst>
        </p14:section>
        <p14:section name="改定案と効果" id="{6f603228-2fa0-cd14-5501-07fdf07393a4}">
          <p14:sldIdLst>
            <p14:sldId id="261"/>
            <p14:sldId id="262"/>
            <p14:sldId id="263"/>
            <p14:sldId id="264"/>
          </p14:sldIdLst>
        </p14:section>
        <p14:section name="今後の進め方" id="{05595d9e-374f-f40a-7696-a06cec85bca1}">
          <p14:sldIdLst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5B6573"/>
                </a:solidFill>
                <a:latin typeface="+mn-lt"/>
              </a:defRPr>
            </a:pPr>
            <a:r>
              <a:rPr sz="1100" b="0" i="0" u="none" strike="noStrike">
                <a:solidFill>
                  <a:srgbClr val="5B6573"/>
                </a:solidFill>
                <a:latin typeface="+mn-lt"/>
              </a:rPr>
              <a:t>2026年4〜9月累計（万円）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前期実績</c:v>
                </c:pt>
              </c:strCache>
            </c:strRef>
          </c:tx>
          <c:spPr>
            <a:solidFill>
              <a:srgbClr val="C9CED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6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コラボ</c:v>
                  </c:pt>
                  <c:pt idx="1">
                    <c:v>コラボ抜き（食事）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3865</c:v>
                </c:pt>
                <c:pt idx="1">
                  <c:v>2961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予算</c:v>
                </c:pt>
              </c:strCache>
            </c:strRef>
          </c:tx>
          <c:spPr>
            <a:solidFill>
              <a:srgbClr val="9AA3A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6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コラボ</c:v>
                  </c:pt>
                  <c:pt idx="1">
                    <c:v>コラボ抜き（食事）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3301</c:v>
                </c:pt>
                <c:pt idx="1">
                  <c:v>2882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実績</c:v>
                </c:pt>
              </c:strCache>
            </c:strRef>
          </c:tx>
          <c:spPr>
            <a:solidFill>
              <a:srgbClr val="B5523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6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コラボ</c:v>
                  </c:pt>
                  <c:pt idx="1">
                    <c:v>コラボ抜き（食事）</c:v>
                  </c:pt>
                </c:lvl>
              </c:multiLvlStrCache>
            </c:multiLvl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2574</c:v>
                </c:pt>
                <c:pt idx="1">
                  <c:v>2921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F26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57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6350" cap="flat">
              <a:solidFill>
                <a:srgbClr val="E6E8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AA3AE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B6573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5B6573"/>
                </a:solidFill>
                <a:latin typeface="+mn-lt"/>
              </a:defRPr>
            </a:pPr>
            <a:r>
              <a:rPr sz="1100" b="0" i="0" u="none" strike="noStrike">
                <a:solidFill>
                  <a:srgbClr val="5B6573"/>
                </a:solidFill>
                <a:latin typeface="+mn-lt"/>
              </a:rPr>
              <a:t>飲食原価率（2026年4〜9月）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飲食原価率</c:v>
                </c:pt>
              </c:strCache>
            </c:strRef>
          </c:tx>
          <c:spPr>
            <a:solidFill>
              <a:srgbClr val="C9CED6"/>
            </a:solidFill>
            <a:effectLst/>
          </c:spPr>
          <c:invertIfNegative val="0"/>
          <c:dLbls>
            <c:numFmt formatCode="0.0%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6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9CED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9CED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B5523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8C3B29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前期実績</c:v>
                  </c:pt>
                  <c:pt idx="1">
                    <c:v>予算</c:v>
                  </c:pt>
                  <c:pt idx="2">
                    <c:v>今期実績</c:v>
                  </c:pt>
                  <c:pt idx="3">
                    <c:v>9月単月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0.327</c:v>
                </c:pt>
                <c:pt idx="1">
                  <c:v>0.334</c:v>
                </c:pt>
                <c:pt idx="2">
                  <c:v>0.364</c:v>
                </c:pt>
                <c:pt idx="3">
                  <c:v>0.38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b="0" i="0" strike="noStrike" sz="1000" u="none">
                  <a:solidFill>
                    <a:srgbClr val="1F26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57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45"/>
          <c:min val="0"/>
        </c:scaling>
        <c:delete val="1"/>
        <c:axPos val="l"/>
        <c:majorGridlines>
          <c:spPr>
            <a:ln w="6350" cap="flat">
              <a:solidFill>
                <a:srgbClr val="E6E8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AA3AE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5B6573"/>
                </a:solidFill>
                <a:latin typeface="+mn-lt"/>
              </a:defRPr>
            </a:pPr>
            <a:r>
              <a:rPr sz="1100" b="0" i="0" u="none" strike="noStrike">
                <a:solidFill>
                  <a:srgbClr val="5B6573"/>
                </a:solidFill>
                <a:latin typeface="+mn-lt"/>
              </a:rPr>
              <a:t>分類別 売上前年比（2026年4〜6月）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売上 前年比</c:v>
                </c:pt>
              </c:strCache>
            </c:strRef>
          </c:tx>
          <c:spPr>
            <a:solidFill>
              <a:srgbClr val="B5523B"/>
            </a:solidFill>
            <a:effectLst/>
          </c:spPr>
          <c:invertIfNegative val="0"/>
          <c:dLbls>
            <c:numFmt formatCode="0.0%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6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5523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9CED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9CED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9CED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9CED6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C9CED6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アルコール</c:v>
                  </c:pt>
                  <c:pt idx="1">
                    <c:v>一品料理</c:v>
                  </c:pt>
                  <c:pt idx="2">
                    <c:v>デザート</c:v>
                  </c:pt>
                  <c:pt idx="3">
                    <c:v>ソフトドリンク</c:v>
                  </c:pt>
                  <c:pt idx="4">
                    <c:v>麺類</c:v>
                  </c:pt>
                  <c:pt idx="5">
                    <c:v>ご飯類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0.753</c:v>
                </c:pt>
                <c:pt idx="1">
                  <c:v>0.84</c:v>
                </c:pt>
                <c:pt idx="2">
                  <c:v>0.943</c:v>
                </c:pt>
                <c:pt idx="3">
                  <c:v>1.054</c:v>
                </c:pt>
                <c:pt idx="4">
                  <c:v>1.075</c:v>
                </c:pt>
                <c:pt idx="5">
                  <c:v>1.287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b="0" i="0" strike="noStrike" sz="1000" u="none">
                  <a:solidFill>
                    <a:srgbClr val="1F26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57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5"/>
          <c:min val="0"/>
        </c:scaling>
        <c:delete val="1"/>
        <c:axPos val="b"/>
        <c:majorGridlines>
          <c:spPr>
            <a:ln w="6350" cap="flat">
              <a:solidFill>
                <a:srgbClr val="E6E8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AA3AE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5B6573"/>
                </a:solidFill>
                <a:latin typeface="+mn-lt"/>
              </a:defRPr>
            </a:pPr>
            <a:r>
              <a:rPr sz="1100" b="0" i="0" u="none" strike="noStrike">
                <a:solidFill>
                  <a:srgbClr val="5B6573"/>
                </a:solidFill>
                <a:latin typeface="+mn-lt"/>
              </a:rPr>
              <a:t>分類別 実効値上げ率（税抜・販売数で加重）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実効値上げ率</c:v>
                </c:pt>
              </c:strCache>
            </c:strRef>
          </c:tx>
          <c:spPr>
            <a:solidFill>
              <a:srgbClr val="B5523B"/>
            </a:solidFill>
            <a:effectLst/>
          </c:spPr>
          <c:invertIfNegative val="0"/>
          <c:dLbls>
            <c:numFmt formatCode="+0.0%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6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デザート</c:v>
                  </c:pt>
                  <c:pt idx="1">
                    <c:v>一品料理</c:v>
                  </c:pt>
                  <c:pt idx="2">
                    <c:v>麺類</c:v>
                  </c:pt>
                  <c:pt idx="3">
                    <c:v>ご飯類</c:v>
                  </c:pt>
                  <c:pt idx="4">
                    <c:v>ソフトドリンク</c:v>
                  </c:pt>
                  <c:pt idx="5">
                    <c:v>アルコール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0.0533</c:v>
                </c:pt>
                <c:pt idx="1">
                  <c:v>0.0439</c:v>
                </c:pt>
                <c:pt idx="2">
                  <c:v>0.0412</c:v>
                </c:pt>
                <c:pt idx="3">
                  <c:v>0.0285</c:v>
                </c:pt>
                <c:pt idx="4">
                  <c:v>0.0285</c:v>
                </c:pt>
                <c:pt idx="5">
                  <c:v>0.0246</c:v>
                </c:pt>
              </c:numCache>
            </c:numRef>
          </c:val>
        </c:ser>
        <c:dLbls>
          <c:numFmt formatCode="+0.0%" sourceLinked="0"/>
          <c:txPr>
            <a:bodyPr/>
            <a:lstStyle/>
            <a:p>
              <a:pPr>
                <a:defRPr b="0" i="0" strike="noStrike" sz="1000" u="none">
                  <a:solidFill>
                    <a:srgbClr val="1F26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57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065"/>
          <c:min val="0"/>
        </c:scaling>
        <c:delete val="1"/>
        <c:axPos val="b"/>
        <c:majorGridlines>
          <c:spPr>
            <a:ln w="6350" cap="flat">
              <a:solidFill>
                <a:srgbClr val="E6E8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AA3AE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5B6573"/>
                </a:solidFill>
                <a:latin typeface="+mn-lt"/>
              </a:defRPr>
            </a:pPr>
            <a:r>
              <a:rPr sz="1100" b="0" i="0" u="none" strike="noStrike">
                <a:solidFill>
                  <a:srgbClr val="5B6573"/>
                </a:solidFill>
                <a:latin typeface="+mn-lt"/>
              </a:rPr>
              <a:t>年間の増減（万円・コラボ抜き）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売上増減</c:v>
                </c:pt>
              </c:strCache>
            </c:strRef>
          </c:tx>
          <c:spPr>
            <a:solidFill>
              <a:srgbClr val="C9CED6"/>
            </a:solidFill>
            <a:effectLst/>
          </c:spPr>
          <c:invertIfNegative val="0"/>
          <c:dLbls>
            <c:numFmt formatCode="+#,##0;-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6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客離れなし</c:v>
                  </c:pt>
                  <c:pt idx="1">
                    <c:v>販売数 −1%</c:v>
                  </c:pt>
                  <c:pt idx="2">
                    <c:v>販売数 −2%（想定）</c:v>
                  </c:pt>
                  <c:pt idx="3">
                    <c:v>販売数 −3%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161</c:v>
                </c:pt>
                <c:pt idx="1">
                  <c:v>101</c:v>
                </c:pt>
                <c:pt idx="2">
                  <c:v>41</c:v>
                </c:pt>
                <c:pt idx="3">
                  <c:v>-19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粗利増減</c:v>
                </c:pt>
              </c:strCache>
            </c:strRef>
          </c:tx>
          <c:spPr>
            <a:solidFill>
              <a:srgbClr val="B5523B"/>
            </a:solidFill>
            <a:effectLst/>
          </c:spPr>
          <c:invertIfNegative val="0"/>
          <c:dLbls>
            <c:numFmt formatCode="+#,##0;-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6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客離れなし</c:v>
                  </c:pt>
                  <c:pt idx="1">
                    <c:v>販売数 −1%</c:v>
                  </c:pt>
                  <c:pt idx="2">
                    <c:v>販売数 −2%（想定）</c:v>
                  </c:pt>
                  <c:pt idx="3">
                    <c:v>販売数 −3%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161</c:v>
                </c:pt>
                <c:pt idx="1">
                  <c:v>122</c:v>
                </c:pt>
                <c:pt idx="2">
                  <c:v>83</c:v>
                </c:pt>
                <c:pt idx="3">
                  <c:v>45</c:v>
                </c:pt>
              </c:numCache>
            </c:numRef>
          </c:val>
        </c:ser>
        <c:dLbls>
          <c:numFmt formatCode="+#,##0;-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F26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57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00"/>
          <c:min val="-50"/>
        </c:scaling>
        <c:delete val="1"/>
        <c:axPos val="l"/>
        <c:majorGridlines>
          <c:spPr>
            <a:ln w="6350" cap="flat">
              <a:solidFill>
                <a:srgbClr val="E6E8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AA3AE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B6573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本日は飲食メニューの価格改定についてご提案します。データは2026年4〜9月の予実管理表と、4〜6月のPOS期間報（税抜）を使用しています。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結論から申し上げます。コラボ以外の通年メニューを平均2.75%値上げすることで、販売数が変わらなければ年間161万円の増収です。販売数が4.1%減るまでは粗利が減らない計算です。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コラボ売上は前期から1,291万円減っています。一方でコラボ抜きの食事売上は予算比101%と安定しており、価格改定の土台があります。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原価率は前期32.7%、予算33.4%に対して、上期実績は36.4%、9月単月では38.0%まで上がっています。売価が据え置きのまま原価だけが上がっている状態です。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分類別の前年比を見ると、ご飯類や麺類は伸びていますが、アルコールは75%と最も落ち込んでいます。飲食者1人あたりの杯数も0.24杯から0.21杯に減りました。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改定の考え方は3つです。支持の高い食事メニューを中心に小幅に上げ、来店の動機になるビールやリポスパは据え置き、コラボは対象外とします。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4〜6月の商品別販売数に、商品ごとの値上げ額を掛けて計算しました。メニュー表の単純平均では4.6%ですが、売れ筋の据え置き商品があるため、実際の効果は2.75%になります。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年間のコラボ抜き売上5,841万円をベースに、販売数の変化を4パターンで試算しました。原価は1品あたり変わらないものとしています。販売数が4.1%減るまでは粗利が減りません。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価格表に載っていない近江牛サウナカリーと、据え置き予定のリポスパを加えると、実効値上げ率は3.3%、想定ケースの粗利増は117万円になります。一方、1010JUGビールは1品だけ29%の大幅値上げなので、幅の見直しをおすすめし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価格改定だけでは原価率の悪化は解消しきれません。理論原価率と実績の差の点検、アルコールの注文を増やす施策、改定後の検証を同時に進めます。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最後に、ご判断いただきたい点は3つです。ご承認いただけましたら、メニュー表とPOSの価格変更の準備に入ります。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1234440"/>
            <a:ext cx="786384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645920"/>
            <a:ext cx="786384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0080" y="3154680"/>
            <a:ext cx="786384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dirty="0">
                <a:solidFill>
                  <a:schemeClr val="accent5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50" b="1" spc="15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4" name="Text 0"/>
          <p:cNvSpPr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chemeClr val="accent2"/>
                </a:solidFill>
              </a:rPr>
              <a:t>RAKU SPA 1010 神田｜飲食メニュー価格改定のご提案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12344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PROPOSAL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64592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飲食メニュー価格改定のご提案</a:t>
            </a:r>
            <a:endParaRPr lang="en-US" sz="3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0080" y="315468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コラボ抜き売上・原価率・アルコールの課題を踏まえて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RAKU SPA 1010 神田　2026年10月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chemeClr val="accent1"/>
                </a:solidFill>
              </a:rPr>
              <a:t>SUMMARY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食事メニューを中心に、平均+2.8%の価格改定を提案します</a:t>
            </a:r>
            <a:endParaRPr lang="en-US" sz="2200" dirty="0"/>
          </a:p>
        </p:txBody>
      </p:sp>
      <p:sp>
        <p:nvSpPr>
          <p:cNvPr id="5" name="summary-card-0"/>
          <p:cNvSpPr/>
          <p:nvPr/>
        </p:nvSpPr>
        <p:spPr>
          <a:xfrm>
            <a:off x="457200" y="1325880"/>
            <a:ext cx="2615184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/>
        </p:spPr>
      </p:sp>
      <p:sp>
        <p:nvSpPr>
          <p:cNvPr id="6" name="stat-実効値上げ率"/>
          <p:cNvSpPr txBox="1"/>
          <p:nvPr/>
        </p:nvSpPr>
        <p:spPr>
          <a:xfrm>
            <a:off x="685800" y="155448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+2.75%</a:t>
            </a:r>
            <a:endParaRPr lang="en-US" sz="3200" dirty="0"/>
          </a:p>
        </p:txBody>
      </p:sp>
      <p:sp>
        <p:nvSpPr>
          <p:cNvPr id="7" name="stat-label"/>
          <p:cNvSpPr txBox="1"/>
          <p:nvPr/>
        </p:nvSpPr>
        <p:spPr>
          <a:xfrm>
            <a:off x="685800" y="2157984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実効値上げ率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（コラボ抜き売上に対して）</a:t>
            </a:r>
            <a:endParaRPr lang="en-US" sz="1050" dirty="0"/>
          </a:p>
        </p:txBody>
      </p:sp>
      <p:sp>
        <p:nvSpPr>
          <p:cNvPr id="8" name="summary-card-1"/>
          <p:cNvSpPr/>
          <p:nvPr/>
        </p:nvSpPr>
        <p:spPr>
          <a:xfrm>
            <a:off x="3264408" y="1325880"/>
            <a:ext cx="2615184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/>
        </p:spPr>
      </p:sp>
      <p:sp>
        <p:nvSpPr>
          <p:cNvPr id="9" name="stat-年間の売上・"/>
          <p:cNvSpPr txBox="1"/>
          <p:nvPr/>
        </p:nvSpPr>
        <p:spPr>
          <a:xfrm>
            <a:off x="3493008" y="155448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+161万円</a:t>
            </a:r>
            <a:endParaRPr lang="en-US" sz="3200" dirty="0"/>
          </a:p>
        </p:txBody>
      </p:sp>
      <p:sp>
        <p:nvSpPr>
          <p:cNvPr id="10" name="stat-label"/>
          <p:cNvSpPr txBox="1"/>
          <p:nvPr/>
        </p:nvSpPr>
        <p:spPr>
          <a:xfrm>
            <a:off x="3493008" y="2157984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年間の売上・粗利増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（販売数が変わらない場合）</a:t>
            </a:r>
            <a:endParaRPr lang="en-US" sz="1050" dirty="0"/>
          </a:p>
        </p:txBody>
      </p:sp>
      <p:sp>
        <p:nvSpPr>
          <p:cNvPr id="11" name="summary-card-2"/>
          <p:cNvSpPr/>
          <p:nvPr/>
        </p:nvSpPr>
        <p:spPr>
          <a:xfrm>
            <a:off x="6071616" y="1325880"/>
            <a:ext cx="2615184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/>
        </p:spPr>
      </p:sp>
      <p:sp>
        <p:nvSpPr>
          <p:cNvPr id="12" name="stat-ここまで販売"/>
          <p:cNvSpPr txBox="1"/>
          <p:nvPr/>
        </p:nvSpPr>
        <p:spPr>
          <a:xfrm>
            <a:off x="6300216" y="155448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4.1%</a:t>
            </a:r>
            <a:endParaRPr lang="en-US" sz="3200" dirty="0"/>
          </a:p>
        </p:txBody>
      </p:sp>
      <p:sp>
        <p:nvSpPr>
          <p:cNvPr id="13" name="stat-label"/>
          <p:cNvSpPr txBox="1"/>
          <p:nvPr/>
        </p:nvSpPr>
        <p:spPr>
          <a:xfrm>
            <a:off x="6300216" y="2157984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ここまで販売数が減っても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粗利額は値上げ前を維持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3154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背景にある3つの課題</a:t>
            </a:r>
            <a:endParaRPr lang="en-US" sz="1200" dirty="0"/>
          </a:p>
        </p:txBody>
      </p:sp>
      <p:sp>
        <p:nvSpPr>
          <p:cNvPr id="15" name="issue-0"/>
          <p:cNvSpPr/>
          <p:nvPr/>
        </p:nvSpPr>
        <p:spPr>
          <a:xfrm>
            <a:off x="457200" y="356616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issue-0-n"/>
          <p:cNvSpPr txBox="1"/>
          <p:nvPr/>
        </p:nvSpPr>
        <p:spPr>
          <a:xfrm>
            <a:off x="457200" y="3566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960120" y="3511296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原価率の上昇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飲食原価率 36.4%（前期+3.7pt）</a:t>
            </a:r>
            <a:endParaRPr lang="en-US" sz="1200" dirty="0"/>
          </a:p>
        </p:txBody>
      </p:sp>
      <p:sp>
        <p:nvSpPr>
          <p:cNvPr id="18" name="issue-1"/>
          <p:cNvSpPr/>
          <p:nvPr/>
        </p:nvSpPr>
        <p:spPr>
          <a:xfrm>
            <a:off x="3264408" y="356616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9" name="issue-1-n"/>
          <p:cNvSpPr txBox="1"/>
          <p:nvPr/>
        </p:nvSpPr>
        <p:spPr>
          <a:xfrm>
            <a:off x="3264408" y="3566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3767328" y="3511296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コラボ売上の減少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コラボ売上 前期比 67%</a:t>
            </a:r>
            <a:endParaRPr lang="en-US" sz="1200" dirty="0"/>
          </a:p>
        </p:txBody>
      </p:sp>
      <p:sp>
        <p:nvSpPr>
          <p:cNvPr id="21" name="issue-2"/>
          <p:cNvSpPr/>
          <p:nvPr/>
        </p:nvSpPr>
        <p:spPr>
          <a:xfrm>
            <a:off x="6071616" y="356616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2" name="issue-2-n"/>
          <p:cNvSpPr txBox="1"/>
          <p:nvPr/>
        </p:nvSpPr>
        <p:spPr>
          <a:xfrm>
            <a:off x="6071616" y="3566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6574536" y="3511296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アルコールの低迷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アルコール売上 前年比 75%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chemeClr val="accent1"/>
                </a:solidFill>
              </a:rPr>
              <a:t>現状と課題 01｜コラボ抜き売上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コラボは前期比67%に減少、コラボ抜きは予算超えで安定</a:t>
            </a:r>
            <a:endParaRPr lang="en-US" sz="2200" dirty="0"/>
          </a:p>
        </p:txBody>
      </p:sp>
      <p:graphicFrame>
        <p:nvGraphicFramePr>
          <p:cNvPr id="5" name="chart-collab" descr=""/>
          <p:cNvGraphicFramePr/>
          <p:nvPr/>
        </p:nvGraphicFramePr>
        <p:xfrm>
          <a:off x="365760" y="1234440"/>
          <a:ext cx="512064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collab-side"/>
          <p:cNvSpPr/>
          <p:nvPr/>
        </p:nvSpPr>
        <p:spPr>
          <a:xfrm>
            <a:off x="5760720" y="1325880"/>
            <a:ext cx="2926080" cy="3063240"/>
          </a:xfrm>
          <a:prstGeom prst="roundRect">
            <a:avLst>
              <a:gd name="adj" fmla="val 2500"/>
            </a:avLst>
          </a:prstGeom>
          <a:solidFill>
            <a:schemeClr val="bg2"/>
          </a:solidFill>
          <a:ln/>
        </p:spPr>
      </p:sp>
      <p:sp>
        <p:nvSpPr>
          <p:cNvPr id="7" name="stat-コラボ売上の"/>
          <p:cNvSpPr txBox="1"/>
          <p:nvPr/>
        </p:nvSpPr>
        <p:spPr>
          <a:xfrm>
            <a:off x="5989320" y="150876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66.6%</a:t>
            </a:r>
            <a:endParaRPr lang="en-US" sz="3000" dirty="0"/>
          </a:p>
        </p:txBody>
      </p:sp>
      <p:sp>
        <p:nvSpPr>
          <p:cNvPr id="8" name="stat-label"/>
          <p:cNvSpPr txBox="1"/>
          <p:nvPr/>
        </p:nvSpPr>
        <p:spPr>
          <a:xfrm>
            <a:off x="5989320" y="2112264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コラボ売上の前期比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（▲1,291万円）</a:t>
            </a:r>
            <a:endParaRPr lang="en-US" sz="1050" dirty="0"/>
          </a:p>
        </p:txBody>
      </p:sp>
      <p:sp>
        <p:nvSpPr>
          <p:cNvPr id="9" name="stat-コラボ抜き売"/>
          <p:cNvSpPr txBox="1"/>
          <p:nvPr/>
        </p:nvSpPr>
        <p:spPr>
          <a:xfrm>
            <a:off x="5989320" y="260604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101.3%</a:t>
            </a:r>
            <a:endParaRPr lang="en-US" sz="3000" dirty="0"/>
          </a:p>
        </p:txBody>
      </p:sp>
      <p:sp>
        <p:nvSpPr>
          <p:cNvPr id="10" name="stat-label"/>
          <p:cNvSpPr txBox="1"/>
          <p:nvPr/>
        </p:nvSpPr>
        <p:spPr>
          <a:xfrm>
            <a:off x="5989320" y="3209544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コラボ抜き売上の予算比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（4〜6月は前年比102.7%）</a:t>
            </a:r>
            <a:endParaRPr lang="en-US" sz="1050" dirty="0"/>
          </a:p>
        </p:txBody>
      </p:sp>
      <p:sp>
        <p:nvSpPr>
          <p:cNvPr id="11" name="Text 7"/>
          <p:cNvSpPr txBox="1"/>
          <p:nvPr/>
        </p:nvSpPr>
        <p:spPr>
          <a:xfrm>
            <a:off x="5989320" y="36576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コラボは期間限定で先が読めないため、通年メニューで稼ぐ力を高める必要があります。</a:t>
            </a:r>
            <a:endParaRPr lang="en-US" sz="1000" dirty="0"/>
          </a:p>
        </p:txBody>
      </p:sp>
      <p:sp>
        <p:nvSpPr>
          <p:cNvPr id="12" name="source"/>
          <p:cNvSpPr txBox="1"/>
          <p:nvPr/>
        </p:nvSpPr>
        <p:spPr>
          <a:xfrm>
            <a:off x="457200" y="45262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chemeClr val="accent2"/>
                </a:solidFill>
              </a:rPr>
              <a:t>出典：予実管理表 2026年9月（累計）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chemeClr val="accent1"/>
                </a:solidFill>
              </a:rPr>
              <a:t>現状と課題 02｜原価率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飲食原価率は36.4%まで上昇し、粗利は前期比▲1,098万円</a:t>
            </a:r>
            <a:endParaRPr lang="en-US" sz="2200" dirty="0"/>
          </a:p>
        </p:txBody>
      </p:sp>
      <p:graphicFrame>
        <p:nvGraphicFramePr>
          <p:cNvPr id="5" name="chart-cost" descr=""/>
          <p:cNvGraphicFramePr/>
          <p:nvPr/>
        </p:nvGraphicFramePr>
        <p:xfrm>
          <a:off x="365760" y="1234440"/>
          <a:ext cx="512064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cost-side"/>
          <p:cNvSpPr/>
          <p:nvPr/>
        </p:nvSpPr>
        <p:spPr>
          <a:xfrm>
            <a:off x="5760720" y="1325880"/>
            <a:ext cx="2926080" cy="3063240"/>
          </a:xfrm>
          <a:prstGeom prst="roundRect">
            <a:avLst>
              <a:gd name="adj" fmla="val 2500"/>
            </a:avLst>
          </a:prstGeom>
          <a:solidFill>
            <a:schemeClr val="bg2"/>
          </a:solidFill>
          <a:ln/>
        </p:spPr>
      </p:sp>
      <p:sp>
        <p:nvSpPr>
          <p:cNvPr id="7" name="stat-原価率の前期"/>
          <p:cNvSpPr txBox="1"/>
          <p:nvPr/>
        </p:nvSpPr>
        <p:spPr>
          <a:xfrm>
            <a:off x="5989320" y="150876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+3.7pt</a:t>
            </a:r>
            <a:endParaRPr lang="en-US" sz="3000" dirty="0"/>
          </a:p>
        </p:txBody>
      </p:sp>
      <p:sp>
        <p:nvSpPr>
          <p:cNvPr id="8" name="stat-label"/>
          <p:cNvSpPr txBox="1"/>
          <p:nvPr/>
        </p:nvSpPr>
        <p:spPr>
          <a:xfrm>
            <a:off x="5989320" y="2112264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原価率の前期差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（予算差 +3.0pt）</a:t>
            </a:r>
            <a:endParaRPr lang="en-US" sz="1050" dirty="0"/>
          </a:p>
        </p:txBody>
      </p:sp>
      <p:sp>
        <p:nvSpPr>
          <p:cNvPr id="9" name="stat-飲食粗利の前"/>
          <p:cNvSpPr txBox="1"/>
          <p:nvPr/>
        </p:nvSpPr>
        <p:spPr>
          <a:xfrm>
            <a:off x="5989320" y="260604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76%</a:t>
            </a:r>
            <a:endParaRPr lang="en-US" sz="3000" dirty="0"/>
          </a:p>
        </p:txBody>
      </p:sp>
      <p:sp>
        <p:nvSpPr>
          <p:cNvPr id="10" name="stat-label"/>
          <p:cNvSpPr txBox="1"/>
          <p:nvPr/>
        </p:nvSpPr>
        <p:spPr>
          <a:xfrm>
            <a:off x="5989320" y="3209544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飲食粗利の前期比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（3,493万円、▲1,098万円）</a:t>
            </a:r>
            <a:endParaRPr lang="en-US" sz="1050" dirty="0"/>
          </a:p>
        </p:txBody>
      </p:sp>
      <p:sp>
        <p:nvSpPr>
          <p:cNvPr id="11" name="Text 7"/>
          <p:cNvSpPr txBox="1"/>
          <p:nvPr/>
        </p:nvSpPr>
        <p:spPr>
          <a:xfrm>
            <a:off x="5989320" y="36576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売価は据え置きのまま、原価だけが上がっています。</a:t>
            </a:r>
            <a:endParaRPr lang="en-US" sz="1000" dirty="0"/>
          </a:p>
        </p:txBody>
      </p:sp>
      <p:sp>
        <p:nvSpPr>
          <p:cNvPr id="12" name="source"/>
          <p:cNvSpPr txBox="1"/>
          <p:nvPr/>
        </p:nvSpPr>
        <p:spPr>
          <a:xfrm>
            <a:off x="457200" y="45262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chemeClr val="accent2"/>
                </a:solidFill>
              </a:rPr>
              <a:t>出典：予実管理表 2026年9月（累計・単月）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chemeClr val="accent1"/>
                </a:solidFill>
              </a:rPr>
              <a:t>現状と課題 03｜アルコール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食事は伸びる一方、アルコールは前年比75%に低迷</a:t>
            </a:r>
            <a:endParaRPr lang="en-US" sz="2200" dirty="0"/>
          </a:p>
        </p:txBody>
      </p:sp>
      <p:graphicFrame>
        <p:nvGraphicFramePr>
          <p:cNvPr id="5" name="chart-alcohol" descr=""/>
          <p:cNvGraphicFramePr/>
          <p:nvPr/>
        </p:nvGraphicFramePr>
        <p:xfrm>
          <a:off x="365760" y="1234440"/>
          <a:ext cx="512064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alc-side"/>
          <p:cNvSpPr/>
          <p:nvPr/>
        </p:nvSpPr>
        <p:spPr>
          <a:xfrm>
            <a:off x="5760720" y="1325880"/>
            <a:ext cx="2926080" cy="3063240"/>
          </a:xfrm>
          <a:prstGeom prst="roundRect">
            <a:avLst>
              <a:gd name="adj" fmla="val 2500"/>
            </a:avLst>
          </a:prstGeom>
          <a:solidFill>
            <a:schemeClr val="bg2"/>
          </a:solidFill>
          <a:ln/>
        </p:spPr>
      </p:sp>
      <p:sp>
        <p:nvSpPr>
          <p:cNvPr id="7" name="stat-飲食者1人あ"/>
          <p:cNvSpPr txBox="1"/>
          <p:nvPr/>
        </p:nvSpPr>
        <p:spPr>
          <a:xfrm>
            <a:off x="5989320" y="150876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0.24→0.21杯</a:t>
            </a:r>
            <a:endParaRPr lang="en-US" sz="2400" dirty="0"/>
          </a:p>
        </p:txBody>
      </p:sp>
      <p:sp>
        <p:nvSpPr>
          <p:cNvPr id="8" name="stat-label"/>
          <p:cNvSpPr txBox="1"/>
          <p:nvPr/>
        </p:nvSpPr>
        <p:spPr>
          <a:xfrm>
            <a:off x="5989320" y="2112264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飲食者1人あたりの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アルコール注文杯数</a:t>
            </a:r>
            <a:endParaRPr lang="en-US" sz="1050" dirty="0"/>
          </a:p>
        </p:txBody>
      </p:sp>
      <p:sp>
        <p:nvSpPr>
          <p:cNvPr id="9" name="stat-飲食者数の前"/>
          <p:cNvSpPr txBox="1"/>
          <p:nvPr/>
        </p:nvSpPr>
        <p:spPr>
          <a:xfrm>
            <a:off x="5989320" y="260604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86%</a:t>
            </a:r>
            <a:endParaRPr lang="en-US" sz="3000" dirty="0"/>
          </a:p>
        </p:txBody>
      </p:sp>
      <p:sp>
        <p:nvSpPr>
          <p:cNvPr id="10" name="stat-label"/>
          <p:cNvSpPr txBox="1"/>
          <p:nvPr/>
        </p:nvSpPr>
        <p:spPr>
          <a:xfrm>
            <a:off x="5989320" y="3209544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飲食者数の前年比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（16,008人）</a:t>
            </a:r>
            <a:endParaRPr lang="en-US" sz="1050" dirty="0"/>
          </a:p>
        </p:txBody>
      </p:sp>
      <p:sp>
        <p:nvSpPr>
          <p:cNvPr id="11" name="Text 7"/>
          <p:cNvSpPr txBox="1"/>
          <p:nvPr/>
        </p:nvSpPr>
        <p:spPr>
          <a:xfrm>
            <a:off x="5989320" y="36576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アルコールは値上げより、注文を増やす施策が先決です。</a:t>
            </a:r>
            <a:endParaRPr lang="en-US" sz="1000" dirty="0"/>
          </a:p>
        </p:txBody>
      </p:sp>
      <p:sp>
        <p:nvSpPr>
          <p:cNvPr id="12" name="source"/>
          <p:cNvSpPr txBox="1"/>
          <p:nvPr/>
        </p:nvSpPr>
        <p:spPr>
          <a:xfrm>
            <a:off x="457200" y="45262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chemeClr val="accent2"/>
                </a:solidFill>
              </a:rPr>
              <a:t>出典：期間報（分類別）2026/4/1〜6/30 税抜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chemeClr val="accent1"/>
                </a:solidFill>
              </a:rPr>
              <a:t>改定案｜基本方針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原価上昇分は食事メニューで吸収し、入口価格は据え置きます</a:t>
            </a:r>
            <a:endParaRPr lang="en-US" sz="2200" dirty="0"/>
          </a:p>
        </p:txBody>
      </p:sp>
      <p:sp>
        <p:nvSpPr>
          <p:cNvPr id="5" name="policy-0"/>
          <p:cNvSpPr/>
          <p:nvPr/>
        </p:nvSpPr>
        <p:spPr>
          <a:xfrm>
            <a:off x="457200" y="1371600"/>
            <a:ext cx="2615184" cy="2926080"/>
          </a:xfrm>
          <a:prstGeom prst="roundRect">
            <a:avLst>
              <a:gd name="adj" fmla="val 2797"/>
            </a:avLst>
          </a:prstGeom>
          <a:solidFill>
            <a:schemeClr val="bg2"/>
          </a:solidFill>
          <a:ln/>
        </p:spPr>
      </p:sp>
      <p:sp>
        <p:nvSpPr>
          <p:cNvPr id="6" name="policy-n0"/>
          <p:cNvSpPr/>
          <p:nvPr/>
        </p:nvSpPr>
        <p:spPr>
          <a:xfrm>
            <a:off x="685800" y="160020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policy-n0-n"/>
          <p:cNvSpPr txBox="1"/>
          <p:nvPr/>
        </p:nvSpPr>
        <p:spPr>
          <a:xfrm>
            <a:off x="685800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214884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食事中心に小幅改定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278892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tx2"/>
                </a:solidFill>
              </a:rPr>
              <a:t>税込で主に+10〜50円。ご飯類（前年比129%）・麺類（107%）など、支持の高い食事メニューが中心です。</a:t>
            </a:r>
            <a:endParaRPr lang="en-US" sz="1100" dirty="0"/>
          </a:p>
        </p:txBody>
      </p:sp>
      <p:sp>
        <p:nvSpPr>
          <p:cNvPr id="10" name="policy-1"/>
          <p:cNvSpPr/>
          <p:nvPr/>
        </p:nvSpPr>
        <p:spPr>
          <a:xfrm>
            <a:off x="3264408" y="1371600"/>
            <a:ext cx="2615184" cy="2926080"/>
          </a:xfrm>
          <a:prstGeom prst="roundRect">
            <a:avLst>
              <a:gd name="adj" fmla="val 2797"/>
            </a:avLst>
          </a:prstGeom>
          <a:solidFill>
            <a:schemeClr val="bg2"/>
          </a:solidFill>
          <a:ln/>
        </p:spPr>
      </p:sp>
      <p:sp>
        <p:nvSpPr>
          <p:cNvPr id="11" name="policy-n1"/>
          <p:cNvSpPr/>
          <p:nvPr/>
        </p:nvSpPr>
        <p:spPr>
          <a:xfrm>
            <a:off x="3493008" y="160020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policy-n1-n"/>
          <p:cNvSpPr txBox="1"/>
          <p:nvPr/>
        </p:nvSpPr>
        <p:spPr>
          <a:xfrm>
            <a:off x="3493008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3493008" y="214884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入口価格は据え置き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3493008" y="278892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tx2"/>
                </a:solidFill>
              </a:rPr>
              <a:t>ビール4種（税込855円）とリポスパは据え置き。注文のきっかけになる価格を守ります。</a:t>
            </a:r>
            <a:endParaRPr lang="en-US" sz="1100" dirty="0"/>
          </a:p>
        </p:txBody>
      </p:sp>
      <p:sp>
        <p:nvSpPr>
          <p:cNvPr id="15" name="policy-2"/>
          <p:cNvSpPr/>
          <p:nvPr/>
        </p:nvSpPr>
        <p:spPr>
          <a:xfrm>
            <a:off x="6071616" y="1371600"/>
            <a:ext cx="2615184" cy="2926080"/>
          </a:xfrm>
          <a:prstGeom prst="roundRect">
            <a:avLst>
              <a:gd name="adj" fmla="val 2797"/>
            </a:avLst>
          </a:prstGeom>
          <a:solidFill>
            <a:schemeClr val="bg2"/>
          </a:solidFill>
          <a:ln/>
        </p:spPr>
      </p:sp>
      <p:sp>
        <p:nvSpPr>
          <p:cNvPr id="16" name="policy-n2"/>
          <p:cNvSpPr/>
          <p:nvPr/>
        </p:nvSpPr>
        <p:spPr>
          <a:xfrm>
            <a:off x="6300216" y="160020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policy-n2-n"/>
          <p:cNvSpPr txBox="1"/>
          <p:nvPr/>
        </p:nvSpPr>
        <p:spPr>
          <a:xfrm>
            <a:off x="6300216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6300216" y="214884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コラボは対象外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6300216" y="278892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tx2"/>
                </a:solidFill>
              </a:rPr>
              <a:t>期間限定のコラボは価格を変えず、通年メニューで稼ぐ力を高めます。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chemeClr val="accent1"/>
                </a:solidFill>
              </a:rPr>
              <a:t>改定案｜分類別の効果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実際の販売数で加重すると、実効値上げ率は+2.75%</a:t>
            </a:r>
            <a:endParaRPr lang="en-US" sz="2200" dirty="0"/>
          </a:p>
        </p:txBody>
      </p:sp>
      <p:graphicFrame>
        <p:nvGraphicFramePr>
          <p:cNvPr id="5" name="chart-category" descr=""/>
          <p:cNvGraphicFramePr/>
          <p:nvPr/>
        </p:nvGraphicFramePr>
        <p:xfrm>
          <a:off x="365760" y="1234440"/>
          <a:ext cx="512064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8" name="table-category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0" y="1371600"/>
          <a:ext cx="292608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37160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7A808A"/>
                          </a:solidFill>
                        </a:rPr>
                        <a:t>分類</a:t>
                      </a:r>
                      <a:endParaRPr lang="en-US" sz="11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7A808A"/>
                          </a:solidFill>
                        </a:rPr>
                        <a:t>3か月の増収</a:t>
                      </a:r>
                      <a:endParaRPr lang="en-US" sz="11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630"/>
                          </a:solidFill>
                        </a:rPr>
                        <a:t>ご飯類</a:t>
                      </a:r>
                      <a:endParaRPr lang="en-US" sz="11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630"/>
                          </a:solidFill>
                        </a:rPr>
                        <a:t>+9.8万円</a:t>
                      </a:r>
                      <a:endParaRPr lang="en-US" sz="11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630"/>
                          </a:solidFill>
                        </a:rPr>
                        <a:t>一品料理</a:t>
                      </a:r>
                      <a:endParaRPr lang="en-US" sz="11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630"/>
                          </a:solidFill>
                        </a:rPr>
                        <a:t>+9.6万円</a:t>
                      </a:r>
                      <a:endParaRPr lang="en-US" sz="11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630"/>
                          </a:solidFill>
                        </a:rPr>
                        <a:t>麺類</a:t>
                      </a:r>
                      <a:endParaRPr lang="en-US" sz="11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630"/>
                          </a:solidFill>
                        </a:rPr>
                        <a:t>+7.2万円</a:t>
                      </a:r>
                      <a:endParaRPr lang="en-US" sz="11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630"/>
                          </a:solidFill>
                        </a:rPr>
                        <a:t>アルコール</a:t>
                      </a:r>
                      <a:endParaRPr lang="en-US" sz="11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630"/>
                          </a:solidFill>
                        </a:rPr>
                        <a:t>+4.8万円</a:t>
                      </a:r>
                      <a:endParaRPr lang="en-US" sz="11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630"/>
                          </a:solidFill>
                        </a:rPr>
                        <a:t>ソフトドリンク</a:t>
                      </a:r>
                      <a:endParaRPr lang="en-US" sz="11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630"/>
                          </a:solidFill>
                        </a:rPr>
                        <a:t>+4.3万円</a:t>
                      </a:r>
                      <a:endParaRPr lang="en-US" sz="11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630"/>
                          </a:solidFill>
                        </a:rPr>
                        <a:t>デザート</a:t>
                      </a:r>
                      <a:endParaRPr lang="en-US" sz="11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630"/>
                          </a:solidFill>
                        </a:rPr>
                        <a:t>+3.1万円</a:t>
                      </a:r>
                      <a:endParaRPr lang="en-US" sz="11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630"/>
                          </a:solidFill>
                        </a:rPr>
                        <a:t>合計</a:t>
                      </a:r>
                      <a:endParaRPr lang="en-US" sz="11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B5523B"/>
                          </a:solidFill>
                        </a:rPr>
                        <a:t>+38.8万円</a:t>
                      </a:r>
                      <a:endParaRPr lang="en-US" sz="11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7" name="Text 2"/>
          <p:cNvSpPr txBox="1"/>
          <p:nvPr/>
        </p:nvSpPr>
        <p:spPr>
          <a:xfrm>
            <a:off x="5760720" y="4206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販売数上位のリポスパ・ビール4種が据え置きのため、単純平均（4.6%）より低くなります。</a:t>
            </a:r>
            <a:endParaRPr lang="en-US" sz="900" dirty="0"/>
          </a:p>
        </p:txBody>
      </p:sp>
      <p:sp>
        <p:nvSpPr>
          <p:cNvPr id="8" name="source"/>
          <p:cNvSpPr txBox="1"/>
          <p:nvPr/>
        </p:nvSpPr>
        <p:spPr>
          <a:xfrm>
            <a:off x="457200" y="45262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chemeClr val="accent2"/>
                </a:solidFill>
              </a:rPr>
              <a:t>出典：期間報（商品別）2026/4/1〜6/30 税抜 × メニュー原価一覧（改定案）。増収額は販売数が変わらない場合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chemeClr val="accent1"/>
                </a:solidFill>
              </a:rPr>
              <a:t>効果｜売上・粗利の想定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販売数が2%減っても、粗利は年間+83万円を確保できます</a:t>
            </a:r>
            <a:endParaRPr lang="en-US" sz="2200" dirty="0"/>
          </a:p>
        </p:txBody>
      </p:sp>
      <p:graphicFrame>
        <p:nvGraphicFramePr>
          <p:cNvPr id="5" name="chart-scenario" descr=""/>
          <p:cNvGraphicFramePr/>
          <p:nvPr/>
        </p:nvGraphicFramePr>
        <p:xfrm>
          <a:off x="365760" y="1234440"/>
          <a:ext cx="539496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cenario-side"/>
          <p:cNvSpPr/>
          <p:nvPr/>
        </p:nvSpPr>
        <p:spPr>
          <a:xfrm>
            <a:off x="6035040" y="1325880"/>
            <a:ext cx="2651760" cy="306324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/>
        </p:spPr>
      </p:sp>
      <p:sp>
        <p:nvSpPr>
          <p:cNvPr id="7" name="stat-粗利が値上げ"/>
          <p:cNvSpPr txBox="1"/>
          <p:nvPr/>
        </p:nvSpPr>
        <p:spPr>
          <a:xfrm>
            <a:off x="6263640" y="150876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4.1%</a:t>
            </a:r>
            <a:endParaRPr lang="en-US" sz="3000" dirty="0"/>
          </a:p>
        </p:txBody>
      </p:sp>
      <p:sp>
        <p:nvSpPr>
          <p:cNvPr id="8" name="stat-label"/>
          <p:cNvSpPr txBox="1"/>
          <p:nvPr/>
        </p:nvSpPr>
        <p:spPr>
          <a:xfrm>
            <a:off x="6263640" y="211226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粗利が値上げ前と同じになる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販売数の減少率</a:t>
            </a:r>
            <a:endParaRPr lang="en-US" sz="1050" dirty="0"/>
          </a:p>
        </p:txBody>
      </p:sp>
      <p:sp>
        <p:nvSpPr>
          <p:cNvPr id="9" name="stat-改定後の飲食"/>
          <p:cNvSpPr txBox="1"/>
          <p:nvPr/>
        </p:nvSpPr>
        <p:spPr>
          <a:xfrm>
            <a:off x="6263640" y="260604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35.5%</a:t>
            </a:r>
            <a:endParaRPr lang="en-US" sz="3000" dirty="0"/>
          </a:p>
        </p:txBody>
      </p:sp>
      <p:sp>
        <p:nvSpPr>
          <p:cNvPr id="10" name="stat-label"/>
          <p:cNvSpPr txBox="1"/>
          <p:nvPr/>
        </p:nvSpPr>
        <p:spPr>
          <a:xfrm>
            <a:off x="6263640" y="320954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改定後の飲食原価率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（現状 36.4%）</a:t>
            </a:r>
            <a:endParaRPr lang="en-US" sz="1050" dirty="0"/>
          </a:p>
        </p:txBody>
      </p:sp>
      <p:sp>
        <p:nvSpPr>
          <p:cNvPr id="11" name="Text 7"/>
          <p:cNvSpPr txBox="1"/>
          <p:nvPr/>
        </p:nvSpPr>
        <p:spPr>
          <a:xfrm>
            <a:off x="6263640" y="36576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ベース：2026年上期の食事売上×2（年5,841万円）</a:t>
            </a:r>
            <a:endParaRPr lang="en-US" sz="1000" dirty="0"/>
          </a:p>
        </p:txBody>
      </p:sp>
      <p:sp>
        <p:nvSpPr>
          <p:cNvPr id="12" name="source"/>
          <p:cNvSpPr txBox="1"/>
          <p:nvPr/>
        </p:nvSpPr>
        <p:spPr>
          <a:xfrm>
            <a:off x="457200" y="45262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chemeClr val="accent2"/>
                </a:solidFill>
              </a:rPr>
              <a:t>試算：値上げ根拠_売上想定.xlsx「売上想定」シート。原価は1品あたり不変と仮定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chemeClr val="accent1"/>
                </a:solidFill>
              </a:rPr>
              <a:t>追加のご検討事項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売れ筋2品を加えると、粗利効果は年間+117万円に広がります</a:t>
            </a:r>
            <a:endParaRPr lang="en-US" sz="2200" dirty="0"/>
          </a:p>
        </p:txBody>
      </p:sp>
      <p:sp>
        <p:nvSpPr>
          <p:cNvPr id="5" name="add-0"/>
          <p:cNvSpPr/>
          <p:nvPr/>
        </p:nvSpPr>
        <p:spPr>
          <a:xfrm>
            <a:off x="457200" y="1325880"/>
            <a:ext cx="2615184" cy="2331720"/>
          </a:xfrm>
          <a:prstGeom prst="roundRect">
            <a:avLst>
              <a:gd name="adj" fmla="val 3137"/>
            </a:avLst>
          </a:prstGeom>
          <a:solidFill>
            <a:schemeClr val="bg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85800" y="148132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chemeClr val="accent1"/>
                </a:solidFill>
              </a:rPr>
              <a:t>追加候補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17373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近江牛サウナカリー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207568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税込 1,355円 → 1,405円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23774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3か月 964食。コラボ抜きの売上1位ですが、価格表に入っていません。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32004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+17万円 / 年</a:t>
            </a:r>
            <a:endParaRPr lang="en-US" sz="1500" dirty="0"/>
          </a:p>
        </p:txBody>
      </p:sp>
      <p:sp>
        <p:nvSpPr>
          <p:cNvPr id="11" name="add-1"/>
          <p:cNvSpPr/>
          <p:nvPr/>
        </p:nvSpPr>
        <p:spPr>
          <a:xfrm>
            <a:off x="3264408" y="1325880"/>
            <a:ext cx="2615184" cy="2331720"/>
          </a:xfrm>
          <a:prstGeom prst="roundRect">
            <a:avLst>
              <a:gd name="adj" fmla="val 3137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3493008" y="148132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chemeClr val="accent1"/>
                </a:solidFill>
              </a:rPr>
              <a:t>追加候補</a:t>
            </a:r>
            <a:endParaRPr lang="en-US" sz="950" dirty="0"/>
          </a:p>
        </p:txBody>
      </p:sp>
      <p:sp>
        <p:nvSpPr>
          <p:cNvPr id="13" name="Text 10"/>
          <p:cNvSpPr txBox="1"/>
          <p:nvPr/>
        </p:nvSpPr>
        <p:spPr>
          <a:xfrm>
            <a:off x="3493008" y="17373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リポスパ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3493008" y="207568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税込 473円 → 493円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3493008" y="23774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3か月 2,134杯で販売数1位。+20円でも十分な価格です。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3493008" y="32004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+15万円 / 年</a:t>
            </a:r>
            <a:endParaRPr lang="en-US" sz="1500" dirty="0"/>
          </a:p>
        </p:txBody>
      </p:sp>
      <p:sp>
        <p:nvSpPr>
          <p:cNvPr id="17" name="add-2"/>
          <p:cNvSpPr/>
          <p:nvPr/>
        </p:nvSpPr>
        <p:spPr>
          <a:xfrm>
            <a:off x="6071616" y="1325880"/>
            <a:ext cx="2615184" cy="2331720"/>
          </a:xfrm>
          <a:prstGeom prst="roundRect">
            <a:avLst>
              <a:gd name="adj" fmla="val 3137"/>
            </a:avLst>
          </a:prstGeom>
          <a:solidFill>
            <a:schemeClr val="bg2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6300216" y="148132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chemeClr val="tx2"/>
                </a:solidFill>
              </a:rPr>
              <a:t>見直しを推奨</a:t>
            </a:r>
            <a:endParaRPr lang="en-US" sz="950" dirty="0"/>
          </a:p>
        </p:txBody>
      </p:sp>
      <p:sp>
        <p:nvSpPr>
          <p:cNvPr id="19" name="Text 16"/>
          <p:cNvSpPr txBox="1"/>
          <p:nvPr/>
        </p:nvSpPr>
        <p:spPr>
          <a:xfrm>
            <a:off x="6300216" y="17373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1010JUGビール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6300216" y="207568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税込 1,023円 → 1,323円</a:t>
            </a:r>
            <a:endParaRPr lang="en-US" sz="1050" dirty="0"/>
          </a:p>
        </p:txBody>
      </p:sp>
      <p:sp>
        <p:nvSpPr>
          <p:cNvPr id="21" name="Text 18"/>
          <p:cNvSpPr txBox="1"/>
          <p:nvPr/>
        </p:nvSpPr>
        <p:spPr>
          <a:xfrm>
            <a:off x="6300216" y="23774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税抜で+29%と1品だけ大幅。アルコール低迷中のため、幅の見直しを推奨します。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6300216" y="32004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要検討</a:t>
            </a:r>
            <a:endParaRPr lang="en-US" sz="1500" dirty="0"/>
          </a:p>
        </p:txBody>
      </p:sp>
      <p:sp>
        <p:nvSpPr>
          <p:cNvPr id="23" name="add-total"/>
          <p:cNvSpPr/>
          <p:nvPr/>
        </p:nvSpPr>
        <p:spPr>
          <a:xfrm>
            <a:off x="457200" y="3840480"/>
            <a:ext cx="8229600" cy="566928"/>
          </a:xfrm>
          <a:prstGeom prst="roundRect">
            <a:avLst>
              <a:gd name="adj" fmla="val 12903"/>
            </a:avLst>
          </a:prstGeom>
          <a:solidFill>
            <a:schemeClr val="tx1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685800" y="3840480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2品を加えた場合　</a:t>
            </a:r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実効値上げ率 +2.75% → +3.33%</a:t>
            </a:r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　｜　</a:t>
            </a:r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想定ケースの粗利増 +83万円 → +117万円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chemeClr val="accent1"/>
                </a:solidFill>
              </a:rPr>
              <a:t>同時に進める施策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値上げと同時に、原価管理とアルコール施策を進めます</a:t>
            </a:r>
            <a:endParaRPr lang="en-US" sz="2200" dirty="0"/>
          </a:p>
        </p:txBody>
      </p:sp>
      <p:sp>
        <p:nvSpPr>
          <p:cNvPr id="5" name="plan-0"/>
          <p:cNvSpPr/>
          <p:nvPr/>
        </p:nvSpPr>
        <p:spPr>
          <a:xfrm>
            <a:off x="457200" y="1325880"/>
            <a:ext cx="822960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/>
        </p:spPr>
      </p:sp>
      <p:sp>
        <p:nvSpPr>
          <p:cNvPr id="6" name="plan-n0"/>
          <p:cNvSpPr/>
          <p:nvPr/>
        </p:nvSpPr>
        <p:spPr>
          <a:xfrm>
            <a:off x="685800" y="1563624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plan-n0-n"/>
          <p:cNvSpPr txBox="1"/>
          <p:nvPr/>
        </p:nvSpPr>
        <p:spPr>
          <a:xfrm>
            <a:off x="685800" y="15636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280160" y="1435608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</a:rPr>
              <a:t>原価管理の見直し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1280160" y="17373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理論原価率 30.1% と実績 36.4% の差は約6pt。ロス・盛り付け量・棚卸差、コラボ食材の計上区分を点検します。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6858000" y="146304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6pt</a:t>
            </a:r>
            <a:endParaRPr lang="en-US" sz="2000" dirty="0"/>
          </a:p>
        </p:txBody>
      </p:sp>
      <p:sp>
        <p:nvSpPr>
          <p:cNvPr id="11" name="plan-1"/>
          <p:cNvSpPr/>
          <p:nvPr/>
        </p:nvSpPr>
        <p:spPr>
          <a:xfrm>
            <a:off x="457200" y="2350008"/>
            <a:ext cx="822960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/>
        </p:spPr>
      </p:sp>
      <p:sp>
        <p:nvSpPr>
          <p:cNvPr id="12" name="plan-n1"/>
          <p:cNvSpPr/>
          <p:nvPr/>
        </p:nvSpPr>
        <p:spPr>
          <a:xfrm>
            <a:off x="685800" y="258775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plan-n1-n"/>
          <p:cNvSpPr txBox="1"/>
          <p:nvPr/>
        </p:nvSpPr>
        <p:spPr>
          <a:xfrm>
            <a:off x="685800" y="2587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1280160" y="2459736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</a:rPr>
              <a:t>アルコールの注文を増やす</a:t>
            </a:r>
            <a:endParaRPr lang="en-US" sz="1350" dirty="0"/>
          </a:p>
        </p:txBody>
      </p:sp>
      <p:sp>
        <p:nvSpPr>
          <p:cNvPr id="15" name="Text 12"/>
          <p:cNvSpPr txBox="1"/>
          <p:nvPr/>
        </p:nvSpPr>
        <p:spPr>
          <a:xfrm>
            <a:off x="1280160" y="2761488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ビールは据え置きのまま、ハッピーアワーや「食事＋1杯」のセットで注文率の回復を図ります。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6858000" y="2487168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0.21杯</a:t>
            </a:r>
            <a:endParaRPr lang="en-US" sz="2000" dirty="0"/>
          </a:p>
        </p:txBody>
      </p:sp>
      <p:sp>
        <p:nvSpPr>
          <p:cNvPr id="17" name="plan-2"/>
          <p:cNvSpPr/>
          <p:nvPr/>
        </p:nvSpPr>
        <p:spPr>
          <a:xfrm>
            <a:off x="457200" y="3374136"/>
            <a:ext cx="822960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/>
        </p:spPr>
      </p:sp>
      <p:sp>
        <p:nvSpPr>
          <p:cNvPr id="18" name="plan-n2"/>
          <p:cNvSpPr/>
          <p:nvPr/>
        </p:nvSpPr>
        <p:spPr>
          <a:xfrm>
            <a:off x="685800" y="361188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9" name="plan-n2-n"/>
          <p:cNvSpPr txBox="1"/>
          <p:nvPr/>
        </p:nvSpPr>
        <p:spPr>
          <a:xfrm>
            <a:off x="685800" y="3611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1280160" y="3483864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</a:rPr>
              <a:t>改定後の効果検証</a:t>
            </a:r>
            <a:endParaRPr lang="en-US" sz="1350" dirty="0"/>
          </a:p>
        </p:txBody>
      </p:sp>
      <p:sp>
        <p:nvSpPr>
          <p:cNvPr id="21" name="Text 18"/>
          <p:cNvSpPr txBox="1"/>
          <p:nvPr/>
        </p:nvSpPr>
        <p:spPr>
          <a:xfrm>
            <a:off x="1280160" y="3785616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改定から1〜2か月後に販売数・客単価・原価率を確認し、必要なら価格を見直します。</a:t>
            </a:r>
            <a:endParaRPr lang="en-US" sz="1050" dirty="0"/>
          </a:p>
        </p:txBody>
      </p:sp>
      <p:sp>
        <p:nvSpPr>
          <p:cNvPr id="22" name="Text 19"/>
          <p:cNvSpPr txBox="1"/>
          <p:nvPr/>
        </p:nvSpPr>
        <p:spPr>
          <a:xfrm>
            <a:off x="6858000" y="3511296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1〜2か月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12344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REQUEST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64592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ご判断いただきたいこと</a:t>
            </a:r>
            <a:endParaRPr lang="en-US" sz="3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0080" y="315468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accent5"/>
                </a:solidFill>
              </a:rPr>
              <a:t>価格改定案（実効+2.75%）の承認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accent5"/>
                </a:solidFill>
              </a:rPr>
              <a:t>追加候補2品（近江牛サウナカリー・リポスパ）を含めるかどうか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accent5"/>
                </a:solidFill>
              </a:rPr>
              <a:t>1010JUGビールの改定幅と、実施時期の決定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akuSpa Proposal">
  <a:themeElements>
    <a:clrScheme name="RakuSpa Proposal">
      <a:dk1>
        <a:srgbClr val="1F2630"/>
      </a:dk1>
      <a:lt1>
        <a:srgbClr val="FFFFFF"/>
      </a:lt1>
      <a:dk2>
        <a:srgbClr val="3A4250"/>
      </a:dk2>
      <a:lt2>
        <a:srgbClr val="F3F4F6"/>
      </a:lt2>
      <a:accent1>
        <a:srgbClr val="B5523B"/>
      </a:accent1>
      <a:accent2>
        <a:srgbClr val="9AA3AE"/>
      </a:accent2>
      <a:accent3>
        <a:srgbClr val="E8C9BF"/>
      </a:accent3>
      <a:accent4>
        <a:srgbClr val="5B6573"/>
      </a:accent4>
      <a:accent5>
        <a:srgbClr val="C9CED6"/>
      </a:accent5>
      <a:accent6>
        <a:srgbClr val="8C3B29"/>
      </a:accent6>
      <a:hlink>
        <a:srgbClr val="B5523B"/>
      </a:hlink>
      <a:folHlink>
        <a:srgbClr val="5B6573"/>
      </a:folHlink>
    </a:clrScheme>
    <a:fontScheme name="RakuSpa Proposal">
      <a:majorFont>
        <a:latin typeface="Meiryo U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eiryo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RAKU SPA 1010 神田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飲食メニュー価格改定のご提案</dc:title>
  <dc:subject>PptxGenJS Presentation</dc:subject>
  <dc:creator>PptxGenJS</dc:creator>
  <cp:lastModifiedBy>PptxGenJS</cp:lastModifiedBy>
  <cp:revision>1</cp:revision>
  <dcterms:created xsi:type="dcterms:W3CDTF">2026-10-11T13:06:48Z</dcterms:created>
  <dcterms:modified xsi:type="dcterms:W3CDTF">2026-10-11T13:06:48Z</dcterms:modified>
</cp:coreProperties>
</file>